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Slab"/>
      <p:bold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bold r:id="rId26"/>
      <p:boldItalic r:id="rId27"/>
    </p:embeddedFont>
    <p:embeddedFont>
      <p:font typeface="Fira Code Medium"/>
      <p:regular r:id="rId28"/>
      <p:bold r:id="rId29"/>
    </p:embeddedFont>
    <p:embeddedFont>
      <p:font typeface="Fira Code"/>
      <p:regular r:id="rId30"/>
      <p:bold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FiraCode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Code-bold.fntdata"/><Relationship Id="rId30" Type="http://schemas.openxmlformats.org/officeDocument/2006/relationships/font" Target="fonts/FiraCode-regular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6e6140d4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6e6140d4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6e6140d4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16e6140d4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16e6140d4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16e6140d4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16e6140d4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16e6140d4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16e6140d4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16e6140d4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6e6140d4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16e6140d4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16e6140d4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16e6140d4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16e6140d4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16e6140d4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16e6140d4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16e6140d4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16e6140d4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16e6140d4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16e6140d4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16e6140d4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16e6140d4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16e6140d4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16e6140d4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f16e6140d4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16e6140d4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16e6140d4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16e6140d4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f16e6140d4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6e6140d4_17_0)">
  <p:cSld name="Generated (g3f16e6140d4_1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24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24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20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14"/>
          <p:cNvGrpSpPr/>
          <p:nvPr/>
        </p:nvGrpSpPr>
        <p:grpSpPr>
          <a:xfrm>
            <a:off x="457200" y="457200"/>
            <a:ext cx="304800" cy="304800"/>
            <a:chOff x="0" y="0"/>
            <a:chExt cx="304800" cy="3048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63" name="Google Shape;63;p14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457200" y="1809750"/>
            <a:ext cx="8229600" cy="1524000"/>
            <a:chOff x="0" y="0"/>
            <a:chExt cx="8229600" cy="15240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76200" cy="15240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76200" y="0"/>
              <a:ext cx="8153400" cy="1524000"/>
            </a:xfrm>
            <a:prstGeom prst="rect">
              <a:avLst/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381000" y="285750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A192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IT Software Placement Aptitude Review</a:t>
              </a:r>
              <a:endParaRPr b="1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381000" y="9525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Complete Question &amp; Answer Breakdown for Engineering Students</a:t>
              </a:r>
              <a:endParaRPr b="0" sz="1600">
                <a:solidFill>
                  <a:srgbClr val="2A62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71" name="Google Shape;71;p14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3857625" y="476250"/>
            <a:ext cx="1428900" cy="1428900"/>
            <a:chOff x="0" y="0"/>
            <a:chExt cx="1428900" cy="1428900"/>
          </a:xfrm>
        </p:grpSpPr>
        <p:pic>
          <p:nvPicPr>
            <p:cNvPr id="75" name="Google Shape;7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4289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4"/>
            <p:cNvSpPr/>
            <p:nvPr/>
          </p:nvSpPr>
          <p:spPr>
            <a:xfrm>
              <a:off x="0" y="0"/>
              <a:ext cx="1428900" cy="1428900"/>
            </a:xfrm>
            <a:prstGeom prst="roundRect">
              <a:avLst>
                <a:gd fmla="val 2666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2571750" y="3429000"/>
            <a:ext cx="4000500" cy="952500"/>
            <a:chOff x="0" y="0"/>
            <a:chExt cx="4000500" cy="9525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4000" name="adj"/>
              </a:avLst>
            </a:prstGeom>
            <a:solidFill>
              <a:srgbClr val="FFF0F0"/>
            </a:solidFill>
            <a:ln cap="flat" cmpd="sng" w="9525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0" y="0"/>
              <a:ext cx="76200" cy="9525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228600" y="11430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KEY STRATEGY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228600" y="304800"/>
              <a:ext cx="361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0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Learn mathematical shortcuts, utilize option elimination, and avoid time-consuming algebraic traps.</a:t>
              </a:r>
              <a:endParaRPr b="0" sz="10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5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90" name="Google Shape;90;p15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93" name="Google Shape;93;p15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952500" y="400050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Workforce and Salary Aptitude Analysis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457200" y="1047750"/>
            <a:ext cx="8229600" cy="2667000"/>
            <a:chOff x="0" y="0"/>
            <a:chExt cx="8229600" cy="26670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Q1: Employee Percentages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Development: 40%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Testing: 35%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Support Remaining: 100% - (40% + 35%) = 25%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Support Count: 150 employees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Calculation: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25% of Total = 150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Total Workforce = (150 / 25) * 100 = 600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22910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22910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43815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Q2: Salary Ratios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43815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Junior : Senior Ratio = 3 : 5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Difference in units: 5 - 3 = 2 units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Difference in Salary = ₹40,000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Calculation: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2 units = ₹40,000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 unit = ₹20,000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Junior Salary (3 units) = 3 * ₹20,000 = ₹60,000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457200" y="3867150"/>
            <a:ext cx="8229600" cy="762000"/>
            <a:chOff x="0" y="0"/>
            <a:chExt cx="8229600" cy="7620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228600" y="114300"/>
              <a:ext cx="781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PRO TIP / NOTE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228600" y="3048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1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In distribution problems, always find the missing percentage or unit first before equating it to the known absolute value.</a:t>
              </a:r>
              <a:endParaRPr b="0" sz="11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6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120" name="Google Shape;120;p16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123" name="Google Shape;123;p16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26" name="Google Shape;126;p16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Quantitative Problem Solving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27" name="Google Shape;127;p16"/>
          <p:cNvGrpSpPr/>
          <p:nvPr/>
        </p:nvGrpSpPr>
        <p:grpSpPr>
          <a:xfrm>
            <a:off x="457200" y="1047750"/>
            <a:ext cx="8229600" cy="2667000"/>
            <a:chOff x="0" y="0"/>
            <a:chExt cx="8229600" cy="2667000"/>
          </a:xfrm>
        </p:grpSpPr>
        <p:sp>
          <p:nvSpPr>
            <p:cNvPr id="128" name="Google Shape;128;p16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Q3: TIME &amp; WORK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Arjun takes 6 hours, Vikram takes 12 hours.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1: Reciprocal Hourly Rates</a:t>
              </a:r>
              <a:endParaRPr b="0" sz="1200">
                <a:solidFill>
                  <a:srgbClr val="2A62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8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Arjun's Rate: 1/6 module/hr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Vikram's Rate: 1/12 module/hr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2: Combined Rate</a:t>
              </a:r>
              <a:endParaRPr b="0" sz="1200">
                <a:solidFill>
                  <a:srgbClr val="2A62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1/6 + 1/12 = 2/12 + 1/12 = 3/12 = 1/4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Result: 4 hours working together.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422910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22910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43815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Q4: BATCHED AVERAGES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43815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Initial group: 5 students with avg 85.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1: Initial Total Sum</a:t>
              </a:r>
              <a:endParaRPr b="0" sz="1200">
                <a:solidFill>
                  <a:srgbClr val="2A62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5 × 85 = 425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2: Add 6th Student (Score 97)</a:t>
              </a:r>
              <a:endParaRPr b="0" sz="1200">
                <a:solidFill>
                  <a:srgbClr val="2A62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425 + 97 = 522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3: New Average</a:t>
              </a:r>
              <a:endParaRPr b="0" sz="1200">
                <a:solidFill>
                  <a:srgbClr val="2A62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522 / 6 = 87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Result: New average score is 87.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457200" y="3867150"/>
            <a:ext cx="8229600" cy="762000"/>
            <a:chOff x="0" y="0"/>
            <a:chExt cx="8229600" cy="762000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228600" y="114300"/>
              <a:ext cx="777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PRO TIP: DEVIATION METHOD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28600" y="304800"/>
              <a:ext cx="777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1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For averages, use the deviation method: the new student scores 12 points above the average (97 - 85). Divide this "surplus" by the new total number of students (12 / 6 = 2) and add it to the old average (85 + 2 = 87).</a:t>
              </a:r>
              <a:endParaRPr b="0" sz="11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150" name="Google Shape;150;p17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17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Interest &amp; Cost Price Calculations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457200" y="1047750"/>
            <a:ext cx="4000500" cy="3676650"/>
            <a:chOff x="0" y="0"/>
            <a:chExt cx="4000500" cy="3676650"/>
          </a:xfrm>
        </p:grpSpPr>
        <p:sp>
          <p:nvSpPr>
            <p:cNvPr id="154" name="Google Shape;154;p17"/>
            <p:cNvSpPr/>
            <p:nvPr/>
          </p:nvSpPr>
          <p:spPr>
            <a:xfrm>
              <a:off x="0" y="0"/>
              <a:ext cx="4000500" cy="1238400"/>
            </a:xfrm>
            <a:prstGeom prst="roundRect">
              <a:avLst>
                <a:gd fmla="val 4615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52400" y="1524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CORE FORMULAS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52400" y="428625"/>
              <a:ext cx="36957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SI = (P × R × T) / 100</a:t>
              </a:r>
              <a:endParaRPr b="0" sz="14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CP = (SP × 100) / (100 + Profit%)</a:t>
              </a:r>
              <a:endParaRPr b="0" sz="14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1390650"/>
              <a:ext cx="4000500" cy="2286000"/>
            </a:xfrm>
            <a:prstGeom prst="roundRect">
              <a:avLst>
                <a:gd fmla="val 1666" name="adj"/>
              </a:avLst>
            </a:prstGeom>
            <a:solidFill>
              <a:srgbClr val="F4F4F9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" name="Google Shape;15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" y="95250"/>
              <a:ext cx="3810000" cy="214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17"/>
          <p:cNvGrpSpPr/>
          <p:nvPr/>
        </p:nvGrpSpPr>
        <p:grpSpPr>
          <a:xfrm>
            <a:off x="4686300" y="1047750"/>
            <a:ext cx="4000500" cy="2724075"/>
            <a:chOff x="0" y="0"/>
            <a:chExt cx="4000500" cy="2724075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4000500" cy="12858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0" y="0"/>
              <a:ext cx="4000500" cy="285900"/>
            </a:xfrm>
            <a:prstGeom prst="roundRect">
              <a:avLst>
                <a:gd fmla="val 13333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152400" y="762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5: SIMPLE INTEREST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152400" y="381000"/>
              <a:ext cx="3695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Principal (P) = ₹50,000 | Rate (R) = 10% | Time (T) = 3 yrs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Calculation: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(50,000 × 10 × 3) / 100 = </a:t>
              </a: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₹15,000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0" y="1438275"/>
              <a:ext cx="4000500" cy="12858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0" y="1438275"/>
              <a:ext cx="4000500" cy="285900"/>
            </a:xfrm>
            <a:prstGeom prst="roundRect">
              <a:avLst>
                <a:gd fmla="val 13333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52400" y="1514475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6: COST PRICE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152400" y="1819275"/>
              <a:ext cx="3695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Selling Price (SP) = ₹4,600 | Profit = 15%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Calculation: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SP = 115% of CP → 4,600 / 1.15 = </a:t>
              </a: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₹4,000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457200" y="3867150"/>
            <a:ext cx="8229600" cy="762000"/>
            <a:chOff x="0" y="0"/>
            <a:chExt cx="8229600" cy="7620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228600" y="114300"/>
              <a:ext cx="777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PRO TIP: PERCENTAGE RELATIONSHIP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28600" y="304800"/>
              <a:ext cx="777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1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Always remember that Selling Price at a profit is (100 + Profit%) of the Cost Price. Use decimal division (e.g., 1.15 for 15% profit) for faster calculations during aptitude tests.</a:t>
              </a:r>
              <a:endParaRPr b="0" sz="11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3" name="Google Shape;173;p17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174" name="Google Shape;174;p17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8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185" name="Google Shape;185;p18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952500" y="400050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Kinematics &amp; Number Theory Analysis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88" name="Google Shape;188;p18"/>
          <p:cNvGrpSpPr/>
          <p:nvPr/>
        </p:nvGrpSpPr>
        <p:grpSpPr>
          <a:xfrm>
            <a:off x="457200" y="1047750"/>
            <a:ext cx="8229600" cy="2667000"/>
            <a:chOff x="0" y="0"/>
            <a:chExt cx="8229600" cy="2667000"/>
          </a:xfrm>
        </p:grpSpPr>
        <p:sp>
          <p:nvSpPr>
            <p:cNvPr id="189" name="Google Shape;189;p18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7: TRANSMISSION KINEMATICS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A data packet travels a distance of 1200 meters in a time of 4 milliseconds.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1: Convert time to seconds.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4 ms = 4 / 1000 = 0.004 seconds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2: Apply speed formula (v = d/t).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Speed = 1200 m / 0.004 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Speed: 300,000 m/s</a:t>
              </a:r>
              <a:endParaRPr b="1" sz="14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422910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422910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43815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8: DIVISIBILITY RULES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43815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Determine if the number 45612 is divisible by 9.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Rule for 9: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A number is divisible by 9 if the sum of its digits is divisible by 9.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Calculation: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4 + 5 + 6 + 1 + 2 = 18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18 is divisible by 9 YES</a:t>
              </a:r>
              <a:endParaRPr b="1" sz="14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457200" y="3867150"/>
            <a:ext cx="8229600" cy="762000"/>
            <a:chOff x="0" y="0"/>
            <a:chExt cx="8229600" cy="762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430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28600" y="114300"/>
              <a:ext cx="781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STRATEGIC NOTE: UNIT CONVERSIONS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228600" y="3048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Always verify unit consistency (m/s vs ms) before calculation. In network schematics, latency is often provided in ms but must be converted to seconds for kinematic equations.</a:t>
              </a:r>
              <a:endParaRPr b="0" sz="11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203" name="Google Shape;203;p18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19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215" name="Google Shape;215;p19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9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Permutations &amp; Time Intervals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218" name="Google Shape;218;p19"/>
          <p:cNvGrpSpPr/>
          <p:nvPr/>
        </p:nvGrpSpPr>
        <p:grpSpPr>
          <a:xfrm>
            <a:off x="457200" y="1047750"/>
            <a:ext cx="8229600" cy="2667000"/>
            <a:chOff x="0" y="0"/>
            <a:chExt cx="8229600" cy="2667000"/>
          </a:xfrm>
        </p:grpSpPr>
        <p:sp>
          <p:nvSpPr>
            <p:cNvPr id="219" name="Google Shape;219;p19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Q9: PERMUTATIONS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Arrange 4 distinct programming books on a shelf.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Number of ways = n!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8B0000"/>
                  </a:solidFill>
                  <a:latin typeface="Fira Code"/>
                  <a:ea typeface="Fira Code"/>
                  <a:cs typeface="Fira Code"/>
                  <a:sym typeface="Fira Code"/>
                </a:rPr>
                <a:t>Calculation: 4!</a:t>
              </a:r>
              <a:endParaRPr b="0" sz="1400">
                <a:solidFill>
                  <a:srgbClr val="8B000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Fira Code"/>
                  <a:ea typeface="Fira Code"/>
                  <a:cs typeface="Fira Code"/>
                  <a:sym typeface="Fira Code"/>
                </a:rPr>
                <a:t>= 4 × 3 × 2 × 1</a:t>
              </a:r>
              <a:endParaRPr b="0" sz="1200">
                <a:solidFill>
                  <a:srgbClr val="4F5D75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2A628F"/>
                  </a:solidFill>
                  <a:latin typeface="Fira Code"/>
                  <a:ea typeface="Fira Code"/>
                  <a:cs typeface="Fira Code"/>
                  <a:sym typeface="Fira Code"/>
                </a:rPr>
                <a:t>= 24 Arrangements</a:t>
              </a:r>
              <a:endParaRPr b="1" sz="1200">
                <a:solidFill>
                  <a:srgbClr val="2A628F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422910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422910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43815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Q10: LCM INTERVALS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43815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Next simultaneous ping for servers at 12s and 18s intervals.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Multiples of 12: 12, 24, </a:t>
              </a:r>
              <a:r>
                <a:rPr b="1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36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, 48...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Multiples of 18: 18, </a:t>
              </a:r>
              <a:r>
                <a:rPr b="1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36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, 54...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8B0000"/>
                  </a:solidFill>
                  <a:latin typeface="Fira Code"/>
                  <a:ea typeface="Fira Code"/>
                  <a:cs typeface="Fira Code"/>
                  <a:sym typeface="Fira Code"/>
                </a:rPr>
                <a:t>LCM(12, 18) = 36</a:t>
              </a:r>
              <a:endParaRPr b="0" sz="1400">
                <a:solidFill>
                  <a:srgbClr val="8B000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2A628F"/>
                  </a:solidFill>
                  <a:latin typeface="Inter"/>
                  <a:ea typeface="Inter"/>
                  <a:cs typeface="Inter"/>
                  <a:sym typeface="Inter"/>
                </a:rPr>
                <a:t>Next Simultaneous Event: 36 seconds</a:t>
              </a:r>
              <a:endParaRPr b="1" sz="1200">
                <a:solidFill>
                  <a:srgbClr val="2A628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457200" y="3867150"/>
            <a:ext cx="4000500" cy="762000"/>
            <a:chOff x="0" y="0"/>
            <a:chExt cx="4000500" cy="762000"/>
          </a:xfrm>
        </p:grpSpPr>
        <p:sp>
          <p:nvSpPr>
            <p:cNvPr id="228" name="Google Shape;228;p19"/>
            <p:cNvSpPr/>
            <p:nvPr/>
          </p:nvSpPr>
          <p:spPr>
            <a:xfrm>
              <a:off x="0" y="0"/>
              <a:ext cx="40005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228600" y="11430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STRATEGIC TIP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228600" y="3048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018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Recognize LCM in "ping/interval" or "simultaneous event" problems to find the smallest common time unit.</a:t>
              </a:r>
              <a:endParaRPr b="0" sz="1018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4762500" y="3867150"/>
            <a:ext cx="3924300" cy="762000"/>
            <a:chOff x="0" y="0"/>
            <a:chExt cx="3924300" cy="7620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3924300" cy="762000"/>
            </a:xfrm>
            <a:prstGeom prst="roundRect">
              <a:avLst>
                <a:gd fmla="val 5000" name="adj"/>
              </a:avLst>
            </a:prstGeom>
            <a:solidFill>
              <a:srgbClr val="F4F4F9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" name="Google Shape;23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" y="47625"/>
              <a:ext cx="885900" cy="66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9"/>
            <p:cNvSpPr txBox="1"/>
            <p:nvPr/>
          </p:nvSpPr>
          <p:spPr>
            <a:xfrm>
              <a:off x="1047750" y="142875"/>
              <a:ext cx="276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0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Visualizing 4!: Any of 4 books can go first, 3 in second spot, 2 in third, 1 in last.</a:t>
              </a:r>
              <a:endParaRPr b="0" sz="10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6" name="Google Shape;236;p19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237" name="Google Shape;237;p19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246" name="Google Shape;246;p20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249" name="Google Shape;249;p20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20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Sequence Patterns &amp; Priority Hierarchy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>
            <a:off x="457200" y="1047750"/>
            <a:ext cx="4000500" cy="2667000"/>
            <a:chOff x="0" y="0"/>
            <a:chExt cx="4000500" cy="26670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11: NUMBER SEQUENCE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Sequence: 2, 3, 7, 16, 32, ...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Differences between terms: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3 - 2 = </a:t>
              </a: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1 (1²)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7 - 3 = </a:t>
              </a: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4 (2²)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16 - 7 = </a:t>
              </a: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9 (3²)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• 32 - 16 = </a:t>
              </a: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16 (4²)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Next difference: 5² = 25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Result: 32 + 25 = 57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" name="Google Shape;257;p20"/>
          <p:cNvGrpSpPr/>
          <p:nvPr/>
        </p:nvGrpSpPr>
        <p:grpSpPr>
          <a:xfrm>
            <a:off x="4686300" y="1047750"/>
            <a:ext cx="4000500" cy="2667000"/>
            <a:chOff x="0" y="0"/>
            <a:chExt cx="4000500" cy="26670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12: TASK HIERARCHY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1" name="Google Shape;261;p20"/>
            <p:cNvGrpSpPr/>
            <p:nvPr/>
          </p:nvGrpSpPr>
          <p:grpSpPr>
            <a:xfrm>
              <a:off x="190500" y="571500"/>
              <a:ext cx="3619500" cy="1905000"/>
              <a:chOff x="0" y="0"/>
              <a:chExt cx="3619500" cy="1905000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0" y="0"/>
                <a:ext cx="36195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A19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0"/>
              <p:cNvSpPr txBox="1"/>
              <p:nvPr/>
            </p:nvSpPr>
            <p:spPr>
              <a:xfrm>
                <a:off x="95250" y="66675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DECODED TRANSITIVE CHAIN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264" name="Google Shape;264;p20"/>
              <p:cNvGrpSpPr/>
              <p:nvPr/>
            </p:nvGrpSpPr>
            <p:grpSpPr>
              <a:xfrm>
                <a:off x="190500" y="619125"/>
                <a:ext cx="3429000" cy="381000"/>
                <a:chOff x="190500" y="190500"/>
                <a:chExt cx="3429000" cy="381000"/>
              </a:xfrm>
            </p:grpSpPr>
            <p:sp>
              <p:nvSpPr>
                <p:cNvPr id="265" name="Google Shape;265;p20"/>
                <p:cNvSpPr/>
                <p:nvPr/>
              </p:nvSpPr>
              <p:spPr>
                <a:xfrm>
                  <a:off x="190500" y="190500"/>
                  <a:ext cx="381000" cy="381000"/>
                </a:xfrm>
                <a:prstGeom prst="ellipse">
                  <a:avLst/>
                </a:prstGeom>
                <a:solidFill>
                  <a:srgbClr val="8B0000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20"/>
                <p:cNvSpPr txBox="1"/>
                <p:nvPr/>
              </p:nvSpPr>
              <p:spPr>
                <a:xfrm>
                  <a:off x="190500" y="285750"/>
                  <a:ext cx="381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</a:t>
                  </a:r>
                  <a:endParaRPr b="1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pic>
              <p:nvPicPr>
                <p:cNvPr id="267" name="Google Shape;267;p2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619125" y="314325"/>
                  <a:ext cx="476400" cy="133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8" name="Google Shape;268;p20"/>
                <p:cNvSpPr/>
                <p:nvPr/>
              </p:nvSpPr>
              <p:spPr>
                <a:xfrm>
                  <a:off x="952500" y="190500"/>
                  <a:ext cx="381000" cy="381000"/>
                </a:xfrm>
                <a:prstGeom prst="ellipse">
                  <a:avLst/>
                </a:prstGeom>
                <a:solidFill>
                  <a:srgbClr val="F4F4F9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20"/>
                <p:cNvSpPr txBox="1"/>
                <p:nvPr/>
              </p:nvSpPr>
              <p:spPr>
                <a:xfrm>
                  <a:off x="952500" y="285750"/>
                  <a:ext cx="381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A192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</a:t>
                  </a:r>
                  <a:endParaRPr b="1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70" name="Google Shape;270;p20"/>
                <p:cNvSpPr/>
                <p:nvPr/>
              </p:nvSpPr>
              <p:spPr>
                <a:xfrm>
                  <a:off x="1381125" y="381000"/>
                  <a:ext cx="285900" cy="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20"/>
                <p:cNvSpPr/>
                <p:nvPr/>
              </p:nvSpPr>
              <p:spPr>
                <a:xfrm>
                  <a:off x="1714500" y="190500"/>
                  <a:ext cx="381000" cy="381000"/>
                </a:xfrm>
                <a:prstGeom prst="ellipse">
                  <a:avLst/>
                </a:prstGeom>
                <a:solidFill>
                  <a:srgbClr val="F4F4F9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20"/>
                <p:cNvSpPr txBox="1"/>
                <p:nvPr/>
              </p:nvSpPr>
              <p:spPr>
                <a:xfrm>
                  <a:off x="1714500" y="285750"/>
                  <a:ext cx="381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A192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B</a:t>
                  </a:r>
                  <a:endParaRPr b="1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73" name="Google Shape;273;p20"/>
                <p:cNvSpPr/>
                <p:nvPr/>
              </p:nvSpPr>
              <p:spPr>
                <a:xfrm>
                  <a:off x="2143125" y="381000"/>
                  <a:ext cx="285900" cy="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20"/>
                <p:cNvSpPr/>
                <p:nvPr/>
              </p:nvSpPr>
              <p:spPr>
                <a:xfrm>
                  <a:off x="2476500" y="190500"/>
                  <a:ext cx="381000" cy="381000"/>
                </a:xfrm>
                <a:prstGeom prst="ellipse">
                  <a:avLst/>
                </a:prstGeom>
                <a:solidFill>
                  <a:srgbClr val="F4F4F9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20"/>
                <p:cNvSpPr txBox="1"/>
                <p:nvPr/>
              </p:nvSpPr>
              <p:spPr>
                <a:xfrm>
                  <a:off x="2476500" y="285750"/>
                  <a:ext cx="381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A192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</a:t>
                  </a:r>
                  <a:endParaRPr b="1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76" name="Google Shape;276;p20"/>
                <p:cNvSpPr/>
                <p:nvPr/>
              </p:nvSpPr>
              <p:spPr>
                <a:xfrm>
                  <a:off x="2905125" y="381000"/>
                  <a:ext cx="285900" cy="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20"/>
                <p:cNvSpPr/>
                <p:nvPr/>
              </p:nvSpPr>
              <p:spPr>
                <a:xfrm>
                  <a:off x="3238500" y="190500"/>
                  <a:ext cx="381000" cy="381000"/>
                </a:xfrm>
                <a:prstGeom prst="ellipse">
                  <a:avLst/>
                </a:prstGeom>
                <a:solidFill>
                  <a:srgbClr val="F4F4F9"/>
                </a:solidFill>
                <a:ln cap="flat" cmpd="sng" w="19050">
                  <a:solidFill>
                    <a:srgbClr val="0A19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20"/>
                <p:cNvSpPr txBox="1"/>
                <p:nvPr/>
              </p:nvSpPr>
              <p:spPr>
                <a:xfrm>
                  <a:off x="3238500" y="285750"/>
                  <a:ext cx="381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A192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</a:t>
                  </a:r>
                  <a:endParaRPr b="1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279" name="Google Shape;279;p20"/>
              <p:cNvSpPr txBox="1"/>
              <p:nvPr/>
            </p:nvSpPr>
            <p:spPr>
              <a:xfrm>
                <a:off x="0" y="1333500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Relationship: </a:t>
                </a:r>
                <a:r>
                  <a:rPr b="1" lang="en" sz="111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D &gt; A &gt; B &gt; C &gt; E</a:t>
                </a:r>
                <a:endParaRPr b="0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1000"/>
                  </a:spcAft>
                  <a:buNone/>
                </a:pPr>
                <a:r>
                  <a:rPr b="0" lang="en" sz="111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Conclusion: </a:t>
                </a:r>
                <a:r>
                  <a:rPr b="1" lang="en" sz="111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Task D</a:t>
                </a:r>
                <a:r>
                  <a:rPr b="0" lang="en" sz="111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 holds the highest overall priority in the workflow chain.</a:t>
                </a:r>
                <a:endParaRPr b="0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0" name="Google Shape;280;p20"/>
          <p:cNvGrpSpPr/>
          <p:nvPr/>
        </p:nvGrpSpPr>
        <p:grpSpPr>
          <a:xfrm>
            <a:off x="457200" y="3867150"/>
            <a:ext cx="8229600" cy="762000"/>
            <a:chOff x="0" y="0"/>
            <a:chExt cx="8229600" cy="762000"/>
          </a:xfrm>
        </p:grpSpPr>
        <p:sp>
          <p:nvSpPr>
            <p:cNvPr id="281" name="Google Shape;281;p20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228600" y="114300"/>
              <a:ext cx="781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STRATEGIC ADVICE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20"/>
            <p:cNvSpPr txBox="1"/>
            <p:nvPr/>
          </p:nvSpPr>
          <p:spPr>
            <a:xfrm>
              <a:off x="228600" y="3048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1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For complex number series, always write out the first and second-level differences to identify squares, cubes, or arithmetic progressions that aren't immediately obvious.</a:t>
              </a:r>
              <a:endParaRPr b="0" sz="11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p20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286" name="Google Shape;286;p20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88" name="Google Shape;288;p20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1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294" name="Google Shape;294;p21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1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297" name="Google Shape;297;p21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1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Spatial Reasoning &amp; Logical Puzzles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300" name="Google Shape;300;p21"/>
          <p:cNvGrpSpPr/>
          <p:nvPr/>
        </p:nvGrpSpPr>
        <p:grpSpPr>
          <a:xfrm>
            <a:off x="457200" y="1047750"/>
            <a:ext cx="4000500" cy="3571875"/>
            <a:chOff x="0" y="0"/>
            <a:chExt cx="4000500" cy="3571875"/>
          </a:xfrm>
        </p:grpSpPr>
        <p:sp>
          <p:nvSpPr>
            <p:cNvPr id="301" name="Google Shape;301;p21"/>
            <p:cNvSpPr/>
            <p:nvPr/>
          </p:nvSpPr>
          <p:spPr>
            <a:xfrm>
              <a:off x="0" y="0"/>
              <a:ext cx="4000500" cy="3571800"/>
            </a:xfrm>
            <a:prstGeom prst="roundRect">
              <a:avLst>
                <a:gd fmla="val 1066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1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13: SHORTEST DISTANCE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04" name="Google Shape;30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523875"/>
              <a:ext cx="3143400" cy="23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1"/>
            <p:cNvSpPr txBox="1"/>
            <p:nvPr/>
          </p:nvSpPr>
          <p:spPr>
            <a:xfrm>
              <a:off x="152400" y="3000375"/>
              <a:ext cx="3695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Apply Pythagorean theorem: 8² + 6² = 64 + 36 = 100.</a:t>
              </a:r>
              <a:endParaRPr b="0" sz="111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1000"/>
                </a:spcAft>
                <a:buNone/>
              </a:pPr>
              <a:r>
                <a:rPr b="0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√100 = </a:t>
              </a:r>
              <a:r>
                <a:rPr b="1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10 meters</a:t>
              </a:r>
              <a:r>
                <a:rPr b="0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shortest distance.</a:t>
              </a:r>
              <a:endParaRPr b="0" sz="111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21"/>
          <p:cNvGrpSpPr/>
          <p:nvPr/>
        </p:nvGrpSpPr>
        <p:grpSpPr>
          <a:xfrm>
            <a:off x="4686300" y="1047750"/>
            <a:ext cx="4000500" cy="3571800"/>
            <a:chOff x="0" y="0"/>
            <a:chExt cx="4000500" cy="3571800"/>
          </a:xfrm>
        </p:grpSpPr>
        <p:sp>
          <p:nvSpPr>
            <p:cNvPr id="307" name="Google Shape;307;p21"/>
            <p:cNvSpPr/>
            <p:nvPr/>
          </p:nvSpPr>
          <p:spPr>
            <a:xfrm>
              <a:off x="0" y="0"/>
              <a:ext cx="4000500" cy="1143000"/>
            </a:xfrm>
            <a:prstGeom prst="roundRect">
              <a:avLst>
                <a:gd fmla="val 3333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152400" y="1524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14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152400" y="381000"/>
              <a:ext cx="3695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"He is the only son of my mother's only daughter." What is the relation?</a:t>
              </a:r>
              <a:endParaRPr b="0" sz="120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0" y="1295400"/>
              <a:ext cx="4000500" cy="2276400"/>
            </a:xfrm>
            <a:prstGeom prst="roundRect">
              <a:avLst>
                <a:gd fmla="val 1673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152400" y="14478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LOGICAL BREAKDOWN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2" name="Google Shape;312;p21"/>
            <p:cNvSpPr txBox="1"/>
            <p:nvPr/>
          </p:nvSpPr>
          <p:spPr>
            <a:xfrm>
              <a:off x="152400" y="1676400"/>
              <a:ext cx="3695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1. </a:t>
              </a:r>
              <a:r>
                <a:rPr b="1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"My mother's only daughter"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: Since the speaker is female, she is referring to herself.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2. </a:t>
              </a:r>
              <a:r>
                <a:rPr b="1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"Only son of [Speaker]"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: The boy is her son.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Result: The speaker is the Mother of the boy.</a:t>
              </a:r>
              <a:endParaRPr b="1" sz="12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3" name="Google Shape;313;p21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314" name="Google Shape;314;p21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16" name="Google Shape;316;p21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2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323" name="Google Shape;323;p22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22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326" name="Google Shape;326;p22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8" name="Google Shape;328;p22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Alphabetical Coding &amp; Backward Sequences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457200" y="1047750"/>
            <a:ext cx="4000500" cy="2667000"/>
            <a:chOff x="0" y="0"/>
            <a:chExt cx="4000500" cy="2667000"/>
          </a:xfrm>
        </p:grpSpPr>
        <p:sp>
          <p:nvSpPr>
            <p:cNvPr id="330" name="Google Shape;330;p22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15: ALPHABETICAL CIPHER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3" name="Google Shape;333;p22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Logic: Map letters to numerical positions (A=1, B=2, ... Z=26).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SERVER: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19-5-18-22-5-18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(S=19, E=5, R=18, V=22)</a:t>
              </a:r>
              <a:endParaRPr b="0" sz="10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CLIENT: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3-12-9-5-14-20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1000"/>
                </a:spcAft>
                <a:buNone/>
              </a:pPr>
              <a:r>
                <a:rPr b="0" lang="en" sz="10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C=3, L=12, I=9, E=5, N=14, T=20</a:t>
              </a:r>
              <a:endParaRPr b="0" sz="10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4" name="Google Shape;334;p22"/>
            <p:cNvGrpSpPr/>
            <p:nvPr/>
          </p:nvGrpSpPr>
          <p:grpSpPr>
            <a:xfrm>
              <a:off x="2190750" y="571500"/>
              <a:ext cx="1619100" cy="1214400"/>
              <a:chOff x="0" y="0"/>
              <a:chExt cx="1619100" cy="1214400"/>
            </a:xfrm>
          </p:grpSpPr>
          <p:pic>
            <p:nvPicPr>
              <p:cNvPr id="335" name="Google Shape;335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1619100" cy="12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6" name="Google Shape;336;p22"/>
              <p:cNvSpPr/>
              <p:nvPr/>
            </p:nvSpPr>
            <p:spPr>
              <a:xfrm>
                <a:off x="0" y="0"/>
                <a:ext cx="1619100" cy="1214400"/>
              </a:xfrm>
              <a:prstGeom prst="roundRect">
                <a:avLst>
                  <a:gd fmla="val 313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D1D8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7" name="Google Shape;337;p22"/>
          <p:cNvGrpSpPr/>
          <p:nvPr/>
        </p:nvGrpSpPr>
        <p:grpSpPr>
          <a:xfrm>
            <a:off x="4686300" y="1047750"/>
            <a:ext cx="4000500" cy="2667000"/>
            <a:chOff x="0" y="0"/>
            <a:chExt cx="4000500" cy="2667000"/>
          </a:xfrm>
        </p:grpSpPr>
        <p:sp>
          <p:nvSpPr>
            <p:cNvPr id="338" name="Google Shape;338;p22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16: BACKWARD SEQUENCE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1" name="Google Shape;341;p22"/>
            <p:cNvSpPr txBox="1"/>
            <p:nvPr/>
          </p:nvSpPr>
          <p:spPr>
            <a:xfrm>
              <a:off x="152400" y="533400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Sequence: </a:t>
              </a:r>
              <a:r>
                <a:rPr b="1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Z, W, S, N, ?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Pattern Analysis: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Z to W: -3 steps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W to S: -4 steps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 to N: -5 steps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N to ?: -6 steps</a:t>
              </a:r>
              <a:endParaRPr b="1" sz="12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0A192F"/>
                  </a:solidFill>
                  <a:highlight>
                    <a:srgbClr val="F4F4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Result: Counting 6 letters back from N lands on H.</a:t>
              </a:r>
              <a:endParaRPr b="0" sz="1200">
                <a:solidFill>
                  <a:srgbClr val="0A192F"/>
                </a:solidFill>
                <a:highlight>
                  <a:srgbClr val="F4F4F9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42" name="Google Shape;342;p22"/>
          <p:cNvGrpSpPr/>
          <p:nvPr/>
        </p:nvGrpSpPr>
        <p:grpSpPr>
          <a:xfrm>
            <a:off x="457200" y="3867150"/>
            <a:ext cx="8229600" cy="762000"/>
            <a:chOff x="0" y="0"/>
            <a:chExt cx="8229600" cy="762000"/>
          </a:xfrm>
        </p:grpSpPr>
        <p:sp>
          <p:nvSpPr>
            <p:cNvPr id="343" name="Google Shape;343;p22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228600" y="114300"/>
              <a:ext cx="777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STRATEGIC TIP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6" name="Google Shape;346;p22"/>
            <p:cNvSpPr txBox="1"/>
            <p:nvPr/>
          </p:nvSpPr>
          <p:spPr>
            <a:xfrm>
              <a:off x="228600" y="304800"/>
              <a:ext cx="777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1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Save time by writing the A-Z (1-26) and Z-A (26-1) mappings on your rough sheet immediately after the test begins.</a:t>
              </a:r>
              <a:endParaRPr b="0" sz="11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7" name="Google Shape;347;p22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348" name="Google Shape;348;p22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3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356" name="Google Shape;356;p23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23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359" name="Google Shape;359;p23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23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Logic and Seating Review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362" name="Google Shape;362;p23"/>
          <p:cNvGrpSpPr/>
          <p:nvPr/>
        </p:nvGrpSpPr>
        <p:grpSpPr>
          <a:xfrm>
            <a:off x="457200" y="1428750"/>
            <a:ext cx="4000500" cy="2667000"/>
            <a:chOff x="0" y="285750"/>
            <a:chExt cx="4000500" cy="2667000"/>
          </a:xfrm>
        </p:grpSpPr>
        <p:sp>
          <p:nvSpPr>
            <p:cNvPr id="363" name="Google Shape;363;p23"/>
            <p:cNvSpPr/>
            <p:nvPr/>
          </p:nvSpPr>
          <p:spPr>
            <a:xfrm>
              <a:off x="381000" y="285750"/>
              <a:ext cx="2095500" cy="2095500"/>
            </a:xfrm>
            <a:prstGeom prst="ellipse">
              <a:avLst/>
            </a:prstGeom>
            <a:solidFill>
              <a:srgbClr val="2A628F">
                <a:alpha val="15000"/>
              </a:srgbClr>
            </a:solidFill>
            <a:ln cap="flat" cmpd="sng" w="19050">
              <a:solidFill>
                <a:srgbClr val="2A6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1524000" y="285750"/>
              <a:ext cx="2095500" cy="2095500"/>
            </a:xfrm>
            <a:prstGeom prst="ellipse">
              <a:avLst/>
            </a:prstGeom>
            <a:solidFill>
              <a:srgbClr val="8B0000">
                <a:alpha val="15000"/>
              </a:srgbClr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3"/>
            <p:cNvSpPr txBox="1"/>
            <p:nvPr/>
          </p:nvSpPr>
          <p:spPr>
            <a:xfrm>
              <a:off x="571500" y="123825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PYTHON (35)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6" name="Google Shape;366;p23"/>
            <p:cNvSpPr txBox="1"/>
            <p:nvPr/>
          </p:nvSpPr>
          <p:spPr>
            <a:xfrm>
              <a:off x="2667000" y="123825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JAVA (25)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23"/>
            <p:cNvSpPr txBox="1"/>
            <p:nvPr/>
          </p:nvSpPr>
          <p:spPr>
            <a:xfrm>
              <a:off x="1714500" y="1238250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BOTH (10)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0" y="257175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 txBox="1"/>
            <p:nvPr/>
          </p:nvSpPr>
          <p:spPr>
            <a:xfrm>
              <a:off x="95250" y="26670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Students: 60 | Neither: 10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70" name="Google Shape;370;p23"/>
          <p:cNvGrpSpPr/>
          <p:nvPr/>
        </p:nvGrpSpPr>
        <p:grpSpPr>
          <a:xfrm>
            <a:off x="4686300" y="1047750"/>
            <a:ext cx="4000500" cy="2667150"/>
            <a:chOff x="0" y="0"/>
            <a:chExt cx="4000500" cy="2667150"/>
          </a:xfrm>
        </p:grpSpPr>
        <p:sp>
          <p:nvSpPr>
            <p:cNvPr id="371" name="Google Shape;371;p23"/>
            <p:cNvSpPr/>
            <p:nvPr/>
          </p:nvSpPr>
          <p:spPr>
            <a:xfrm>
              <a:off x="0" y="0"/>
              <a:ext cx="4000500" cy="1047900"/>
            </a:xfrm>
            <a:prstGeom prst="roundRect">
              <a:avLst>
                <a:gd fmla="val 3636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3"/>
            <p:cNvSpPr txBox="1"/>
            <p:nvPr/>
          </p:nvSpPr>
          <p:spPr>
            <a:xfrm>
              <a:off x="152400" y="1524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18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23"/>
            <p:cNvSpPr txBox="1"/>
            <p:nvPr/>
          </p:nvSpPr>
          <p:spPr>
            <a:xfrm>
              <a:off x="152400" y="381000"/>
              <a:ext cx="3695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Identify the person sitting at the extreme left boundary in the row arrangement [Z, W, Y, X].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0" y="1200150"/>
              <a:ext cx="4000500" cy="1467000"/>
            </a:xfrm>
            <a:prstGeom prst="roundRect">
              <a:avLst>
                <a:gd fmla="val 2597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3"/>
            <p:cNvSpPr txBox="1"/>
            <p:nvPr/>
          </p:nvSpPr>
          <p:spPr>
            <a:xfrm>
              <a:off x="152400" y="13525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SOLUTION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23"/>
            <p:cNvSpPr txBox="1"/>
            <p:nvPr/>
          </p:nvSpPr>
          <p:spPr>
            <a:xfrm>
              <a:off x="152400" y="1581150"/>
              <a:ext cx="3695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1. Sequence Array: [Z, W, Y, X]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2. Left to Right Mapping: Pos 1=Z, Pos 2=W, Pos 3=Y, Pos 4=X.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Extreme Left Position: Z</a:t>
              </a:r>
              <a:endParaRPr b="1" sz="12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7" name="Google Shape;377;p23"/>
          <p:cNvGrpSpPr/>
          <p:nvPr/>
        </p:nvGrpSpPr>
        <p:grpSpPr>
          <a:xfrm>
            <a:off x="457200" y="4143375"/>
            <a:ext cx="8229600" cy="571500"/>
            <a:chOff x="0" y="0"/>
            <a:chExt cx="8229600" cy="571500"/>
          </a:xfrm>
        </p:grpSpPr>
        <p:sp>
          <p:nvSpPr>
            <p:cNvPr id="378" name="Google Shape;378;p23"/>
            <p:cNvSpPr/>
            <p:nvPr/>
          </p:nvSpPr>
          <p:spPr>
            <a:xfrm>
              <a:off x="0" y="0"/>
              <a:ext cx="8229600" cy="571500"/>
            </a:xfrm>
            <a:prstGeom prst="roundRect">
              <a:avLst>
                <a:gd fmla="val 6666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3"/>
            <p:cNvSpPr txBox="1"/>
            <p:nvPr/>
          </p:nvSpPr>
          <p:spPr>
            <a:xfrm>
              <a:off x="228600" y="190500"/>
              <a:ext cx="777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F4F4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Inclusion-Exclusion Principle: Total = (A + B - Both) + Neither</a:t>
              </a:r>
              <a:endParaRPr b="0" sz="1200">
                <a:solidFill>
                  <a:srgbClr val="F4F4F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80" name="Google Shape;380;p23"/>
          <p:cNvGrpSpPr/>
          <p:nvPr/>
        </p:nvGrpSpPr>
        <p:grpSpPr>
          <a:xfrm>
            <a:off x="457200" y="4838700"/>
            <a:ext cx="8229600" cy="257175"/>
            <a:chOff x="457200" y="4838700"/>
            <a:chExt cx="8229600" cy="257175"/>
          </a:xfrm>
        </p:grpSpPr>
        <p:sp>
          <p:nvSpPr>
            <p:cNvPr id="381" name="Google Shape;381;p23"/>
            <p:cNvSpPr/>
            <p:nvPr/>
          </p:nvSpPr>
          <p:spPr>
            <a:xfrm>
              <a:off x="457200" y="48387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457200" y="49053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3" name="Google Shape;383;p23"/>
            <p:cNvSpPr txBox="1"/>
            <p:nvPr/>
          </p:nvSpPr>
          <p:spPr>
            <a:xfrm>
              <a:off x="4876800" y="49053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24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389" name="Google Shape;389;p24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24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392" name="Google Shape;392;p24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24"/>
          <p:cNvSpPr txBox="1"/>
          <p:nvPr/>
        </p:nvSpPr>
        <p:spPr>
          <a:xfrm>
            <a:off x="952500" y="400050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Classification &amp; Calendar Logic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395" name="Google Shape;395;p24"/>
          <p:cNvGrpSpPr/>
          <p:nvPr/>
        </p:nvGrpSpPr>
        <p:grpSpPr>
          <a:xfrm>
            <a:off x="457200" y="1047750"/>
            <a:ext cx="4000500" cy="2667000"/>
            <a:chOff x="0" y="0"/>
            <a:chExt cx="4000500" cy="2667000"/>
          </a:xfrm>
        </p:grpSpPr>
        <p:sp>
          <p:nvSpPr>
            <p:cNvPr id="396" name="Google Shape;396;p24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4"/>
            <p:cNvSpPr txBox="1"/>
            <p:nvPr/>
          </p:nvSpPr>
          <p:spPr>
            <a:xfrm>
              <a:off x="152400" y="1143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19: ODD ONE OUT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9" name="Google Shape;399;p24"/>
            <p:cNvSpPr txBox="1"/>
            <p:nvPr/>
          </p:nvSpPr>
          <p:spPr>
            <a:xfrm>
              <a:off x="152400" y="523875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Find the odd one out: Linux, Python, Java, C++.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Linux: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Operating System (OS)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A628F"/>
                  </a:solidFill>
                  <a:latin typeface="Inter"/>
                  <a:ea typeface="Inter"/>
                  <a:cs typeface="Inter"/>
                  <a:sym typeface="Inter"/>
                </a:rPr>
                <a:t>Python: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Programming Language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A628F"/>
                  </a:solidFill>
                  <a:latin typeface="Inter"/>
                  <a:ea typeface="Inter"/>
                  <a:cs typeface="Inter"/>
                  <a:sym typeface="Inter"/>
                </a:rPr>
                <a:t>Java: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Programming Language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A628F"/>
                  </a:solidFill>
                  <a:latin typeface="Inter"/>
                  <a:ea typeface="Inter"/>
                  <a:cs typeface="Inter"/>
                  <a:sym typeface="Inter"/>
                </a:rPr>
                <a:t>C++: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Programming Language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4F5D75"/>
                  </a:solidFill>
                  <a:highlight>
                    <a:srgbClr val="F4F4F9"/>
                  </a:highlight>
                  <a:latin typeface="Inter"/>
                  <a:ea typeface="Inter"/>
                  <a:cs typeface="Inter"/>
                  <a:sym typeface="Inter"/>
                </a:rPr>
                <a:t>Solution:</a:t>
              </a:r>
              <a:r>
                <a:rPr b="0" lang="en" sz="1200">
                  <a:solidFill>
                    <a:srgbClr val="4F5D75"/>
                  </a:solidFill>
                  <a:highlight>
                    <a:srgbClr val="F4F4F9"/>
                  </a:highlight>
                  <a:latin typeface="Inter"/>
                  <a:ea typeface="Inter"/>
                  <a:cs typeface="Inter"/>
                  <a:sym typeface="Inter"/>
                </a:rPr>
                <a:t> Linux is an Operating System, while the others are languages.</a:t>
              </a:r>
              <a:endParaRPr b="0" sz="1200">
                <a:solidFill>
                  <a:srgbClr val="4F5D75"/>
                </a:solidFill>
                <a:highlight>
                  <a:srgbClr val="F4F4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0" name="Google Shape;400;p24"/>
          <p:cNvGrpSpPr/>
          <p:nvPr/>
        </p:nvGrpSpPr>
        <p:grpSpPr>
          <a:xfrm>
            <a:off x="4686300" y="1047750"/>
            <a:ext cx="4000500" cy="2667000"/>
            <a:chOff x="0" y="0"/>
            <a:chExt cx="4000500" cy="2667000"/>
          </a:xfrm>
        </p:grpSpPr>
        <p:sp>
          <p:nvSpPr>
            <p:cNvPr id="401" name="Google Shape;401;p24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4"/>
            <p:cNvSpPr txBox="1"/>
            <p:nvPr/>
          </p:nvSpPr>
          <p:spPr>
            <a:xfrm>
              <a:off x="152400" y="1143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 20: CALENDAR LOGIC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4" name="Google Shape;404;p24"/>
            <p:cNvSpPr txBox="1"/>
            <p:nvPr/>
          </p:nvSpPr>
          <p:spPr>
            <a:xfrm>
              <a:off x="152400" y="523875"/>
              <a:ext cx="3695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If today is Friday, what day is it after 22 days?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Step 1: Divide days by 7 (days in a week)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6F2FF"/>
                  </a:solidFill>
                  <a:highlight>
                    <a:srgbClr val="0A192F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22 / 7 = 3 Weeks, Remainder 1</a:t>
              </a:r>
              <a:endParaRPr b="0" sz="1400">
                <a:solidFill>
                  <a:srgbClr val="E6F2FF"/>
                </a:solidFill>
                <a:highlight>
                  <a:srgbClr val="0A192F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Step 2: Add remainder to current day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Friday + 1 Day = Saturday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24"/>
          <p:cNvGrpSpPr/>
          <p:nvPr/>
        </p:nvGrpSpPr>
        <p:grpSpPr>
          <a:xfrm>
            <a:off x="457200" y="3867150"/>
            <a:ext cx="8229600" cy="705000"/>
            <a:chOff x="0" y="0"/>
            <a:chExt cx="8229600" cy="705000"/>
          </a:xfrm>
        </p:grpSpPr>
        <p:sp>
          <p:nvSpPr>
            <p:cNvPr id="406" name="Google Shape;406;p24"/>
            <p:cNvSpPr/>
            <p:nvPr/>
          </p:nvSpPr>
          <p:spPr>
            <a:xfrm>
              <a:off x="0" y="0"/>
              <a:ext cx="8229600" cy="705000"/>
            </a:xfrm>
            <a:prstGeom prst="roundRect">
              <a:avLst>
                <a:gd fmla="val 5405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0" y="0"/>
              <a:ext cx="76200" cy="705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4"/>
            <p:cNvSpPr txBox="1"/>
            <p:nvPr/>
          </p:nvSpPr>
          <p:spPr>
            <a:xfrm>
              <a:off x="228600" y="95250"/>
              <a:ext cx="781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STRATEGIC TIP: ODD DAYS LOGIC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9" name="Google Shape;409;p24"/>
            <p:cNvSpPr txBox="1"/>
            <p:nvPr/>
          </p:nvSpPr>
          <p:spPr>
            <a:xfrm>
              <a:off x="228600" y="285750"/>
              <a:ext cx="781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018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In calendar problems, focus only on the remainder (odd days). Any number of days divisible by 7 results in the same day of the week.</a:t>
              </a:r>
              <a:endParaRPr b="0" sz="1018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0" name="Google Shape;410;p24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411" name="Google Shape;411;p24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4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13" name="Google Shape;413;p24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25"/>
          <p:cNvGrpSpPr/>
          <p:nvPr/>
        </p:nvGrpSpPr>
        <p:grpSpPr>
          <a:xfrm>
            <a:off x="457200" y="381000"/>
            <a:ext cx="8229600" cy="400050"/>
            <a:chOff x="457200" y="381000"/>
            <a:chExt cx="8229600" cy="400050"/>
          </a:xfrm>
        </p:grpSpPr>
        <p:grpSp>
          <p:nvGrpSpPr>
            <p:cNvPr id="419" name="Google Shape;419;p25"/>
            <p:cNvGrpSpPr/>
            <p:nvPr/>
          </p:nvGrpSpPr>
          <p:grpSpPr>
            <a:xfrm>
              <a:off x="457200" y="381000"/>
              <a:ext cx="304800" cy="304800"/>
              <a:chOff x="0" y="0"/>
              <a:chExt cx="304800" cy="304800"/>
            </a:xfrm>
          </p:grpSpPr>
          <p:sp>
            <p:nvSpPr>
              <p:cNvPr id="420" name="Google Shape;420;p25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0A19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5"/>
              <p:cNvSpPr/>
              <p:nvPr/>
            </p:nvSpPr>
            <p:spPr>
              <a:xfrm>
                <a:off x="76200" y="95250"/>
                <a:ext cx="152400" cy="1143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12000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" name="Google Shape;422;p25"/>
            <p:cNvGrpSpPr/>
            <p:nvPr/>
          </p:nvGrpSpPr>
          <p:grpSpPr>
            <a:xfrm>
              <a:off x="8496300" y="457200"/>
              <a:ext cx="190500" cy="114300"/>
              <a:chOff x="8496300" y="457200"/>
              <a:chExt cx="190500" cy="114300"/>
            </a:xfrm>
          </p:grpSpPr>
          <p:sp>
            <p:nvSpPr>
              <p:cNvPr id="423" name="Google Shape;423;p25"/>
              <p:cNvSpPr/>
              <p:nvPr/>
            </p:nvSpPr>
            <p:spPr>
              <a:xfrm>
                <a:off x="8496300" y="457200"/>
                <a:ext cx="190500" cy="38100"/>
              </a:xfrm>
              <a:prstGeom prst="rect">
                <a:avLst/>
              </a:prstGeom>
              <a:solidFill>
                <a:srgbClr val="8B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8496300" y="533400"/>
                <a:ext cx="114300" cy="38100"/>
              </a:xfrm>
              <a:prstGeom prst="rect">
                <a:avLst/>
              </a:prstGeom>
              <a:solidFill>
                <a:srgbClr val="2A62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5" name="Google Shape;425;p25"/>
            <p:cNvSpPr txBox="1"/>
            <p:nvPr/>
          </p:nvSpPr>
          <p:spPr>
            <a:xfrm>
              <a:off x="952500" y="400050"/>
              <a:ext cx="666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A192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Question 21: IT Stock Price Trends</a:t>
              </a:r>
              <a:endParaRPr b="1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426" name="Google Shape;426;p25"/>
          <p:cNvGrpSpPr/>
          <p:nvPr/>
        </p:nvGrpSpPr>
        <p:grpSpPr>
          <a:xfrm>
            <a:off x="457200" y="1047750"/>
            <a:ext cx="4000500" cy="2667000"/>
            <a:chOff x="0" y="0"/>
            <a:chExt cx="4000500" cy="2667000"/>
          </a:xfrm>
        </p:grpSpPr>
        <p:sp>
          <p:nvSpPr>
            <p:cNvPr id="427" name="Google Shape;427;p25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0" y="0"/>
              <a:ext cx="4000500" cy="381000"/>
            </a:xfrm>
            <a:prstGeom prst="roundRect">
              <a:avLst>
                <a:gd fmla="val 10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5"/>
            <p:cNvSpPr txBox="1"/>
            <p:nvPr/>
          </p:nvSpPr>
          <p:spPr>
            <a:xfrm>
              <a:off x="152400" y="9525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STOCK PRICE MOVEMENT (INR)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30" name="Google Shape;430;p25"/>
            <p:cNvPicPr preferRelativeResize="0"/>
            <p:nvPr/>
          </p:nvPicPr>
          <p:blipFill rotWithShape="1">
            <a:blip r:embed="rId3">
              <a:alphaModFix/>
            </a:blip>
            <a:srcRect b="50" l="0" r="0" t="60"/>
            <a:stretch/>
          </p:blipFill>
          <p:spPr>
            <a:xfrm>
              <a:off x="152400" y="533400"/>
              <a:ext cx="3695700" cy="207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1" name="Google Shape;431;p25"/>
          <p:cNvGrpSpPr/>
          <p:nvPr/>
        </p:nvGrpSpPr>
        <p:grpSpPr>
          <a:xfrm>
            <a:off x="4686300" y="1047750"/>
            <a:ext cx="4000500" cy="2667000"/>
            <a:chOff x="0" y="0"/>
            <a:chExt cx="4000500" cy="2667000"/>
          </a:xfrm>
        </p:grpSpPr>
        <p:sp>
          <p:nvSpPr>
            <p:cNvPr id="432" name="Google Shape;432;p25"/>
            <p:cNvSpPr/>
            <p:nvPr/>
          </p:nvSpPr>
          <p:spPr>
            <a:xfrm>
              <a:off x="0" y="0"/>
              <a:ext cx="4000500" cy="1143000"/>
            </a:xfrm>
            <a:prstGeom prst="roundRect">
              <a:avLst>
                <a:gd fmla="val 3333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5"/>
            <p:cNvSpPr txBox="1"/>
            <p:nvPr/>
          </p:nvSpPr>
          <p:spPr>
            <a:xfrm>
              <a:off x="152400" y="1524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QUESTION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4" name="Google Shape;434;p25"/>
            <p:cNvSpPr txBox="1"/>
            <p:nvPr/>
          </p:nvSpPr>
          <p:spPr>
            <a:xfrm>
              <a:off x="152400" y="381000"/>
              <a:ext cx="3695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Calculate the percentage change for a tech stock priced at ₹150 on Tuesday that dropped to ₹120 by Thursday.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35" name="Google Shape;435;p25"/>
            <p:cNvSpPr/>
            <p:nvPr/>
          </p:nvSpPr>
          <p:spPr>
            <a:xfrm>
              <a:off x="0" y="1295400"/>
              <a:ext cx="4000500" cy="1371600"/>
            </a:xfrm>
            <a:prstGeom prst="roundRect">
              <a:avLst>
                <a:gd fmla="val 2777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5"/>
            <p:cNvSpPr txBox="1"/>
            <p:nvPr/>
          </p:nvSpPr>
          <p:spPr>
            <a:xfrm>
              <a:off x="152400" y="14478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PERCENTAGE DECREASE CALCULATION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7" name="Google Shape;437;p25"/>
            <p:cNvSpPr txBox="1"/>
            <p:nvPr/>
          </p:nvSpPr>
          <p:spPr>
            <a:xfrm>
              <a:off x="152400" y="1676400"/>
              <a:ext cx="3695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1. Absolute Decrease: 150 - 120 = ₹30</a:t>
              </a:r>
              <a:endParaRPr b="0" sz="111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2. Formula: (Change / Original Price) × 100</a:t>
              </a:r>
              <a:endParaRPr b="0" sz="111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3. Calc: (30 / 150) × 100 = 1/5 × 100</a:t>
              </a:r>
              <a:endParaRPr b="0" sz="111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1000"/>
                </a:spcAft>
                <a:buNone/>
              </a:pPr>
              <a:r>
                <a:rPr b="1" lang="en" sz="111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Result: 20% Decrease</a:t>
              </a:r>
              <a:endParaRPr b="1" sz="111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8" name="Google Shape;438;p25"/>
          <p:cNvGrpSpPr/>
          <p:nvPr/>
        </p:nvGrpSpPr>
        <p:grpSpPr>
          <a:xfrm>
            <a:off x="457200" y="3905250"/>
            <a:ext cx="8229600" cy="571500"/>
            <a:chOff x="0" y="0"/>
            <a:chExt cx="8229600" cy="571500"/>
          </a:xfrm>
        </p:grpSpPr>
        <p:sp>
          <p:nvSpPr>
            <p:cNvPr id="439" name="Google Shape;439;p25"/>
            <p:cNvSpPr/>
            <p:nvPr/>
          </p:nvSpPr>
          <p:spPr>
            <a:xfrm>
              <a:off x="0" y="0"/>
              <a:ext cx="8229600" cy="571500"/>
            </a:xfrm>
            <a:prstGeom prst="roundRect">
              <a:avLst>
                <a:gd fmla="val 6666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5"/>
            <p:cNvSpPr txBox="1"/>
            <p:nvPr/>
          </p:nvSpPr>
          <p:spPr>
            <a:xfrm>
              <a:off x="228600" y="171450"/>
              <a:ext cx="777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F4F4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CRITICAL RULE: Always divide the absolute change by the ORIGINAL (starting) value to find the percentage.</a:t>
              </a:r>
              <a:endParaRPr b="0" sz="1110">
                <a:solidFill>
                  <a:srgbClr val="F4F4F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41" name="Google Shape;441;p25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442" name="Google Shape;442;p25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5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44" name="Google Shape;444;p25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26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451" name="Google Shape;451;p26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26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454" name="Google Shape;454;p26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26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Question 22: Algorithm Execution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457" name="Google Shape;457;p26"/>
          <p:cNvGrpSpPr/>
          <p:nvPr/>
        </p:nvGrpSpPr>
        <p:grpSpPr>
          <a:xfrm>
            <a:off x="457200" y="1143000"/>
            <a:ext cx="4000500" cy="1905000"/>
            <a:chOff x="0" y="0"/>
            <a:chExt cx="4000500" cy="1905000"/>
          </a:xfrm>
        </p:grpSpPr>
        <p:sp>
          <p:nvSpPr>
            <p:cNvPr id="458" name="Google Shape;458;p26"/>
            <p:cNvSpPr/>
            <p:nvPr/>
          </p:nvSpPr>
          <p:spPr>
            <a:xfrm>
              <a:off x="0" y="0"/>
              <a:ext cx="4000500" cy="1905000"/>
            </a:xfrm>
            <a:prstGeom prst="roundRect">
              <a:avLst>
                <a:gd fmla="val 300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0" y="0"/>
              <a:ext cx="4000500" cy="285900"/>
            </a:xfrm>
            <a:prstGeom prst="roundRect">
              <a:avLst>
                <a:gd fmla="val 20000" name="adj"/>
              </a:avLst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152400" y="104775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304800" y="104775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457200" y="104775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6"/>
            <p:cNvSpPr txBox="1"/>
            <p:nvPr/>
          </p:nvSpPr>
          <p:spPr>
            <a:xfrm>
              <a:off x="190500" y="47625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X = 15</a:t>
              </a:r>
              <a:endParaRPr b="0" sz="11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Y = 25</a:t>
              </a:r>
              <a:endParaRPr b="0" sz="11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If X &gt; 10 then</a:t>
              </a:r>
              <a:endParaRPr b="0" sz="11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  X = 20</a:t>
              </a:r>
              <a:endParaRPr b="0" sz="11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0" lang="en" sz="1100">
                  <a:solidFill>
                    <a:srgbClr val="E6F2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Print Y - X</a:t>
              </a:r>
              <a:endParaRPr b="0" sz="1100">
                <a:solidFill>
                  <a:srgbClr val="E6F2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464" name="Google Shape;464;p26"/>
          <p:cNvGrpSpPr/>
          <p:nvPr/>
        </p:nvGrpSpPr>
        <p:grpSpPr>
          <a:xfrm>
            <a:off x="457200" y="3238500"/>
            <a:ext cx="4000500" cy="762000"/>
            <a:chOff x="0" y="0"/>
            <a:chExt cx="4000500" cy="762000"/>
          </a:xfrm>
        </p:grpSpPr>
        <p:sp>
          <p:nvSpPr>
            <p:cNvPr id="465" name="Google Shape;465;p26"/>
            <p:cNvSpPr/>
            <p:nvPr/>
          </p:nvSpPr>
          <p:spPr>
            <a:xfrm>
              <a:off x="0" y="0"/>
              <a:ext cx="4000500" cy="762000"/>
            </a:xfrm>
            <a:prstGeom prst="roundRect">
              <a:avLst>
                <a:gd fmla="val 5000" name="adj"/>
              </a:avLst>
            </a:prstGeom>
            <a:solidFill>
              <a:srgbClr val="FFF0F0"/>
            </a:solidFill>
            <a:ln cap="flat" cmpd="sng" w="19050">
              <a:solidFill>
                <a:srgbClr val="8B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25000" name="adj"/>
              </a:avLst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6"/>
            <p:cNvSpPr txBox="1"/>
            <p:nvPr/>
          </p:nvSpPr>
          <p:spPr>
            <a:xfrm>
              <a:off x="228600" y="11430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PRO TIP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8" name="Google Shape;468;p26"/>
            <p:cNvSpPr txBox="1"/>
            <p:nvPr/>
          </p:nvSpPr>
          <p:spPr>
            <a:xfrm>
              <a:off x="228600" y="3048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018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Always act as the compiler: trace every variable update step-by-step to avoid mental calculation errors.</a:t>
              </a:r>
              <a:endParaRPr b="0" sz="1018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9" name="Google Shape;469;p26"/>
          <p:cNvGrpSpPr/>
          <p:nvPr/>
        </p:nvGrpSpPr>
        <p:grpSpPr>
          <a:xfrm>
            <a:off x="4686300" y="1143000"/>
            <a:ext cx="4000500" cy="2857500"/>
            <a:chOff x="0" y="0"/>
            <a:chExt cx="4000500" cy="2857500"/>
          </a:xfrm>
        </p:grpSpPr>
        <p:sp>
          <p:nvSpPr>
            <p:cNvPr id="470" name="Google Shape;470;p26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4000" name="adj"/>
              </a:avLst>
            </a:prstGeom>
            <a:solidFill>
              <a:srgbClr val="F4F4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 txBox="1"/>
            <p:nvPr/>
          </p:nvSpPr>
          <p:spPr>
            <a:xfrm>
              <a:off x="152400" y="1524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LOGIC EVALUATION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2" name="Google Shape;472;p26"/>
            <p:cNvSpPr txBox="1"/>
            <p:nvPr/>
          </p:nvSpPr>
          <p:spPr>
            <a:xfrm>
              <a:off x="152400" y="381000"/>
              <a:ext cx="3695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Evaluate the condition 'X &gt; 10' and calculate the final output of Y - X.</a:t>
              </a:r>
              <a:endParaRPr b="0" sz="1200">
                <a:solidFill>
                  <a:srgbClr val="4F5D7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0" y="1104900"/>
              <a:ext cx="4000500" cy="1752600"/>
            </a:xfrm>
            <a:prstGeom prst="roundRect">
              <a:avLst>
                <a:gd fmla="val 2173" name="adj"/>
              </a:avLst>
            </a:prstGeom>
            <a:solidFill>
              <a:srgbClr val="FFFFFF"/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6"/>
            <p:cNvSpPr txBox="1"/>
            <p:nvPr/>
          </p:nvSpPr>
          <p:spPr>
            <a:xfrm>
              <a:off x="152400" y="1257300"/>
              <a:ext cx="3695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rPr>
                <a:t>TRACE RESULTS</a:t>
              </a:r>
              <a:endParaRPr b="1" sz="900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5" name="Google Shape;475;p26"/>
            <p:cNvSpPr txBox="1"/>
            <p:nvPr/>
          </p:nvSpPr>
          <p:spPr>
            <a:xfrm>
              <a:off x="152400" y="1485900"/>
              <a:ext cx="36957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1. Initial: X = 15, Y = 25.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2. Condition: 15 &gt; 10 is True.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3. Reassignment: X becomes 20.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4. Calculation: Y - X = 25 - 20.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Final Printed Output: 5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6" name="Google Shape;476;p26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477" name="Google Shape;477;p26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6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79" name="Google Shape;479;p26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27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486" name="Google Shape;486;p27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7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27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489" name="Google Shape;489;p27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27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Rapid-Fire Theory: CS Fundamentals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492" name="Google Shape;492;p27"/>
          <p:cNvGrpSpPr/>
          <p:nvPr/>
        </p:nvGrpSpPr>
        <p:grpSpPr>
          <a:xfrm>
            <a:off x="457200" y="1143000"/>
            <a:ext cx="8229600" cy="2476500"/>
            <a:chOff x="0" y="0"/>
            <a:chExt cx="8229600" cy="2476500"/>
          </a:xfrm>
        </p:grpSpPr>
        <p:grpSp>
          <p:nvGrpSpPr>
            <p:cNvPr id="493" name="Google Shape;493;p27"/>
            <p:cNvGrpSpPr/>
            <p:nvPr/>
          </p:nvGrpSpPr>
          <p:grpSpPr>
            <a:xfrm>
              <a:off x="0" y="0"/>
              <a:ext cx="2590800" cy="2476500"/>
              <a:chOff x="0" y="0"/>
              <a:chExt cx="2590800" cy="2476500"/>
            </a:xfrm>
          </p:grpSpPr>
          <p:sp>
            <p:nvSpPr>
              <p:cNvPr id="494" name="Google Shape;494;p27"/>
              <p:cNvSpPr/>
              <p:nvPr/>
            </p:nvSpPr>
            <p:spPr>
              <a:xfrm>
                <a:off x="0" y="0"/>
                <a:ext cx="2590800" cy="2476500"/>
              </a:xfrm>
              <a:prstGeom prst="roundRect">
                <a:avLst>
                  <a:gd fmla="val 1538" name="adj"/>
                </a:avLst>
              </a:prstGeom>
              <a:solidFill>
                <a:srgbClr val="F4F4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7"/>
              <p:cNvSpPr/>
              <p:nvPr/>
            </p:nvSpPr>
            <p:spPr>
              <a:xfrm>
                <a:off x="0" y="0"/>
                <a:ext cx="2590800" cy="38100"/>
              </a:xfrm>
              <a:prstGeom prst="rect">
                <a:avLst/>
              </a:prstGeom>
              <a:solidFill>
                <a:srgbClr val="0A19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7"/>
              <p:cNvSpPr txBox="1"/>
              <p:nvPr/>
            </p:nvSpPr>
            <p:spPr>
              <a:xfrm>
                <a:off x="152400" y="190500"/>
                <a:ext cx="2286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A628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Q23: Binary to Decimal</a:t>
                </a:r>
                <a:endParaRPr b="0" sz="16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97" name="Google Shape;497;p27"/>
              <p:cNvSpPr txBox="1"/>
              <p:nvPr/>
            </p:nvSpPr>
            <p:spPr>
              <a:xfrm>
                <a:off x="152400" y="571500"/>
                <a:ext cx="2286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Convert binary </a:t>
                </a:r>
                <a:r>
                  <a:rPr b="1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1011</a:t>
                </a: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 to decimal: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(1 * 2³) + (0 * 2²) + (1 * 2¹) + (1 * 2⁰)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= 8 + 0 + 2 + 1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1000"/>
                  </a:spcAft>
                  <a:buNone/>
                </a:pPr>
                <a:r>
                  <a:rPr b="1" lang="en" sz="1200">
                    <a:solidFill>
                      <a:srgbClr val="8B0000"/>
                    </a:solidFill>
                    <a:latin typeface="Inter"/>
                    <a:ea typeface="Inter"/>
                    <a:cs typeface="Inter"/>
                    <a:sym typeface="Inter"/>
                  </a:rPr>
                  <a:t>Result: 11</a:t>
                </a:r>
                <a:endParaRPr b="1" sz="1200">
                  <a:solidFill>
                    <a:srgbClr val="8B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8" name="Google Shape;498;p27"/>
            <p:cNvGrpSpPr/>
            <p:nvPr/>
          </p:nvGrpSpPr>
          <p:grpSpPr>
            <a:xfrm>
              <a:off x="2819400" y="0"/>
              <a:ext cx="2590800" cy="2476500"/>
              <a:chOff x="0" y="0"/>
              <a:chExt cx="2590800" cy="2476500"/>
            </a:xfrm>
          </p:grpSpPr>
          <p:sp>
            <p:nvSpPr>
              <p:cNvPr id="499" name="Google Shape;499;p27"/>
              <p:cNvSpPr/>
              <p:nvPr/>
            </p:nvSpPr>
            <p:spPr>
              <a:xfrm>
                <a:off x="0" y="0"/>
                <a:ext cx="2590800" cy="2476500"/>
              </a:xfrm>
              <a:prstGeom prst="roundRect">
                <a:avLst>
                  <a:gd fmla="val 1538" name="adj"/>
                </a:avLst>
              </a:prstGeom>
              <a:solidFill>
                <a:srgbClr val="F4F4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7"/>
              <p:cNvSpPr/>
              <p:nvPr/>
            </p:nvSpPr>
            <p:spPr>
              <a:xfrm>
                <a:off x="0" y="0"/>
                <a:ext cx="2590800" cy="38100"/>
              </a:xfrm>
              <a:prstGeom prst="rect">
                <a:avLst/>
              </a:prstGeom>
              <a:solidFill>
                <a:srgbClr val="2A62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7"/>
              <p:cNvSpPr txBox="1"/>
              <p:nvPr/>
            </p:nvSpPr>
            <p:spPr>
              <a:xfrm>
                <a:off x="152400" y="190500"/>
                <a:ext cx="2286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A628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Q24: FIFO Structure</a:t>
                </a:r>
                <a:endParaRPr b="0" sz="16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02" name="Google Shape;502;p27"/>
              <p:cNvSpPr txBox="1"/>
              <p:nvPr/>
            </p:nvSpPr>
            <p:spPr>
              <a:xfrm>
                <a:off x="152400" y="571500"/>
                <a:ext cx="2286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Which data structure operates on a </a:t>
                </a:r>
                <a:r>
                  <a:rPr b="1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First-In, First-Out</a:t>
                </a: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 basis?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The correct answer is a </a:t>
                </a:r>
                <a:r>
                  <a:rPr b="1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Queue</a:t>
                </a: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, mimicking a real-world waiting line.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03" name="Google Shape;503;p27"/>
            <p:cNvGrpSpPr/>
            <p:nvPr/>
          </p:nvGrpSpPr>
          <p:grpSpPr>
            <a:xfrm>
              <a:off x="5638800" y="0"/>
              <a:ext cx="2590800" cy="2476500"/>
              <a:chOff x="0" y="0"/>
              <a:chExt cx="2590800" cy="2476500"/>
            </a:xfrm>
          </p:grpSpPr>
          <p:sp>
            <p:nvSpPr>
              <p:cNvPr id="504" name="Google Shape;504;p27"/>
              <p:cNvSpPr/>
              <p:nvPr/>
            </p:nvSpPr>
            <p:spPr>
              <a:xfrm>
                <a:off x="0" y="0"/>
                <a:ext cx="2590800" cy="2476500"/>
              </a:xfrm>
              <a:prstGeom prst="roundRect">
                <a:avLst>
                  <a:gd fmla="val 1538" name="adj"/>
                </a:avLst>
              </a:prstGeom>
              <a:solidFill>
                <a:srgbClr val="F4F4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7"/>
              <p:cNvSpPr/>
              <p:nvPr/>
            </p:nvSpPr>
            <p:spPr>
              <a:xfrm>
                <a:off x="0" y="0"/>
                <a:ext cx="2590800" cy="38100"/>
              </a:xfrm>
              <a:prstGeom prst="rect">
                <a:avLst/>
              </a:prstGeom>
              <a:solidFill>
                <a:srgbClr val="8B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7"/>
              <p:cNvSpPr txBox="1"/>
              <p:nvPr/>
            </p:nvSpPr>
            <p:spPr>
              <a:xfrm>
                <a:off x="152400" y="190500"/>
                <a:ext cx="2286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A628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Q25: Diamond Shape</a:t>
                </a:r>
                <a:endParaRPr b="0" sz="1600">
                  <a:solidFill>
                    <a:srgbClr val="2A628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07" name="Google Shape;507;p27"/>
              <p:cNvSpPr txBox="1"/>
              <p:nvPr/>
            </p:nvSpPr>
            <p:spPr>
              <a:xfrm>
                <a:off x="152400" y="571500"/>
                <a:ext cx="2286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In algorithm flowcharting, what does a diamond represent?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It denotes a </a:t>
                </a:r>
                <a:r>
                  <a:rPr b="1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Decision point</a:t>
                </a:r>
                <a:r>
                  <a:rPr b="0" lang="en" sz="1200">
                    <a:solidFill>
                      <a:srgbClr val="4F5D75"/>
                    </a:solidFill>
                    <a:latin typeface="Inter"/>
                    <a:ea typeface="Inter"/>
                    <a:cs typeface="Inter"/>
                    <a:sym typeface="Inter"/>
                  </a:rPr>
                  <a:t>, typically evaluating a true/false or yes/no condition.</a:t>
                </a:r>
                <a:endParaRPr b="0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08" name="Google Shape;508;p27"/>
          <p:cNvGrpSpPr/>
          <p:nvPr/>
        </p:nvGrpSpPr>
        <p:grpSpPr>
          <a:xfrm>
            <a:off x="457200" y="3905250"/>
            <a:ext cx="8229600" cy="571500"/>
            <a:chOff x="0" y="0"/>
            <a:chExt cx="8229600" cy="571500"/>
          </a:xfrm>
        </p:grpSpPr>
        <p:sp>
          <p:nvSpPr>
            <p:cNvPr id="509" name="Google Shape;509;p27"/>
            <p:cNvSpPr/>
            <p:nvPr/>
          </p:nvSpPr>
          <p:spPr>
            <a:xfrm>
              <a:off x="0" y="0"/>
              <a:ext cx="8229600" cy="571500"/>
            </a:xfrm>
            <a:prstGeom prst="roundRect">
              <a:avLst>
                <a:gd fmla="val 6666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7"/>
            <p:cNvSpPr txBox="1"/>
            <p:nvPr/>
          </p:nvSpPr>
          <p:spPr>
            <a:xfrm>
              <a:off x="228600" y="0"/>
              <a:ext cx="7772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4F4F9"/>
                  </a:solidFill>
                  <a:latin typeface="Inter"/>
                  <a:ea typeface="Inter"/>
                  <a:cs typeface="Inter"/>
                  <a:sym typeface="Inter"/>
                </a:rPr>
                <a:t>Bank time on these fundamental theory questions to solve harder problems later.</a:t>
              </a:r>
              <a:endParaRPr b="0" sz="1200">
                <a:solidFill>
                  <a:srgbClr val="F4F4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1" name="Google Shape;511;p27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512" name="Google Shape;512;p27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7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14" name="Google Shape;514;p27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Google Shape;519;p28"/>
          <p:cNvGrpSpPr/>
          <p:nvPr/>
        </p:nvGrpSpPr>
        <p:grpSpPr>
          <a:xfrm>
            <a:off x="457200" y="381000"/>
            <a:ext cx="304800" cy="304800"/>
            <a:chOff x="0" y="0"/>
            <a:chExt cx="304800" cy="304800"/>
          </a:xfrm>
        </p:grpSpPr>
        <p:sp>
          <p:nvSpPr>
            <p:cNvPr id="520" name="Google Shape;520;p28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76200" y="95250"/>
              <a:ext cx="152400" cy="1143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28"/>
          <p:cNvGrpSpPr/>
          <p:nvPr/>
        </p:nvGrpSpPr>
        <p:grpSpPr>
          <a:xfrm>
            <a:off x="8496300" y="457200"/>
            <a:ext cx="190500" cy="114300"/>
            <a:chOff x="8496300" y="457200"/>
            <a:chExt cx="190500" cy="114300"/>
          </a:xfrm>
        </p:grpSpPr>
        <p:sp>
          <p:nvSpPr>
            <p:cNvPr id="523" name="Google Shape;523;p28"/>
            <p:cNvSpPr/>
            <p:nvPr/>
          </p:nvSpPr>
          <p:spPr>
            <a:xfrm>
              <a:off x="8496300" y="457200"/>
              <a:ext cx="190500" cy="381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8496300" y="533400"/>
              <a:ext cx="114300" cy="38100"/>
            </a:xfrm>
            <a:prstGeom prst="rect">
              <a:avLst/>
            </a:prstGeom>
            <a:solidFill>
              <a:srgbClr val="2A62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28"/>
          <p:cNvSpPr txBox="1"/>
          <p:nvPr/>
        </p:nvSpPr>
        <p:spPr>
          <a:xfrm>
            <a:off x="952500" y="4000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192F"/>
                </a:solidFill>
                <a:latin typeface="Roboto Slab"/>
                <a:ea typeface="Roboto Slab"/>
                <a:cs typeface="Roboto Slab"/>
                <a:sym typeface="Roboto Slab"/>
              </a:rPr>
              <a:t>Success Strategies &amp; Exam Day Tactics</a:t>
            </a:r>
            <a:endParaRPr b="1" sz="2400">
              <a:solidFill>
                <a:srgbClr val="0A192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526" name="Google Shape;526;p28"/>
          <p:cNvGrpSpPr/>
          <p:nvPr/>
        </p:nvGrpSpPr>
        <p:grpSpPr>
          <a:xfrm>
            <a:off x="457200" y="1143000"/>
            <a:ext cx="8229450" cy="2190900"/>
            <a:chOff x="0" y="0"/>
            <a:chExt cx="8229450" cy="2190900"/>
          </a:xfrm>
        </p:grpSpPr>
        <p:sp>
          <p:nvSpPr>
            <p:cNvPr id="527" name="Google Shape;527;p28"/>
            <p:cNvSpPr txBox="1"/>
            <p:nvPr/>
          </p:nvSpPr>
          <p:spPr>
            <a:xfrm>
              <a:off x="0" y="0"/>
              <a:ext cx="4381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Strict Pacing: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Allocate an average of 90 seconds per problem to ensure full coverage of the exam.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Mental Math Mastery: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Memorize common fractions, percentages, and Pythagorean triples to bypass manual work.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Option Elimination: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Rapidly discard obviously incorrect choices—it's often faster than calculation.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4F5D75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Avoid Sunk Costs:</a:t>
              </a:r>
              <a:r>
                <a:rPr b="0" lang="en" sz="1200">
                  <a:solidFill>
                    <a:srgbClr val="4F5D75"/>
                  </a:solidFill>
                  <a:latin typeface="Inter"/>
                  <a:ea typeface="Inter"/>
                  <a:cs typeface="Inter"/>
                  <a:sym typeface="Inter"/>
                </a:rPr>
                <a:t> Do not get stuck on a single difficult puzzle; maintain momentum through the section.</a:t>
              </a:r>
              <a:endParaRPr b="0" sz="1200">
                <a:solidFill>
                  <a:srgbClr val="4F5D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4667250" y="0"/>
              <a:ext cx="3562200" cy="2000100"/>
            </a:xfrm>
            <a:prstGeom prst="roundRect">
              <a:avLst>
                <a:gd fmla="val 1904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D1D8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9" name="Google Shape;529;p28"/>
            <p:cNvPicPr preferRelativeResize="0"/>
            <p:nvPr/>
          </p:nvPicPr>
          <p:blipFill rotWithShape="1">
            <a:blip r:embed="rId3">
              <a:alphaModFix/>
            </a:blip>
            <a:srcRect b="298" l="0" r="0" t="298"/>
            <a:stretch/>
          </p:blipFill>
          <p:spPr>
            <a:xfrm>
              <a:off x="4676775" y="9525"/>
              <a:ext cx="3543300" cy="1981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" name="Google Shape;530;p28"/>
          <p:cNvGrpSpPr/>
          <p:nvPr/>
        </p:nvGrpSpPr>
        <p:grpSpPr>
          <a:xfrm>
            <a:off x="457200" y="3619500"/>
            <a:ext cx="8229600" cy="762000"/>
            <a:chOff x="0" y="0"/>
            <a:chExt cx="8229600" cy="762000"/>
          </a:xfrm>
        </p:grpSpPr>
        <p:sp>
          <p:nvSpPr>
            <p:cNvPr id="531" name="Google Shape;531;p28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8"/>
            <p:cNvSpPr txBox="1"/>
            <p:nvPr/>
          </p:nvSpPr>
          <p:spPr>
            <a:xfrm>
              <a:off x="228600" y="142875"/>
              <a:ext cx="777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4F4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Q&amp;A SESSION</a:t>
              </a:r>
              <a:endParaRPr b="0" sz="1800">
                <a:solidFill>
                  <a:srgbClr val="F4F4F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4F4F9"/>
                  </a:solidFill>
                  <a:latin typeface="Inter"/>
                  <a:ea typeface="Inter"/>
                  <a:cs typeface="Inter"/>
                  <a:sym typeface="Inter"/>
                </a:rPr>
                <a:t>Addressing specific problem types or testing strategies</a:t>
              </a:r>
              <a:endParaRPr b="0" sz="1100">
                <a:solidFill>
                  <a:srgbClr val="F4F4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3" name="Google Shape;533;p28"/>
          <p:cNvGrpSpPr/>
          <p:nvPr/>
        </p:nvGrpSpPr>
        <p:grpSpPr>
          <a:xfrm>
            <a:off x="457200" y="4762500"/>
            <a:ext cx="8229600" cy="285750"/>
            <a:chOff x="457200" y="4762500"/>
            <a:chExt cx="8229600" cy="285750"/>
          </a:xfrm>
        </p:grpSpPr>
        <p:sp>
          <p:nvSpPr>
            <p:cNvPr id="534" name="Google Shape;534;p28"/>
            <p:cNvSpPr/>
            <p:nvPr/>
          </p:nvSpPr>
          <p:spPr>
            <a:xfrm>
              <a:off x="457200" y="4762500"/>
              <a:ext cx="8229600" cy="9600"/>
            </a:xfrm>
            <a:prstGeom prst="rect">
              <a:avLst/>
            </a:prstGeom>
            <a:solidFill>
              <a:srgbClr val="D1D8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8"/>
            <p:cNvSpPr txBox="1"/>
            <p:nvPr/>
          </p:nvSpPr>
          <p:spPr>
            <a:xfrm>
              <a:off x="4572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Software Placement Aptitude Review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36" name="Google Shape;536;p28"/>
            <p:cNvSpPr txBox="1"/>
            <p:nvPr/>
          </p:nvSpPr>
          <p:spPr>
            <a:xfrm>
              <a:off x="48768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F5D7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Brinda Dorairaj</a:t>
              </a:r>
              <a:endParaRPr b="0" sz="900">
                <a:solidFill>
                  <a:srgbClr val="4F5D7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