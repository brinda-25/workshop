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9144000" cy="5143500"/>
  <p:notesSz cx="6858000" cy="9144000"/>
  <p:embeddedFontLst>
    <p:embeddedFont>
      <p:font typeface="Space Grotesk"/>
      <p:regular r:id="rId11"/>
    </p:embeddedFont>
    <p:embeddedFont>
      <p:font typeface="Outfit"/>
      <p:regular r:id="rId12"/>
    </p:embeddedFont>
    <p:embeddedFont>
      <p:font typeface="Space Grotesk Medium"/>
      <p:regular r:id="rId13"/>
    </p:embeddedFont>
    <p:embeddedFont>
      <p:font typeface="Outfit Medium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2c767a14_17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52c767a14_17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2c767a14_16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2c767a14_16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2c767a14_15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52c767a14_15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52c767a14_14_0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52c767a14_14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52c767a14_13_0)">
  <p:cSld name="Generated (g3f52c767a14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DE5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57" name="Google Shape;57;p14"/>
            <p:cNvGrpSpPr/>
            <p:nvPr/>
          </p:nvGrpSpPr>
          <p:grpSpPr>
            <a:xfrm>
              <a:off x="7691438" y="547688"/>
              <a:ext cx="1371825" cy="1300275"/>
              <a:chOff x="47625" y="47625"/>
              <a:chExt cx="914550" cy="866850"/>
            </a:xfrm>
          </p:grpSpPr>
          <p:sp>
            <p:nvSpPr>
              <p:cNvPr id="58" name="Google Shape;58;p14"/>
              <p:cNvSpPr/>
              <p:nvPr/>
            </p:nvSpPr>
            <p:spPr>
              <a:xfrm>
                <a:off x="104775" y="10477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9" name="Google Shape;59;p14"/>
              <p:cNvSpPr/>
              <p:nvPr/>
            </p:nvSpPr>
            <p:spPr>
              <a:xfrm>
                <a:off x="47625" y="4762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FFDE59"/>
              </a:solidFill>
              <a:ln w="38100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0" name="Google Shape;60;p14"/>
            <p:cNvGrpSpPr/>
            <p:nvPr/>
          </p:nvGrpSpPr>
          <p:grpSpPr>
            <a:xfrm>
              <a:off x="533400" y="3867150"/>
              <a:ext cx="1097460" cy="1040220"/>
              <a:chOff x="47625" y="47625"/>
              <a:chExt cx="914550" cy="866850"/>
            </a:xfrm>
          </p:grpSpPr>
          <p:sp>
            <p:nvSpPr>
              <p:cNvPr id="61" name="Google Shape;61;p14"/>
              <p:cNvSpPr/>
              <p:nvPr/>
            </p:nvSpPr>
            <p:spPr>
              <a:xfrm>
                <a:off x="104775" y="10477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2" name="Google Shape;62;p14"/>
              <p:cNvSpPr/>
              <p:nvPr/>
            </p:nvSpPr>
            <p:spPr>
              <a:xfrm>
                <a:off x="47625" y="4762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FFDE59"/>
              </a:solidFill>
              <a:ln w="38100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63" name="Google Shape;63;p14"/>
            <p:cNvGrpSpPr/>
            <p:nvPr/>
          </p:nvGrpSpPr>
          <p:grpSpPr>
            <a:xfrm>
              <a:off x="8134350" y="4038600"/>
              <a:ext cx="685800" cy="685800"/>
              <a:chOff x="38100" y="38100"/>
              <a:chExt cx="685800" cy="685800"/>
            </a:xfrm>
          </p:grpSpPr>
          <p:sp>
            <p:nvSpPr>
              <p:cNvPr id="64" name="Google Shape;64;p14"/>
              <p:cNvSpPr/>
              <p:nvPr/>
            </p:nvSpPr>
            <p:spPr>
              <a:xfrm>
                <a:off x="38100" y="38100"/>
                <a:ext cx="685800" cy="685800"/>
              </a:xfrm>
              <a:prstGeom prst="ellipse">
                <a:avLst/>
              </a:prstGeom>
              <a:solidFill>
                <a:srgbClr val="FFDE59"/>
              </a:solidFill>
              <a:ln w="38100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5" name="Google Shape;65;p14"/>
              <p:cNvSpPr txBox="1"/>
              <p:nvPr/>
            </p:nvSpPr>
            <p:spPr>
              <a:xfrm>
                <a:off x="95250" y="9525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700" b="1">
                    <a:solidFill>
                      <a:srgbClr val="111111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₹</a:t>
                </a:r>
                <a:endParaRPr lang="en-GB" sz="27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sp>
          <p:nvSpPr>
            <p:cNvPr id="66" name="Google Shape;66;p14"/>
            <p:cNvSpPr/>
            <p:nvPr/>
          </p:nvSpPr>
          <p:spPr>
            <a:xfrm>
              <a:off x="190500" y="190500"/>
              <a:ext cx="8763000" cy="4762500"/>
            </a:xfrm>
            <a:prstGeom prst="roundRect">
              <a:avLst>
                <a:gd name="adj" fmla="val 3200"/>
              </a:avLst>
            </a:prstGeom>
            <a:solidFill>
              <a:srgbClr val="000000">
                <a:alpha val="0"/>
              </a:srgbClr>
            </a:solidFill>
            <a:ln w="762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7" name="Google Shape;67;p14"/>
          <p:cNvSpPr txBox="1"/>
          <p:nvPr/>
        </p:nvSpPr>
        <p:spPr>
          <a:xfrm>
            <a:off x="762000" y="1238250"/>
            <a:ext cx="76200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3300" b="0">
                <a:solidFill>
                  <a:srgbClr val="FF66C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Chennai Pocket Money Paradox</a:t>
            </a:r>
            <a:endParaRPr sz="3300" b="0">
              <a:solidFill>
                <a:srgbClr val="FF66C4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ctr" rtl="0">
              <a:spcBef>
                <a:spcPts val="270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111111"/>
                </a:solidFill>
                <a:highlight>
                  <a:srgbClr val="FFFFFF"/>
                </a:highlight>
                <a:latin typeface="Space Grotesk"/>
                <a:ea typeface="Space Grotesk"/>
                <a:cs typeface="Space Grotesk"/>
                <a:sym typeface="Space Grotesk"/>
              </a:rPr>
              <a:t>How one TN billionaire's son crashed a simple statistics lesson.</a:t>
            </a:r>
            <a:endParaRPr sz="1500" b="1">
              <a:solidFill>
                <a:srgbClr val="111111"/>
              </a:solidFill>
              <a:highlight>
                <a:srgbClr val="FFFF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5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38B6FF"/>
          </a:solidFill>
          <a:ln w="381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15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FFDE59"/>
          </a:solidFill>
          <a:ln w="381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" name="Google Shape;75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 w="762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15"/>
          <p:cNvSpPr txBox="1"/>
          <p:nvPr/>
        </p:nvSpPr>
        <p:spPr>
          <a:xfrm>
            <a:off x="381000" y="190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CALCULATING THE "TYPICAL" BUDGET</a:t>
            </a:r>
            <a:endParaRPr lang="en-GB" sz="240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77" name="Google Shape;77;p15"/>
          <p:cNvGrpSpPr/>
          <p:nvPr/>
        </p:nvGrpSpPr>
        <p:grpSpPr>
          <a:xfrm>
            <a:off x="428625" y="1143000"/>
            <a:ext cx="2084832" cy="713232"/>
            <a:chOff x="0" y="0"/>
            <a:chExt cx="2895600" cy="990600"/>
          </a:xfrm>
        </p:grpSpPr>
        <p:grpSp>
          <p:nvGrpSpPr>
            <p:cNvPr id="78" name="Google Shape;78;p15"/>
            <p:cNvGrpSpPr/>
            <p:nvPr/>
          </p:nvGrpSpPr>
          <p:grpSpPr>
            <a:xfrm>
              <a:off x="0" y="0"/>
              <a:ext cx="2895600" cy="990600"/>
              <a:chOff x="0" y="0"/>
              <a:chExt cx="2895600" cy="990600"/>
            </a:xfrm>
          </p:grpSpPr>
          <p:sp>
            <p:nvSpPr>
              <p:cNvPr id="79" name="Google Shape;79;p15"/>
              <p:cNvSpPr/>
              <p:nvPr/>
            </p:nvSpPr>
            <p:spPr>
              <a:xfrm>
                <a:off x="38100" y="3810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0" y="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28575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81" name="Google Shape;81;p15"/>
              <p:cNvGrpSpPr/>
              <p:nvPr/>
            </p:nvGrpSpPr>
            <p:grpSpPr>
              <a:xfrm>
                <a:off x="238125" y="238125"/>
                <a:ext cx="381000" cy="523875"/>
                <a:chOff x="95250" y="47625"/>
                <a:chExt cx="381000" cy="523875"/>
              </a:xfrm>
            </p:grpSpPr>
            <p:sp>
              <p:nvSpPr>
                <p:cNvPr id="82" name="Google Shape;82;p15"/>
                <p:cNvSpPr/>
                <p:nvPr/>
              </p:nvSpPr>
              <p:spPr>
                <a:xfrm>
                  <a:off x="142875" y="47625"/>
                  <a:ext cx="285900" cy="285900"/>
                </a:xfrm>
                <a:prstGeom prst="ellipse">
                  <a:avLst/>
                </a:pr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83" name="Google Shape;83;p15"/>
                <p:cNvSpPr/>
                <p:nvPr/>
              </p:nvSpPr>
              <p:spPr>
                <a:xfrm>
                  <a:off x="95250" y="381000"/>
                  <a:ext cx="3810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120000"/>
                      </a:moveTo>
                      <a:cubicBezTo>
                        <a:pt x="0" y="0"/>
                        <a:pt x="120000" y="0"/>
                        <a:pt x="120000" y="120000"/>
                      </a:cubicBezTo>
                      <a:close/>
                    </a:path>
                  </a:pathLst>
                </a:cu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84" name="Google Shape;84;p15"/>
            <p:cNvSpPr txBox="1"/>
            <p:nvPr/>
          </p:nvSpPr>
          <p:spPr>
            <a:xfrm>
              <a:off x="76200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4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Karthik</a:t>
              </a:r>
              <a:endParaRPr sz="104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165" b="1">
                  <a:solidFill>
                    <a:srgbClr val="00BF63"/>
                  </a:solidFill>
                  <a:latin typeface="Outfit"/>
                  <a:ea typeface="Outfit"/>
                  <a:cs typeface="Outfit"/>
                  <a:sym typeface="Outfit"/>
                </a:rPr>
                <a:t>₹2,000</a:t>
              </a:r>
              <a:endParaRPr sz="1165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28625" y="1857375"/>
            <a:ext cx="2084832" cy="713232"/>
            <a:chOff x="0" y="0"/>
            <a:chExt cx="2895600" cy="990600"/>
          </a:xfrm>
        </p:grpSpPr>
        <p:grpSp>
          <p:nvGrpSpPr>
            <p:cNvPr id="86" name="Google Shape;86;p15"/>
            <p:cNvGrpSpPr/>
            <p:nvPr/>
          </p:nvGrpSpPr>
          <p:grpSpPr>
            <a:xfrm>
              <a:off x="0" y="0"/>
              <a:ext cx="2895600" cy="990600"/>
              <a:chOff x="0" y="0"/>
              <a:chExt cx="2895600" cy="990600"/>
            </a:xfrm>
          </p:grpSpPr>
          <p:sp>
            <p:nvSpPr>
              <p:cNvPr id="87" name="Google Shape;87;p15"/>
              <p:cNvSpPr/>
              <p:nvPr/>
            </p:nvSpPr>
            <p:spPr>
              <a:xfrm>
                <a:off x="38100" y="3810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0" y="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28575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89" name="Google Shape;89;p15"/>
              <p:cNvGrpSpPr/>
              <p:nvPr/>
            </p:nvGrpSpPr>
            <p:grpSpPr>
              <a:xfrm>
                <a:off x="238125" y="238125"/>
                <a:ext cx="381000" cy="523875"/>
                <a:chOff x="95250" y="47625"/>
                <a:chExt cx="381000" cy="523875"/>
              </a:xfrm>
            </p:grpSpPr>
            <p:sp>
              <p:nvSpPr>
                <p:cNvPr id="90" name="Google Shape;90;p15"/>
                <p:cNvSpPr/>
                <p:nvPr/>
              </p:nvSpPr>
              <p:spPr>
                <a:xfrm>
                  <a:off x="142875" y="47625"/>
                  <a:ext cx="285900" cy="285900"/>
                </a:xfrm>
                <a:prstGeom prst="ellipse">
                  <a:avLst/>
                </a:pr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95250" y="381000"/>
                  <a:ext cx="3810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120000"/>
                      </a:moveTo>
                      <a:cubicBezTo>
                        <a:pt x="0" y="0"/>
                        <a:pt x="120000" y="0"/>
                        <a:pt x="120000" y="120000"/>
                      </a:cubicBezTo>
                      <a:close/>
                    </a:path>
                  </a:pathLst>
                </a:cu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92" name="Google Shape;92;p15"/>
            <p:cNvSpPr txBox="1"/>
            <p:nvPr/>
          </p:nvSpPr>
          <p:spPr>
            <a:xfrm>
              <a:off x="76200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4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Ramya</a:t>
              </a:r>
              <a:endParaRPr sz="104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165" b="1">
                  <a:solidFill>
                    <a:srgbClr val="00BF63"/>
                  </a:solidFill>
                  <a:latin typeface="Outfit"/>
                  <a:ea typeface="Outfit"/>
                  <a:cs typeface="Outfit"/>
                  <a:sym typeface="Outfit"/>
                </a:rPr>
                <a:t>₹3,000</a:t>
              </a:r>
              <a:endParaRPr sz="1165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93" name="Google Shape;93;p15"/>
          <p:cNvGrpSpPr/>
          <p:nvPr/>
        </p:nvGrpSpPr>
        <p:grpSpPr>
          <a:xfrm>
            <a:off x="428625" y="2571750"/>
            <a:ext cx="2084832" cy="713232"/>
            <a:chOff x="0" y="0"/>
            <a:chExt cx="2895600" cy="990600"/>
          </a:xfrm>
        </p:grpSpPr>
        <p:grpSp>
          <p:nvGrpSpPr>
            <p:cNvPr id="94" name="Google Shape;94;p15"/>
            <p:cNvGrpSpPr/>
            <p:nvPr/>
          </p:nvGrpSpPr>
          <p:grpSpPr>
            <a:xfrm>
              <a:off x="0" y="0"/>
              <a:ext cx="2895600" cy="990600"/>
              <a:chOff x="0" y="0"/>
              <a:chExt cx="2895600" cy="990600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38100" y="3810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0" y="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28575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7" name="Google Shape;97;p15"/>
              <p:cNvGrpSpPr/>
              <p:nvPr/>
            </p:nvGrpSpPr>
            <p:grpSpPr>
              <a:xfrm>
                <a:off x="238125" y="238125"/>
                <a:ext cx="381000" cy="523875"/>
                <a:chOff x="95250" y="47625"/>
                <a:chExt cx="381000" cy="523875"/>
              </a:xfrm>
            </p:grpSpPr>
            <p:sp>
              <p:nvSpPr>
                <p:cNvPr id="98" name="Google Shape;98;p15"/>
                <p:cNvSpPr/>
                <p:nvPr/>
              </p:nvSpPr>
              <p:spPr>
                <a:xfrm>
                  <a:off x="142875" y="47625"/>
                  <a:ext cx="285900" cy="285900"/>
                </a:xfrm>
                <a:prstGeom prst="ellipse">
                  <a:avLst/>
                </a:pr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95250" y="381000"/>
                  <a:ext cx="3810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120000"/>
                      </a:moveTo>
                      <a:cubicBezTo>
                        <a:pt x="0" y="0"/>
                        <a:pt x="120000" y="0"/>
                        <a:pt x="120000" y="120000"/>
                      </a:cubicBezTo>
                      <a:close/>
                    </a:path>
                  </a:pathLst>
                </a:cu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100" name="Google Shape;100;p15"/>
            <p:cNvSpPr txBox="1"/>
            <p:nvPr/>
          </p:nvSpPr>
          <p:spPr>
            <a:xfrm>
              <a:off x="76200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4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Imran</a:t>
              </a:r>
              <a:endParaRPr sz="104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165" b="1">
                  <a:solidFill>
                    <a:srgbClr val="00BF63"/>
                  </a:solidFill>
                  <a:latin typeface="Outfit"/>
                  <a:ea typeface="Outfit"/>
                  <a:cs typeface="Outfit"/>
                  <a:sym typeface="Outfit"/>
                </a:rPr>
                <a:t>₹3,500</a:t>
              </a:r>
              <a:endParaRPr sz="1165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428625" y="3286125"/>
            <a:ext cx="2084832" cy="713232"/>
            <a:chOff x="0" y="0"/>
            <a:chExt cx="2895600" cy="990600"/>
          </a:xfrm>
        </p:grpSpPr>
        <p:grpSp>
          <p:nvGrpSpPr>
            <p:cNvPr id="102" name="Google Shape;102;p15"/>
            <p:cNvGrpSpPr/>
            <p:nvPr/>
          </p:nvGrpSpPr>
          <p:grpSpPr>
            <a:xfrm>
              <a:off x="0" y="0"/>
              <a:ext cx="2895600" cy="990600"/>
              <a:chOff x="0" y="0"/>
              <a:chExt cx="2895600" cy="990600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38100" y="3810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0" y="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28575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05" name="Google Shape;105;p15"/>
              <p:cNvGrpSpPr/>
              <p:nvPr/>
            </p:nvGrpSpPr>
            <p:grpSpPr>
              <a:xfrm>
                <a:off x="238125" y="238125"/>
                <a:ext cx="381000" cy="523875"/>
                <a:chOff x="95250" y="47625"/>
                <a:chExt cx="381000" cy="523875"/>
              </a:xfrm>
            </p:grpSpPr>
            <p:sp>
              <p:nvSpPr>
                <p:cNvPr id="106" name="Google Shape;106;p15"/>
                <p:cNvSpPr/>
                <p:nvPr/>
              </p:nvSpPr>
              <p:spPr>
                <a:xfrm>
                  <a:off x="142875" y="47625"/>
                  <a:ext cx="285900" cy="285900"/>
                </a:xfrm>
                <a:prstGeom prst="ellipse">
                  <a:avLst/>
                </a:pr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95250" y="381000"/>
                  <a:ext cx="3810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120000"/>
                      </a:moveTo>
                      <a:cubicBezTo>
                        <a:pt x="0" y="0"/>
                        <a:pt x="120000" y="0"/>
                        <a:pt x="120000" y="120000"/>
                      </a:cubicBezTo>
                      <a:close/>
                    </a:path>
                  </a:pathLst>
                </a:cu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108" name="Google Shape;108;p15"/>
            <p:cNvSpPr txBox="1"/>
            <p:nvPr/>
          </p:nvSpPr>
          <p:spPr>
            <a:xfrm>
              <a:off x="76200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4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Deepa</a:t>
              </a:r>
              <a:endParaRPr sz="104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165" b="1">
                  <a:solidFill>
                    <a:srgbClr val="00BF63"/>
                  </a:solidFill>
                  <a:latin typeface="Outfit"/>
                  <a:ea typeface="Outfit"/>
                  <a:cs typeface="Outfit"/>
                  <a:sym typeface="Outfit"/>
                </a:rPr>
                <a:t>₹4,000</a:t>
              </a:r>
              <a:endParaRPr sz="1165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09" name="Google Shape;109;p15"/>
          <p:cNvGrpSpPr/>
          <p:nvPr/>
        </p:nvGrpSpPr>
        <p:grpSpPr>
          <a:xfrm>
            <a:off x="428625" y="4000500"/>
            <a:ext cx="2084832" cy="713232"/>
            <a:chOff x="0" y="0"/>
            <a:chExt cx="2895600" cy="990600"/>
          </a:xfrm>
        </p:grpSpPr>
        <p:grpSp>
          <p:nvGrpSpPr>
            <p:cNvPr id="110" name="Google Shape;110;p15"/>
            <p:cNvGrpSpPr/>
            <p:nvPr/>
          </p:nvGrpSpPr>
          <p:grpSpPr>
            <a:xfrm>
              <a:off x="0" y="0"/>
              <a:ext cx="2895600" cy="990600"/>
              <a:chOff x="0" y="0"/>
              <a:chExt cx="2895600" cy="990600"/>
            </a:xfrm>
          </p:grpSpPr>
          <p:sp>
            <p:nvSpPr>
              <p:cNvPr id="111" name="Google Shape;111;p15"/>
              <p:cNvSpPr/>
              <p:nvPr/>
            </p:nvSpPr>
            <p:spPr>
              <a:xfrm>
                <a:off x="38100" y="3810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0" y="0"/>
                <a:ext cx="285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28575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113" name="Google Shape;113;p15"/>
              <p:cNvGrpSpPr/>
              <p:nvPr/>
            </p:nvGrpSpPr>
            <p:grpSpPr>
              <a:xfrm>
                <a:off x="238125" y="238125"/>
                <a:ext cx="381000" cy="523875"/>
                <a:chOff x="95250" y="47625"/>
                <a:chExt cx="381000" cy="523875"/>
              </a:xfrm>
            </p:grpSpPr>
            <p:sp>
              <p:nvSpPr>
                <p:cNvPr id="114" name="Google Shape;114;p15"/>
                <p:cNvSpPr/>
                <p:nvPr/>
              </p:nvSpPr>
              <p:spPr>
                <a:xfrm>
                  <a:off x="142875" y="47625"/>
                  <a:ext cx="285900" cy="285900"/>
                </a:xfrm>
                <a:prstGeom prst="ellipse">
                  <a:avLst/>
                </a:pr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5" name="Google Shape;115;p15"/>
                <p:cNvSpPr/>
                <p:nvPr/>
              </p:nvSpPr>
              <p:spPr>
                <a:xfrm>
                  <a:off x="95250" y="381000"/>
                  <a:ext cx="3810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120000"/>
                      </a:moveTo>
                      <a:cubicBezTo>
                        <a:pt x="0" y="0"/>
                        <a:pt x="120000" y="0"/>
                        <a:pt x="120000" y="120000"/>
                      </a:cubicBezTo>
                      <a:close/>
                    </a:path>
                  </a:pathLst>
                </a:custGeom>
                <a:solidFill>
                  <a:srgbClr val="00BF63"/>
                </a:solidFill>
                <a:ln w="28575" cap="flat" cmpd="sng">
                  <a:solidFill>
                    <a:srgbClr val="11111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sp>
          <p:nvSpPr>
            <p:cNvPr id="116" name="Google Shape;116;p15"/>
            <p:cNvSpPr txBox="1"/>
            <p:nvPr/>
          </p:nvSpPr>
          <p:spPr>
            <a:xfrm>
              <a:off x="762000" y="190500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4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Rohit</a:t>
              </a:r>
              <a:endParaRPr sz="104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165" b="1">
                  <a:solidFill>
                    <a:srgbClr val="00BF63"/>
                  </a:solidFill>
                  <a:latin typeface="Outfit"/>
                  <a:ea typeface="Outfit"/>
                  <a:cs typeface="Outfit"/>
                  <a:sym typeface="Outfit"/>
                </a:rPr>
                <a:t>₹5,000</a:t>
              </a:r>
              <a:endParaRPr sz="1165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17" name="Google Shape;117;p15"/>
          <p:cNvGrpSpPr/>
          <p:nvPr/>
        </p:nvGrpSpPr>
        <p:grpSpPr>
          <a:xfrm>
            <a:off x="2936558" y="1126807"/>
            <a:ext cx="5732145" cy="874395"/>
            <a:chOff x="-19050" y="-19050"/>
            <a:chExt cx="6743700" cy="1028700"/>
          </a:xfrm>
        </p:grpSpPr>
        <p:grpSp>
          <p:nvGrpSpPr>
            <p:cNvPr id="118" name="Google Shape;118;p15"/>
            <p:cNvGrpSpPr/>
            <p:nvPr/>
          </p:nvGrpSpPr>
          <p:grpSpPr>
            <a:xfrm>
              <a:off x="-19050" y="-19050"/>
              <a:ext cx="6743700" cy="1028700"/>
              <a:chOff x="-19050" y="-19050"/>
              <a:chExt cx="6743700" cy="1028700"/>
            </a:xfrm>
          </p:grpSpPr>
          <p:sp>
            <p:nvSpPr>
              <p:cNvPr id="119" name="Google Shape;119;p15"/>
              <p:cNvSpPr/>
              <p:nvPr/>
            </p:nvSpPr>
            <p:spPr>
              <a:xfrm>
                <a:off x="57150" y="57150"/>
                <a:ext cx="66675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pic>
            <p:nvPicPr>
              <p:cNvPr id="120" name="Google Shape;120;p15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-19050" y="-19050"/>
                <a:ext cx="6705600" cy="990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1" name="Google Shape;121;p15"/>
            <p:cNvSpPr txBox="1"/>
            <p:nvPr/>
          </p:nvSpPr>
          <p:spPr>
            <a:xfrm>
              <a:off x="190500" y="190500"/>
              <a:ext cx="628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SUM OF VALUES ÷ NUMBER OF VALUES = MEAN</a:t>
              </a:r>
              <a:endParaRPr lang="en-GB" sz="18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2952750" y="2095500"/>
            <a:ext cx="3581550" cy="1486050"/>
            <a:chOff x="0" y="0"/>
            <a:chExt cx="3581550" cy="1486050"/>
          </a:xfrm>
        </p:grpSpPr>
        <p:sp>
          <p:nvSpPr>
            <p:cNvPr id="123" name="Google Shape;123;p15"/>
            <p:cNvSpPr/>
            <p:nvPr/>
          </p:nvSpPr>
          <p:spPr>
            <a:xfrm>
              <a:off x="57150" y="57150"/>
              <a:ext cx="3524400" cy="1428900"/>
            </a:xfrm>
            <a:prstGeom prst="roundRect">
              <a:avLst>
                <a:gd name="adj" fmla="val 8000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0" y="0"/>
              <a:ext cx="35244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190500" y="142875"/>
              <a:ext cx="3143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FF66C4"/>
                  </a:solidFill>
                  <a:latin typeface="Outfit"/>
                  <a:ea typeface="Outfit"/>
                  <a:cs typeface="Outfit"/>
                  <a:sym typeface="Outfit"/>
                </a:rPr>
                <a:t>Step-by-Step Calculation</a:t>
              </a:r>
              <a:endParaRPr sz="1200" b="1">
                <a:solidFill>
                  <a:srgbClr val="FF66C4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12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(₹2,000 + ₹3,000 + ₹3,500 + ₹4,000 + ₹5,000) ÷ 5</a:t>
              </a:r>
              <a:endParaRPr sz="112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112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= ₹17,500 ÷ 5</a:t>
              </a:r>
              <a:endParaRPr sz="1125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1125" b="1">
                  <a:solidFill>
                    <a:srgbClr val="00BF63"/>
                  </a:solidFill>
                  <a:latin typeface="Outfit"/>
                  <a:ea typeface="Outfit"/>
                  <a:cs typeface="Outfit"/>
                  <a:sym typeface="Outfit"/>
                </a:rPr>
                <a:t>= ₹3,500</a:t>
              </a:r>
              <a:endParaRPr sz="1125" b="1">
                <a:solidFill>
                  <a:srgbClr val="00BF63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6619875" y="1888331"/>
            <a:ext cx="2057250" cy="1693219"/>
            <a:chOff x="0" y="-207169"/>
            <a:chExt cx="2057250" cy="1693219"/>
          </a:xfrm>
        </p:grpSpPr>
        <p:sp>
          <p:nvSpPr>
            <p:cNvPr id="127" name="Google Shape;127;p15"/>
            <p:cNvSpPr/>
            <p:nvPr/>
          </p:nvSpPr>
          <p:spPr>
            <a:xfrm>
              <a:off x="57150" y="57150"/>
              <a:ext cx="2000100" cy="1428900"/>
            </a:xfrm>
            <a:prstGeom prst="roundRect">
              <a:avLst>
                <a:gd name="adj" fmla="val 8000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0" y="0"/>
              <a:ext cx="2000100" cy="1428900"/>
            </a:xfrm>
            <a:prstGeom prst="roundRect">
              <a:avLst>
                <a:gd name="adj" fmla="val 8000"/>
              </a:avLst>
            </a:prstGeom>
            <a:solidFill>
              <a:srgbClr val="00BF63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29" name="Google Shape;129;p15"/>
            <p:cNvGrpSpPr/>
            <p:nvPr/>
          </p:nvGrpSpPr>
          <p:grpSpPr>
            <a:xfrm>
              <a:off x="1459706" y="-207169"/>
              <a:ext cx="594458" cy="563453"/>
              <a:chOff x="47625" y="47625"/>
              <a:chExt cx="914550" cy="866850"/>
            </a:xfrm>
          </p:grpSpPr>
          <p:sp>
            <p:nvSpPr>
              <p:cNvPr id="130" name="Google Shape;130;p15"/>
              <p:cNvSpPr/>
              <p:nvPr/>
            </p:nvSpPr>
            <p:spPr>
              <a:xfrm>
                <a:off x="104775" y="10477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47625" y="4762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FFDE59"/>
              </a:solidFill>
              <a:ln w="38100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32" name="Google Shape;132;p15"/>
            <p:cNvSpPr txBox="1"/>
            <p:nvPr/>
          </p:nvSpPr>
          <p:spPr>
            <a:xfrm>
              <a:off x="142875" y="142875"/>
              <a:ext cx="1714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CALCULATED MEAN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28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₹3,500</a:t>
              </a:r>
              <a:endParaRPr sz="28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2952750" y="3714750"/>
            <a:ext cx="5724450" cy="914550"/>
            <a:chOff x="0" y="0"/>
            <a:chExt cx="5724450" cy="914550"/>
          </a:xfrm>
        </p:grpSpPr>
        <p:sp>
          <p:nvSpPr>
            <p:cNvPr id="134" name="Google Shape;134;p15"/>
            <p:cNvSpPr/>
            <p:nvPr/>
          </p:nvSpPr>
          <p:spPr>
            <a:xfrm>
              <a:off x="57150" y="57150"/>
              <a:ext cx="5667300" cy="857400"/>
            </a:xfrm>
            <a:prstGeom prst="roundRect">
              <a:avLst>
                <a:gd name="adj" fmla="val 13333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0" y="0"/>
              <a:ext cx="5667300" cy="857400"/>
            </a:xfrm>
            <a:prstGeom prst="roundRect">
              <a:avLst>
                <a:gd name="adj" fmla="val 13333"/>
              </a:avLst>
            </a:prstGeom>
            <a:solidFill>
              <a:srgbClr val="FFDE59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190500" y="142875"/>
              <a:ext cx="52863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This </a:t>
              </a:r>
              <a:r>
                <a:rPr lang="en-GB" sz="1350" b="1">
                  <a:solidFill>
                    <a:srgbClr val="FF66C4"/>
                  </a:solidFill>
                  <a:latin typeface="Outfit"/>
                  <a:ea typeface="Outfit"/>
                  <a:cs typeface="Outfit"/>
                  <a:sym typeface="Outfit"/>
                </a:rPr>
                <a:t>₹3,500 average</a:t>
              </a:r>
              <a:r>
                <a:rPr lang="en-GB" sz="120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 perfectly represents a "typical" monthly budget for this specific group of students.</a:t>
              </a:r>
              <a:endParaRPr sz="1200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66C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2" name="Google Shape;142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962025" y="-966787"/>
            <a:ext cx="10106100" cy="6110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6"/>
          <p:cNvGrpSpPr/>
          <p:nvPr/>
        </p:nvGrpSpPr>
        <p:grpSpPr>
          <a:xfrm>
            <a:off x="7762875" y="4191000"/>
            <a:ext cx="1228725" cy="942975"/>
            <a:chOff x="95250" y="190500"/>
            <a:chExt cx="819150" cy="628650"/>
          </a:xfrm>
        </p:grpSpPr>
        <p:sp>
          <p:nvSpPr>
            <p:cNvPr id="144" name="Google Shape;144;p16"/>
            <p:cNvSpPr/>
            <p:nvPr/>
          </p:nvSpPr>
          <p:spPr>
            <a:xfrm>
              <a:off x="152400" y="24765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0000"/>
                  </a:moveTo>
                  <a:lnTo>
                    <a:pt x="75000" y="40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95250" y="1905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0000"/>
                  </a:moveTo>
                  <a:lnTo>
                    <a:pt x="75000" y="40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38B6FF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6" name="Google Shape;146;p16"/>
          <p:cNvSpPr/>
          <p:nvPr/>
        </p:nvSpPr>
        <p:spPr>
          <a:xfrm>
            <a:off x="190500" y="190500"/>
            <a:ext cx="8763000" cy="4762500"/>
          </a:xfrm>
          <a:prstGeom prst="roundRect">
            <a:avLst>
              <a:gd name="adj" fmla="val 4000"/>
            </a:avLst>
          </a:prstGeom>
          <a:solidFill>
            <a:srgbClr val="000000">
              <a:alpha val="0"/>
            </a:srgbClr>
          </a:solidFill>
          <a:ln w="762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7" name="Google Shape;147;p16"/>
          <p:cNvGrpSpPr/>
          <p:nvPr/>
        </p:nvGrpSpPr>
        <p:grpSpPr>
          <a:xfrm>
            <a:off x="1524000" y="276225"/>
            <a:ext cx="3886200" cy="2133600"/>
            <a:chOff x="0" y="-152400"/>
            <a:chExt cx="3886200" cy="2133600"/>
          </a:xfrm>
        </p:grpSpPr>
        <p:sp>
          <p:nvSpPr>
            <p:cNvPr id="148" name="Google Shape;148;p16"/>
            <p:cNvSpPr/>
            <p:nvPr/>
          </p:nvSpPr>
          <p:spPr>
            <a:xfrm>
              <a:off x="76200" y="76200"/>
              <a:ext cx="3810000" cy="1905000"/>
            </a:xfrm>
            <a:prstGeom prst="roundRect">
              <a:avLst>
                <a:gd name="adj" fmla="val 6000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0"/>
              <a:ext cx="3810000" cy="1905000"/>
            </a:xfrm>
            <a:prstGeom prst="roundRect">
              <a:avLst>
                <a:gd name="adj" fmla="val 6000"/>
              </a:avLst>
            </a:prstGeom>
            <a:solidFill>
              <a:srgbClr val="FFDE59"/>
            </a:solidFill>
            <a:ln w="5715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50" name="Google Shape;150;p16"/>
            <p:cNvGrpSpPr/>
            <p:nvPr/>
          </p:nvGrpSpPr>
          <p:grpSpPr>
            <a:xfrm>
              <a:off x="3086100" y="-152400"/>
              <a:ext cx="731640" cy="693480"/>
              <a:chOff x="47625" y="47625"/>
              <a:chExt cx="914550" cy="866850"/>
            </a:xfrm>
          </p:grpSpPr>
          <p:sp>
            <p:nvSpPr>
              <p:cNvPr id="151" name="Google Shape;151;p16"/>
              <p:cNvSpPr/>
              <p:nvPr/>
            </p:nvSpPr>
            <p:spPr>
              <a:xfrm>
                <a:off x="104775" y="10477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52" name="Google Shape;152;p16"/>
              <p:cNvSpPr/>
              <p:nvPr/>
            </p:nvSpPr>
            <p:spPr>
              <a:xfrm>
                <a:off x="47625" y="4762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FFDE59"/>
              </a:solidFill>
              <a:ln w="38100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153" name="Google Shape;153;p16"/>
            <p:cNvSpPr txBox="1"/>
            <p:nvPr/>
          </p:nvSpPr>
          <p:spPr>
            <a:xfrm>
              <a:off x="285750" y="285750"/>
              <a:ext cx="3238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TYCOON'S SON</a:t>
              </a:r>
              <a:endParaRPr sz="16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36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₹42,500</a:t>
              </a:r>
              <a:endParaRPr sz="36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MONTHLY POCKET MONEY</a:t>
              </a:r>
              <a:endParaRPr sz="1050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154" name="Google Shape;154;p16"/>
          <p:cNvGrpSpPr/>
          <p:nvPr/>
        </p:nvGrpSpPr>
        <p:grpSpPr>
          <a:xfrm>
            <a:off x="5715000" y="428625"/>
            <a:ext cx="1981200" cy="1981200"/>
            <a:chOff x="0" y="0"/>
            <a:chExt cx="1981200" cy="1981200"/>
          </a:xfrm>
        </p:grpSpPr>
        <p:sp>
          <p:nvSpPr>
            <p:cNvPr id="155" name="Google Shape;155;p16"/>
            <p:cNvSpPr/>
            <p:nvPr/>
          </p:nvSpPr>
          <p:spPr>
            <a:xfrm>
              <a:off x="76200" y="76200"/>
              <a:ext cx="1905000" cy="1905000"/>
            </a:xfrm>
            <a:prstGeom prst="roundRect">
              <a:avLst>
                <a:gd name="adj" fmla="val 6000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0" y="0"/>
              <a:ext cx="1905000" cy="1905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157" name="Google Shape;157;p16"/>
            <p:cNvPicPr preferRelativeResize="0"/>
            <p:nvPr/>
          </p:nvPicPr>
          <p:blipFill rotWithShape="1">
            <a:blip r:embed="rId2"/>
            <a:srcRect l="2999" t="2999" r="2999" b="2999"/>
            <a:stretch>
              <a:fillRect/>
            </a:stretch>
          </p:blipFill>
          <p:spPr>
            <a:xfrm>
              <a:off x="57150" y="57150"/>
              <a:ext cx="1790700" cy="1790700"/>
            </a:xfrm>
            <a:prstGeom prst="roundRect">
              <a:avLst>
                <a:gd name="adj" fmla="val 4255"/>
              </a:avLst>
            </a:prstGeom>
            <a:noFill/>
            <a:ln>
              <a:noFill/>
            </a:ln>
          </p:spPr>
        </p:pic>
      </p:grpSp>
      <p:grpSp>
        <p:nvGrpSpPr>
          <p:cNvPr id="158" name="Google Shape;158;p16"/>
          <p:cNvGrpSpPr/>
          <p:nvPr/>
        </p:nvGrpSpPr>
        <p:grpSpPr>
          <a:xfrm>
            <a:off x="952500" y="2524125"/>
            <a:ext cx="7277100" cy="1371600"/>
            <a:chOff x="0" y="0"/>
            <a:chExt cx="7277100" cy="1371600"/>
          </a:xfrm>
        </p:grpSpPr>
        <p:sp>
          <p:nvSpPr>
            <p:cNvPr id="159" name="Google Shape;159;p16"/>
            <p:cNvSpPr/>
            <p:nvPr/>
          </p:nvSpPr>
          <p:spPr>
            <a:xfrm>
              <a:off x="38100" y="38100"/>
              <a:ext cx="3238500" cy="1333500"/>
            </a:xfrm>
            <a:prstGeom prst="roundRect">
              <a:avLst>
                <a:gd name="adj" fmla="val 5714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0" y="0"/>
              <a:ext cx="3238500" cy="1333500"/>
            </a:xfrm>
            <a:prstGeom prst="roundRect">
              <a:avLst>
                <a:gd name="adj" fmla="val 5714"/>
              </a:avLst>
            </a:prstGeom>
            <a:solidFill>
              <a:srgbClr val="38B6FF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190500" y="190500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OLD MEAN</a:t>
              </a:r>
              <a:endParaRPr sz="15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27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₹3,500</a:t>
              </a:r>
              <a:endParaRPr sz="27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FOR 5 ORIGINAL STUDENTS</a:t>
              </a:r>
              <a:endParaRPr sz="900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4038600" y="38100"/>
              <a:ext cx="3238500" cy="1333500"/>
            </a:xfrm>
            <a:prstGeom prst="roundRect">
              <a:avLst>
                <a:gd name="adj" fmla="val 5714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4000500" y="0"/>
              <a:ext cx="3238500" cy="1333500"/>
            </a:xfrm>
            <a:prstGeom prst="roundRect">
              <a:avLst>
                <a:gd name="adj" fmla="val 5714"/>
              </a:avLst>
            </a:prstGeom>
            <a:solidFill>
              <a:srgbClr val="00BF63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16"/>
            <p:cNvSpPr txBox="1"/>
            <p:nvPr/>
          </p:nvSpPr>
          <p:spPr>
            <a:xfrm>
              <a:off x="4191000" y="190500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SKEWED MEAN</a:t>
              </a:r>
              <a:endParaRPr sz="15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27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₹10,000</a:t>
              </a:r>
              <a:endParaRPr sz="27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DISTORTED BY 1 OUTLIER</a:t>
              </a:r>
              <a:endParaRPr sz="900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3295650" y="381000"/>
              <a:ext cx="647700" cy="64770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3257550" y="342900"/>
              <a:ext cx="647700" cy="647700"/>
            </a:xfrm>
            <a:prstGeom prst="ellipse">
              <a:avLst/>
            </a:prstGeom>
            <a:solidFill>
              <a:srgbClr val="FFDE59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16"/>
            <p:cNvSpPr txBox="1"/>
            <p:nvPr/>
          </p:nvSpPr>
          <p:spPr>
            <a:xfrm>
              <a:off x="3295650" y="38100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VS</a:t>
              </a:r>
              <a:endParaRPr lang="en-GB" sz="18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68" name="Google Shape;168;p16"/>
          <p:cNvGrpSpPr/>
          <p:nvPr/>
        </p:nvGrpSpPr>
        <p:grpSpPr>
          <a:xfrm>
            <a:off x="952500" y="4048125"/>
            <a:ext cx="6477000" cy="762000"/>
            <a:chOff x="0" y="0"/>
            <a:chExt cx="6477000" cy="762000"/>
          </a:xfrm>
        </p:grpSpPr>
        <p:sp>
          <p:nvSpPr>
            <p:cNvPr id="169" name="Google Shape;169;p16"/>
            <p:cNvSpPr/>
            <p:nvPr/>
          </p:nvSpPr>
          <p:spPr>
            <a:xfrm>
              <a:off x="38100" y="3810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0" y="0"/>
              <a:ext cx="571500" cy="571500"/>
            </a:xfrm>
            <a:prstGeom prst="roundRect">
              <a:avLst>
                <a:gd name="adj" fmla="val 50000"/>
              </a:avLst>
            </a:prstGeom>
            <a:solidFill>
              <a:srgbClr val="FFDE59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16"/>
            <p:cNvSpPr txBox="1"/>
            <p:nvPr/>
          </p:nvSpPr>
          <p:spPr>
            <a:xfrm>
              <a:off x="0" y="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300" b="0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"</a:t>
              </a:r>
              <a:endParaRPr lang="en-GB" sz="3300" b="0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72" name="Google Shape;172;p16"/>
            <p:cNvSpPr txBox="1"/>
            <p:nvPr/>
          </p:nvSpPr>
          <p:spPr>
            <a:xfrm>
              <a:off x="762000" y="0"/>
              <a:ext cx="571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i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"Does ₹10,000 represent a typical student here? Absolutely not."</a:t>
              </a:r>
              <a:endParaRPr sz="1500" b="1" i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5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The mean has been heavily skewed and distorted by a single extreme outlier.</a:t>
              </a:r>
              <a:endParaRPr sz="1050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 w="762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8" name="Google Shape;17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9" name="Google Shape;179;p17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38B6FF"/>
          </a:solidFill>
          <a:ln w="381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0" name="Google Shape;180;p17"/>
          <p:cNvSpPr/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FFDE59"/>
          </a:solidFill>
          <a:ln w="38100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17"/>
          <p:cNvSpPr txBox="1"/>
          <p:nvPr/>
        </p:nvSpPr>
        <p:spPr>
          <a:xfrm>
            <a:off x="381000" y="952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MEDIAN SAVES THE DAY!</a:t>
            </a:r>
            <a:endParaRPr lang="en-GB" sz="2850" b="1">
              <a:solidFill>
                <a:srgbClr val="11111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82" name="Google Shape;182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95375" y="1828800"/>
            <a:ext cx="6591300" cy="57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7"/>
          <p:cNvGrpSpPr/>
          <p:nvPr/>
        </p:nvGrpSpPr>
        <p:grpSpPr>
          <a:xfrm>
            <a:off x="571500" y="1524000"/>
            <a:ext cx="1086000" cy="705000"/>
            <a:chOff x="571500" y="1524000"/>
            <a:chExt cx="1086000" cy="705000"/>
          </a:xfrm>
        </p:grpSpPr>
        <p:sp>
          <p:nvSpPr>
            <p:cNvPr id="184" name="Google Shape;184;p17"/>
            <p:cNvSpPr/>
            <p:nvPr/>
          </p:nvSpPr>
          <p:spPr>
            <a:xfrm>
              <a:off x="609600" y="15621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571500" y="15240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28575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571500" y="1524000"/>
              <a:ext cx="104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₹2,000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>
            <a:off x="1905000" y="1524000"/>
            <a:ext cx="1086000" cy="705000"/>
            <a:chOff x="1905000" y="1524000"/>
            <a:chExt cx="1086000" cy="705000"/>
          </a:xfrm>
        </p:grpSpPr>
        <p:sp>
          <p:nvSpPr>
            <p:cNvPr id="188" name="Google Shape;188;p17"/>
            <p:cNvSpPr/>
            <p:nvPr/>
          </p:nvSpPr>
          <p:spPr>
            <a:xfrm>
              <a:off x="1943100" y="15621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1905000" y="15240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28575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0" name="Google Shape;190;p17"/>
            <p:cNvSpPr txBox="1"/>
            <p:nvPr/>
          </p:nvSpPr>
          <p:spPr>
            <a:xfrm>
              <a:off x="1905000" y="1524000"/>
              <a:ext cx="104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₹3,000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1" name="Google Shape;191;p17"/>
          <p:cNvGrpSpPr/>
          <p:nvPr/>
        </p:nvGrpSpPr>
        <p:grpSpPr>
          <a:xfrm>
            <a:off x="3238500" y="1524000"/>
            <a:ext cx="1086000" cy="705000"/>
            <a:chOff x="3238500" y="1524000"/>
            <a:chExt cx="1086000" cy="705000"/>
          </a:xfrm>
        </p:grpSpPr>
        <p:sp>
          <p:nvSpPr>
            <p:cNvPr id="192" name="Google Shape;192;p17"/>
            <p:cNvSpPr/>
            <p:nvPr/>
          </p:nvSpPr>
          <p:spPr>
            <a:xfrm>
              <a:off x="3276600" y="15621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3238500" y="15240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00BF63"/>
            </a:solidFill>
            <a:ln w="28575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4" name="Google Shape;194;p17"/>
            <p:cNvSpPr txBox="1"/>
            <p:nvPr/>
          </p:nvSpPr>
          <p:spPr>
            <a:xfrm>
              <a:off x="3238500" y="1524000"/>
              <a:ext cx="104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₹3,500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17"/>
          <p:cNvGrpSpPr/>
          <p:nvPr/>
        </p:nvGrpSpPr>
        <p:grpSpPr>
          <a:xfrm>
            <a:off x="4572000" y="1524000"/>
            <a:ext cx="1086000" cy="705000"/>
            <a:chOff x="4572000" y="1524000"/>
            <a:chExt cx="1086000" cy="705000"/>
          </a:xfrm>
        </p:grpSpPr>
        <p:sp>
          <p:nvSpPr>
            <p:cNvPr id="196" name="Google Shape;196;p17"/>
            <p:cNvSpPr/>
            <p:nvPr/>
          </p:nvSpPr>
          <p:spPr>
            <a:xfrm>
              <a:off x="4610100" y="15621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4572000" y="15240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00BF63"/>
            </a:solidFill>
            <a:ln w="28575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4572000" y="1524000"/>
              <a:ext cx="104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₹4,000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9" name="Google Shape;199;p17"/>
          <p:cNvGrpSpPr/>
          <p:nvPr/>
        </p:nvGrpSpPr>
        <p:grpSpPr>
          <a:xfrm>
            <a:off x="5905500" y="1524000"/>
            <a:ext cx="1086000" cy="705000"/>
            <a:chOff x="5905500" y="1524000"/>
            <a:chExt cx="1086000" cy="705000"/>
          </a:xfrm>
        </p:grpSpPr>
        <p:sp>
          <p:nvSpPr>
            <p:cNvPr id="200" name="Google Shape;200;p17"/>
            <p:cNvSpPr/>
            <p:nvPr/>
          </p:nvSpPr>
          <p:spPr>
            <a:xfrm>
              <a:off x="5943600" y="15621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5905500" y="15240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28575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2" name="Google Shape;202;p17"/>
            <p:cNvSpPr txBox="1"/>
            <p:nvPr/>
          </p:nvSpPr>
          <p:spPr>
            <a:xfrm>
              <a:off x="5905500" y="1524000"/>
              <a:ext cx="104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₹5,000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03" name="Google Shape;203;p17"/>
          <p:cNvGrpSpPr/>
          <p:nvPr/>
        </p:nvGrpSpPr>
        <p:grpSpPr>
          <a:xfrm>
            <a:off x="7239000" y="1524000"/>
            <a:ext cx="1086000" cy="705000"/>
            <a:chOff x="7239000" y="1524000"/>
            <a:chExt cx="1086000" cy="705000"/>
          </a:xfrm>
        </p:grpSpPr>
        <p:sp>
          <p:nvSpPr>
            <p:cNvPr id="204" name="Google Shape;204;p17"/>
            <p:cNvSpPr/>
            <p:nvPr/>
          </p:nvSpPr>
          <p:spPr>
            <a:xfrm>
              <a:off x="7277100" y="15621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7239000" y="1524000"/>
              <a:ext cx="1047900" cy="666900"/>
            </a:xfrm>
            <a:prstGeom prst="roundRect">
              <a:avLst>
                <a:gd name="adj" fmla="val 11428"/>
              </a:avLst>
            </a:prstGeom>
            <a:solidFill>
              <a:srgbClr val="FFFFFF"/>
            </a:solidFill>
            <a:ln w="28575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17"/>
            <p:cNvSpPr txBox="1"/>
            <p:nvPr/>
          </p:nvSpPr>
          <p:spPr>
            <a:xfrm>
              <a:off x="7239000" y="1524000"/>
              <a:ext cx="104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25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₹42,500</a:t>
              </a:r>
              <a:endParaRPr sz="1125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07" name="Google Shape;207;p17"/>
          <p:cNvGrpSpPr/>
          <p:nvPr/>
        </p:nvGrpSpPr>
        <p:grpSpPr>
          <a:xfrm>
            <a:off x="3429000" y="1381125"/>
            <a:ext cx="685950" cy="190650"/>
            <a:chOff x="3429000" y="1381125"/>
            <a:chExt cx="685950" cy="190650"/>
          </a:xfrm>
        </p:grpSpPr>
        <p:sp>
          <p:nvSpPr>
            <p:cNvPr id="208" name="Google Shape;208;p17"/>
            <p:cNvSpPr/>
            <p:nvPr/>
          </p:nvSpPr>
          <p:spPr>
            <a:xfrm>
              <a:off x="3448050" y="1400175"/>
              <a:ext cx="666900" cy="171600"/>
            </a:xfrm>
            <a:prstGeom prst="roundRect">
              <a:avLst>
                <a:gd name="adj" fmla="val 22222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3429000" y="1381125"/>
              <a:ext cx="666900" cy="171600"/>
            </a:xfrm>
            <a:prstGeom prst="roundRect">
              <a:avLst>
                <a:gd name="adj" fmla="val 22222"/>
              </a:avLst>
            </a:prstGeom>
            <a:solidFill>
              <a:srgbClr val="FFDE59"/>
            </a:solidFill>
            <a:ln w="1905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3429000" y="1381125"/>
              <a:ext cx="66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MIDDLE</a:t>
              </a:r>
              <a:endParaRPr sz="7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1" name="Google Shape;211;p17"/>
          <p:cNvGrpSpPr/>
          <p:nvPr/>
        </p:nvGrpSpPr>
        <p:grpSpPr>
          <a:xfrm>
            <a:off x="4762500" y="1381125"/>
            <a:ext cx="685950" cy="190650"/>
            <a:chOff x="4762500" y="1381125"/>
            <a:chExt cx="685950" cy="190650"/>
          </a:xfrm>
        </p:grpSpPr>
        <p:sp>
          <p:nvSpPr>
            <p:cNvPr id="212" name="Google Shape;212;p17"/>
            <p:cNvSpPr/>
            <p:nvPr/>
          </p:nvSpPr>
          <p:spPr>
            <a:xfrm>
              <a:off x="4781550" y="1400175"/>
              <a:ext cx="666900" cy="171600"/>
            </a:xfrm>
            <a:prstGeom prst="roundRect">
              <a:avLst>
                <a:gd name="adj" fmla="val 22222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4762500" y="1381125"/>
              <a:ext cx="666900" cy="171600"/>
            </a:xfrm>
            <a:prstGeom prst="roundRect">
              <a:avLst>
                <a:gd name="adj" fmla="val 22222"/>
              </a:avLst>
            </a:prstGeom>
            <a:solidFill>
              <a:srgbClr val="FFDE59"/>
            </a:solidFill>
            <a:ln w="1905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4762500" y="1381125"/>
              <a:ext cx="66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MIDDLE</a:t>
              </a:r>
              <a:endParaRPr sz="7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7429500" y="1381125"/>
            <a:ext cx="685950" cy="190650"/>
            <a:chOff x="7429500" y="1381125"/>
            <a:chExt cx="685950" cy="190650"/>
          </a:xfrm>
        </p:grpSpPr>
        <p:sp>
          <p:nvSpPr>
            <p:cNvPr id="216" name="Google Shape;216;p17"/>
            <p:cNvSpPr/>
            <p:nvPr/>
          </p:nvSpPr>
          <p:spPr>
            <a:xfrm>
              <a:off x="7448550" y="1400175"/>
              <a:ext cx="666900" cy="171600"/>
            </a:xfrm>
            <a:prstGeom prst="roundRect">
              <a:avLst>
                <a:gd name="adj" fmla="val 22222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7429500" y="1381125"/>
              <a:ext cx="666900" cy="171600"/>
            </a:xfrm>
            <a:prstGeom prst="roundRect">
              <a:avLst>
                <a:gd name="adj" fmla="val 22222"/>
              </a:avLst>
            </a:prstGeom>
            <a:solidFill>
              <a:srgbClr val="FF66C4"/>
            </a:solidFill>
            <a:ln w="1905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7429500" y="1381125"/>
              <a:ext cx="66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7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OUTLIER!</a:t>
              </a:r>
              <a:endParaRPr sz="7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19" name="Google Shape;219;p17"/>
          <p:cNvSpPr/>
          <p:nvPr/>
        </p:nvSpPr>
        <p:spPr>
          <a:xfrm>
            <a:off x="3762375" y="2190750"/>
            <a:ext cx="1333500" cy="238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0" y="72000"/>
                </a:lnTo>
                <a:lnTo>
                  <a:pt x="120000" y="72000"/>
                </a:lnTo>
                <a:lnTo>
                  <a:pt x="120000" y="0"/>
                </a:lnTo>
                <a:moveTo>
                  <a:pt x="60000" y="72000"/>
                </a:moveTo>
                <a:lnTo>
                  <a:pt x="60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38100" cap="rnd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0" name="Google Shape;220;p17"/>
          <p:cNvGrpSpPr/>
          <p:nvPr/>
        </p:nvGrpSpPr>
        <p:grpSpPr>
          <a:xfrm>
            <a:off x="889635" y="2394585"/>
            <a:ext cx="582930" cy="582930"/>
            <a:chOff x="38100" y="38100"/>
            <a:chExt cx="685800" cy="685800"/>
          </a:xfrm>
        </p:grpSpPr>
        <p:sp>
          <p:nvSpPr>
            <p:cNvPr id="221" name="Google Shape;221;p17"/>
            <p:cNvSpPr/>
            <p:nvPr/>
          </p:nvSpPr>
          <p:spPr>
            <a:xfrm>
              <a:off x="38100" y="38100"/>
              <a:ext cx="685800" cy="685800"/>
            </a:xfrm>
            <a:prstGeom prst="ellipse">
              <a:avLst/>
            </a:prstGeom>
            <a:solidFill>
              <a:srgbClr val="FFDE59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95250" y="95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7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₹</a:t>
              </a:r>
              <a:endParaRPr lang="en-GB" sz="27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3" name="Google Shape;223;p17"/>
          <p:cNvGrpSpPr/>
          <p:nvPr/>
        </p:nvGrpSpPr>
        <p:grpSpPr>
          <a:xfrm>
            <a:off x="1890713" y="2524125"/>
            <a:ext cx="696278" cy="534353"/>
            <a:chOff x="95250" y="190500"/>
            <a:chExt cx="819150" cy="628650"/>
          </a:xfrm>
        </p:grpSpPr>
        <p:sp>
          <p:nvSpPr>
            <p:cNvPr id="224" name="Google Shape;224;p17"/>
            <p:cNvSpPr/>
            <p:nvPr/>
          </p:nvSpPr>
          <p:spPr>
            <a:xfrm>
              <a:off x="152400" y="24765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0000"/>
                  </a:moveTo>
                  <a:lnTo>
                    <a:pt x="75000" y="40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95250" y="1905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0000"/>
                  </a:moveTo>
                  <a:lnTo>
                    <a:pt x="75000" y="40000"/>
                  </a:lnTo>
                  <a:lnTo>
                    <a:pt x="75000" y="0"/>
                  </a:lnTo>
                  <a:lnTo>
                    <a:pt x="120000" y="60000"/>
                  </a:lnTo>
                  <a:lnTo>
                    <a:pt x="75000" y="120000"/>
                  </a:lnTo>
                  <a:lnTo>
                    <a:pt x="75000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38B6FF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26" name="Google Shape;226;p17"/>
          <p:cNvGrpSpPr/>
          <p:nvPr/>
        </p:nvGrpSpPr>
        <p:grpSpPr>
          <a:xfrm>
            <a:off x="3286125" y="2428875"/>
            <a:ext cx="2324100" cy="657300"/>
            <a:chOff x="3286125" y="2428875"/>
            <a:chExt cx="2324100" cy="657300"/>
          </a:xfrm>
        </p:grpSpPr>
        <p:sp>
          <p:nvSpPr>
            <p:cNvPr id="227" name="Google Shape;227;p17"/>
            <p:cNvSpPr/>
            <p:nvPr/>
          </p:nvSpPr>
          <p:spPr>
            <a:xfrm>
              <a:off x="3324225" y="2466975"/>
              <a:ext cx="2286000" cy="619200"/>
            </a:xfrm>
            <a:prstGeom prst="roundRect">
              <a:avLst>
                <a:gd name="adj" fmla="val 15384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3286125" y="2428875"/>
              <a:ext cx="2286000" cy="619200"/>
            </a:xfrm>
            <a:prstGeom prst="roundRect">
              <a:avLst>
                <a:gd name="adj" fmla="val 15384"/>
              </a:avLst>
            </a:prstGeom>
            <a:solidFill>
              <a:srgbClr val="00BF63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3286125" y="2428875"/>
              <a:ext cx="2286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5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MEDIAN = ₹3,750</a:t>
              </a:r>
              <a:endParaRPr sz="135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-GB" sz="975" b="0">
                  <a:solidFill>
                    <a:srgbClr val="11111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(₹3,500 + ₹4,000) ÷ 2</a:t>
              </a:r>
              <a:endParaRPr sz="975" b="0">
                <a:solidFill>
                  <a:srgbClr val="11111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230" name="Google Shape;230;p17"/>
          <p:cNvGrpSpPr/>
          <p:nvPr/>
        </p:nvGrpSpPr>
        <p:grpSpPr>
          <a:xfrm>
            <a:off x="5810250" y="2409825"/>
            <a:ext cx="2800500" cy="676200"/>
            <a:chOff x="5810250" y="2409825"/>
            <a:chExt cx="2800500" cy="676200"/>
          </a:xfrm>
        </p:grpSpPr>
        <p:sp>
          <p:nvSpPr>
            <p:cNvPr id="231" name="Google Shape;231;p17"/>
            <p:cNvSpPr/>
            <p:nvPr/>
          </p:nvSpPr>
          <p:spPr>
            <a:xfrm>
              <a:off x="5848350" y="2447925"/>
              <a:ext cx="2762400" cy="638100"/>
            </a:xfrm>
            <a:prstGeom prst="roundRect">
              <a:avLst>
                <a:gd name="adj" fmla="val 14925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5810250" y="2409825"/>
              <a:ext cx="2762400" cy="638100"/>
            </a:xfrm>
            <a:prstGeom prst="roundRect">
              <a:avLst>
                <a:gd name="adj" fmla="val 14925"/>
              </a:avLst>
            </a:prstGeom>
            <a:solidFill>
              <a:srgbClr val="FF66C4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3" name="Google Shape;233;p17"/>
            <p:cNvSpPr txBox="1"/>
            <p:nvPr/>
          </p:nvSpPr>
          <p:spPr>
            <a:xfrm>
              <a:off x="5810250" y="2409825"/>
              <a:ext cx="2762400" cy="6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142875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The median of ₹3,750 is only a tiny change from the original ₹3,500, completely ignoring the billionaire outlier.</a:t>
              </a:r>
              <a:endParaRPr sz="900" b="1">
                <a:solidFill>
                  <a:srgbClr val="111111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7"/>
          <p:cNvGrpSpPr/>
          <p:nvPr/>
        </p:nvGrpSpPr>
        <p:grpSpPr>
          <a:xfrm>
            <a:off x="266700" y="3028950"/>
            <a:ext cx="8553450" cy="1600275"/>
            <a:chOff x="266700" y="3028950"/>
            <a:chExt cx="8553450" cy="1600275"/>
          </a:xfrm>
        </p:grpSpPr>
        <p:sp>
          <p:nvSpPr>
            <p:cNvPr id="235" name="Google Shape;235;p17"/>
            <p:cNvSpPr/>
            <p:nvPr/>
          </p:nvSpPr>
          <p:spPr>
            <a:xfrm>
              <a:off x="438150" y="3248025"/>
              <a:ext cx="8382000" cy="1381200"/>
            </a:xfrm>
            <a:prstGeom prst="roundRect">
              <a:avLst>
                <a:gd name="adj" fmla="val 11034"/>
              </a:avLst>
            </a:prstGeom>
            <a:solidFill>
              <a:srgbClr val="11111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381000" y="3190875"/>
              <a:ext cx="8382000" cy="1381200"/>
            </a:xfrm>
            <a:prstGeom prst="roundRect">
              <a:avLst>
                <a:gd name="adj" fmla="val 11034"/>
              </a:avLst>
            </a:prstGeom>
            <a:solidFill>
              <a:srgbClr val="FFDE59"/>
            </a:solidFill>
            <a:ln w="38100" cap="flat" cmpd="sng">
              <a:solidFill>
                <a:srgbClr val="11111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37" name="Google Shape;237;p17"/>
            <p:cNvGrpSpPr/>
            <p:nvPr/>
          </p:nvGrpSpPr>
          <p:grpSpPr>
            <a:xfrm>
              <a:off x="266700" y="3028950"/>
              <a:ext cx="548730" cy="520110"/>
              <a:chOff x="47625" y="47625"/>
              <a:chExt cx="914550" cy="866850"/>
            </a:xfrm>
          </p:grpSpPr>
          <p:sp>
            <p:nvSpPr>
              <p:cNvPr id="238" name="Google Shape;238;p17"/>
              <p:cNvSpPr/>
              <p:nvPr/>
            </p:nvSpPr>
            <p:spPr>
              <a:xfrm>
                <a:off x="104775" y="10477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39" name="Google Shape;239;p17"/>
              <p:cNvSpPr/>
              <p:nvPr/>
            </p:nvSpPr>
            <p:spPr>
              <a:xfrm>
                <a:off x="47625" y="47625"/>
                <a:ext cx="857400" cy="8097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73333" y="42353"/>
                    </a:lnTo>
                    <a:lnTo>
                      <a:pt x="120000" y="42353"/>
                    </a:lnTo>
                    <a:lnTo>
                      <a:pt x="86667" y="70588"/>
                    </a:lnTo>
                    <a:lnTo>
                      <a:pt x="100000" y="120000"/>
                    </a:lnTo>
                    <a:lnTo>
                      <a:pt x="60000" y="91765"/>
                    </a:lnTo>
                    <a:lnTo>
                      <a:pt x="20000" y="120000"/>
                    </a:lnTo>
                    <a:lnTo>
                      <a:pt x="33333" y="70588"/>
                    </a:lnTo>
                    <a:lnTo>
                      <a:pt x="0" y="42353"/>
                    </a:lnTo>
                    <a:lnTo>
                      <a:pt x="46667" y="42353"/>
                    </a:lnTo>
                    <a:close/>
                  </a:path>
                </a:pathLst>
              </a:custGeom>
              <a:solidFill>
                <a:srgbClr val="FFDE59"/>
              </a:solidFill>
              <a:ln w="38100" cap="flat" cmpd="sng">
                <a:solidFill>
                  <a:srgbClr val="11111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240" name="Google Shape;240;p17"/>
            <p:cNvSpPr txBox="1"/>
            <p:nvPr/>
          </p:nvSpPr>
          <p:spPr>
            <a:xfrm>
              <a:off x="904875" y="3286125"/>
              <a:ext cx="76677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>
                  <a:solidFill>
                    <a:srgbClr val="111111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RULE OF THUMB</a:t>
              </a:r>
              <a:endParaRPr sz="1500" b="1">
                <a:solidFill>
                  <a:srgbClr val="11111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1125" b="0">
                  <a:solidFill>
                    <a:srgbClr val="111111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Use the </a:t>
              </a:r>
              <a:r>
                <a:rPr lang="en-GB" sz="112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Mean</a:t>
              </a:r>
              <a:r>
                <a:rPr lang="en-GB" sz="1125" b="0">
                  <a:solidFill>
                    <a:srgbClr val="111111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 when data is symmetrical and lacks extreme outliers. Use the </a:t>
              </a:r>
              <a:r>
                <a:rPr lang="en-GB" sz="1125" b="1">
                  <a:solidFill>
                    <a:srgbClr val="111111"/>
                  </a:solidFill>
                  <a:latin typeface="Outfit"/>
                  <a:ea typeface="Outfit"/>
                  <a:cs typeface="Outfit"/>
                  <a:sym typeface="Outfit"/>
                </a:rPr>
                <a:t>Median</a:t>
              </a:r>
              <a:r>
                <a:rPr lang="en-GB" sz="1125" b="0">
                  <a:solidFill>
                    <a:srgbClr val="111111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 when data is skewed or contains extreme outliers, such as income, real estate, or pocket money.</a:t>
              </a:r>
              <a:endParaRPr sz="1125" b="0">
                <a:solidFill>
                  <a:srgbClr val="111111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WPS Sheets</Application>
  <PresentationFormat/>
  <Paragraphs>83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SimSun</vt:lpstr>
      <vt:lpstr>Wingdings</vt:lpstr>
      <vt:lpstr>Arial</vt:lpstr>
      <vt:lpstr>Space Grotesk</vt:lpstr>
      <vt:lpstr>Outfit</vt:lpstr>
      <vt:lpstr>Space Grotesk Medium</vt:lpstr>
      <vt:lpstr>Outfit Medium</vt:lpstr>
      <vt:lpstr>Microsoft YaHei</vt:lpstr>
      <vt:lpstr>汉仪旗黑</vt:lpstr>
      <vt:lpstr>Arial Unicode MS</vt:lpstr>
      <vt:lpstr>宋体-简</vt:lpstr>
      <vt:lpstr>Simple Light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vipar</cp:lastModifiedBy>
  <cp:revision>1</cp:revision>
  <dcterms:created xsi:type="dcterms:W3CDTF">2026-07-15T09:34:36Z</dcterms:created>
  <dcterms:modified xsi:type="dcterms:W3CDTF">2026-07-15T09:34:36Z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300679FDC96064522B54576ABEFB64AE_42</vt:lpwstr>
  </property>
  <property fmtid="{D5CDD505-2E9C-101B-9397-08002B2CF9AE}" pid="3" name="KSOProductBuildVer">
    <vt:lpwstr>1033-12.1.26015.26015</vt:lpwstr>
  </property>
</Properties>
</file>