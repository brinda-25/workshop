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79" r:id="rId6"/>
    <p:sldId id="280" r:id="rId7"/>
    <p:sldId id="291" r:id="rId8"/>
    <p:sldId id="278" r:id="rId9"/>
    <p:sldId id="259" r:id="rId10"/>
    <p:sldId id="260" r:id="rId11"/>
    <p:sldId id="282" r:id="rId12"/>
    <p:sldId id="283" r:id="rId13"/>
    <p:sldId id="261" r:id="rId14"/>
    <p:sldId id="286" r:id="rId15"/>
    <p:sldId id="284" r:id="rId16"/>
    <p:sldId id="296" r:id="rId17"/>
    <p:sldId id="262" r:id="rId18"/>
    <p:sldId id="288" r:id="rId19"/>
    <p:sldId id="289" r:id="rId20"/>
    <p:sldId id="290" r:id="rId21"/>
    <p:sldId id="287" r:id="rId22"/>
    <p:sldId id="263" r:id="rId23"/>
    <p:sldId id="292" r:id="rId24"/>
    <p:sldId id="293" r:id="rId25"/>
    <p:sldId id="264" r:id="rId26"/>
    <p:sldId id="295" r:id="rId27"/>
    <p:sldId id="266" r:id="rId28"/>
    <p:sldId id="267" r:id="rId29"/>
    <p:sldId id="277" r:id="rId30"/>
  </p:sldIdLst>
  <p:sldSz cx="9144000" cy="5143500" type="screen16x9"/>
  <p:notesSz cx="6858000" cy="9144000"/>
  <p:embeddedFontLst>
    <p:embeddedFont>
      <p:font typeface="Poppins" panose="00000800000000000000"/>
      <p:regular r:id="rId35"/>
    </p:embeddedFont>
    <p:embeddedFont>
      <p:font typeface="Inter" panose="02000503000000020004"/>
      <p:regular r:id="rId36"/>
    </p:embeddedFont>
    <p:embeddedFont>
      <p:font typeface="Outfit"/>
      <p:regular r:id="rId37"/>
    </p:embeddedFont>
    <p:embeddedFont>
      <p:font typeface="DM Sans"/>
      <p:regular r:id="rId38"/>
    </p:embeddedFont>
    <p:embeddedFont>
      <p:font typeface="Outfit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3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48" y="48"/>
      </p:cViewPr>
      <p:guideLst>
        <p:guide orient="horz" pos="1620"/>
        <p:guide pos="2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2cca4355c_3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2cca4355c_3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cca4355c_3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cca4355c_3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2cca4355c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2cca4355c_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00237150d_3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00237150d_3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2cca4355c_3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2cca4355c_3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cca4355c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2cca4355c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cca4355c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2cca4355c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2cca4355c_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2cca4355c_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2cca4355c_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2cca4355c_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2cca4355c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f2cca4355c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2cca4355c_3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2cca4355c_3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cca4355c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2cca4355c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cca4355c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2cca4355c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cca4355c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2cca4355c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2cca4355c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2cca4355c_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2cca4355c_2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2cca4355c_2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00237150d_34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00237150d_3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2cca4355c_2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2cca4355c_2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0237150d_31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00237150d_3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cca4355c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2cca4355c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2cca4355c_2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2cca4355c_2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2cca4355c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2cca4355c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2cca4355c_14_0)">
  <p:cSld name="Generated (g3f2cca4355c_14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00237150d_16_0)">
  <p:cSld name="Generated (g3f00237150d_16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0078361b1_13_0)">
  <p:cSld name="Generated (g3f0078361b1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4"/>
            <p:cNvSpPr/>
            <p:nvPr/>
          </p:nvSpPr>
          <p:spPr>
            <a:xfrm>
              <a:off x="723900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cubicBezTo>
                    <a:pt x="120000" y="53726"/>
                    <a:pt x="66274" y="0"/>
                    <a:pt x="0" y="0"/>
                  </a:cubicBezTo>
                  <a:close/>
                </a:path>
              </a:pathLst>
            </a:custGeom>
            <a:solidFill>
              <a:srgbClr val="FFC300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0" y="2762250"/>
              <a:ext cx="2381400" cy="2381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68FE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466725" y="3057525"/>
            <a:ext cx="8201100" cy="1490700"/>
            <a:chOff x="466725" y="3057525"/>
            <a:chExt cx="8201100" cy="14907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466725" y="3057525"/>
              <a:ext cx="8201100" cy="149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" name="Google Shape;62;p14"/>
            <p:cNvGrpSpPr/>
            <p:nvPr/>
          </p:nvGrpSpPr>
          <p:grpSpPr>
            <a:xfrm>
              <a:off x="2228850" y="3276600"/>
              <a:ext cx="304800" cy="304800"/>
              <a:chOff x="-152400" y="-152400"/>
              <a:chExt cx="304800" cy="3048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-152400" y="-152400"/>
                <a:ext cx="304800" cy="304800"/>
              </a:xfrm>
              <a:prstGeom prst="ellipse">
                <a:avLst/>
              </a:prstGeom>
              <a:solidFill>
                <a:srgbClr val="FF5733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-57150" y="-57150"/>
                <a:ext cx="114300" cy="114300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>
              <a:off x="4533900" y="3867150"/>
              <a:ext cx="457200" cy="457200"/>
              <a:chOff x="-228600" y="-228600"/>
              <a:chExt cx="457200" cy="4572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-228600" y="-228600"/>
                <a:ext cx="457200" cy="457200"/>
              </a:xfrm>
              <a:prstGeom prst="ellipse">
                <a:avLst/>
              </a:prstGeom>
              <a:solidFill>
                <a:srgbClr val="FFC30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-95250" y="-95250"/>
                <a:ext cx="190500" cy="190500"/>
              </a:xfrm>
              <a:prstGeom prst="ellipse">
                <a:avLst/>
              </a:prstGeom>
              <a:solidFill>
                <a:srgbClr val="0B132B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7029450" y="3267075"/>
              <a:ext cx="228600" cy="228600"/>
              <a:chOff x="-114300" y="-114300"/>
              <a:chExt cx="228600" cy="2286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-114300" y="-114300"/>
                <a:ext cx="228600" cy="228600"/>
              </a:xfrm>
              <a:prstGeom prst="ellipse">
                <a:avLst/>
              </a:prstGeom>
              <a:solidFill>
                <a:srgbClr val="2D68F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-38100" y="-38100"/>
                <a:ext cx="76200" cy="76200"/>
              </a:xfrm>
              <a:prstGeom prst="ellipse">
                <a:avLst/>
              </a:prstGeom>
              <a:solidFill>
                <a:srgbClr val="FFFFFF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71" name="Google Shape;71;p14"/>
          <p:cNvGrpSpPr/>
          <p:nvPr/>
        </p:nvGrpSpPr>
        <p:grpSpPr>
          <a:xfrm>
            <a:off x="533400" y="1333500"/>
            <a:ext cx="8610600" cy="3048000"/>
            <a:chOff x="-228600" y="0"/>
            <a:chExt cx="7848600" cy="3048000"/>
          </a:xfrm>
        </p:grpSpPr>
        <p:sp>
          <p:nvSpPr>
            <p:cNvPr id="72" name="Google Shape;72;p14"/>
            <p:cNvSpPr/>
            <p:nvPr/>
          </p:nvSpPr>
          <p:spPr>
            <a:xfrm>
              <a:off x="-228600" y="47625"/>
              <a:ext cx="57300" cy="16668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0"/>
              <a:ext cx="762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 b="0" dirty="0">
                  <a:solidFill>
                    <a:srgbClr val="F8F9FA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Campus to Company:</a:t>
              </a:r>
              <a:endParaRPr sz="3300" b="0" dirty="0">
                <a:solidFill>
                  <a:srgbClr val="F8F9FA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3300" b="0" dirty="0">
                  <a:solidFill>
                    <a:srgbClr val="FFC300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An insight into the Interview Process</a:t>
              </a:r>
              <a:endParaRPr sz="3300" b="0" dirty="0">
                <a:solidFill>
                  <a:srgbClr val="FFC300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l" rtl="0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GB" sz="1650" b="0" dirty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Your Roadmap to Professional Success</a:t>
              </a:r>
              <a:endParaRPr lang="en-GB" sz="1650" b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spcBef>
                  <a:spcPts val="2100"/>
                </a:spcBef>
                <a:spcAft>
                  <a:spcPts val="0"/>
                </a:spcAft>
                <a:buNone/>
              </a:pPr>
              <a:endParaRPr sz="1650" b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3657600" lvl="8" indent="457200" algn="l" rtl="0"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US" sz="3200" b="0" dirty="0">
                  <a:solidFill>
                    <a:schemeClr val="accent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VIPAR Consultants</a:t>
              </a:r>
              <a:endParaRPr lang="en-US" sz="3200" b="0" dirty="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ROADMAP TO SUCCESS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Agenda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323850" y="2085975"/>
            <a:ext cx="8486850" cy="2657588"/>
            <a:chOff x="-247650" y="133350"/>
            <a:chExt cx="8486850" cy="2657588"/>
          </a:xfrm>
        </p:grpSpPr>
        <p:pic>
          <p:nvPicPr>
            <p:cNvPr id="85" name="Google Shape;85;p1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81063" y="361950"/>
              <a:ext cx="6191400" cy="38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" name="Google Shape;86;p15"/>
            <p:cNvGrpSpPr/>
            <p:nvPr/>
          </p:nvGrpSpPr>
          <p:grpSpPr>
            <a:xfrm>
              <a:off x="-247650" y="133350"/>
              <a:ext cx="2257500" cy="2657588"/>
              <a:chOff x="-247650" y="133350"/>
              <a:chExt cx="2257500" cy="2657588"/>
            </a:xfrm>
          </p:grpSpPr>
          <p:pic>
            <p:nvPicPr>
              <p:cNvPr id="87" name="Google Shape;87;p15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-247650" y="223838"/>
                <a:ext cx="2257500" cy="256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" name="Google Shape;88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1</a:t>
                </a:r>
                <a:endParaRPr lang="en-GB" sz="150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42875" y="762000"/>
                <a:ext cx="14763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The Selection Funnel</a:t>
                </a:r>
                <a:endParaRPr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1828800" y="133350"/>
              <a:ext cx="2257500" cy="2657588"/>
              <a:chOff x="-247650" y="133350"/>
              <a:chExt cx="2257500" cy="2657588"/>
            </a:xfrm>
          </p:grpSpPr>
          <p:pic>
            <p:nvPicPr>
              <p:cNvPr id="93" name="Google Shape;93;p15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-247650" y="223838"/>
                <a:ext cx="2257500" cy="256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" name="Google Shape;94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endParaRPr lang="en-GB" sz="150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142875" y="762000"/>
                <a:ext cx="14763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Resume Readiness &amp; Strategy</a:t>
                </a:r>
                <a:endParaRPr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3905250" y="133350"/>
              <a:ext cx="2257500" cy="2657588"/>
              <a:chOff x="-247650" y="133350"/>
              <a:chExt cx="2257500" cy="2657588"/>
            </a:xfrm>
          </p:grpSpPr>
          <p:pic>
            <p:nvPicPr>
              <p:cNvPr id="99" name="Google Shape;99;p15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-247650" y="223838"/>
                <a:ext cx="2257500" cy="256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" name="Google Shape;100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0B132B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endParaRPr lang="en-GB" sz="1500" b="0">
                  <a:solidFill>
                    <a:srgbClr val="0B132B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103" name="Google Shape;103;p15"/>
              <p:cNvSpPr txBox="1"/>
              <p:nvPr/>
            </p:nvSpPr>
            <p:spPr>
              <a:xfrm>
                <a:off x="142875" y="762000"/>
                <a:ext cx="14763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Aptitude &amp; Technical Preparation</a:t>
                </a:r>
                <a:endParaRPr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  <p:grpSp>
          <p:nvGrpSpPr>
            <p:cNvPr id="104" name="Google Shape;104;p15"/>
            <p:cNvGrpSpPr/>
            <p:nvPr/>
          </p:nvGrpSpPr>
          <p:grpSpPr>
            <a:xfrm>
              <a:off x="5981700" y="133350"/>
              <a:ext cx="2257500" cy="2657588"/>
              <a:chOff x="-247650" y="133350"/>
              <a:chExt cx="2257500" cy="2657588"/>
            </a:xfrm>
          </p:grpSpPr>
          <p:pic>
            <p:nvPicPr>
              <p:cNvPr id="105" name="Google Shape;105;p15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-247650" y="223838"/>
                <a:ext cx="2257500" cy="256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" name="Google Shape;106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B13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0B13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</a:t>
                </a:r>
                <a:endParaRPr lang="en-GB" sz="150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142875" y="762000"/>
                <a:ext cx="14763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Interview Etiquette &amp; Best Practices</a:t>
                </a:r>
                <a:endParaRPr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</p:grpSp>
      <p:cxnSp>
        <p:nvCxnSpPr>
          <p:cNvPr id="2" name="Google Shape;93;p15"/>
          <p:cNvCxnSpPr/>
          <p:nvPr/>
        </p:nvCxnSpPr>
        <p:spPr>
          <a:xfrm>
            <a:off x="381000" y="125984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1" y="1551094"/>
            <a:ext cx="1781424" cy="17147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457" y="1512988"/>
            <a:ext cx="1762371" cy="17528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873" y="1484408"/>
            <a:ext cx="1771897" cy="1810003"/>
          </a:xfrm>
          <a:prstGeom prst="rect">
            <a:avLst/>
          </a:prstGeom>
        </p:spPr>
      </p:pic>
      <p:sp>
        <p:nvSpPr>
          <p:cNvPr id="118" name="Google Shape;118;p16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i="0" u="none" strike="noStrike" dirty="0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LETS GET STARTED</a:t>
            </a:r>
            <a:endParaRPr lang="en-US" sz="1800" b="1" i="0" u="none" strike="noStrike" dirty="0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2700" b="0" i="0" u="none" strike="noStrike" dirty="0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Quick Question</a:t>
            </a:r>
            <a:endParaRPr lang="en-US" altLang="en-GB" sz="2700" b="0" i="0" u="none" strike="noStrike" dirty="0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1000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695" y="3637280"/>
            <a:ext cx="4742180" cy="10420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410" y="1551305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8" name="Google Shape;78;p1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1785" y="1152525"/>
            <a:ext cx="8520430" cy="3667125"/>
          </a:xfrm>
        </p:spPr>
        <p:txBody>
          <a:bodyPr>
            <a:normAutofit/>
          </a:bodyPr>
          <a:p>
            <a:pPr marL="114300" indent="0">
              <a:buNone/>
            </a:pPr>
            <a:endParaRPr lang="en-US" altLang="en-US"/>
          </a:p>
          <a:p>
            <a:pPr marL="114300" indent="0">
              <a:buNone/>
            </a:pPr>
            <a:r>
              <a:rPr lang="en-US" altLang="en-US"/>
              <a:t>✔ Problem solving</a:t>
            </a:r>
            <a:endParaRPr lang="en-US" altLang="en-US"/>
          </a:p>
          <a:p>
            <a:pPr marL="114300" indent="0">
              <a:buNone/>
            </a:pPr>
            <a:r>
              <a:rPr lang="en-US" altLang="en-US"/>
              <a:t>✔ Technical fundamentals</a:t>
            </a:r>
            <a:endParaRPr lang="en-US" altLang="en-US"/>
          </a:p>
          <a:p>
            <a:pPr marL="114300" indent="0">
              <a:buNone/>
            </a:pPr>
            <a:r>
              <a:rPr lang="en-US" altLang="en-US"/>
              <a:t>✔ Communication</a:t>
            </a:r>
            <a:endParaRPr lang="en-US" altLang="en-US"/>
          </a:p>
          <a:p>
            <a:pPr marL="114300" indent="0">
              <a:buNone/>
            </a:pPr>
            <a:r>
              <a:rPr lang="en-US" altLang="en-US"/>
              <a:t>✔ Confidence</a:t>
            </a:r>
            <a:endParaRPr lang="en-US" altLang="en-US"/>
          </a:p>
          <a:p>
            <a:pPr marL="114300" indent="0">
              <a:buNone/>
            </a:pPr>
            <a:r>
              <a:rPr lang="en-US" altLang="en-US"/>
              <a:t>✔ Learning attitude</a:t>
            </a:r>
            <a:endParaRPr lang="en-US" altLang="en-US"/>
          </a:p>
          <a:p>
            <a:pPr marL="114300" indent="0">
              <a:buNone/>
            </a:pPr>
            <a:r>
              <a:rPr lang="en-US" altLang="en-US"/>
              <a:t>✔ Cultural fit</a:t>
            </a:r>
            <a:endParaRPr lang="en-US" altLang="en-US"/>
          </a:p>
          <a:p>
            <a:endParaRPr lang="en-US" altLang="en-US"/>
          </a:p>
          <a:p>
            <a:pPr marL="114300" indent="0">
              <a:buNone/>
            </a:pPr>
            <a:r>
              <a:rPr lang="en-US" altLang="en-US" sz="3200"/>
              <a:t>Knowledge + Skills + Attitude = Selection</a:t>
            </a:r>
            <a:endParaRPr lang="en-US" altLang="en-US" sz="3200"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LETS GET STARTED</a:t>
            </a:r>
            <a:endParaRPr lang="en-US" sz="1800" b="1" i="0" u="none" strike="noStrike" dirty="0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700">
                <a:sym typeface="+mn-ea"/>
              </a:rPr>
              <a:t>What Companies Actually Look For</a:t>
            </a:r>
            <a:endParaRPr lang="en-US" altLang="en-GB" sz="2700" b="0" i="0" u="none" strike="noStrike" dirty="0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3" name="Google Shape;253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80" y="5080"/>
            <a:ext cx="8982075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8982075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5334000" y="-1238250"/>
            <a:ext cx="7620000" cy="7620000"/>
          </a:xfrm>
          <a:prstGeom prst="ellipse">
            <a:avLst/>
          </a:prstGeom>
          <a:solidFill>
            <a:srgbClr val="FF5733">
              <a:alpha val="1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21"/>
          <p:cNvSpPr/>
          <p:nvPr/>
        </p:nvSpPr>
        <p:spPr>
          <a:xfrm>
            <a:off x="-1905000" y="3238500"/>
            <a:ext cx="3810000" cy="3810000"/>
          </a:xfrm>
          <a:prstGeom prst="ellipse">
            <a:avLst/>
          </a:prstGeom>
          <a:solidFill>
            <a:srgbClr val="0B132B">
              <a:alpha val="1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086600" y="-723900"/>
            <a:ext cx="20574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209550" y="3409950"/>
            <a:ext cx="2324100" cy="171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1"/>
          <p:cNvGrpSpPr/>
          <p:nvPr/>
        </p:nvGrpSpPr>
        <p:grpSpPr>
          <a:xfrm>
            <a:off x="533400" y="1428750"/>
            <a:ext cx="3657600" cy="2667000"/>
            <a:chOff x="-228600" y="0"/>
            <a:chExt cx="3657600" cy="2667000"/>
          </a:xfrm>
        </p:grpSpPr>
        <p:sp>
          <p:nvSpPr>
            <p:cNvPr id="259" name="Google Shape;259;p21"/>
            <p:cNvSpPr/>
            <p:nvPr/>
          </p:nvSpPr>
          <p:spPr>
            <a:xfrm>
              <a:off x="-228600" y="76200"/>
              <a:ext cx="57300" cy="1619100"/>
            </a:xfrm>
            <a:prstGeom prst="roundRect">
              <a:avLst>
                <a:gd name="adj" fmla="val 50000"/>
              </a:avLst>
            </a:pr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0" y="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345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Recruitment Process</a:t>
              </a:r>
              <a:endParaRPr lang="en-US" sz="3450" b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950" b="0">
                  <a:solidFill>
                    <a:srgbClr val="FFC3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The Journey</a:t>
              </a:r>
              <a:endParaRPr lang="en-US" sz="1950" b="0">
                <a:solidFill>
                  <a:srgbClr val="FFC3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61" name="Google Shape;261;p21"/>
          <p:cNvGrpSpPr/>
          <p:nvPr/>
        </p:nvGrpSpPr>
        <p:grpSpPr>
          <a:xfrm>
            <a:off x="4572000" y="952500"/>
            <a:ext cx="3810000" cy="857400"/>
            <a:chOff x="0" y="0"/>
            <a:chExt cx="3810000" cy="857400"/>
          </a:xfrm>
        </p:grpSpPr>
        <p:sp>
          <p:nvSpPr>
            <p:cNvPr id="262" name="Google Shape;262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FF5733">
                <a:alpha val="1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5733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1</a:t>
              </a:r>
              <a:endParaRPr lang="en-GB" sz="12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762000" y="142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200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Aptitude Tests</a:t>
              </a:r>
              <a:endParaRPr lang="en-US" altLang="en-GB" sz="1200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4572000" y="2000250"/>
            <a:ext cx="3810000" cy="857400"/>
            <a:chOff x="0" y="0"/>
            <a:chExt cx="3810000" cy="857400"/>
          </a:xfrm>
        </p:grpSpPr>
        <p:sp>
          <p:nvSpPr>
            <p:cNvPr id="268" name="Google Shape;268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FFC3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2</a:t>
              </a:r>
              <a:endParaRPr lang="en-GB"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762000" y="142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Coding Interviews</a:t>
              </a:r>
              <a:endParaRPr lang="en-US" sz="1200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4572000" y="3048000"/>
            <a:ext cx="3810000" cy="857400"/>
            <a:chOff x="0" y="0"/>
            <a:chExt cx="3810000" cy="8574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0B132B">
                <a:alpha val="1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3</a:t>
              </a:r>
              <a:endParaRPr lang="en-GB"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762000" y="9525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12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Technical Interviews</a:t>
              </a:r>
              <a:endParaRPr lang="en-US" altLang="en-GB" sz="1125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5080" y="508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8" name="Google Shape;118;p16"/>
          <p:cNvSpPr txBox="1"/>
          <p:nvPr/>
        </p:nvSpPr>
        <p:spPr>
          <a:xfrm>
            <a:off x="476250" y="20955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OVERVIEW OF SELECTION ROUNDS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GB" sz="2700">
                <a:solidFill>
                  <a:srgbClr val="0B132B"/>
                </a:solidFill>
                <a:latin typeface="+mj-lt"/>
                <a:ea typeface="Poppins SemiBold"/>
                <a:cs typeface="+mj-lt"/>
                <a:sym typeface="Poppins SemiBold"/>
              </a:rPr>
              <a:t>The Selection Funnel</a:t>
            </a:r>
            <a:endParaRPr lang="en-US" altLang="en-GB" sz="2700" b="0" i="0" u="none" strike="noStrike" dirty="0">
              <a:solidFill>
                <a:srgbClr val="0B132B"/>
              </a:solidFill>
              <a:latin typeface="+mj-lt"/>
              <a:ea typeface="Poppins SemiBold"/>
              <a:cs typeface="+mj-lt"/>
              <a:sym typeface="Poppins SemiBold"/>
            </a:endParaRPr>
          </a:p>
        </p:txBody>
      </p:sp>
      <p:grpSp>
        <p:nvGrpSpPr>
          <p:cNvPr id="95" name="Google Shape;95;p15"/>
          <p:cNvGrpSpPr/>
          <p:nvPr/>
        </p:nvGrpSpPr>
        <p:grpSpPr>
          <a:xfrm>
            <a:off x="381000" y="1407160"/>
            <a:ext cx="4153050" cy="3486150"/>
            <a:chOff x="0" y="0"/>
            <a:chExt cx="4153050" cy="3486150"/>
          </a:xfrm>
        </p:grpSpPr>
        <p:sp>
          <p:nvSpPr>
            <p:cNvPr id="96" name="Google Shape;96;p15"/>
            <p:cNvSpPr/>
            <p:nvPr/>
          </p:nvSpPr>
          <p:spPr>
            <a:xfrm>
              <a:off x="57150" y="57150"/>
              <a:ext cx="4095900" cy="3429000"/>
            </a:xfrm>
            <a:prstGeom prst="roundRect">
              <a:avLst>
                <a:gd name="adj" fmla="val 4444"/>
              </a:avLst>
            </a:prstGeom>
            <a:solidFill>
              <a:srgbClr val="11182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0"/>
              <a:ext cx="40959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238125" y="122555"/>
              <a:ext cx="3619500" cy="3068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Recruitment stages</a:t>
              </a:r>
              <a:endParaRPr sz="1500" b="1" dirty="0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975" b="1" dirty="0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Resume Screening:</a:t>
              </a:r>
              <a:r>
                <a:rPr 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Applicant Tracking Systems (ATS) to match keywords and basic qualifications.</a:t>
              </a:r>
              <a:endParaRPr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975" b="1" dirty="0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Aptitude Testing:</a:t>
              </a:r>
              <a:r>
                <a:rPr 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Evaluates quantitative, logical, and verbal reasoning skills under strict time limits.</a:t>
              </a:r>
              <a:endParaRPr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975" b="1" dirty="0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Coding Assessment:</a:t>
              </a:r>
              <a:r>
                <a:rPr 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Tests core domain knowledge and coding proficiency through automated platforms</a:t>
              </a:r>
              <a:r>
                <a:rPr lang="en-US" alt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like </a:t>
              </a:r>
              <a:r>
                <a:rPr lang="en-US" altLang="en-GB" sz="975" b="1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Hackeranck.</a:t>
              </a:r>
              <a:endParaRPr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975" b="1" dirty="0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Technical Interviews:</a:t>
              </a:r>
              <a:r>
                <a:rPr 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Includes technical deep-dives </a:t>
              </a:r>
              <a:r>
                <a:rPr lang="en-US" altLang="en-GB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to evaluate concept understanding and knowledge</a:t>
              </a:r>
              <a:endParaRPr lang="en-GB"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endParaRPr lang="en-GB"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algn="l" rtl="0">
                <a:spcBef>
                  <a:spcPts val="750"/>
                </a:spcBef>
                <a:spcAft>
                  <a:spcPts val="0"/>
                </a:spcAft>
                <a:buSzTx/>
                <a:buNone/>
              </a:pPr>
              <a:r>
                <a:rPr lang="en-GB" sz="975" b="1" dirty="0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 Medium"/>
                </a:rPr>
                <a:t>Other rounds include </a:t>
              </a:r>
              <a:endParaRPr lang="en-GB" sz="975" b="1" dirty="0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 Medium"/>
              </a:endParaRPr>
            </a:p>
            <a:p>
              <a:pPr marL="171450" lvl="0" indent="-171450" algn="l" rtl="0">
                <a:spcBef>
                  <a:spcPts val="750"/>
                </a:spcBef>
                <a:spcAft>
                  <a:spcPts val="0"/>
                </a:spcAft>
                <a:buFont typeface="Arial" panose="020B0604020202090204" pitchFamily="34" charset="0"/>
                <a:buChar char="•"/>
              </a:pPr>
              <a:r>
                <a:rPr lang="en-US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Group Discussions</a:t>
              </a:r>
              <a:endParaRPr lang="en-US"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750"/>
                </a:spcBef>
                <a:spcAft>
                  <a:spcPts val="0"/>
                </a:spcAft>
                <a:buFont typeface="Arial" panose="020B0604020202090204" pitchFamily="34" charset="0"/>
                <a:buChar char="•"/>
              </a:pPr>
              <a:r>
                <a:rPr lang="en-US" sz="975" b="0" dirty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HR Interviews</a:t>
              </a:r>
              <a:endParaRPr lang="en-US" sz="975" b="0" dirty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667250" y="1380490"/>
            <a:ext cx="4153050" cy="3486150"/>
            <a:chOff x="0" y="0"/>
            <a:chExt cx="4153050" cy="3486150"/>
          </a:xfrm>
        </p:grpSpPr>
        <p:sp>
          <p:nvSpPr>
            <p:cNvPr id="100" name="Google Shape;100;p15"/>
            <p:cNvSpPr/>
            <p:nvPr/>
          </p:nvSpPr>
          <p:spPr>
            <a:xfrm>
              <a:off x="57150" y="57150"/>
              <a:ext cx="4095900" cy="3429000"/>
            </a:xfrm>
            <a:prstGeom prst="roundRect">
              <a:avLst>
                <a:gd name="adj" fmla="val 4444"/>
              </a:avLst>
            </a:prstGeom>
            <a:solidFill>
              <a:srgbClr val="11182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0" y="0"/>
              <a:ext cx="40959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76250" y="428625"/>
              <a:ext cx="31434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09091" y="120000"/>
                  </a:lnTo>
                  <a:lnTo>
                    <a:pt x="10909" y="120000"/>
                  </a:lnTo>
                  <a:close/>
                </a:path>
              </a:pathLst>
            </a:custGeom>
            <a:solidFill>
              <a:srgbClr val="4338CA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762000" y="590550"/>
              <a:ext cx="257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Resume Screening</a:t>
              </a:r>
              <a:endParaRPr 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809625" y="1095375"/>
              <a:ext cx="24765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06154" y="120000"/>
                  </a:lnTo>
                  <a:lnTo>
                    <a:pt x="13846" y="120000"/>
                  </a:lnTo>
                  <a:close/>
                </a:path>
              </a:pathLst>
            </a:custGeom>
            <a:solidFill>
              <a:srgbClr val="FF6B6B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095375" y="12573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Aptitude Tests</a:t>
              </a:r>
              <a:endParaRPr 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143000" y="1762125"/>
              <a:ext cx="18096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97895" y="120000"/>
                  </a:lnTo>
                  <a:lnTo>
                    <a:pt x="22105" y="120000"/>
                  </a:lnTo>
                  <a:close/>
                </a:path>
              </a:pathLst>
            </a:custGeom>
            <a:solidFill>
              <a:srgbClr val="FBBF24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1476375" y="192405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1" dirty="0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Coding Assessments</a:t>
              </a:r>
              <a:endParaRPr dirty="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524000" y="2428875"/>
              <a:ext cx="10479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81818" y="120000"/>
                  </a:lnTo>
                  <a:lnTo>
                    <a:pt x="38182" y="120000"/>
                  </a:lnTo>
                  <a:close/>
                </a:path>
              </a:pathLst>
            </a:cu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714500" y="2590800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1" dirty="0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Technical Interviews</a:t>
              </a:r>
              <a:endParaRPr dirty="0"/>
            </a:p>
          </p:txBody>
        </p:sp>
      </p:grpSp>
      <p:cxnSp>
        <p:nvCxnSpPr>
          <p:cNvPr id="2" name="Google Shape;93;p15"/>
          <p:cNvCxnSpPr/>
          <p:nvPr/>
        </p:nvCxnSpPr>
        <p:spPr>
          <a:xfrm>
            <a:off x="381000" y="116205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7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144" name="Google Shape;144;p17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7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7" name="Google Shape;147;p17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OVERVIEW OF SELECTION ROUNDS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Interview Process</a:t>
            </a:r>
            <a:endParaRPr lang="en-US" altLang="en-GB" sz="2700" b="0" i="0" u="none" strike="noStrike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48" name="Google Shape;148;p17"/>
          <p:cNvGrpSpPr/>
          <p:nvPr/>
        </p:nvGrpSpPr>
        <p:grpSpPr>
          <a:xfrm>
            <a:off x="628650" y="1581150"/>
            <a:ext cx="8001000" cy="2857500"/>
            <a:chOff x="628650" y="1581150"/>
            <a:chExt cx="8001000" cy="2857500"/>
          </a:xfrm>
        </p:grpSpPr>
        <p:sp>
          <p:nvSpPr>
            <p:cNvPr id="149" name="Google Shape;149;p17"/>
            <p:cNvSpPr/>
            <p:nvPr/>
          </p:nvSpPr>
          <p:spPr>
            <a:xfrm>
              <a:off x="628650" y="1581150"/>
              <a:ext cx="2476500" cy="2857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6000"/>
                  </a:lnTo>
                  <a:lnTo>
                    <a:pt x="120000" y="104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32B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390900" y="1962150"/>
              <a:ext cx="2476500" cy="2095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21818"/>
                  </a:lnTo>
                  <a:lnTo>
                    <a:pt x="120000" y="98182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32B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153150" y="2343150"/>
              <a:ext cx="2476500" cy="13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34286"/>
                  </a:lnTo>
                  <a:lnTo>
                    <a:pt x="120000" y="85714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32B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571500" y="1524000"/>
            <a:ext cx="8001000" cy="2857500"/>
            <a:chOff x="571500" y="1524000"/>
            <a:chExt cx="8001000" cy="2857500"/>
          </a:xfrm>
        </p:grpSpPr>
        <p:sp>
          <p:nvSpPr>
            <p:cNvPr id="153" name="Google Shape;153;p17"/>
            <p:cNvSpPr/>
            <p:nvPr/>
          </p:nvSpPr>
          <p:spPr>
            <a:xfrm>
              <a:off x="571500" y="1524000"/>
              <a:ext cx="2476500" cy="2857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6000"/>
                  </a:lnTo>
                  <a:lnTo>
                    <a:pt x="120000" y="104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333750" y="1905000"/>
              <a:ext cx="2476500" cy="2095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21818"/>
                  </a:lnTo>
                  <a:lnTo>
                    <a:pt x="120000" y="98182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6096000" y="2286000"/>
              <a:ext cx="2476500" cy="13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34286"/>
                  </a:lnTo>
                  <a:lnTo>
                    <a:pt x="120000" y="85714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3143250" y="2876550"/>
            <a:ext cx="2876550" cy="152400"/>
            <a:chOff x="3143250" y="2876550"/>
            <a:chExt cx="2876550" cy="152400"/>
          </a:xfrm>
        </p:grpSpPr>
        <p:sp>
          <p:nvSpPr>
            <p:cNvPr id="157" name="Google Shape;157;p17"/>
            <p:cNvSpPr/>
            <p:nvPr/>
          </p:nvSpPr>
          <p:spPr>
            <a:xfrm>
              <a:off x="3143250" y="28765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32B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5905500" y="28765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32B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714375" y="1714500"/>
            <a:ext cx="7715400" cy="2476500"/>
            <a:chOff x="714375" y="1714500"/>
            <a:chExt cx="7715400" cy="2476500"/>
          </a:xfrm>
        </p:grpSpPr>
        <p:sp>
          <p:nvSpPr>
            <p:cNvPr id="160" name="Google Shape;160;p17"/>
            <p:cNvSpPr txBox="1"/>
            <p:nvPr/>
          </p:nvSpPr>
          <p:spPr>
            <a:xfrm>
              <a:off x="714375" y="1714500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0">
                  <a:solidFill>
                    <a:srgbClr val="FFC300"/>
                  </a:solidFill>
                  <a:highlight>
                    <a:srgbClr val="0B132B"/>
                  </a:highlight>
                  <a:latin typeface="Poppins ExtraBold"/>
                  <a:ea typeface="Poppins ExtraBold"/>
                  <a:cs typeface="Poppins ExtraBold"/>
                  <a:sym typeface="Poppins ExtraBold"/>
                </a:rPr>
                <a:t>Round 1</a:t>
              </a:r>
              <a:endParaRPr lang="en-GB" sz="1050" b="0">
                <a:solidFill>
                  <a:srgbClr val="FFC300"/>
                </a:solidFill>
                <a:highlight>
                  <a:srgbClr val="0B132B"/>
                </a:highlight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650" b="1">
                  <a:solidFill>
                    <a:srgbClr val="FFFFFF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Aptitude Tests</a:t>
              </a:r>
              <a:endParaRPr sz="1650" b="1">
                <a:solidFill>
                  <a:srgbClr val="FFFFFF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476625" y="2047875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0">
                  <a:solidFill>
                    <a:srgbClr val="FFFFFF"/>
                  </a:solidFill>
                  <a:highlight>
                    <a:srgbClr val="0B132B"/>
                  </a:highlight>
                  <a:latin typeface="Poppins ExtraBold"/>
                  <a:ea typeface="Poppins ExtraBold"/>
                  <a:cs typeface="Poppins ExtraBold"/>
                  <a:sym typeface="Poppins ExtraBold"/>
                </a:rPr>
                <a:t>Round 2</a:t>
              </a:r>
              <a:endParaRPr lang="en-GB" sz="1050" b="0">
                <a:solidFill>
                  <a:srgbClr val="FFFFFF"/>
                </a:solidFill>
                <a:highlight>
                  <a:srgbClr val="0B132B"/>
                </a:highlight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FFFFFF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Coding Assessments</a:t>
              </a:r>
              <a:endParaRPr sz="1500" b="1">
                <a:solidFill>
                  <a:srgbClr val="FFFFFF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0">
                  <a:solidFill>
                    <a:srgbClr val="F8F9FA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(e.g., HackerRank)</a:t>
              </a:r>
              <a:endParaRPr sz="1050" b="0">
                <a:solidFill>
                  <a:srgbClr val="F8F9F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6238875" y="238125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FFFFFF"/>
                  </a:solidFill>
                  <a:highlight>
                    <a:srgbClr val="0B132B"/>
                  </a:highlight>
                  <a:latin typeface="Poppins ExtraBold"/>
                  <a:ea typeface="Poppins ExtraBold"/>
                  <a:cs typeface="Poppins ExtraBold"/>
                  <a:sym typeface="Poppins ExtraBold"/>
                </a:rPr>
                <a:t>Round 3</a:t>
              </a:r>
              <a:endParaRPr lang="en-GB" sz="975" b="0">
                <a:solidFill>
                  <a:srgbClr val="FFFFFF"/>
                </a:solidFill>
                <a:highlight>
                  <a:srgbClr val="0B132B"/>
                </a:highlight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alt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Technical </a:t>
              </a: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Interviews</a:t>
              </a:r>
              <a:endParaRPr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</p:grpSp>
      <p:cxnSp>
        <p:nvCxnSpPr>
          <p:cNvPr id="93" name="Google Shape;93;p15"/>
          <p:cNvCxnSpPr/>
          <p:nvPr/>
        </p:nvCxnSpPr>
        <p:spPr>
          <a:xfrm>
            <a:off x="381000" y="11811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" name="Google Shape;554;p30"/>
          <p:cNvGrpSpPr/>
          <p:nvPr/>
        </p:nvGrpSpPr>
        <p:grpSpPr>
          <a:xfrm>
            <a:off x="2400300" y="4344670"/>
            <a:ext cx="4656455" cy="604520"/>
            <a:chOff x="-4343400" y="-187842"/>
            <a:chExt cx="9312910" cy="666810"/>
          </a:xfrm>
        </p:grpSpPr>
        <p:sp>
          <p:nvSpPr>
            <p:cNvPr id="4" name="Google Shape;556;p30"/>
            <p:cNvSpPr/>
            <p:nvPr/>
          </p:nvSpPr>
          <p:spPr>
            <a:xfrm>
              <a:off x="-4343400" y="-187842"/>
              <a:ext cx="9312910" cy="66681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558;p30"/>
            <p:cNvSpPr txBox="1"/>
            <p:nvPr/>
          </p:nvSpPr>
          <p:spPr>
            <a:xfrm>
              <a:off x="-3872230" y="38052"/>
              <a:ext cx="8192770" cy="400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algn="ctr" rtl="0"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>
                  <a:latin typeface="Arial Bold" panose="020B0604020202090204" charset="0"/>
                  <a:cs typeface="Arial Bold" panose="020B0604020202090204" charset="0"/>
                  <a:sym typeface="+mn-ea"/>
                </a:rPr>
                <a:t>Remember</a:t>
              </a:r>
              <a:r>
                <a:rPr lang="en-US" altLang="zh-CN">
                  <a:latin typeface="Arial" panose="020B0604020202090204" pitchFamily="34" charset="0"/>
                  <a:cs typeface="Arial" panose="020B0604020202090204" pitchFamily="34" charset="0"/>
                  <a:sym typeface="+mn-ea"/>
                </a:rPr>
                <a:t>: Every round is an elimination round</a:t>
              </a:r>
              <a:endParaRPr lang="en-US" altLang="en-GB">
                <a:solidFill>
                  <a:srgbClr val="111827"/>
                </a:solidFill>
                <a:latin typeface="Outfit"/>
                <a:ea typeface="Outfit"/>
                <a:cs typeface="Outfit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3" y="4763"/>
            <a:ext cx="8982000" cy="49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18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1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Aptitude Tests - </a:t>
            </a:r>
            <a:r>
              <a:rPr lang="en-US" alt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</a:t>
            </a: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 First Hurdle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571500" y="2440940"/>
            <a:ext cx="8001000" cy="589915"/>
            <a:chOff x="0" y="0"/>
            <a:chExt cx="8001150" cy="563633"/>
          </a:xfrm>
        </p:grpSpPr>
        <p:grpSp>
          <p:nvGrpSpPr>
            <p:cNvPr id="173" name="Google Shape;173;p18"/>
            <p:cNvGrpSpPr/>
            <p:nvPr/>
          </p:nvGrpSpPr>
          <p:grpSpPr>
            <a:xfrm>
              <a:off x="0" y="133350"/>
              <a:ext cx="304800" cy="304800"/>
              <a:chOff x="0" y="0"/>
              <a:chExt cx="304800" cy="304800"/>
            </a:xfrm>
          </p:grpSpPr>
          <p:sp>
            <p:nvSpPr>
              <p:cNvPr id="174" name="Google Shape;174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95250" y="1143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76" name="Google Shape;176;p18"/>
            <p:cNvSpPr txBox="1"/>
            <p:nvPr/>
          </p:nvSpPr>
          <p:spPr>
            <a:xfrm>
              <a:off x="476259" y="0"/>
              <a:ext cx="7524891" cy="563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Tests Quantitative and Logical reasoning skills</a:t>
              </a:r>
              <a:endParaRPr lang="en-US" sz="1350" b="0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571500" y="3142615"/>
            <a:ext cx="8001000" cy="589280"/>
            <a:chOff x="0" y="0"/>
            <a:chExt cx="8001150" cy="571500"/>
          </a:xfrm>
        </p:grpSpPr>
        <p:grpSp>
          <p:nvGrpSpPr>
            <p:cNvPr id="178" name="Google Shape;178;p18"/>
            <p:cNvGrpSpPr/>
            <p:nvPr/>
          </p:nvGrpSpPr>
          <p:grpSpPr>
            <a:xfrm>
              <a:off x="0" y="133350"/>
              <a:ext cx="304800" cy="304800"/>
              <a:chOff x="0" y="0"/>
              <a:chExt cx="304800" cy="304800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Google Shape;180;p18"/>
              <p:cNvSpPr/>
              <p:nvPr/>
            </p:nvSpPr>
            <p:spPr>
              <a:xfrm>
                <a:off x="95250" y="1143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81" name="Google Shape;181;p18"/>
            <p:cNvSpPr txBox="1"/>
            <p:nvPr/>
          </p:nvSpPr>
          <p:spPr>
            <a:xfrm>
              <a:off x="47625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Requires a balance of speed and accuracy.</a:t>
              </a:r>
              <a:endParaRPr sz="1350" b="0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571500" y="1784985"/>
            <a:ext cx="8001000" cy="590550"/>
            <a:chOff x="0" y="0"/>
            <a:chExt cx="8001150" cy="571500"/>
          </a:xfrm>
        </p:grpSpPr>
        <p:grpSp>
          <p:nvGrpSpPr>
            <p:cNvPr id="183" name="Google Shape;183;p18"/>
            <p:cNvGrpSpPr/>
            <p:nvPr/>
          </p:nvGrpSpPr>
          <p:grpSpPr>
            <a:xfrm>
              <a:off x="0" y="133350"/>
              <a:ext cx="304800" cy="304800"/>
              <a:chOff x="0" y="0"/>
              <a:chExt cx="304800" cy="304800"/>
            </a:xfrm>
          </p:grpSpPr>
          <p:sp>
            <p:nvSpPr>
              <p:cNvPr id="184" name="Google Shape;184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95250" y="1143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86" name="Google Shape;186;p18"/>
            <p:cNvSpPr txBox="1"/>
            <p:nvPr/>
          </p:nvSpPr>
          <p:spPr>
            <a:xfrm>
              <a:off x="47625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Acts as the primary elimination round.</a:t>
              </a:r>
              <a:endParaRPr sz="1350" b="0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cxnSp>
        <p:nvCxnSpPr>
          <p:cNvPr id="93" name="Google Shape;93;p15"/>
          <p:cNvCxnSpPr/>
          <p:nvPr/>
        </p:nvCxnSpPr>
        <p:spPr>
          <a:xfrm>
            <a:off x="381000" y="13716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3" y="4763"/>
            <a:ext cx="8982000" cy="49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18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1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Aptitude Tests - </a:t>
            </a: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Assessment topics</a:t>
            </a:r>
            <a:endParaRPr lang="en-US"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1000" y="13716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3" name="Google Shape;123;p16"/>
          <p:cNvGrpSpPr/>
          <p:nvPr/>
        </p:nvGrpSpPr>
        <p:grpSpPr>
          <a:xfrm>
            <a:off x="250190" y="1656715"/>
            <a:ext cx="8510271" cy="3054985"/>
            <a:chOff x="-4000500" y="1361440"/>
            <a:chExt cx="8566785" cy="1645197"/>
          </a:xfrm>
        </p:grpSpPr>
        <p:sp>
          <p:nvSpPr>
            <p:cNvPr id="2" name="Google Shape;125;p16"/>
            <p:cNvSpPr/>
            <p:nvPr/>
          </p:nvSpPr>
          <p:spPr>
            <a:xfrm>
              <a:off x="-4000500" y="1361440"/>
              <a:ext cx="8473440" cy="1645197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7" name="Google Shape;127;p16"/>
            <p:cNvGrpSpPr/>
            <p:nvPr/>
          </p:nvGrpSpPr>
          <p:grpSpPr>
            <a:xfrm>
              <a:off x="-3916776" y="1455658"/>
              <a:ext cx="3193696" cy="1505675"/>
              <a:chOff x="-3916776" y="1455658"/>
              <a:chExt cx="3193696" cy="1505675"/>
            </a:xfrm>
          </p:grpSpPr>
          <p:sp>
            <p:nvSpPr>
              <p:cNvPr id="128" name="Google Shape;128;p16"/>
              <p:cNvSpPr/>
              <p:nvPr/>
            </p:nvSpPr>
            <p:spPr>
              <a:xfrm>
                <a:off x="-3916776" y="1455658"/>
                <a:ext cx="342620" cy="170641"/>
              </a:xfrm>
              <a:prstGeom prst="ellipse">
                <a:avLst/>
              </a:prstGeom>
              <a:solidFill>
                <a:srgbClr val="FF6B6B"/>
              </a:solidFill>
              <a:ln w="19050" cap="flat" cmpd="sng">
                <a:solidFill>
                  <a:srgbClr val="11182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-3859613" y="1458715"/>
                <a:ext cx="211581" cy="170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 algn="ctr">
                  <a:buSzTx/>
                </a:pPr>
                <a:r>
                  <a:rPr lang="en-GB" sz="1000" b="1">
                    <a:solidFill>
                      <a:srgbClr val="FFFFFF"/>
                    </a:solidFill>
                    <a:uFillTx/>
                    <a:latin typeface="Outfit" charset="0"/>
                    <a:ea typeface="Outfit"/>
                    <a:cs typeface="Outfit"/>
                    <a:sym typeface="Outfit"/>
                  </a:rPr>
                  <a:t>1</a:t>
                </a:r>
                <a:endParaRPr lang="en-GB" sz="1000" b="1">
                  <a:solidFill>
                    <a:srgbClr val="FFFFFF"/>
                  </a:solidFill>
                  <a:uFillTx/>
                  <a:latin typeface="Outfit" charset="0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-3441669" y="1468653"/>
                <a:ext cx="2718589" cy="1492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11827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Quantitative Aptitude</a:t>
                </a:r>
                <a:endParaRPr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endParaRPr lang="en-US" alt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altLang="en-GB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M</a:t>
                </a:r>
                <a:r>
                  <a:rPr lang="en-GB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athematical foundations </a:t>
                </a: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P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ercentages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R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atios</a:t>
                </a: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 &amp; Proportion</a:t>
                </a:r>
                <a:endParaRPr lang="en-US" alt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T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ime </a:t>
                </a: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&amp;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 work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Time &amp; Distance</a:t>
                </a:r>
                <a:endParaRPr lang="en-US" alt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P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robability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Wage Problems</a:t>
                </a:r>
                <a:endPara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  <p:grpSp>
          <p:nvGrpSpPr>
            <p:cNvPr id="131" name="Google Shape;131;p16"/>
            <p:cNvGrpSpPr/>
            <p:nvPr/>
          </p:nvGrpSpPr>
          <p:grpSpPr>
            <a:xfrm>
              <a:off x="-1038753" y="1422696"/>
              <a:ext cx="2717058" cy="1434209"/>
              <a:chOff x="-1038753" y="1422696"/>
              <a:chExt cx="2717058" cy="1434209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-1038753" y="1422696"/>
                <a:ext cx="357322" cy="193211"/>
              </a:xfrm>
              <a:prstGeom prst="ellipse">
                <a:avLst/>
              </a:prstGeom>
              <a:solidFill>
                <a:srgbClr val="FBBF24"/>
              </a:solidFill>
              <a:ln w="19050" cap="flat" cmpd="sng">
                <a:solidFill>
                  <a:srgbClr val="11182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-1038753" y="1440136"/>
                <a:ext cx="357322" cy="170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uFillTx/>
                    <a:latin typeface="Outfit" charset="0"/>
                    <a:ea typeface="Outfit"/>
                    <a:cs typeface="Outfit"/>
                    <a:sym typeface="Outfit"/>
                  </a:rPr>
                  <a:t>2</a:t>
                </a:r>
                <a:endParaRPr lang="en-GB" sz="1000" b="1">
                  <a:solidFill>
                    <a:srgbClr val="FFFFFF"/>
                  </a:solidFill>
                  <a:uFillTx/>
                  <a:latin typeface="Outfit" charset="0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-590550" y="1468245"/>
                <a:ext cx="2268855" cy="1388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11827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Logical Reasoning</a:t>
                </a:r>
                <a:endParaRPr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endParaRPr lang="en-US" alt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altLang="en-GB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P</a:t>
                </a:r>
                <a:r>
                  <a:rPr lang="en-GB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attern recognition</a:t>
                </a: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P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uzzles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S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eating arrangements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S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yllogisms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B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lood relations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Font typeface="Wingdings" panose="05000000000000000000" charset="0"/>
                  <a:buChar char=""/>
                </a:pPr>
                <a:r>
                  <a:rPr lang="en-US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Patterns &amp; Series</a:t>
                </a:r>
                <a:endPara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  <p:grpSp>
          <p:nvGrpSpPr>
            <p:cNvPr id="135" name="Google Shape;135;p16"/>
            <p:cNvGrpSpPr/>
            <p:nvPr/>
          </p:nvGrpSpPr>
          <p:grpSpPr>
            <a:xfrm>
              <a:off x="1703219" y="1432771"/>
              <a:ext cx="2863066" cy="1423945"/>
              <a:chOff x="1703219" y="1432771"/>
              <a:chExt cx="2863066" cy="1423945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1716658" y="1432771"/>
                <a:ext cx="342620" cy="182610"/>
              </a:xfrm>
              <a:prstGeom prst="ellipse">
                <a:avLst/>
              </a:prstGeom>
              <a:solidFill>
                <a:srgbClr val="34D399"/>
              </a:solidFill>
              <a:ln w="19050" cap="flat" cmpd="sng">
                <a:solidFill>
                  <a:srgbClr val="11182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1703219" y="1437886"/>
                <a:ext cx="342620" cy="170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 algn="ctr">
                  <a:buSzTx/>
                </a:pPr>
                <a:r>
                  <a:rPr lang="en-GB" sz="1000" b="1">
                    <a:solidFill>
                      <a:srgbClr val="FFFFFF"/>
                    </a:solidFill>
                    <a:uFillTx/>
                    <a:latin typeface="Outfit" charset="0"/>
                    <a:ea typeface="Outfit"/>
                    <a:cs typeface="Outfit"/>
                    <a:sym typeface="Outfit"/>
                  </a:rPr>
                  <a:t>3</a:t>
                </a:r>
                <a:endParaRPr lang="en-GB" sz="1000" b="1">
                  <a:solidFill>
                    <a:srgbClr val="FFFFFF"/>
                  </a:solidFill>
                  <a:uFillTx/>
                  <a:latin typeface="Outfit" charset="0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2148767" y="1468335"/>
                <a:ext cx="2417518" cy="1388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algn="l" rtl="0"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GB" sz="1600" b="1">
                    <a:solidFill>
                      <a:srgbClr val="111827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Verbal Ability</a:t>
                </a:r>
                <a:endParaRPr lang="en-GB"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algn="l" rtl="0">
                  <a:spcBef>
                    <a:spcPts val="300"/>
                  </a:spcBef>
                  <a:spcAft>
                    <a:spcPts val="0"/>
                  </a:spcAft>
                  <a:buSzTx/>
                  <a:buNone/>
                </a:pP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0" lvl="0" algn="l" rtl="0">
                  <a:spcBef>
                    <a:spcPts val="300"/>
                  </a:spcBef>
                  <a:spcAft>
                    <a:spcPts val="0"/>
                  </a:spcAft>
                  <a:buSzTx/>
                  <a:buNone/>
                </a:pPr>
                <a:r>
                  <a:rPr lang="en-GB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English proficiency</a:t>
                </a:r>
                <a:endParaRPr 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SzTx/>
                  <a:buFont typeface="Wingdings" panose="05000000000000000000" charset="0"/>
                  <a:buChar char=""/>
                </a:pPr>
                <a:endParaRPr lang="en-US" altLang="en-GB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SzTx/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R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eading comprehension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SzTx/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G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rammar correctio</a:t>
                </a: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n</a:t>
                </a:r>
                <a:endParaRPr lang="en-US" alt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  <a:p>
                <a:pPr marL="171450" lvl="0" indent="-171450" algn="l" rtl="0">
                  <a:spcBef>
                    <a:spcPts val="300"/>
                  </a:spcBef>
                  <a:spcAft>
                    <a:spcPts val="0"/>
                  </a:spcAft>
                  <a:buSzTx/>
                  <a:buFont typeface="Wingdings" panose="05000000000000000000" charset="0"/>
                  <a:buChar char=""/>
                </a:pPr>
                <a:r>
                  <a:rPr lang="en-US" alt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Vo</a:t>
                </a:r>
                <a:r>
                  <a:rPr lang="en-GB" sz="1200" b="0">
                    <a:solidFill>
                      <a:srgbClr val="4B5563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cabulary tests.</a:t>
                </a:r>
                <a:endParaRPr lang="en-GB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8" name="Google Shape;78;p1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1785" y="1466215"/>
            <a:ext cx="8520430" cy="2414270"/>
          </a:xfrm>
        </p:spPr>
        <p:txBody>
          <a:bodyPr>
            <a:noAutofit/>
          </a:bodyPr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/>
              <a:t>✔ Practice daily (30–45 mins)</a:t>
            </a:r>
            <a:endParaRPr lang="en-US" altLang="en-US" sz="2000"/>
          </a:p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/>
              <a:t>✔ Use timed exercises</a:t>
            </a:r>
            <a:endParaRPr lang="en-US" altLang="en-US" sz="2000"/>
          </a:p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/>
              <a:t>✔ Learn shortcuts &amp; formulas</a:t>
            </a:r>
            <a:endParaRPr lang="en-US" altLang="en-US" sz="2000"/>
          </a:p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/>
              <a:t>✔ Analyze mistakes</a:t>
            </a:r>
            <a:endParaRPr lang="en-US" altLang="en-US" sz="2000"/>
          </a:p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/>
              <a:t>✔ Improve speed gradually</a:t>
            </a:r>
            <a:endParaRPr lang="en-GB" sz="1600" b="1">
              <a:solidFill>
                <a:srgbClr val="111827"/>
              </a:solidFill>
              <a:latin typeface="Outfit"/>
              <a:ea typeface="Outfit"/>
              <a:cs typeface="Outfit"/>
            </a:endParaRPr>
          </a:p>
          <a:p>
            <a:pPr marL="114300" indent="0" eaLnBrk="1" fontAlgn="auto" latinLnBrk="0" hangingPunct="1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en-US" sz="2000">
                <a:sym typeface="+mn-ea"/>
              </a:rPr>
              <a:t>✔ </a:t>
            </a:r>
            <a:r>
              <a:rPr lang="en-US" altLang="en-US" sz="2000">
                <a:sym typeface="Outfit"/>
              </a:rPr>
              <a:t>Identify Time Sinks</a:t>
            </a:r>
            <a:endParaRPr lang="en-US" altLang="en-US" sz="2000">
              <a:sym typeface="Outfit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1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700">
                <a:sym typeface="+mn-ea"/>
              </a:rPr>
              <a:t>Preparation Strategy - Aptitude</a:t>
            </a:r>
            <a:endParaRPr lang="en-US" altLang="en-US" sz="2700">
              <a:sym typeface="+mn-ea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54" name="Google Shape;554;p30"/>
          <p:cNvGrpSpPr/>
          <p:nvPr/>
        </p:nvGrpSpPr>
        <p:grpSpPr>
          <a:xfrm>
            <a:off x="380365" y="4163695"/>
            <a:ext cx="8382635" cy="751205"/>
            <a:chOff x="-635" y="0"/>
            <a:chExt cx="8382635" cy="714525"/>
          </a:xfrm>
        </p:grpSpPr>
        <p:sp>
          <p:nvSpPr>
            <p:cNvPr id="3" name="Google Shape;556;p30"/>
            <p:cNvSpPr/>
            <p:nvPr/>
          </p:nvSpPr>
          <p:spPr>
            <a:xfrm>
              <a:off x="0" y="0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30"/>
            <p:cNvSpPr txBox="1"/>
            <p:nvPr/>
          </p:nvSpPr>
          <p:spPr>
            <a:xfrm>
              <a:off x="-635" y="237974"/>
              <a:ext cx="1524635" cy="47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Shortcut Tricks</a:t>
              </a:r>
              <a:r>
                <a:rPr lang="en-GB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:</a:t>
              </a:r>
              <a:endParaRPr lang="en-GB" b="1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1523365" y="237370"/>
              <a:ext cx="6668135" cy="47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algn="ctr" rtl="0"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GB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DM Sans Medium"/>
                </a:rPr>
                <a:t>Learn mental math tricks and approximation methods to bypass long calculations.</a:t>
              </a:r>
              <a:endParaRPr lang="en-GB" b="1">
                <a:solidFill>
                  <a:srgbClr val="111827"/>
                </a:solidFill>
                <a:latin typeface="Outfit"/>
                <a:ea typeface="Outfit"/>
                <a:cs typeface="Outfit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9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44" name="Google Shape;144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3" y="4763"/>
            <a:ext cx="8982000" cy="49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2</a:t>
            </a:r>
            <a:endParaRPr sz="1800" b="1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700" b="0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Coding Assessments</a:t>
            </a:r>
            <a:endParaRPr sz="2700" b="0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700405" y="3129280"/>
            <a:ext cx="3343275" cy="1866900"/>
            <a:chOff x="385763" y="1528763"/>
            <a:chExt cx="4219500" cy="2505000"/>
          </a:xfrm>
        </p:grpSpPr>
        <p:pic>
          <p:nvPicPr>
            <p:cNvPr id="197" name="Google Shape;197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385763" y="1528763"/>
              <a:ext cx="4219500" cy="25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9"/>
            <p:cNvSpPr/>
            <p:nvPr/>
          </p:nvSpPr>
          <p:spPr>
            <a:xfrm>
              <a:off x="609600" y="1752600"/>
              <a:ext cx="3962400" cy="2229000"/>
            </a:xfrm>
            <a:prstGeom prst="roundRect">
              <a:avLst>
                <a:gd name="adj" fmla="val 5128"/>
              </a:avLst>
            </a:prstGeom>
            <a:solidFill>
              <a:srgbClr val="000000">
                <a:alpha val="0"/>
              </a:srgbClr>
            </a:solidFill>
            <a:ln w="38100" cap="flat" cmpd="sng">
              <a:solidFill>
                <a:srgbClr val="FF57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99" name="Google Shape;199;p19"/>
            <p:cNvGrpSpPr/>
            <p:nvPr/>
          </p:nvGrpSpPr>
          <p:grpSpPr>
            <a:xfrm>
              <a:off x="571500" y="1714500"/>
              <a:ext cx="3962400" cy="2229000"/>
              <a:chOff x="0" y="0"/>
              <a:chExt cx="3962400" cy="2229000"/>
            </a:xfrm>
          </p:grpSpPr>
          <p:pic>
            <p:nvPicPr>
              <p:cNvPr id="200" name="Google Shape;200;p1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0" y="0"/>
                <a:ext cx="3962400" cy="2229000"/>
              </a:xfrm>
              <a:prstGeom prst="roundRect">
                <a:avLst>
                  <a:gd name="adj" fmla="val 5128"/>
                </a:avLst>
              </a:prstGeom>
              <a:noFill/>
              <a:ln>
                <a:noFill/>
              </a:ln>
            </p:spPr>
          </p:pic>
          <p:sp>
            <p:nvSpPr>
              <p:cNvPr id="201" name="Google Shape;201;p19"/>
              <p:cNvSpPr/>
              <p:nvPr/>
            </p:nvSpPr>
            <p:spPr>
              <a:xfrm>
                <a:off x="0" y="0"/>
                <a:ext cx="3962400" cy="2229000"/>
              </a:xfrm>
              <a:prstGeom prst="roundRect">
                <a:avLst>
                  <a:gd name="adj" fmla="val 5128"/>
                </a:avLst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2D68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02" name="Google Shape;202;p19"/>
          <p:cNvGrpSpPr/>
          <p:nvPr/>
        </p:nvGrpSpPr>
        <p:grpSpPr>
          <a:xfrm>
            <a:off x="419100" y="1577975"/>
            <a:ext cx="3619500" cy="1452245"/>
            <a:chOff x="4953000" y="1714500"/>
            <a:chExt cx="3619425" cy="2095650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4953000" y="1714500"/>
              <a:ext cx="3619425" cy="571500"/>
              <a:chOff x="0" y="0"/>
              <a:chExt cx="3619425" cy="571500"/>
            </a:xfrm>
          </p:grpSpPr>
          <p:grpSp>
            <p:nvGrpSpPr>
              <p:cNvPr id="204" name="Google Shape;204;p19"/>
              <p:cNvGrpSpPr/>
              <p:nvPr/>
            </p:nvGrpSpPr>
            <p:grpSpPr>
              <a:xfrm>
                <a:off x="0" y="133350"/>
                <a:ext cx="305429" cy="421512"/>
                <a:chOff x="0" y="0"/>
                <a:chExt cx="305429" cy="421512"/>
              </a:xfrm>
            </p:grpSpPr>
            <p:sp>
              <p:nvSpPr>
                <p:cNvPr id="205" name="Google Shape;205;p19"/>
                <p:cNvSpPr/>
                <p:nvPr/>
              </p:nvSpPr>
              <p:spPr>
                <a:xfrm>
                  <a:off x="0" y="0"/>
                  <a:ext cx="305429" cy="421512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06" name="Google Shape;206;p19"/>
                <p:cNvSpPr/>
                <p:nvPr/>
              </p:nvSpPr>
              <p:spPr>
                <a:xfrm>
                  <a:off x="95248" y="140199"/>
                  <a:ext cx="114298" cy="10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07" name="Google Shape;207;p19"/>
              <p:cNvSpPr txBox="1"/>
              <p:nvPr/>
            </p:nvSpPr>
            <p:spPr>
              <a:xfrm>
                <a:off x="428625" y="0"/>
                <a:ext cx="3190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Platform</a:t>
                </a:r>
                <a:r>
                  <a:rPr lang="en-US" altLang="en-GB" sz="1350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Examples</a:t>
                </a:r>
                <a:r>
                  <a:rPr lang="en-GB" sz="1350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:</a:t>
                </a:r>
                <a:r>
                  <a:rPr lang="en-GB" sz="1350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HackerRank, LeetCode</a:t>
                </a:r>
                <a:r>
                  <a:rPr lang="en-US" altLang="en-GB" sz="1350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, CodeChef</a:t>
                </a:r>
                <a:endParaRPr lang="en-US" alt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208" name="Google Shape;208;p19"/>
            <p:cNvGrpSpPr/>
            <p:nvPr/>
          </p:nvGrpSpPr>
          <p:grpSpPr>
            <a:xfrm>
              <a:off x="4953000" y="2428875"/>
              <a:ext cx="3619425" cy="571500"/>
              <a:chOff x="0" y="0"/>
              <a:chExt cx="3619425" cy="571500"/>
            </a:xfrm>
          </p:grpSpPr>
          <p:grpSp>
            <p:nvGrpSpPr>
              <p:cNvPr id="209" name="Google Shape;209;p19"/>
              <p:cNvGrpSpPr/>
              <p:nvPr/>
            </p:nvGrpSpPr>
            <p:grpSpPr>
              <a:xfrm>
                <a:off x="0" y="133350"/>
                <a:ext cx="305429" cy="393106"/>
                <a:chOff x="0" y="0"/>
                <a:chExt cx="305429" cy="393106"/>
              </a:xfrm>
            </p:grpSpPr>
            <p:sp>
              <p:nvSpPr>
                <p:cNvPr id="210" name="Google Shape;210;p19"/>
                <p:cNvSpPr/>
                <p:nvPr/>
              </p:nvSpPr>
              <p:spPr>
                <a:xfrm>
                  <a:off x="0" y="0"/>
                  <a:ext cx="305429" cy="393106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1" name="Google Shape;211;p19"/>
                <p:cNvSpPr/>
                <p:nvPr/>
              </p:nvSpPr>
              <p:spPr>
                <a:xfrm>
                  <a:off x="95250" y="152787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12" name="Google Shape;212;p19"/>
              <p:cNvSpPr txBox="1"/>
              <p:nvPr/>
            </p:nvSpPr>
            <p:spPr>
              <a:xfrm>
                <a:off x="428625" y="0"/>
                <a:ext cx="3190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Focuses on</a:t>
                </a:r>
                <a:r>
                  <a:rPr lang="en-GB" sz="1350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algorithmic thinking.</a:t>
                </a:r>
                <a:endParaRPr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213" name="Google Shape;213;p19"/>
            <p:cNvGrpSpPr/>
            <p:nvPr/>
          </p:nvGrpSpPr>
          <p:grpSpPr>
            <a:xfrm>
              <a:off x="4953000" y="3143250"/>
              <a:ext cx="3619425" cy="666900"/>
              <a:chOff x="0" y="0"/>
              <a:chExt cx="3619425" cy="666900"/>
            </a:xfrm>
          </p:grpSpPr>
          <p:grpSp>
            <p:nvGrpSpPr>
              <p:cNvPr id="214" name="Google Shape;214;p19"/>
              <p:cNvGrpSpPr/>
              <p:nvPr/>
            </p:nvGrpSpPr>
            <p:grpSpPr>
              <a:xfrm>
                <a:off x="0" y="168146"/>
                <a:ext cx="304794" cy="421512"/>
                <a:chOff x="0" y="-12829"/>
                <a:chExt cx="304794" cy="421512"/>
              </a:xfrm>
            </p:grpSpPr>
            <p:sp>
              <p:nvSpPr>
                <p:cNvPr id="215" name="Google Shape;215;p19"/>
                <p:cNvSpPr/>
                <p:nvPr/>
              </p:nvSpPr>
              <p:spPr>
                <a:xfrm>
                  <a:off x="0" y="-12829"/>
                  <a:ext cx="304794" cy="421512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16" name="Google Shape;216;p19"/>
                <p:cNvSpPr/>
                <p:nvPr/>
              </p:nvSpPr>
              <p:spPr>
                <a:xfrm>
                  <a:off x="95250" y="152787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17" name="Google Shape;217;p19"/>
              <p:cNvSpPr txBox="1"/>
              <p:nvPr/>
            </p:nvSpPr>
            <p:spPr>
              <a:xfrm>
                <a:off x="428625" y="0"/>
                <a:ext cx="31908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Tests your ability</a:t>
                </a:r>
                <a:r>
                  <a:rPr lang="en-GB" sz="1350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to convert logic into clean, functional code.</a:t>
                </a:r>
                <a:endParaRPr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</p:grp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782185" y="1529715"/>
            <a:ext cx="3538220" cy="3272155"/>
          </a:xfrm>
        </p:spPr>
        <p:txBody>
          <a:bodyPr>
            <a:noAutofit/>
          </a:bodyPr>
          <a:p>
            <a:pPr marL="11430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Arial Bold" panose="020B0604020202090204" charset="0"/>
                <a:cs typeface="Arial Bold" panose="020B0604020202090204" charset="0"/>
              </a:rPr>
              <a:t>Typical Questions</a:t>
            </a:r>
            <a:endParaRPr lang="en-US" altLang="en-US" sz="1600" b="1">
              <a:solidFill>
                <a:schemeClr val="tx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114300" indent="0">
              <a:buNone/>
            </a:pPr>
            <a:r>
              <a:rPr lang="en-US" altLang="en-US" sz="1600">
                <a:latin typeface="Arial" panose="020B0604020202090204" pitchFamily="34" charset="0"/>
                <a:cs typeface="Arial" panose="020B0604020202090204" pitchFamily="34" charset="0"/>
              </a:rPr>
              <a:t>Data Structures &amp; Algorithms</a:t>
            </a:r>
            <a:endParaRPr lang="en-US" altLang="en-US" sz="1600" b="1">
              <a:latin typeface="Arial Bold" panose="020B0604020202090204" charset="0"/>
              <a:cs typeface="Arial Bold" panose="020B0604020202090204" charset="0"/>
            </a:endParaRPr>
          </a:p>
          <a:p>
            <a:pPr marL="114300" indent="0">
              <a:buNone/>
            </a:pPr>
            <a:endParaRPr lang="en-US" altLang="en-US" sz="1600" b="1">
              <a:latin typeface="Arial Bold" panose="020B0604020202090204" charset="0"/>
              <a:cs typeface="Arial Bold" panose="020B060402020209020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Arrays, LinkedList, Maps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Stacks, Queues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Strings &amp; Functions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Loops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Searching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Sorting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eaLnBrk="1" fontAlgn="auto" latinLnBrk="0" hangingPunct="1"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>
                <a:latin typeface="Arial" panose="020B0604020202090204" pitchFamily="34" charset="0"/>
                <a:cs typeface="Arial" panose="020B0604020202090204" pitchFamily="34" charset="0"/>
              </a:rPr>
              <a:t>Logic Building</a:t>
            </a:r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9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44" name="Google Shape;144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9138920" cy="513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290195"/>
            <a:ext cx="8001000" cy="89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2</a:t>
            </a:r>
            <a:endParaRPr sz="1800" b="1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700" b="0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Coding Assessments</a:t>
            </a:r>
            <a:r>
              <a:rPr lang="en-US" altLang="en-GB" sz="2700" b="0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&amp; Evaluation</a:t>
            </a:r>
            <a:endParaRPr lang="en-US" altLang="en-GB" sz="2700" b="0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23571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Google Shape;154;p17"/>
          <p:cNvPicPr preferRelativeResize="0"/>
          <p:nvPr/>
        </p:nvPicPr>
        <p:blipFill rotWithShape="1">
          <a:blip r:embed="rId2"/>
          <a:srcRect t="80" b="80"/>
          <a:stretch>
            <a:fillRect/>
          </a:stretch>
        </p:blipFill>
        <p:spPr>
          <a:xfrm>
            <a:off x="4732020" y="1400810"/>
            <a:ext cx="3218986" cy="2948610"/>
          </a:xfrm>
          <a:prstGeom prst="roundRect">
            <a:avLst>
              <a:gd name="adj" fmla="val 4968"/>
            </a:avLst>
          </a:prstGeom>
          <a:noFill/>
          <a:ln>
            <a:noFill/>
          </a:ln>
        </p:spPr>
      </p:pic>
      <p:sp>
        <p:nvSpPr>
          <p:cNvPr id="7" name="Google Shape;150;p17"/>
          <p:cNvSpPr txBox="1"/>
          <p:nvPr/>
        </p:nvSpPr>
        <p:spPr>
          <a:xfrm>
            <a:off x="414020" y="1354455"/>
            <a:ext cx="5798185" cy="351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46050" lvl="0" indent="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None/>
            </a:pPr>
            <a:r>
              <a:rPr lang="en-GB" b="1">
                <a:solidFill>
                  <a:srgbClr val="4338CA"/>
                </a:solidFill>
                <a:latin typeface="Outfit"/>
                <a:ea typeface="Outfit"/>
                <a:cs typeface="Outfit"/>
                <a:sym typeface="Outfit"/>
              </a:rPr>
              <a:t>Automated Evaluation:</a:t>
            </a:r>
            <a:r>
              <a:rPr lang="en-GB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endParaRPr lang="en-GB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Hidden Test Cases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Edge Cases</a:t>
            </a:r>
            <a:endParaRPr 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46050" lvl="0" indent="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None/>
            </a:pPr>
            <a:r>
              <a:rPr lang="en-GB" b="1">
                <a:solidFill>
                  <a:srgbClr val="4338CA"/>
                </a:solidFill>
                <a:latin typeface="Outfit"/>
                <a:ea typeface="Outfit"/>
                <a:cs typeface="Outfit"/>
                <a:sym typeface="Outfit"/>
              </a:rPr>
              <a:t>Performance Metrics:</a:t>
            </a:r>
            <a:r>
              <a:rPr lang="en-GB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endParaRPr lang="en-GB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Time complexity (execution speed) 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Space complexity (memory usage)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46050" lvl="0" indent="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None/>
            </a:pPr>
            <a:r>
              <a:rPr lang="en-US" altLang="en-GB" b="1">
                <a:solidFill>
                  <a:srgbClr val="4338CA"/>
                </a:solidFill>
                <a:latin typeface="Outfit"/>
                <a:ea typeface="Outfit"/>
                <a:cs typeface="Outfit"/>
                <a:sym typeface="Outfit"/>
              </a:rPr>
              <a:t>Efficiency:</a:t>
            </a:r>
            <a:endParaRPr lang="en-US" altLang="en-GB" b="1">
              <a:solidFill>
                <a:srgbClr val="4338CA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Handle large Data sets without timing out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46050" lvl="0" indent="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None/>
            </a:pPr>
            <a:r>
              <a:rPr lang="en-US" altLang="en-GB" b="1">
                <a:solidFill>
                  <a:srgbClr val="4338CA"/>
                </a:solidFill>
                <a:latin typeface="Outfit"/>
                <a:ea typeface="Outfit"/>
                <a:cs typeface="Outfit"/>
                <a:sym typeface="DM Sans Medium"/>
              </a:rPr>
              <a:t>Code Quality: </a:t>
            </a:r>
            <a:endParaRPr lang="en-US" altLang="en-GB" b="1">
              <a:solidFill>
                <a:srgbClr val="4338CA"/>
              </a:solidFill>
              <a:latin typeface="Outfit"/>
              <a:ea typeface="Outfit"/>
              <a:cs typeface="Outfit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Naming convention and coding style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Code Modularity</a:t>
            </a:r>
            <a:endParaRPr lang="en-US" alt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46050" lvl="0" indent="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None/>
            </a:pPr>
            <a:r>
              <a:rPr lang="en-US" altLang="en-GB" b="1">
                <a:solidFill>
                  <a:srgbClr val="4338CA"/>
                </a:solidFill>
                <a:latin typeface="Outfit"/>
                <a:ea typeface="Outfit"/>
                <a:cs typeface="Outfit"/>
                <a:sym typeface="DM Sans Medium"/>
              </a:rPr>
              <a:t>Integrity checks:</a:t>
            </a:r>
            <a:endParaRPr lang="en-US" altLang="en-GB" b="1">
              <a:solidFill>
                <a:srgbClr val="4338CA"/>
              </a:solidFill>
              <a:latin typeface="Outfit"/>
              <a:ea typeface="Outfit"/>
              <a:cs typeface="Outfit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Tab Switching</a:t>
            </a:r>
            <a:endParaRPr lang="en-US" altLang="en-GB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Copy Pasting</a:t>
            </a:r>
            <a:endParaRPr lang="en-US" altLang="en-GB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914400" lvl="1" indent="-311150" algn="l" rtl="0" eaLnBrk="1" fontAlgn="auto" latinLnBrk="0" hangingPunct="1">
              <a:spcBef>
                <a:spcPts val="200"/>
              </a:spcBef>
              <a:spcAft>
                <a:spcPts val="200"/>
              </a:spcAft>
              <a:buSzPts val="1295"/>
              <a:buFont typeface="Wingdings" panose="05000000000000000000" charset="0"/>
              <a:buChar char=""/>
            </a:pPr>
            <a:r>
              <a:rPr lang="en-US" altLang="en-GB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AI Usage</a:t>
            </a:r>
            <a:endParaRPr lang="en-US" altLang="en-GB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8" name="Google Shape;78;p1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7870" y="2839085"/>
            <a:ext cx="3851275" cy="1148715"/>
          </a:xfrm>
        </p:spPr>
        <p:txBody>
          <a:bodyPr>
            <a:noAutofit/>
          </a:bodyPr>
          <a:p>
            <a:pPr marL="114300" indent="0" eaLnBrk="1" fontAlgn="auto" latinLnBrk="0" hangingPunct="1">
              <a:spcAft>
                <a:spcPts val="600"/>
              </a:spcAft>
              <a:buNone/>
            </a:pPr>
            <a:r>
              <a:rPr lang="en-US" altLang="en-US" sz="1600"/>
              <a:t>✔ Pick your comfortable language</a:t>
            </a:r>
            <a:endParaRPr lang="en-US" altLang="en-US" sz="1600"/>
          </a:p>
          <a:p>
            <a:pPr marL="114300" indent="0" eaLnBrk="1" fontAlgn="auto" latinLnBrk="0" hangingPunct="1">
              <a:spcAft>
                <a:spcPts val="600"/>
              </a:spcAft>
              <a:buNone/>
            </a:pPr>
            <a:r>
              <a:rPr lang="en-US" altLang="en-US" sz="1600">
                <a:sym typeface="+mn-ea"/>
              </a:rPr>
              <a:t>✔ </a:t>
            </a:r>
            <a:r>
              <a:rPr lang="en-US" altLang="en-US" sz="1600"/>
              <a:t>Write code regularly</a:t>
            </a:r>
            <a:endParaRPr lang="en-US" altLang="en-US" sz="1600"/>
          </a:p>
          <a:p>
            <a:pPr marL="114300" indent="0" eaLnBrk="1" fontAlgn="auto" latinLnBrk="0" hangingPunct="1">
              <a:spcAft>
                <a:spcPts val="600"/>
              </a:spcAft>
              <a:buNone/>
            </a:pPr>
            <a:r>
              <a:rPr lang="en-US" altLang="en-US" sz="1600"/>
              <a:t>✔ Debug errors</a:t>
            </a:r>
            <a:endParaRPr lang="en-US" altLang="en-US" sz="1600"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</a:t>
            </a:r>
            <a:r>
              <a:rPr lang="en-US" alt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2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700">
                <a:sym typeface="+mn-ea"/>
              </a:rPr>
              <a:t>Preparation Strategy - </a:t>
            </a:r>
            <a:r>
              <a:rPr lang="en-US" altLang="en-US" sz="2700">
                <a:sym typeface="+mn-ea"/>
              </a:rPr>
              <a:t>Coding Interviews</a:t>
            </a:r>
            <a:endParaRPr lang="en-US" altLang="en-US" sz="2700">
              <a:sym typeface="+mn-ea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4" name="Google Shape;84;p15"/>
          <p:cNvGrpSpPr/>
          <p:nvPr/>
        </p:nvGrpSpPr>
        <p:grpSpPr>
          <a:xfrm>
            <a:off x="1285875" y="1456690"/>
            <a:ext cx="6425485" cy="1240155"/>
            <a:chOff x="-247650" y="133350"/>
            <a:chExt cx="6410325" cy="1240155"/>
          </a:xfrm>
        </p:grpSpPr>
        <p:grpSp>
          <p:nvGrpSpPr>
            <p:cNvPr id="86" name="Google Shape;86;p15"/>
            <p:cNvGrpSpPr/>
            <p:nvPr/>
          </p:nvGrpSpPr>
          <p:grpSpPr>
            <a:xfrm>
              <a:off x="-247650" y="133350"/>
              <a:ext cx="2257425" cy="1240155"/>
              <a:chOff x="-247650" y="133350"/>
              <a:chExt cx="2257425" cy="1240155"/>
            </a:xfrm>
          </p:grpSpPr>
          <p:pic>
            <p:nvPicPr>
              <p:cNvPr id="87" name="Google Shape;87;p1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47650" y="224155"/>
                <a:ext cx="2257425" cy="1149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" name="Google Shape;88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1</a:t>
                </a:r>
                <a:endParaRPr lang="en-GB" sz="150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70180" y="522665"/>
                <a:ext cx="1476375" cy="735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Start Easy</a:t>
                </a:r>
                <a:endParaRPr lang="en-US" altLang="en-GB"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1828800" y="133350"/>
              <a:ext cx="2257425" cy="1240155"/>
              <a:chOff x="-247650" y="133350"/>
              <a:chExt cx="2257425" cy="1240155"/>
            </a:xfrm>
          </p:grpSpPr>
          <p:pic>
            <p:nvPicPr>
              <p:cNvPr id="2" name="Google Shape;93;p1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47650" y="224155"/>
                <a:ext cx="2257425" cy="1149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" name="Google Shape;94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FFFFFF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2</a:t>
                </a:r>
                <a:endParaRPr lang="en-GB" sz="150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142875" y="575310"/>
                <a:ext cx="147637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Move to Medium</a:t>
                </a:r>
                <a:endParaRPr lang="en-US" altLang="en-GB"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3905250" y="133350"/>
              <a:ext cx="2257425" cy="1224915"/>
              <a:chOff x="-247650" y="133350"/>
              <a:chExt cx="2257425" cy="1224915"/>
            </a:xfrm>
          </p:grpSpPr>
          <p:pic>
            <p:nvPicPr>
              <p:cNvPr id="99" name="Google Shape;99;p1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47650" y="224155"/>
                <a:ext cx="2257425" cy="11341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" name="Google Shape;100;p15"/>
              <p:cNvSpPr/>
              <p:nvPr/>
            </p:nvSpPr>
            <p:spPr>
              <a:xfrm>
                <a:off x="0" y="381000"/>
                <a:ext cx="1762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633413" y="133350"/>
                <a:ext cx="495300" cy="495300"/>
              </a:xfrm>
              <a:prstGeom prst="ellipse">
                <a:avLst/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633413" y="133350"/>
                <a:ext cx="495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0B132B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3</a:t>
                </a:r>
                <a:endParaRPr lang="en-GB" sz="1500" b="0">
                  <a:solidFill>
                    <a:srgbClr val="0B132B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103" name="Google Shape;103;p15"/>
              <p:cNvSpPr txBox="1"/>
              <p:nvPr/>
            </p:nvSpPr>
            <p:spPr>
              <a:xfrm>
                <a:off x="142875" y="575310"/>
                <a:ext cx="1476375" cy="6661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GB" sz="1350" b="1" dirty="0">
                    <a:solidFill>
                      <a:srgbClr val="0B132B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Attempt Hard </a:t>
                </a:r>
                <a:endParaRPr lang="en-US" altLang="en-GB" sz="1350" b="1" dirty="0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</p:txBody>
          </p:sp>
        </p:grpSp>
      </p:grpSp>
      <p:grpSp>
        <p:nvGrpSpPr>
          <p:cNvPr id="554" name="Google Shape;554;p30"/>
          <p:cNvGrpSpPr/>
          <p:nvPr/>
        </p:nvGrpSpPr>
        <p:grpSpPr>
          <a:xfrm>
            <a:off x="381000" y="4168140"/>
            <a:ext cx="8382000" cy="665480"/>
            <a:chOff x="0" y="0"/>
            <a:chExt cx="8382000" cy="714525"/>
          </a:xfrm>
        </p:grpSpPr>
        <p:sp>
          <p:nvSpPr>
            <p:cNvPr id="3" name="Google Shape;556;p30"/>
            <p:cNvSpPr/>
            <p:nvPr/>
          </p:nvSpPr>
          <p:spPr>
            <a:xfrm>
              <a:off x="0" y="0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30"/>
            <p:cNvSpPr txBox="1"/>
            <p:nvPr/>
          </p:nvSpPr>
          <p:spPr>
            <a:xfrm>
              <a:off x="85725" y="238125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50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CONSISTENCY:</a:t>
              </a:r>
              <a:endParaRPr sz="1295"/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1402715" y="238125"/>
              <a:ext cx="6788785" cy="476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Solving 2-3 problems daily is far more effective than cramming 20 problems on a weekend.</a:t>
              </a:r>
              <a:endParaRPr 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" name="Text Placeholder 3"/>
          <p:cNvSpPr>
            <a:spLocks noGrp="1"/>
          </p:cNvSpPr>
          <p:nvPr/>
        </p:nvSpPr>
        <p:spPr>
          <a:xfrm>
            <a:off x="4373880" y="2814320"/>
            <a:ext cx="3851275" cy="9848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114300" algn="l" eaLnBrk="1" fontAlgn="auto" latinLnBrk="0" hangingPunct="1">
              <a:spcAft>
                <a:spcPts val="600"/>
              </a:spcAft>
              <a:buNone/>
            </a:pPr>
            <a:r>
              <a:rPr lang="en-US" altLang="en-US" sz="1600"/>
              <a:t>✔ Understand logic</a:t>
            </a:r>
            <a:endParaRPr lang="en-US" altLang="en-US" sz="1600"/>
          </a:p>
          <a:p>
            <a:pPr marL="114300" algn="l" eaLnBrk="1" fontAlgn="auto" latinLnBrk="0" hangingPunct="1">
              <a:spcAft>
                <a:spcPts val="600"/>
              </a:spcAft>
              <a:buNone/>
            </a:pPr>
            <a:r>
              <a:rPr lang="en-US" altLang="en-US" sz="1600"/>
              <a:t>✔ Convert ideas into code</a:t>
            </a:r>
            <a:endParaRPr lang="en-US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30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532" name="Google Shape;532;p3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533" name="Google Shape;533;p3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0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6" name="Google Shape;536;p30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CODING METHODS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Traditional Practice vs. Vibe Coding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537" name="Google Shape;537;p30"/>
          <p:cNvGrpSpPr/>
          <p:nvPr/>
        </p:nvGrpSpPr>
        <p:grpSpPr>
          <a:xfrm>
            <a:off x="423863" y="1500188"/>
            <a:ext cx="4010100" cy="2376600"/>
            <a:chOff x="-147637" y="-71437"/>
            <a:chExt cx="4010100" cy="2376600"/>
          </a:xfrm>
        </p:grpSpPr>
        <p:pic>
          <p:nvPicPr>
            <p:cNvPr id="538" name="Google Shape;538;p3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-147637" y="-71437"/>
              <a:ext cx="4010100" cy="23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30"/>
            <p:cNvSpPr/>
            <p:nvPr/>
          </p:nvSpPr>
          <p:spPr>
            <a:xfrm>
              <a:off x="0" y="0"/>
              <a:ext cx="3714900" cy="76200"/>
            </a:xfrm>
            <a:prstGeom prst="roundRect">
              <a:avLst>
                <a:gd name="adj" fmla="val 50000"/>
              </a:avLst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40" name="Google Shape;540;p30"/>
            <p:cNvGrpSpPr/>
            <p:nvPr/>
          </p:nvGrpSpPr>
          <p:grpSpPr>
            <a:xfrm>
              <a:off x="2905125" y="1476375"/>
              <a:ext cx="476250" cy="333375"/>
              <a:chOff x="0" y="95250"/>
              <a:chExt cx="476250" cy="333375"/>
            </a:xfrm>
          </p:grpSpPr>
          <p:pic>
            <p:nvPicPr>
              <p:cNvPr id="541" name="Google Shape;541;p30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2" name="Google Shape;542;p30"/>
              <p:cNvPicPr preferRelativeResize="0"/>
              <p:nvPr/>
            </p:nvPicPr>
            <p:blipFill rotWithShape="1">
              <a:blip r:embed="rId4"/>
              <a:srcRect/>
              <a:stretch>
                <a:fillRect/>
              </a:stretch>
            </p:blipFill>
            <p:spPr>
              <a:xfrm>
                <a:off x="142875" y="238125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3" name="Google Shape;543;p30"/>
              <p:cNvPicPr preferRelativeResize="0"/>
              <p:nvPr/>
            </p:nvPicPr>
            <p:blipFill rotWithShape="1">
              <a:blip r:embed="rId5"/>
              <a:srcRect/>
              <a:stretch>
                <a:fillRect/>
              </a:stretch>
            </p:blipFill>
            <p:spPr>
              <a:xfrm>
                <a:off x="285750" y="952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44" name="Google Shape;544;p30"/>
            <p:cNvSpPr txBox="1"/>
            <p:nvPr/>
          </p:nvSpPr>
          <p:spPr>
            <a:xfrm>
              <a:off x="238125" y="238125"/>
              <a:ext cx="3238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50" b="1">
                  <a:solidFill>
                    <a:srgbClr val="2D68FE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Traditional</a:t>
              </a:r>
              <a:endParaRPr sz="1650" b="1">
                <a:solidFill>
                  <a:srgbClr val="2D68FE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Focuses on syntax and manual logic building.</a:t>
              </a:r>
              <a:endParaRPr sz="1350" b="0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545" name="Google Shape;545;p30"/>
          <p:cNvGrpSpPr/>
          <p:nvPr/>
        </p:nvGrpSpPr>
        <p:grpSpPr>
          <a:xfrm>
            <a:off x="4710113" y="1500188"/>
            <a:ext cx="4010100" cy="2376600"/>
            <a:chOff x="-147637" y="-71437"/>
            <a:chExt cx="4010100" cy="2376600"/>
          </a:xfrm>
        </p:grpSpPr>
        <p:pic>
          <p:nvPicPr>
            <p:cNvPr id="546" name="Google Shape;546;p3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-147637" y="-71437"/>
              <a:ext cx="4010100" cy="23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30"/>
            <p:cNvSpPr/>
            <p:nvPr/>
          </p:nvSpPr>
          <p:spPr>
            <a:xfrm>
              <a:off x="0" y="0"/>
              <a:ext cx="3714900" cy="762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48" name="Google Shape;548;p30"/>
            <p:cNvGrpSpPr/>
            <p:nvPr/>
          </p:nvGrpSpPr>
          <p:grpSpPr>
            <a:xfrm>
              <a:off x="2743200" y="1552575"/>
              <a:ext cx="800100" cy="324000"/>
              <a:chOff x="-19050" y="219075"/>
              <a:chExt cx="800100" cy="324000"/>
            </a:xfrm>
          </p:grpSpPr>
          <p:pic>
            <p:nvPicPr>
              <p:cNvPr id="549" name="Google Shape;549;p30"/>
              <p:cNvPicPr preferRelativeResize="0"/>
              <p:nvPr/>
            </p:nvPicPr>
            <p:blipFill rotWithShape="1">
              <a:blip r:embed="rId6"/>
              <a:srcRect/>
              <a:stretch>
                <a:fillRect/>
              </a:stretch>
            </p:blipFill>
            <p:spPr>
              <a:xfrm>
                <a:off x="-19050" y="219075"/>
                <a:ext cx="8001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0" name="Google Shape;550;p30"/>
              <p:cNvPicPr preferRelativeResize="0"/>
              <p:nvPr/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323850" y="32385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51" name="Google Shape;551;p30"/>
            <p:cNvSpPr txBox="1"/>
            <p:nvPr/>
          </p:nvSpPr>
          <p:spPr>
            <a:xfrm>
              <a:off x="238125" y="238125"/>
              <a:ext cx="3238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50" b="1">
                  <a:solidFill>
                    <a:srgbClr val="FF5733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Vibe Coding</a:t>
              </a:r>
              <a:endParaRPr sz="165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AI-Assisted</a:t>
              </a:r>
              <a:endParaRPr sz="1050" b="1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Faster prototyping, but risks masking fundamental gaps.</a:t>
              </a:r>
              <a:endParaRPr sz="1350" b="0">
                <a:solidFill>
                  <a:srgbClr val="4A556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cxnSp>
        <p:nvCxnSpPr>
          <p:cNvPr id="93" name="Google Shape;93;p15"/>
          <p:cNvCxnSpPr/>
          <p:nvPr/>
        </p:nvCxnSpPr>
        <p:spPr>
          <a:xfrm>
            <a:off x="311785" y="128016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" name="Google Shape;554;p30"/>
          <p:cNvGrpSpPr/>
          <p:nvPr/>
        </p:nvGrpSpPr>
        <p:grpSpPr>
          <a:xfrm>
            <a:off x="2400300" y="4008755"/>
            <a:ext cx="4191000" cy="700977"/>
            <a:chOff x="-4343400" y="-187842"/>
            <a:chExt cx="8382000" cy="666750"/>
          </a:xfrm>
        </p:grpSpPr>
        <p:sp>
          <p:nvSpPr>
            <p:cNvPr id="3" name="Google Shape;556;p30"/>
            <p:cNvSpPr/>
            <p:nvPr/>
          </p:nvSpPr>
          <p:spPr>
            <a:xfrm>
              <a:off x="-4343400" y="-187842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558;p30"/>
            <p:cNvSpPr txBox="1"/>
            <p:nvPr/>
          </p:nvSpPr>
          <p:spPr>
            <a:xfrm>
              <a:off x="-3872230" y="38052"/>
              <a:ext cx="7744460" cy="400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algn="ctr" rtl="0"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en-GB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DM Sans Medium"/>
                </a:rPr>
                <a:t>Understand the pros and cons of each</a:t>
              </a:r>
              <a:endParaRPr lang="en-US" altLang="en-GB">
                <a:solidFill>
                  <a:srgbClr val="111827"/>
                </a:solidFill>
                <a:latin typeface="Outfit"/>
                <a:ea typeface="Outfit"/>
                <a:cs typeface="Outfit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0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223" name="Google Shape;223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225" name="Google Shape;225;p2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957763" y="957263"/>
              <a:ext cx="3457500" cy="307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353175" y="1495425"/>
              <a:ext cx="2152800" cy="21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362825" y="1933575"/>
              <a:ext cx="705000" cy="7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0"/>
            <p:cNvSpPr/>
            <p:nvPr/>
          </p:nvSpPr>
          <p:spPr>
            <a:xfrm>
              <a:off x="6343650" y="3295650"/>
              <a:ext cx="266700" cy="266700"/>
            </a:xfrm>
            <a:prstGeom prst="ellipse">
              <a:avLst/>
            </a:prstGeom>
            <a:solidFill>
              <a:srgbClr val="FFC300">
                <a:alpha val="7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7162800" y="1352550"/>
              <a:ext cx="152400" cy="152400"/>
            </a:xfrm>
            <a:prstGeom prst="ellipse">
              <a:avLst/>
            </a:prstGeom>
            <a:solidFill>
              <a:srgbClr val="2D68FE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44" name="Google Shape;144;p1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080" y="5080"/>
            <a:ext cx="9138285" cy="513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3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</a:t>
            </a: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echnical Interviews</a:t>
            </a:r>
            <a:endParaRPr lang="en-US"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232" name="Google Shape;232;p20"/>
          <p:cNvGrpSpPr/>
          <p:nvPr/>
        </p:nvGrpSpPr>
        <p:grpSpPr>
          <a:xfrm>
            <a:off x="565150" y="1658620"/>
            <a:ext cx="8007350" cy="2485390"/>
            <a:chOff x="-6350" y="-151130"/>
            <a:chExt cx="8007350" cy="2485390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0" y="-151130"/>
              <a:ext cx="8001000" cy="571500"/>
              <a:chOff x="0" y="-151130"/>
              <a:chExt cx="8001000" cy="571500"/>
            </a:xfrm>
          </p:grpSpPr>
          <p:grpSp>
            <p:nvGrpSpPr>
              <p:cNvPr id="234" name="Google Shape;234;p20"/>
              <p:cNvGrpSpPr/>
              <p:nvPr/>
            </p:nvGrpSpPr>
            <p:grpSpPr>
              <a:xfrm>
                <a:off x="0" y="0"/>
                <a:ext cx="304800" cy="304800"/>
                <a:chOff x="0" y="0"/>
                <a:chExt cx="304800" cy="304800"/>
              </a:xfrm>
            </p:grpSpPr>
            <p:sp>
              <p:nvSpPr>
                <p:cNvPr id="235" name="Google Shape;235;p20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36" name="Google Shape;236;p20"/>
                <p:cNvSpPr/>
                <p:nvPr/>
              </p:nvSpPr>
              <p:spPr>
                <a:xfrm>
                  <a:off x="95250" y="114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37" name="Google Shape;237;p20"/>
              <p:cNvSpPr txBox="1"/>
              <p:nvPr/>
            </p:nvSpPr>
            <p:spPr>
              <a:xfrm>
                <a:off x="457200" y="-151130"/>
                <a:ext cx="7543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Deep dive into technical knowledge</a:t>
                </a:r>
                <a:endParaRPr sz="157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238" name="Google Shape;238;p20"/>
            <p:cNvGrpSpPr/>
            <p:nvPr/>
          </p:nvGrpSpPr>
          <p:grpSpPr>
            <a:xfrm>
              <a:off x="0" y="457835"/>
              <a:ext cx="8001000" cy="571500"/>
              <a:chOff x="0" y="-304165"/>
              <a:chExt cx="8001000" cy="571500"/>
            </a:xfrm>
          </p:grpSpPr>
          <p:grpSp>
            <p:nvGrpSpPr>
              <p:cNvPr id="239" name="Google Shape;239;p20"/>
              <p:cNvGrpSpPr/>
              <p:nvPr/>
            </p:nvGrpSpPr>
            <p:grpSpPr>
              <a:xfrm>
                <a:off x="0" y="-153035"/>
                <a:ext cx="304800" cy="304800"/>
                <a:chOff x="0" y="-153035"/>
                <a:chExt cx="304800" cy="304800"/>
              </a:xfrm>
            </p:grpSpPr>
            <p:sp>
              <p:nvSpPr>
                <p:cNvPr id="240" name="Google Shape;240;p20"/>
                <p:cNvSpPr/>
                <p:nvPr/>
              </p:nvSpPr>
              <p:spPr>
                <a:xfrm>
                  <a:off x="0" y="-153035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41" name="Google Shape;241;p20"/>
                <p:cNvSpPr/>
                <p:nvPr/>
              </p:nvSpPr>
              <p:spPr>
                <a:xfrm>
                  <a:off x="95250" y="-40555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42" name="Google Shape;242;p20"/>
              <p:cNvSpPr txBox="1"/>
              <p:nvPr/>
            </p:nvSpPr>
            <p:spPr>
              <a:xfrm>
                <a:off x="457200" y="-304165"/>
                <a:ext cx="7543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US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Behavioral &amp; Personality assessment</a:t>
                </a:r>
                <a:endParaRPr lang="en-US" altLang="en-US" sz="157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243" name="Google Shape;243;p20"/>
            <p:cNvGrpSpPr/>
            <p:nvPr/>
          </p:nvGrpSpPr>
          <p:grpSpPr>
            <a:xfrm>
              <a:off x="-6350" y="1762760"/>
              <a:ext cx="8007350" cy="571500"/>
              <a:chOff x="-6350" y="238760"/>
              <a:chExt cx="8007350" cy="571500"/>
            </a:xfrm>
          </p:grpSpPr>
          <p:grpSp>
            <p:nvGrpSpPr>
              <p:cNvPr id="244" name="Google Shape;244;p20"/>
              <p:cNvGrpSpPr/>
              <p:nvPr/>
            </p:nvGrpSpPr>
            <p:grpSpPr>
              <a:xfrm>
                <a:off x="-6350" y="373380"/>
                <a:ext cx="304800" cy="304800"/>
                <a:chOff x="-6350" y="373380"/>
                <a:chExt cx="304800" cy="304800"/>
              </a:xfrm>
            </p:grpSpPr>
            <p:sp>
              <p:nvSpPr>
                <p:cNvPr id="245" name="Google Shape;245;p20"/>
                <p:cNvSpPr/>
                <p:nvPr/>
              </p:nvSpPr>
              <p:spPr>
                <a:xfrm>
                  <a:off x="-6350" y="373380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46" name="Google Shape;246;p20"/>
                <p:cNvSpPr/>
                <p:nvPr/>
              </p:nvSpPr>
              <p:spPr>
                <a:xfrm>
                  <a:off x="101600" y="479412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247" name="Google Shape;247;p20"/>
              <p:cNvSpPr txBox="1"/>
              <p:nvPr/>
            </p:nvSpPr>
            <p:spPr>
              <a:xfrm>
                <a:off x="457200" y="238760"/>
                <a:ext cx="7543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Evaluation of team fit and problem-solving approach</a:t>
                </a:r>
                <a:endParaRPr sz="157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</p:grp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40;p20"/>
          <p:cNvSpPr/>
          <p:nvPr/>
        </p:nvSpPr>
        <p:spPr>
          <a:xfrm>
            <a:off x="565150" y="3081020"/>
            <a:ext cx="304800" cy="304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241;p20"/>
          <p:cNvSpPr/>
          <p:nvPr/>
        </p:nvSpPr>
        <p:spPr>
          <a:xfrm>
            <a:off x="660400" y="319532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40000" y="120000"/>
                </a:ln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242;p20"/>
          <p:cNvSpPr txBox="1"/>
          <p:nvPr/>
        </p:nvSpPr>
        <p:spPr>
          <a:xfrm>
            <a:off x="1022350" y="2929890"/>
            <a:ext cx="7543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75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Assessment of communication skills</a:t>
            </a:r>
            <a:endParaRPr sz="1575" b="1">
              <a:solidFill>
                <a:srgbClr val="0B132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5" name="Google Shape;235;p20"/>
          <p:cNvSpPr/>
          <p:nvPr/>
        </p:nvSpPr>
        <p:spPr>
          <a:xfrm>
            <a:off x="571500" y="4293235"/>
            <a:ext cx="304800" cy="304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36;p20"/>
          <p:cNvSpPr/>
          <p:nvPr/>
        </p:nvSpPr>
        <p:spPr>
          <a:xfrm>
            <a:off x="666750" y="440753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40000" y="120000"/>
                </a:ln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237;p20"/>
          <p:cNvSpPr txBox="1"/>
          <p:nvPr/>
        </p:nvSpPr>
        <p:spPr>
          <a:xfrm>
            <a:off x="1028700" y="4142105"/>
            <a:ext cx="7543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75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Common Interview Style - “Difference Between” Questions</a:t>
            </a:r>
            <a:endParaRPr lang="en-US" altLang="en-US" sz="1575" b="1">
              <a:solidFill>
                <a:srgbClr val="0B132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-48260"/>
            <a:ext cx="913892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18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</a:t>
            </a:r>
            <a:r>
              <a:rPr lang="en-US" alt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3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Interviews - Assessment areas </a:t>
            </a:r>
            <a:endParaRPr lang="en-US"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1000" y="13716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5;p16"/>
          <p:cNvSpPr/>
          <p:nvPr/>
        </p:nvSpPr>
        <p:spPr>
          <a:xfrm>
            <a:off x="4504055" y="1584960"/>
            <a:ext cx="4196715" cy="323469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3" name="Google Shape;123;p16"/>
          <p:cNvGrpSpPr/>
          <p:nvPr/>
        </p:nvGrpSpPr>
        <p:grpSpPr>
          <a:xfrm>
            <a:off x="283210" y="1584960"/>
            <a:ext cx="8289290" cy="3216910"/>
            <a:chOff x="-3967261" y="1361440"/>
            <a:chExt cx="8344318" cy="1702322"/>
          </a:xfrm>
        </p:grpSpPr>
        <p:sp>
          <p:nvSpPr>
            <p:cNvPr id="2" name="Google Shape;125;p16"/>
            <p:cNvSpPr/>
            <p:nvPr/>
          </p:nvSpPr>
          <p:spPr>
            <a:xfrm>
              <a:off x="-3967261" y="1361440"/>
              <a:ext cx="3942681" cy="1702322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-3775496" y="1435366"/>
              <a:ext cx="3638414" cy="1530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 Medium"/>
                </a:rPr>
                <a:t>Data Structures &amp; Algorithms</a:t>
              </a:r>
              <a:endParaRPr lang="en-US" sz="18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endParaRPr lang="en-US" sz="16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Core Structures</a:t>
              </a:r>
              <a:r>
                <a:rPr lang="en-US" sz="16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Arrays, Strings, Linked     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Lists, Stacks, Queues</a:t>
              </a:r>
              <a:endParaRPr lang="en-US" sz="16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Basic Algorithms</a:t>
              </a:r>
              <a:r>
                <a:rPr lang="en-US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Sorting &amp; Searching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Complexity</a:t>
              </a:r>
              <a:r>
                <a:rPr lang="en-US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</a:t>
              </a:r>
              <a:r>
                <a:rPr lang="en-US" sz="16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Time and Space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Advanced Topics</a:t>
              </a:r>
              <a:r>
                <a:rPr lang="en-US" sz="1600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</a:t>
              </a:r>
              <a:r>
                <a:rPr lang="en-US" sz="16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Trees, Graphs,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Dynamic Programming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447160" y="1450152"/>
              <a:ext cx="3929897" cy="1490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DBMS and OOPS</a:t>
              </a:r>
              <a:endParaRPr lang="en-US" sz="16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endParaRPr lang="en-GB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OOPS components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Class, Objects, 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   Interfaces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4 Pillars of OOPS -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Abstraction, 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  Encapsulation, Inheritance, Polymorphism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Design Patterns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 Singleton, Factory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SQL fundamentals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CRUD, joins, aggregates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DBMS concepts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Relationships, Indexing</a:t>
              </a:r>
              <a:endParaRPr lang="en-US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Java &amp; Python basics</a:t>
              </a:r>
              <a:endPara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Font typeface="Wingdings" panose="05000000000000000000" charset="0"/>
                <a:buChar char=""/>
              </a:pPr>
              <a:endPara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9138285" cy="51390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5;p16"/>
          <p:cNvSpPr/>
          <p:nvPr/>
        </p:nvSpPr>
        <p:spPr>
          <a:xfrm>
            <a:off x="5370195" y="1603375"/>
            <a:ext cx="3399790" cy="338264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18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</a:t>
            </a:r>
            <a:r>
              <a:rPr lang="en-US" alt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3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Interviews - Assessment areas </a:t>
            </a:r>
            <a:r>
              <a:rPr lang="en-US" sz="16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(Cont..)</a:t>
            </a: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lang="en-US"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1000" y="13716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3" name="Google Shape;123;p16"/>
          <p:cNvGrpSpPr/>
          <p:nvPr/>
        </p:nvGrpSpPr>
        <p:grpSpPr>
          <a:xfrm>
            <a:off x="250190" y="1602740"/>
            <a:ext cx="8322310" cy="3382644"/>
            <a:chOff x="-4000500" y="1361440"/>
            <a:chExt cx="8377558" cy="1706379"/>
          </a:xfrm>
        </p:grpSpPr>
        <p:sp>
          <p:nvSpPr>
            <p:cNvPr id="2" name="Google Shape;125;p16"/>
            <p:cNvSpPr/>
            <p:nvPr/>
          </p:nvSpPr>
          <p:spPr>
            <a:xfrm>
              <a:off x="-4000500" y="1361440"/>
              <a:ext cx="4750010" cy="1706379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-3811931" y="1430631"/>
              <a:ext cx="4679057" cy="1530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algn="l" rtl="0">
                <a:spcBef>
                  <a:spcPts val="300"/>
                </a:spcBef>
                <a:spcAft>
                  <a:spcPts val="0"/>
                </a:spcAft>
                <a:buSzTx/>
                <a:buNone/>
              </a:pPr>
              <a:r>
                <a:rPr lang="en-US"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 Medium"/>
                </a:rPr>
                <a:t>AI &amp; DS</a:t>
              </a:r>
              <a:endParaRPr lang="en-US" sz="16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Font typeface="Wingdings" panose="05000000000000000000" charset="0"/>
                <a:buNone/>
              </a:pPr>
              <a:endPara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Mathematical concepts - 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Linear Algebra, Probabality 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Statistical Concepts - 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Mean/Median/Mode, Standard 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                           Deviation, Distributions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Core ML concepts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 Supervised / Unsupervised 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                            Learning / Gen AI / LLMs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Key Algorithms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 Regression, Classification, Clustering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Model Evalutions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- Precision, Recall, Accuracy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Python Libraries 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pandas, numpy, scikit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280698" y="1445365"/>
              <a:ext cx="3096360" cy="1388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Other topics</a:t>
              </a:r>
              <a:endParaRPr lang="en-US" sz="16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endParaRPr lang="en-GB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OS - 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Process management and 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None/>
              </a:pP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       Memory management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Networks -</a:t>
              </a:r>
              <a:r>
                <a:rPr lang="en-US" sz="120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Protocols, Security</a:t>
              </a:r>
              <a:endPara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SDLC </a:t>
              </a:r>
              <a:r>
                <a:rPr lang="en-US" sz="120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- Waterfall &amp; Agile</a:t>
              </a:r>
              <a:endParaRPr lang="en-US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System Design </a:t>
              </a:r>
              <a:endPara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0000"/>
                <a:buFont typeface="Wingdings" panose="05000000000000000000" charset="0"/>
                <a:buChar char=""/>
              </a:pPr>
              <a:r>
                <a:rPr lang="en-US" b="1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Version Control</a:t>
              </a:r>
              <a:endPara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63" y="4763"/>
            <a:ext cx="8982000" cy="49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18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</a:t>
            </a:r>
            <a:r>
              <a:rPr lang="en-US" alt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3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Interviews - Standard Behavioral Questions</a:t>
            </a:r>
            <a:r>
              <a:rPr lang="en-US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lang="en-US"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1000" y="13716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3" name="Google Shape;123;p16"/>
          <p:cNvGrpSpPr/>
          <p:nvPr/>
        </p:nvGrpSpPr>
        <p:grpSpPr>
          <a:xfrm>
            <a:off x="345440" y="1571625"/>
            <a:ext cx="8417560" cy="3317241"/>
            <a:chOff x="-3904618" y="1345744"/>
            <a:chExt cx="8473440" cy="1673386"/>
          </a:xfrm>
        </p:grpSpPr>
        <p:sp>
          <p:nvSpPr>
            <p:cNvPr id="2" name="Google Shape;125;p16"/>
            <p:cNvSpPr/>
            <p:nvPr/>
          </p:nvSpPr>
          <p:spPr>
            <a:xfrm>
              <a:off x="-3904618" y="1345744"/>
              <a:ext cx="8473440" cy="1673386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-3676418" y="1423904"/>
              <a:ext cx="8053475" cy="15375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Tell me about yourself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Explain project XYZ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What is the most difficult challenge you faced during the Internship / Projects and how 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None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did you overcome it?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What is your most significant accomplishment across your projects?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Where do you see yourself in next 5 years 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Why do you want to join our company 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Did you at any point have any disagreement with your teammate and how did you 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None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   resolve it 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 eaLnBrk="1" fontAlgn="auto" latinLnBrk="0" hangingPunct="1">
                <a:spcBef>
                  <a:spcPts val="400"/>
                </a:spcBef>
                <a:spcAft>
                  <a:spcPts val="400"/>
                </a:spcAft>
                <a:buClr>
                  <a:srgbClr val="00B050"/>
                </a:buClr>
                <a:buSzPct val="125000"/>
                <a:buFont typeface="Wingdings" panose="05000000000000000000" charset="0"/>
                <a:buChar char=""/>
              </a:pPr>
              <a:r>
                <a:rPr lang="en-US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 Do you have any question for me or the company ?</a:t>
              </a: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171450" lvl="0" indent="-171450" algn="l" rtl="0">
                <a:spcBef>
                  <a:spcPts val="300"/>
                </a:spcBef>
                <a:spcAft>
                  <a:spcPts val="0"/>
                </a:spcAft>
                <a:buFont typeface="Wingdings" panose="05000000000000000000" charset="0"/>
                <a:buChar char=""/>
              </a:pPr>
              <a:endParaRPr lang="en-US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8" name="Google Shape;78;p15"/>
          <p:cNvGrpSpPr/>
          <p:nvPr/>
        </p:nvGrpSpPr>
        <p:grpSpPr>
          <a:xfrm>
            <a:off x="5080" y="-5080"/>
            <a:ext cx="9144150" cy="5143650"/>
            <a:chOff x="0" y="0"/>
            <a:chExt cx="9144150" cy="514365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1785" y="1452245"/>
            <a:ext cx="8520430" cy="2673985"/>
          </a:xfrm>
        </p:spPr>
        <p:txBody>
          <a:bodyPr>
            <a:normAutofit fontScale="90000"/>
          </a:bodyPr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/>
              <a:t>✔ </a:t>
            </a:r>
            <a:r>
              <a:rPr lang="en-US" altLang="en-US">
                <a:sym typeface="+mn-ea"/>
              </a:rPr>
              <a:t>Master 1 or 2 Programming Languages</a:t>
            </a:r>
            <a:endParaRPr lang="en-US" altLang="en-US">
              <a:sym typeface="+mn-ea"/>
            </a:endParaRPr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/>
              <a:t>✔ Revise CS fundamentals and Practise DSA problems daily</a:t>
            </a:r>
            <a:endParaRPr lang="en-US" altLang="en-US"/>
          </a:p>
          <a:p>
            <a:pPr marL="114300" algn="l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>
                <a:sym typeface="+mn-ea"/>
              </a:rPr>
              <a:t>  ✔ </a:t>
            </a:r>
            <a:r>
              <a:rPr lang="en-US" altLang="en-US">
                <a:sym typeface="Inter SemiBold" panose="02000503000000020004"/>
              </a:rPr>
              <a:t>Understand the underlying mechanics, not just syntax.</a:t>
            </a:r>
            <a:endParaRPr lang="en-US" altLang="en-US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/>
              <a:t>✔ Identify weakspot and strengthen those areas</a:t>
            </a:r>
            <a:endParaRPr lang="en-US" altLang="en-US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>
                <a:sym typeface="+mn-ea"/>
              </a:rPr>
              <a:t>✔ Prepare for real world examples and discussions</a:t>
            </a:r>
            <a:endParaRPr lang="en-US" altLang="en-US">
              <a:sym typeface="+mn-ea"/>
            </a:endParaRPr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/>
              <a:t>✔ Prepare and rehearse standard behavioral questions</a:t>
            </a:r>
            <a:endParaRPr lang="en-US" altLang="en-US" sz="3200"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ROUND </a:t>
            </a:r>
            <a:r>
              <a:rPr lang="en-US" altLang="en-GB" sz="18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3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700">
                <a:sym typeface="+mn-ea"/>
              </a:rPr>
              <a:t>Preparation Strategy - Technical Interview</a:t>
            </a:r>
            <a:endParaRPr lang="en-US" altLang="en-US" sz="2700">
              <a:sym typeface="+mn-ea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54" name="Google Shape;554;p30"/>
          <p:cNvGrpSpPr/>
          <p:nvPr/>
        </p:nvGrpSpPr>
        <p:grpSpPr>
          <a:xfrm>
            <a:off x="381000" y="4214495"/>
            <a:ext cx="8382000" cy="714525"/>
            <a:chOff x="0" y="0"/>
            <a:chExt cx="8382000" cy="714525"/>
          </a:xfrm>
        </p:grpSpPr>
        <p:sp>
          <p:nvSpPr>
            <p:cNvPr id="3" name="Google Shape;556;p30"/>
            <p:cNvSpPr/>
            <p:nvPr/>
          </p:nvSpPr>
          <p:spPr>
            <a:xfrm>
              <a:off x="0" y="0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30"/>
            <p:cNvSpPr txBox="1"/>
            <p:nvPr/>
          </p:nvSpPr>
          <p:spPr>
            <a:xfrm>
              <a:off x="85725" y="238125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250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Remember</a:t>
              </a:r>
              <a:r>
                <a:rPr lang="en-GB" sz="1250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:</a:t>
              </a:r>
              <a:endParaRPr sz="1295"/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1217930" y="238125"/>
              <a:ext cx="6788785" cy="476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2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Understanding basics and revising fundamentals regularly gives immense confidence.</a:t>
              </a:r>
              <a:endParaRPr lang="en-US" alt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8982075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/>
          <p:nvPr/>
        </p:nvSpPr>
        <p:spPr>
          <a:xfrm>
            <a:off x="5334000" y="-1238250"/>
            <a:ext cx="7620000" cy="7620000"/>
          </a:xfrm>
          <a:prstGeom prst="ellipse">
            <a:avLst/>
          </a:prstGeom>
          <a:solidFill>
            <a:srgbClr val="FF5733">
              <a:alpha val="1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21"/>
          <p:cNvSpPr/>
          <p:nvPr/>
        </p:nvSpPr>
        <p:spPr>
          <a:xfrm>
            <a:off x="-1905000" y="3238500"/>
            <a:ext cx="3810000" cy="3810000"/>
          </a:xfrm>
          <a:prstGeom prst="ellipse">
            <a:avLst/>
          </a:prstGeom>
          <a:solidFill>
            <a:srgbClr val="0B132B">
              <a:alpha val="1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086600" y="-723900"/>
            <a:ext cx="20574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209550" y="3409950"/>
            <a:ext cx="2324100" cy="171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1"/>
          <p:cNvGrpSpPr/>
          <p:nvPr/>
        </p:nvGrpSpPr>
        <p:grpSpPr>
          <a:xfrm>
            <a:off x="533400" y="1428750"/>
            <a:ext cx="3657600" cy="2667000"/>
            <a:chOff x="-228600" y="0"/>
            <a:chExt cx="3657600" cy="2667000"/>
          </a:xfrm>
        </p:grpSpPr>
        <p:sp>
          <p:nvSpPr>
            <p:cNvPr id="259" name="Google Shape;259;p21"/>
            <p:cNvSpPr/>
            <p:nvPr/>
          </p:nvSpPr>
          <p:spPr>
            <a:xfrm>
              <a:off x="-228600" y="76200"/>
              <a:ext cx="57300" cy="1619100"/>
            </a:xfrm>
            <a:prstGeom prst="roundRect">
              <a:avLst>
                <a:gd name="adj" fmla="val 50000"/>
              </a:avLst>
            </a:pr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0" y="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450" b="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Resume Readiness</a:t>
              </a:r>
              <a:endParaRPr sz="3450" b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950" b="0">
                  <a:solidFill>
                    <a:srgbClr val="FFC30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The Power of First Impressions</a:t>
              </a:r>
              <a:endParaRPr sz="1950" b="0">
                <a:solidFill>
                  <a:srgbClr val="FFC3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61" name="Google Shape;261;p21"/>
          <p:cNvGrpSpPr/>
          <p:nvPr/>
        </p:nvGrpSpPr>
        <p:grpSpPr>
          <a:xfrm>
            <a:off x="4562475" y="523875"/>
            <a:ext cx="3810000" cy="666750"/>
            <a:chOff x="0" y="0"/>
            <a:chExt cx="3810000" cy="857400"/>
          </a:xfrm>
        </p:grpSpPr>
        <p:sp>
          <p:nvSpPr>
            <p:cNvPr id="262" name="Google Shape;262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FF5733">
                <a:alpha val="1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5733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1</a:t>
              </a:r>
              <a:endParaRPr lang="en-GB" sz="1200" b="1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762000" y="142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Keep formatting simple and neat.</a:t>
              </a:r>
              <a:endParaRPr sz="1200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4572000" y="1428750"/>
            <a:ext cx="3810000" cy="666750"/>
            <a:chOff x="0" y="0"/>
            <a:chExt cx="3810000" cy="857400"/>
          </a:xfrm>
        </p:grpSpPr>
        <p:sp>
          <p:nvSpPr>
            <p:cNvPr id="268" name="Google Shape;268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FFC3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2</a:t>
              </a:r>
              <a:endParaRPr lang="en-GB"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762000" y="142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Avoid confusing acronyms.</a:t>
              </a:r>
              <a:endParaRPr sz="1200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4581525" y="2300605"/>
            <a:ext cx="3810000" cy="667385"/>
            <a:chOff x="0" y="0"/>
            <a:chExt cx="3810000" cy="8574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0B132B">
                <a:alpha val="1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3</a:t>
              </a:r>
              <a:endParaRPr lang="en-GB"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762000" y="9525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12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Easy to read</a:t>
              </a:r>
              <a:endParaRPr lang="en-US" altLang="en-GB" sz="1125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" name="Google Shape;273;p21"/>
          <p:cNvGrpSpPr/>
          <p:nvPr/>
        </p:nvGrpSpPr>
        <p:grpSpPr>
          <a:xfrm>
            <a:off x="4553585" y="3228340"/>
            <a:ext cx="3810000" cy="667385"/>
            <a:chOff x="0" y="0"/>
            <a:chExt cx="3810000" cy="857400"/>
          </a:xfrm>
        </p:grpSpPr>
        <p:sp>
          <p:nvSpPr>
            <p:cNvPr id="3" name="Google Shape;274;p21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275;p21"/>
            <p:cNvSpPr/>
            <p:nvPr/>
          </p:nvSpPr>
          <p:spPr>
            <a:xfrm>
              <a:off x="0" y="0"/>
              <a:ext cx="95400" cy="857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276;p21"/>
            <p:cNvSpPr/>
            <p:nvPr/>
          </p:nvSpPr>
          <p:spPr>
            <a:xfrm>
              <a:off x="238125" y="238125"/>
              <a:ext cx="381000" cy="381000"/>
            </a:xfrm>
            <a:prstGeom prst="ellipse">
              <a:avLst/>
            </a:prstGeom>
            <a:solidFill>
              <a:srgbClr val="0B132B">
                <a:alpha val="1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277;p21"/>
            <p:cNvSpPr txBox="1"/>
            <p:nvPr/>
          </p:nvSpPr>
          <p:spPr>
            <a:xfrm>
              <a:off x="333375" y="285750"/>
              <a:ext cx="19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B132B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rPr>
                <a:t>3</a:t>
              </a:r>
              <a:endParaRPr lang="en-GB" sz="1200" b="1">
                <a:solidFill>
                  <a:srgbClr val="0B132B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endParaRPr>
            </a:p>
          </p:txBody>
        </p:sp>
        <p:sp>
          <p:nvSpPr>
            <p:cNvPr id="7" name="Google Shape;278;p21"/>
            <p:cNvSpPr txBox="1"/>
            <p:nvPr/>
          </p:nvSpPr>
          <p:spPr>
            <a:xfrm>
              <a:off x="762000" y="95250"/>
              <a:ext cx="285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125" b="1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Showcase your strengths</a:t>
              </a:r>
              <a:endParaRPr lang="en-US" altLang="en-GB" sz="1125" b="1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554" name="Google Shape;554;p30"/>
          <p:cNvGrpSpPr/>
          <p:nvPr/>
        </p:nvGrpSpPr>
        <p:grpSpPr>
          <a:xfrm>
            <a:off x="1905000" y="4230370"/>
            <a:ext cx="5276215" cy="606425"/>
            <a:chOff x="0" y="0"/>
            <a:chExt cx="8382000" cy="714375"/>
          </a:xfrm>
        </p:grpSpPr>
        <p:sp>
          <p:nvSpPr>
            <p:cNvPr id="8" name="Google Shape;556;p30"/>
            <p:cNvSpPr/>
            <p:nvPr/>
          </p:nvSpPr>
          <p:spPr>
            <a:xfrm>
              <a:off x="0" y="0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281849" y="237876"/>
              <a:ext cx="7725353" cy="476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2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Your resume should drive the interview</a:t>
              </a:r>
              <a:endParaRPr lang="en-US" altLang="en-US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Google Shape;284;p2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22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6" name="Google Shape;286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48475" y="847725"/>
            <a:ext cx="2276400" cy="34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419975" y="1419225"/>
            <a:ext cx="1724100" cy="23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RESUME STRATEGY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Organizing the resume	</a:t>
            </a:r>
            <a:endParaRPr lang="en-US" altLang="en-GB" sz="2700" b="0" i="0" u="none" strike="noStrike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6"/>
          <p:cNvSpPr txBox="1"/>
          <p:nvPr/>
        </p:nvSpPr>
        <p:spPr>
          <a:xfrm>
            <a:off x="572135" y="1739900"/>
            <a:ext cx="7171055" cy="30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16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 Medium"/>
              </a:rPr>
              <a:t>Order the resume for interviewer to easily spot the below items - </a:t>
            </a:r>
            <a:endParaRPr lang="en-US" sz="1600" b="1">
              <a:solidFill>
                <a:srgbClr val="111827"/>
              </a:solidFill>
              <a:latin typeface="DM Sans"/>
              <a:ea typeface="DM Sans"/>
              <a:cs typeface="DM Sans"/>
              <a:sym typeface="DM Sans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US" b="1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Education</a:t>
            </a:r>
            <a:r>
              <a: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- 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Major, CGPA 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Skills</a:t>
            </a:r>
            <a:r>
              <a:rPr lang="en-US" alt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US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- 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Technical Skills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Projects 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- College / Own projects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Internship / Experience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- Internship projects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Other achievements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- Paper presentation, Hackathon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 eaLnBrk="1" fontAlgn="auto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"/>
            </a:pPr>
            <a:r>
              <a:rPr lang="en-US" altLang="en-US" sz="1400" b="1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Certifications </a:t>
            </a:r>
            <a:r>
              <a:rPr lang="en-US" sz="120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- Certified course completions</a:t>
            </a: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171450" lvl="0" indent="-171450" algn="l" rtl="0"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"/>
            </a:pPr>
            <a:endParaRPr lang="en-US" sz="120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80" y="5080"/>
            <a:ext cx="9120505" cy="513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0" y="0"/>
            <a:ext cx="9144150" cy="5144135"/>
            <a:chOff x="0" y="0"/>
            <a:chExt cx="9144150" cy="5144135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5080" y="5080"/>
              <a:ext cx="9138920" cy="51390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8477250" y="4476750"/>
              <a:ext cx="6669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201" name="Google Shape;201;p19"/>
          <p:cNvCxnSpPr/>
          <p:nvPr/>
        </p:nvCxnSpPr>
        <p:spPr>
          <a:xfrm>
            <a:off x="381000" y="109474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9"/>
          <p:cNvSpPr/>
          <p:nvPr/>
        </p:nvSpPr>
        <p:spPr>
          <a:xfrm>
            <a:off x="8324850" y="4610100"/>
            <a:ext cx="304800" cy="304800"/>
          </a:xfrm>
          <a:prstGeom prst="ellipse">
            <a:avLst/>
          </a:prstGeom>
          <a:solidFill>
            <a:srgbClr val="FBBF24"/>
          </a:solidFill>
          <a:ln w="28575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19"/>
          <p:cNvSpPr/>
          <p:nvPr/>
        </p:nvSpPr>
        <p:spPr>
          <a:xfrm>
            <a:off x="762000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cubicBezTo>
                  <a:pt x="60000" y="33135"/>
                  <a:pt x="86865" y="60000"/>
                  <a:pt x="120000" y="60000"/>
                </a:cubicBezTo>
                <a:cubicBezTo>
                  <a:pt x="86865" y="60000"/>
                  <a:pt x="60000" y="86865"/>
                  <a:pt x="60000" y="120000"/>
                </a:cubicBezTo>
                <a:cubicBezTo>
                  <a:pt x="60000" y="86865"/>
                  <a:pt x="33135" y="60000"/>
                  <a:pt x="0" y="60000"/>
                </a:cubicBezTo>
                <a:cubicBezTo>
                  <a:pt x="33135" y="60000"/>
                  <a:pt x="60000" y="33135"/>
                  <a:pt x="60000" y="0"/>
                </a:cubicBezTo>
                <a:close/>
              </a:path>
            </a:pathLst>
          </a:custGeom>
          <a:solidFill>
            <a:srgbClr val="FBBF24"/>
          </a:solidFill>
          <a:ln w="1905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88;p22"/>
          <p:cNvSpPr txBox="1"/>
          <p:nvPr/>
        </p:nvSpPr>
        <p:spPr>
          <a:xfrm>
            <a:off x="381000" y="209550"/>
            <a:ext cx="8096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RESUME STRATEGY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Embracing Simple &amp; Neat Layouts	</a:t>
            </a:r>
            <a:endParaRPr lang="en-US" altLang="en-GB" sz="2700" b="0" i="0" u="none" strike="noStrike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206;p19"/>
          <p:cNvSpPr txBox="1"/>
          <p:nvPr/>
        </p:nvSpPr>
        <p:spPr>
          <a:xfrm>
            <a:off x="317500" y="1333500"/>
            <a:ext cx="4643755" cy="2973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ATS-Friendly Optimization</a:t>
            </a:r>
            <a:endParaRPr sz="1800" b="1">
              <a:solidFill>
                <a:srgbClr val="111827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ptimize</a:t>
            </a:r>
            <a:r>
              <a:rPr lang="en-US" alt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for both human recruiters and Applicant Tracking Systems (ATS).</a:t>
            </a:r>
            <a:endParaRPr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4338CA"/>
              </a:buClr>
              <a:buSzPts val="1295"/>
              <a:buChar char="●"/>
            </a:pPr>
            <a:r>
              <a:rPr 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Clean Formatting:</a:t>
            </a:r>
            <a:r>
              <a:rPr lang="en-GB" sz="1600">
                <a:solidFill>
                  <a:srgbClr val="FF6B6B"/>
                </a:solidFill>
              </a:rPr>
              <a:t> 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Avoid complex graphics, multi-column layouts, or heavy colors that confuse ATS parsers.</a:t>
            </a:r>
            <a:endParaRPr sz="1600">
              <a:solidFill>
                <a:srgbClr val="FF6B6B"/>
              </a:solidFill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4338CA"/>
              </a:buClr>
              <a:buSzPts val="1295"/>
              <a:buChar char="●"/>
            </a:pPr>
            <a:r>
              <a:rPr 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Standard Fonts:</a:t>
            </a:r>
            <a:r>
              <a:rPr lang="en-GB" sz="1600">
                <a:solidFill>
                  <a:srgbClr val="FBBF24"/>
                </a:solidFill>
              </a:rPr>
              <a:t> 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 readable, professional fonts like Arial, Calibri, or Helvetica at 10-12pt size.</a:t>
            </a:r>
            <a:endParaRPr sz="1600">
              <a:solidFill>
                <a:srgbClr val="FBBF24"/>
              </a:solidFill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4338CA"/>
              </a:buClr>
              <a:buSzPts val="1295"/>
              <a:buChar char="●"/>
            </a:pPr>
            <a:r>
              <a:rPr 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Logical Flow:</a:t>
            </a:r>
            <a:r>
              <a:rPr lang="en-GB" sz="1600">
                <a:solidFill>
                  <a:srgbClr val="34D399"/>
                </a:solidFill>
              </a:rPr>
              <a:t> 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Organize sections chronologically (Education, Skills, Projects, Experience) with clear, bold headers.</a:t>
            </a:r>
            <a:endParaRPr sz="1600">
              <a:solidFill>
                <a:srgbClr val="34D399"/>
              </a:solidFill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4338CA"/>
              </a:buClr>
              <a:buSzPts val="1295"/>
              <a:buChar char="●"/>
            </a:pPr>
            <a:r>
              <a:rPr lang="en-GB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Concise Length:</a:t>
            </a:r>
            <a:r>
              <a:rPr lang="en-GB" sz="1600">
                <a:solidFill>
                  <a:srgbClr val="4338CA"/>
                </a:solidFill>
              </a:rPr>
              <a:t> </a:t>
            </a:r>
            <a:r>
              <a:rPr lang="en-GB"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Restrict your resume to a single page for entry-level campus recruitment.</a:t>
            </a:r>
            <a:endParaRPr lang="en-GB" sz="120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9138920" cy="513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22"/>
          <p:cNvSpPr/>
          <p:nvPr/>
        </p:nvSpPr>
        <p:spPr>
          <a:xfrm>
            <a:off x="8667750" y="4667250"/>
            <a:ext cx="476400" cy="47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20000"/>
                </a:move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FFC3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6" name="Google Shape;286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48475" y="847725"/>
            <a:ext cx="2276400" cy="34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419975" y="1419225"/>
            <a:ext cx="1724100" cy="23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571500" y="381000"/>
            <a:ext cx="8001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RESUME STRATEGY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7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Showcasing Your Projects for Impact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408305" y="1572260"/>
            <a:ext cx="4163695" cy="772160"/>
            <a:chOff x="-55998" y="-23812"/>
            <a:chExt cx="8228448" cy="914400"/>
          </a:xfrm>
        </p:grpSpPr>
        <p:pic>
          <p:nvPicPr>
            <p:cNvPr id="290" name="Google Shape;290;p2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-55998" y="-23812"/>
              <a:ext cx="8228448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2"/>
            <p:cNvSpPr/>
            <p:nvPr/>
          </p:nvSpPr>
          <p:spPr>
            <a:xfrm>
              <a:off x="219714" y="152386"/>
              <a:ext cx="57300" cy="523800"/>
            </a:xfrm>
            <a:prstGeom prst="roundRect">
              <a:avLst>
                <a:gd name="adj" fmla="val 50000"/>
              </a:avLst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2" name="Google Shape;292;p22"/>
            <p:cNvGrpSpPr/>
            <p:nvPr/>
          </p:nvGrpSpPr>
          <p:grpSpPr>
            <a:xfrm>
              <a:off x="519393" y="270755"/>
              <a:ext cx="601102" cy="313858"/>
              <a:chOff x="214593" y="18342"/>
              <a:chExt cx="601102" cy="313858"/>
            </a:xfrm>
          </p:grpSpPr>
          <p:sp>
            <p:nvSpPr>
              <p:cNvPr id="293" name="Google Shape;293;p22"/>
              <p:cNvSpPr/>
              <p:nvPr/>
            </p:nvSpPr>
            <p:spPr>
              <a:xfrm>
                <a:off x="214593" y="18342"/>
                <a:ext cx="601102" cy="31385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" name="Google Shape;294;p22"/>
              <p:cNvSpPr/>
              <p:nvPr/>
            </p:nvSpPr>
            <p:spPr>
              <a:xfrm>
                <a:off x="390279" y="108696"/>
                <a:ext cx="244708" cy="11616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95" name="Google Shape;295;p22"/>
            <p:cNvSpPr txBox="1"/>
            <p:nvPr/>
          </p:nvSpPr>
          <p:spPr>
            <a:xfrm>
              <a:off x="1271697" y="-35"/>
              <a:ext cx="6443965" cy="809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Place your most important </a:t>
              </a:r>
              <a:r>
                <a:rPr lang="en-US" alt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and strongest </a:t>
              </a:r>
              <a:r>
                <a:rPr 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projects at the top.</a:t>
              </a:r>
              <a:endParaRPr sz="1350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96" name="Google Shape;296;p22"/>
          <p:cNvGrpSpPr/>
          <p:nvPr/>
        </p:nvGrpSpPr>
        <p:grpSpPr>
          <a:xfrm>
            <a:off x="386080" y="3187065"/>
            <a:ext cx="4222115" cy="914400"/>
            <a:chOff x="-93646" y="-23812"/>
            <a:chExt cx="8343900" cy="914400"/>
          </a:xfrm>
        </p:grpSpPr>
        <p:pic>
          <p:nvPicPr>
            <p:cNvPr id="297" name="Google Shape;297;p2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-93646" y="-23812"/>
              <a:ext cx="83439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22"/>
            <p:cNvSpPr/>
            <p:nvPr/>
          </p:nvSpPr>
          <p:spPr>
            <a:xfrm>
              <a:off x="254852" y="142875"/>
              <a:ext cx="57300" cy="5238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99" name="Google Shape;299;p22"/>
            <p:cNvGrpSpPr/>
            <p:nvPr/>
          </p:nvGrpSpPr>
          <p:grpSpPr>
            <a:xfrm>
              <a:off x="558292" y="252413"/>
              <a:ext cx="601102" cy="307975"/>
              <a:chOff x="253492" y="0"/>
              <a:chExt cx="601102" cy="307975"/>
            </a:xfrm>
          </p:grpSpPr>
          <p:sp>
            <p:nvSpPr>
              <p:cNvPr id="300" name="Google Shape;300;p22"/>
              <p:cNvSpPr/>
              <p:nvPr/>
            </p:nvSpPr>
            <p:spPr>
              <a:xfrm>
                <a:off x="253492" y="0"/>
                <a:ext cx="601102" cy="307975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1" name="Google Shape;301;p22"/>
              <p:cNvSpPr/>
              <p:nvPr/>
            </p:nvSpPr>
            <p:spPr>
              <a:xfrm>
                <a:off x="445625" y="114300"/>
                <a:ext cx="244708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02" name="Google Shape;302;p22"/>
            <p:cNvSpPr txBox="1"/>
            <p:nvPr/>
          </p:nvSpPr>
          <p:spPr>
            <a:xfrm>
              <a:off x="1416015" y="-317"/>
              <a:ext cx="6510476" cy="80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rgbClr val="0B132B"/>
                  </a:solidFill>
                  <a:latin typeface="Inter SemiBold" panose="02000503000000020004"/>
                  <a:ea typeface="Inter SemiBold" panose="02000503000000020004"/>
                  <a:cs typeface="Inter SemiBold" panose="02000503000000020004"/>
                  <a:sym typeface="Inter SemiBold" panose="02000503000000020004"/>
                </a:rPr>
                <a:t>Only list technologies you can confidently explain in detail.</a:t>
              </a:r>
              <a:endParaRPr sz="1350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303" name="Google Shape;303;p22"/>
          <p:cNvGrpSpPr/>
          <p:nvPr/>
        </p:nvGrpSpPr>
        <p:grpSpPr>
          <a:xfrm>
            <a:off x="408305" y="2392680"/>
            <a:ext cx="4294505" cy="762635"/>
            <a:chOff x="-120650" y="-28726"/>
            <a:chExt cx="8363747" cy="914400"/>
          </a:xfrm>
        </p:grpSpPr>
        <p:pic>
          <p:nvPicPr>
            <p:cNvPr id="304" name="Google Shape;304;p2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-120650" y="-28726"/>
              <a:ext cx="8108315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2"/>
            <p:cNvSpPr/>
            <p:nvPr/>
          </p:nvSpPr>
          <p:spPr>
            <a:xfrm flipH="1">
              <a:off x="196087" y="89529"/>
              <a:ext cx="78105" cy="644411"/>
            </a:xfrm>
            <a:prstGeom prst="roundRect">
              <a:avLst>
                <a:gd name="adj" fmla="val 15000"/>
              </a:avLst>
            </a:prstGeom>
            <a:solidFill>
              <a:srgbClr val="FFC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479146" y="275353"/>
              <a:ext cx="592375" cy="34587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1289136" y="142033"/>
              <a:ext cx="6953961" cy="523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 eaLnBrk="1" fontAlgn="auto" latinLnBrk="0" hangingPunct="1">
                <a:spcAft>
                  <a:spcPts val="600"/>
                </a:spcAft>
                <a:buNone/>
              </a:pPr>
              <a:r>
                <a:rPr 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Be ready to explain </a:t>
              </a:r>
              <a:r>
                <a:rPr lang="en-US" alt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the project </a:t>
              </a:r>
              <a:r>
                <a:rPr 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deeply</a:t>
              </a:r>
              <a:endParaRPr lang="en-US" altLang="en-US" sz="1000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7" name="Google Shape;237;p20"/>
          <p:cNvGrpSpPr/>
          <p:nvPr/>
        </p:nvGrpSpPr>
        <p:grpSpPr>
          <a:xfrm>
            <a:off x="4895850" y="1594485"/>
            <a:ext cx="3524325" cy="2304702"/>
            <a:chOff x="285750" y="238125"/>
            <a:chExt cx="3524400" cy="2471893"/>
          </a:xfrm>
        </p:grpSpPr>
        <p:sp>
          <p:nvSpPr>
            <p:cNvPr id="240" name="Google Shape;240;p20"/>
            <p:cNvSpPr txBox="1"/>
            <p:nvPr/>
          </p:nvSpPr>
          <p:spPr>
            <a:xfrm>
              <a:off x="285750" y="2381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111827"/>
                  </a:solidFill>
                  <a:latin typeface="Outfit"/>
                  <a:ea typeface="Outfit"/>
                  <a:cs typeface="Outfit"/>
                  <a:sym typeface="Outfit"/>
                </a:rPr>
                <a:t>Key Project Elements</a:t>
              </a:r>
              <a:endParaRPr lang="en-GB" sz="1500" b="1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285750" y="665190"/>
              <a:ext cx="304800" cy="304800"/>
            </a:xfrm>
            <a:prstGeom prst="ellipse">
              <a:avLst/>
            </a:prstGeom>
            <a:solidFill>
              <a:srgbClr val="FF6B6B"/>
            </a:solidFill>
            <a:ln w="19050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285750" y="655654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1</a:t>
              </a:r>
              <a:endParaRPr 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714375" y="2043118"/>
              <a:ext cx="3095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Project Title, Role &amp; Tech Stack</a:t>
              </a:r>
              <a:endParaRPr sz="97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State what you built, your contribution, </a:t>
              </a:r>
              <a:r>
                <a:rPr lang="en-US" altLang="en-GB" sz="97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experience </a:t>
              </a:r>
              <a:r>
                <a:rPr lang="en-GB" sz="97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and languages or tools used (e.g., React, Node.js, MongoDB).</a:t>
              </a:r>
              <a:endParaRPr sz="97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285750" y="1361805"/>
              <a:ext cx="304800" cy="304800"/>
            </a:xfrm>
            <a:prstGeom prst="ellipse">
              <a:avLst/>
            </a:prstGeom>
            <a:solidFill>
              <a:srgbClr val="FBBF24"/>
            </a:solidFill>
            <a:ln w="19050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85750" y="137134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2</a:t>
              </a:r>
              <a:endParaRPr 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714375" y="619125"/>
              <a:ext cx="3095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Core Problem Solved</a:t>
              </a:r>
              <a:endParaRPr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Briefly explain the objective or the real-world problem that the project actively addresses.</a:t>
              </a:r>
              <a:endParaRPr sz="105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285750" y="2142875"/>
              <a:ext cx="304800" cy="304800"/>
            </a:xfrm>
            <a:prstGeom prst="ellipse">
              <a:avLst/>
            </a:prstGeom>
            <a:solidFill>
              <a:srgbClr val="34D399"/>
            </a:solidFill>
            <a:ln w="19050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285750" y="214287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3</a:t>
              </a:r>
              <a:endParaRPr lang="en-US" alt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714384" y="1293095"/>
              <a:ext cx="3095691" cy="727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Beneficiary</a:t>
              </a:r>
              <a:endParaRPr lang="en-US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altLang="en-GB" sz="1050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Who is benefitted by the project or who are the potential users of the project outcome.</a:t>
              </a:r>
              <a:endParaRPr lang="en-US" altLang="en-GB" sz="105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3" name="Google Shape;249;p20"/>
          <p:cNvSpPr txBox="1"/>
          <p:nvPr/>
        </p:nvSpPr>
        <p:spPr>
          <a:xfrm>
            <a:off x="5345430" y="4101465"/>
            <a:ext cx="30957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Quantifiable Impact</a:t>
            </a:r>
            <a:endParaRPr sz="1050" b="1">
              <a:solidFill>
                <a:srgbClr val="11182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5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Highlight outcomes using metrics (e.g., 'Reduced load time by 20%' or 'Handled 500+ daily users').</a:t>
            </a:r>
            <a:endParaRPr sz="1050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" name="Google Shape;241;p20"/>
          <p:cNvSpPr/>
          <p:nvPr/>
        </p:nvSpPr>
        <p:spPr>
          <a:xfrm>
            <a:off x="4895850" y="4140234"/>
            <a:ext cx="304794" cy="284184"/>
          </a:xfrm>
          <a:prstGeom prst="ellipse">
            <a:avLst/>
          </a:prstGeom>
          <a:solidFill>
            <a:srgbClr val="FF6B6B"/>
          </a:solidFill>
          <a:ln w="1905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48;p20"/>
          <p:cNvSpPr txBox="1"/>
          <p:nvPr/>
        </p:nvSpPr>
        <p:spPr>
          <a:xfrm>
            <a:off x="4895850" y="413575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900" b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 lang="en-US" altLang="en-GB" sz="900" b="1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" name="Google Shape;294;p22"/>
          <p:cNvSpPr/>
          <p:nvPr/>
        </p:nvSpPr>
        <p:spPr>
          <a:xfrm>
            <a:off x="795978" y="2732154"/>
            <a:ext cx="123825" cy="10858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40000" y="120000"/>
                </a:ln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" name="Google Shape;296;p22"/>
          <p:cNvGrpSpPr/>
          <p:nvPr/>
        </p:nvGrpSpPr>
        <p:grpSpPr>
          <a:xfrm>
            <a:off x="396240" y="4126230"/>
            <a:ext cx="4222115" cy="914400"/>
            <a:chOff x="-93646" y="-23812"/>
            <a:chExt cx="8343900" cy="914400"/>
          </a:xfrm>
        </p:grpSpPr>
        <p:pic>
          <p:nvPicPr>
            <p:cNvPr id="14" name="Google Shape;297;p2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-93646" y="-23812"/>
              <a:ext cx="83439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98;p22"/>
            <p:cNvSpPr/>
            <p:nvPr/>
          </p:nvSpPr>
          <p:spPr>
            <a:xfrm>
              <a:off x="219714" y="142875"/>
              <a:ext cx="57300" cy="5238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" name="Google Shape;299;p22"/>
            <p:cNvGrpSpPr/>
            <p:nvPr/>
          </p:nvGrpSpPr>
          <p:grpSpPr>
            <a:xfrm>
              <a:off x="505586" y="252413"/>
              <a:ext cx="601102" cy="307975"/>
              <a:chOff x="200786" y="0"/>
              <a:chExt cx="601102" cy="307975"/>
            </a:xfrm>
          </p:grpSpPr>
          <p:sp>
            <p:nvSpPr>
              <p:cNvPr id="17" name="Google Shape;300;p22"/>
              <p:cNvSpPr/>
              <p:nvPr/>
            </p:nvSpPr>
            <p:spPr>
              <a:xfrm>
                <a:off x="200786" y="0"/>
                <a:ext cx="601102" cy="307975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" name="Google Shape;301;p22"/>
              <p:cNvSpPr/>
              <p:nvPr/>
            </p:nvSpPr>
            <p:spPr>
              <a:xfrm>
                <a:off x="377810" y="114300"/>
                <a:ext cx="244708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9" name="Google Shape;302;p22"/>
            <p:cNvSpPr txBox="1"/>
            <p:nvPr/>
          </p:nvSpPr>
          <p:spPr>
            <a:xfrm>
              <a:off x="1308090" y="-317"/>
              <a:ext cx="6510476" cy="80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rgbClr val="0B132B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Avoid repeating the same skills across multiple projects.</a:t>
              </a:r>
              <a:endParaRPr sz="1350">
                <a:solidFill>
                  <a:srgbClr val="0B132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80" y="5080"/>
            <a:ext cx="9138920" cy="51390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22"/>
          <p:cNvCxnSpPr/>
          <p:nvPr/>
        </p:nvCxnSpPr>
        <p:spPr>
          <a:xfrm>
            <a:off x="313055" y="118745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2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8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88;p22"/>
          <p:cNvSpPr txBox="1"/>
          <p:nvPr/>
        </p:nvSpPr>
        <p:spPr>
          <a:xfrm>
            <a:off x="381000" y="288925"/>
            <a:ext cx="8001000" cy="8813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RESUME STRATEGY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GB" sz="2400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Focus and Top-Value Entries</a:t>
            </a:r>
            <a:endParaRPr lang="en-US" altLang="en-GB" sz="2400" b="0" i="0" u="none" strike="noStrike">
              <a:solidFill>
                <a:srgbClr val="0B132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554" name="Google Shape;554;p30"/>
          <p:cNvGrpSpPr/>
          <p:nvPr/>
        </p:nvGrpSpPr>
        <p:grpSpPr>
          <a:xfrm>
            <a:off x="1224280" y="4352290"/>
            <a:ext cx="6933565" cy="606425"/>
            <a:chOff x="0" y="0"/>
            <a:chExt cx="8382000" cy="714375"/>
          </a:xfrm>
        </p:grpSpPr>
        <p:sp>
          <p:nvSpPr>
            <p:cNvPr id="8" name="Google Shape;556;p30"/>
            <p:cNvSpPr/>
            <p:nvPr/>
          </p:nvSpPr>
          <p:spPr>
            <a:xfrm>
              <a:off x="0" y="0"/>
              <a:ext cx="8382000" cy="666750"/>
            </a:xfrm>
            <a:prstGeom prst="roundRect">
              <a:avLst>
                <a:gd name="adj" fmla="val 16000"/>
              </a:avLst>
            </a:prstGeom>
            <a:solidFill>
              <a:srgbClr val="34D399"/>
            </a:solidFill>
            <a:ln w="28575" cap="flat" cmpd="sng">
              <a:solidFill>
                <a:srgbClr val="1118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281849" y="237876"/>
              <a:ext cx="7725353" cy="476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sz="12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P</a:t>
              </a:r>
              <a:r>
                <a:rPr lang="en-GB" sz="120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rioritizing academic and professional milestones over generic personal details.</a:t>
              </a:r>
              <a:endParaRPr sz="1200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US" sz="120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" name="Google Shape;304;p22"/>
          <p:cNvGrpSpPr/>
          <p:nvPr/>
        </p:nvGrpSpPr>
        <p:grpSpPr>
          <a:xfrm>
            <a:off x="1072515" y="1522730"/>
            <a:ext cx="3048000" cy="1944370"/>
            <a:chOff x="723900" y="857250"/>
            <a:chExt cx="3048000" cy="1944370"/>
          </a:xfrm>
        </p:grpSpPr>
        <p:sp>
          <p:nvSpPr>
            <p:cNvPr id="11" name="Google Shape;310;p22"/>
            <p:cNvSpPr txBox="1"/>
            <p:nvPr/>
          </p:nvSpPr>
          <p:spPr>
            <a:xfrm>
              <a:off x="723900" y="8572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CGPA &amp; Coursework</a:t>
              </a:r>
              <a:endParaRPr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Prominently display your CGPA/GPA, core courses, and academic achievements.</a:t>
              </a:r>
              <a:endParaRPr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" name="Google Shape;313;p22"/>
            <p:cNvSpPr txBox="1"/>
            <p:nvPr/>
          </p:nvSpPr>
          <p:spPr>
            <a:xfrm>
              <a:off x="723900" y="15303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Competitions &amp; Hackathons</a:t>
              </a:r>
              <a:endParaRPr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Showcase coding competitions and hackathon</a:t>
              </a:r>
              <a:r>
                <a:rPr lang="en-US" altLang="en-GB" sz="975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s, and paper presentation</a:t>
              </a:r>
              <a:r>
                <a:rPr lang="en-GB" sz="975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.</a:t>
              </a:r>
              <a:endParaRPr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" name="Google Shape;316;p22"/>
            <p:cNvSpPr txBox="1"/>
            <p:nvPr/>
          </p:nvSpPr>
          <p:spPr>
            <a:xfrm>
              <a:off x="723900" y="223012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Leadership &amp; Open Source</a:t>
              </a:r>
              <a:endParaRPr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Highlight open-source contributions or activities that demonstrate active technical passion.</a:t>
              </a:r>
              <a:endParaRPr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19" name="Google Shape;304;p22"/>
          <p:cNvGrpSpPr/>
          <p:nvPr/>
        </p:nvGrpSpPr>
        <p:grpSpPr>
          <a:xfrm>
            <a:off x="5155565" y="1549400"/>
            <a:ext cx="3048000" cy="1271270"/>
            <a:chOff x="1262828" y="857250"/>
            <a:chExt cx="2509072" cy="1271270"/>
          </a:xfrm>
        </p:grpSpPr>
        <p:sp>
          <p:nvSpPr>
            <p:cNvPr id="22" name="Google Shape;310;p22"/>
            <p:cNvSpPr txBox="1"/>
            <p:nvPr/>
          </p:nvSpPr>
          <p:spPr>
            <a:xfrm>
              <a:off x="1262828" y="857250"/>
              <a:ext cx="2509072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Minimize </a:t>
              </a:r>
              <a:r>
                <a:rPr lang="en-US" alt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Personal Info</a:t>
              </a:r>
              <a:endParaRPr lang="en-GB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75" b="0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Minimize Personal Info like Place etc, Keep only those required for contact.</a:t>
              </a:r>
              <a:endParaRPr lang="en-US"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" name="Google Shape;313;p22"/>
            <p:cNvSpPr txBox="1"/>
            <p:nvPr/>
          </p:nvSpPr>
          <p:spPr>
            <a:xfrm>
              <a:off x="1263351" y="1557020"/>
              <a:ext cx="2508549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827"/>
                  </a:solidFill>
                  <a:latin typeface="DM Sans"/>
                  <a:ea typeface="DM Sans"/>
                  <a:cs typeface="DM Sans"/>
                  <a:sym typeface="DM Sans"/>
                </a:rPr>
                <a:t>Remove Obsolete Data</a:t>
              </a:r>
              <a:endParaRPr lang="en-GB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Font typeface="Wingdings" panose="05000000000000000000" charset="0"/>
                <a:buNone/>
              </a:pPr>
              <a:r>
                <a:rPr lang="en-GB" sz="975">
                  <a:solidFill>
                    <a:srgbClr val="4B5563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Exclude high school grades unless requested.</a:t>
              </a:r>
              <a:endParaRPr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35635" y="1556385"/>
            <a:ext cx="303530" cy="264160"/>
            <a:chOff x="481" y="2988"/>
            <a:chExt cx="478" cy="416"/>
          </a:xfrm>
        </p:grpSpPr>
        <p:sp>
          <p:nvSpPr>
            <p:cNvPr id="29" name="Google Shape;293;p22"/>
            <p:cNvSpPr/>
            <p:nvPr/>
          </p:nvSpPr>
          <p:spPr>
            <a:xfrm>
              <a:off x="481" y="2988"/>
              <a:ext cx="479" cy="4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294;p22"/>
            <p:cNvSpPr/>
            <p:nvPr/>
          </p:nvSpPr>
          <p:spPr>
            <a:xfrm>
              <a:off x="621" y="3108"/>
              <a:ext cx="195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38810" y="2194560"/>
            <a:ext cx="303530" cy="264160"/>
            <a:chOff x="481" y="2988"/>
            <a:chExt cx="478" cy="416"/>
          </a:xfrm>
        </p:grpSpPr>
        <p:sp>
          <p:nvSpPr>
            <p:cNvPr id="33" name="Google Shape;293;p22"/>
            <p:cNvSpPr/>
            <p:nvPr/>
          </p:nvSpPr>
          <p:spPr>
            <a:xfrm>
              <a:off x="481" y="2988"/>
              <a:ext cx="479" cy="4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294;p22"/>
            <p:cNvSpPr/>
            <p:nvPr/>
          </p:nvSpPr>
          <p:spPr>
            <a:xfrm>
              <a:off x="621" y="3108"/>
              <a:ext cx="195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35635" y="2882265"/>
            <a:ext cx="303530" cy="264160"/>
            <a:chOff x="481" y="2988"/>
            <a:chExt cx="478" cy="416"/>
          </a:xfrm>
        </p:grpSpPr>
        <p:sp>
          <p:nvSpPr>
            <p:cNvPr id="36" name="Google Shape;293;p22"/>
            <p:cNvSpPr/>
            <p:nvPr/>
          </p:nvSpPr>
          <p:spPr>
            <a:xfrm>
              <a:off x="481" y="2988"/>
              <a:ext cx="479" cy="4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294;p22"/>
            <p:cNvSpPr/>
            <p:nvPr/>
          </p:nvSpPr>
          <p:spPr>
            <a:xfrm>
              <a:off x="621" y="3108"/>
              <a:ext cx="195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728210" y="1567815"/>
            <a:ext cx="303530" cy="264160"/>
            <a:chOff x="8891" y="5135"/>
            <a:chExt cx="478" cy="416"/>
          </a:xfrm>
        </p:grpSpPr>
        <p:sp>
          <p:nvSpPr>
            <p:cNvPr id="38" name="Google Shape;293;p22"/>
            <p:cNvSpPr/>
            <p:nvPr/>
          </p:nvSpPr>
          <p:spPr>
            <a:xfrm>
              <a:off x="8891" y="5135"/>
              <a:ext cx="479" cy="4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9058" y="5276"/>
              <a:ext cx="120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chemeClr val="bg1"/>
            </a:solidFill>
            <a:ln w="285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728845" y="2236470"/>
            <a:ext cx="303530" cy="264160"/>
            <a:chOff x="8891" y="5135"/>
            <a:chExt cx="478" cy="416"/>
          </a:xfrm>
        </p:grpSpPr>
        <p:sp>
          <p:nvSpPr>
            <p:cNvPr id="49" name="Google Shape;293;p22"/>
            <p:cNvSpPr/>
            <p:nvPr/>
          </p:nvSpPr>
          <p:spPr>
            <a:xfrm>
              <a:off x="8891" y="5135"/>
              <a:ext cx="479" cy="4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612;p32"/>
            <p:cNvSpPr/>
            <p:nvPr/>
          </p:nvSpPr>
          <p:spPr>
            <a:xfrm>
              <a:off x="9058" y="5276"/>
              <a:ext cx="120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chemeClr val="bg1"/>
            </a:solidFill>
            <a:ln w="285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1" name="Google Shape;310;p22"/>
          <p:cNvSpPr txBox="1"/>
          <p:nvPr/>
        </p:nvSpPr>
        <p:spPr>
          <a:xfrm>
            <a:off x="5155565" y="2856230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Minimize Hobbies</a:t>
            </a:r>
            <a:endParaRPr lang="en-GB" sz="1050" b="1">
              <a:solidFill>
                <a:srgbClr val="11182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975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Omit generic hobbies. Only keep those showing leadership/tech passion</a:t>
            </a:r>
            <a:endParaRPr sz="975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75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3" name="Google Shape;293;p22"/>
          <p:cNvSpPr/>
          <p:nvPr/>
        </p:nvSpPr>
        <p:spPr>
          <a:xfrm>
            <a:off x="4728210" y="2856230"/>
            <a:ext cx="304165" cy="2647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612;p32"/>
          <p:cNvSpPr/>
          <p:nvPr/>
        </p:nvSpPr>
        <p:spPr>
          <a:xfrm>
            <a:off x="4834255" y="2945765"/>
            <a:ext cx="76200" cy="9779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120000"/>
                </a:lnTo>
                <a:moveTo>
                  <a:pt x="120000" y="0"/>
                </a:moveTo>
                <a:lnTo>
                  <a:pt x="0" y="120000"/>
                </a:lnTo>
              </a:path>
            </a:pathLst>
          </a:custGeom>
          <a:solidFill>
            <a:schemeClr val="bg1"/>
          </a:solidFill>
          <a:ln w="28575" cap="rnd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5" name="Group 54"/>
          <p:cNvGrpSpPr/>
          <p:nvPr/>
        </p:nvGrpSpPr>
        <p:grpSpPr>
          <a:xfrm>
            <a:off x="635635" y="3564255"/>
            <a:ext cx="303530" cy="264160"/>
            <a:chOff x="481" y="2988"/>
            <a:chExt cx="478" cy="416"/>
          </a:xfrm>
        </p:grpSpPr>
        <p:sp>
          <p:nvSpPr>
            <p:cNvPr id="56" name="Google Shape;293;p22"/>
            <p:cNvSpPr/>
            <p:nvPr/>
          </p:nvSpPr>
          <p:spPr>
            <a:xfrm>
              <a:off x="481" y="2988"/>
              <a:ext cx="479" cy="4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94;p22"/>
            <p:cNvSpPr/>
            <p:nvPr/>
          </p:nvSpPr>
          <p:spPr>
            <a:xfrm>
              <a:off x="621" y="3108"/>
              <a:ext cx="195" cy="15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Google Shape;316;p22"/>
          <p:cNvSpPr txBox="1"/>
          <p:nvPr/>
        </p:nvSpPr>
        <p:spPr>
          <a:xfrm>
            <a:off x="1072515" y="3583940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GitHub URL</a:t>
            </a:r>
            <a:endParaRPr sz="1050" b="1">
              <a:solidFill>
                <a:srgbClr val="11182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en-GB"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Project source Code or any other code you developed of your interest </a:t>
            </a:r>
            <a:endParaRPr lang="en-US" altLang="en-GB" sz="975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9" name="Google Shape;310;p22"/>
          <p:cNvSpPr txBox="1"/>
          <p:nvPr/>
        </p:nvSpPr>
        <p:spPr>
          <a:xfrm>
            <a:off x="5158105" y="3489960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altLang="en-GB" sz="1050" b="1">
                <a:solidFill>
                  <a:srgbClr val="111827"/>
                </a:solidFill>
                <a:latin typeface="DM Sans"/>
                <a:ea typeface="DM Sans"/>
                <a:cs typeface="DM Sans"/>
                <a:sym typeface="DM Sans"/>
              </a:rPr>
              <a:t>Do NOT Repeat Yourself</a:t>
            </a:r>
            <a:endParaRPr lang="en-GB" sz="1050" b="1">
              <a:solidFill>
                <a:srgbClr val="11182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4B556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Avoid repeating similar information across projects</a:t>
            </a:r>
            <a:endParaRPr sz="975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975" b="0">
              <a:solidFill>
                <a:srgbClr val="4B556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0" name="Google Shape;293;p22"/>
          <p:cNvSpPr/>
          <p:nvPr/>
        </p:nvSpPr>
        <p:spPr>
          <a:xfrm>
            <a:off x="4730750" y="3489960"/>
            <a:ext cx="304165" cy="2647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12;p32"/>
          <p:cNvSpPr/>
          <p:nvPr/>
        </p:nvSpPr>
        <p:spPr>
          <a:xfrm>
            <a:off x="4843780" y="3571240"/>
            <a:ext cx="76200" cy="9779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120000"/>
                </a:lnTo>
                <a:moveTo>
                  <a:pt x="120000" y="0"/>
                </a:moveTo>
                <a:lnTo>
                  <a:pt x="0" y="120000"/>
                </a:lnTo>
              </a:path>
            </a:pathLst>
          </a:custGeom>
          <a:solidFill>
            <a:schemeClr val="bg1"/>
          </a:solidFill>
          <a:ln w="28575" cap="rnd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4"/>
          <p:cNvGrpSpPr/>
          <p:nvPr/>
        </p:nvGrpSpPr>
        <p:grpSpPr>
          <a:xfrm>
            <a:off x="-571500" y="0"/>
            <a:ext cx="9810750" cy="5905500"/>
            <a:chOff x="-571500" y="0"/>
            <a:chExt cx="9810750" cy="5905500"/>
          </a:xfrm>
        </p:grpSpPr>
        <p:sp>
          <p:nvSpPr>
            <p:cNvPr id="349" name="Google Shape;349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351" name="Google Shape;351;p2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4"/>
            <p:cNvSpPr/>
            <p:nvPr/>
          </p:nvSpPr>
          <p:spPr>
            <a:xfrm>
              <a:off x="6953250" y="0"/>
              <a:ext cx="2286000" cy="2286000"/>
            </a:xfrm>
            <a:prstGeom prst="ellipse">
              <a:avLst/>
            </a:prstGeom>
            <a:solidFill>
              <a:srgbClr val="FFC300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-571500" y="2857500"/>
              <a:ext cx="3048000" cy="3048000"/>
            </a:xfrm>
            <a:prstGeom prst="ellipse">
              <a:avLst/>
            </a:prstGeom>
            <a:solidFill>
              <a:srgbClr val="FF5733">
                <a:alpha val="7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55" name="Google Shape;355;p24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RESUME STRATEGY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700">
                <a:sym typeface="+mn-ea"/>
              </a:rPr>
              <a:t>Common Resume Mistakes</a:t>
            </a:r>
            <a:endParaRPr sz="180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11785" y="1333500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1785" y="1638300"/>
            <a:ext cx="8520430" cy="2420620"/>
          </a:xfrm>
        </p:spPr>
        <p:txBody>
          <a:bodyPr>
            <a:normAutofit fontScale="50000"/>
          </a:bodyPr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/>
              <a:t>❌ Too many personal details</a:t>
            </a:r>
            <a:endParaRPr lang="en-US" altLang="en-US" sz="3200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/>
              <a:t>❌ Complex design</a:t>
            </a:r>
            <a:endParaRPr lang="en-US" altLang="en-US" sz="3200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/>
              <a:t>❌ Too many acronyms</a:t>
            </a:r>
            <a:endParaRPr lang="en-US" altLang="en-US" sz="3200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/>
              <a:t>❌ Fake technologies</a:t>
            </a:r>
            <a:endParaRPr lang="en-US" altLang="en-US" sz="3200"/>
          </a:p>
          <a:p>
            <a:pPr marL="114300" indent="0" eaLnBrk="1" fontAlgn="auto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/>
              <a:t>❌ Mentioning tools without knowledge</a:t>
            </a:r>
            <a:endParaRPr lang="en-US" alt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25"/>
          <p:cNvGrpSpPr/>
          <p:nvPr/>
        </p:nvGrpSpPr>
        <p:grpSpPr>
          <a:xfrm>
            <a:off x="0" y="0"/>
            <a:ext cx="9144150" cy="5143650"/>
            <a:chOff x="0" y="0"/>
            <a:chExt cx="9144150" cy="5143650"/>
          </a:xfrm>
        </p:grpSpPr>
        <p:sp>
          <p:nvSpPr>
            <p:cNvPr id="380" name="Google Shape;380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381" name="Google Shape;381;p2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2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2D68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8667750" y="4667250"/>
              <a:ext cx="4764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C3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4" name="Google Shape;384;p25"/>
          <p:cNvSpPr txBox="1"/>
          <p:nvPr/>
        </p:nvSpPr>
        <p:spPr>
          <a:xfrm>
            <a:off x="571500" y="381000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0" b="1" i="0" u="none" strike="noStrike">
                <a:solidFill>
                  <a:srgbClr val="FF5733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PROACTIVE INTERVIEW STRATEGY</a:t>
            </a:r>
            <a:endParaRPr sz="153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295" b="0" i="0" u="none" strike="noStrike">
                <a:solidFill>
                  <a:srgbClr val="0B132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Steering the Conversation: Drive Your Own Interview</a:t>
            </a:r>
            <a:endParaRPr sz="1530" b="1" i="0" u="none" strike="noStrike">
              <a:solidFill>
                <a:srgbClr val="FF5733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grpSp>
        <p:nvGrpSpPr>
          <p:cNvPr id="385" name="Google Shape;385;p25"/>
          <p:cNvGrpSpPr/>
          <p:nvPr/>
        </p:nvGrpSpPr>
        <p:grpSpPr>
          <a:xfrm>
            <a:off x="319088" y="1347788"/>
            <a:ext cx="8505900" cy="3457500"/>
            <a:chOff x="-252412" y="-176212"/>
            <a:chExt cx="8505900" cy="3457500"/>
          </a:xfrm>
        </p:grpSpPr>
        <p:grpSp>
          <p:nvGrpSpPr>
            <p:cNvPr id="386" name="Google Shape;386;p25"/>
            <p:cNvGrpSpPr/>
            <p:nvPr/>
          </p:nvGrpSpPr>
          <p:grpSpPr>
            <a:xfrm>
              <a:off x="-252412" y="-176212"/>
              <a:ext cx="8505900" cy="1362000"/>
              <a:chOff x="-252412" y="-176212"/>
              <a:chExt cx="8505900" cy="1362000"/>
            </a:xfrm>
          </p:grpSpPr>
          <p:pic>
            <p:nvPicPr>
              <p:cNvPr id="387" name="Google Shape;387;p2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52412" y="-176212"/>
                <a:ext cx="8505900" cy="13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8" name="Google Shape;388;p25"/>
              <p:cNvSpPr/>
              <p:nvPr/>
            </p:nvSpPr>
            <p:spPr>
              <a:xfrm>
                <a:off x="0" y="0"/>
                <a:ext cx="114300" cy="857400"/>
              </a:xfrm>
              <a:prstGeom prst="roundRect">
                <a:avLst>
                  <a:gd name="adj" fmla="val 50000"/>
                </a:avLst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89" name="Google Shape;389;p25"/>
              <p:cNvGrpSpPr/>
              <p:nvPr/>
            </p:nvGrpSpPr>
            <p:grpSpPr>
              <a:xfrm>
                <a:off x="304800" y="276225"/>
                <a:ext cx="304800" cy="304800"/>
                <a:chOff x="0" y="0"/>
                <a:chExt cx="304800" cy="304800"/>
              </a:xfrm>
            </p:grpSpPr>
            <p:sp>
              <p:nvSpPr>
                <p:cNvPr id="390" name="Google Shape;390;p25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91" name="Google Shape;391;p25"/>
                <p:cNvSpPr/>
                <p:nvPr/>
              </p:nvSpPr>
              <p:spPr>
                <a:xfrm>
                  <a:off x="95250" y="114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92" name="Google Shape;392;p25"/>
              <p:cNvSpPr txBox="1"/>
              <p:nvPr/>
            </p:nvSpPr>
            <p:spPr>
              <a:xfrm>
                <a:off x="800100" y="0"/>
                <a:ext cx="691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Anticipate questions</a:t>
                </a:r>
                <a:r>
                  <a:rPr lang="en-GB" sz="1425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based on your resume.</a:t>
                </a:r>
                <a:endParaRPr sz="1425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393" name="Google Shape;393;p25"/>
            <p:cNvGrpSpPr/>
            <p:nvPr/>
          </p:nvGrpSpPr>
          <p:grpSpPr>
            <a:xfrm>
              <a:off x="-252412" y="871538"/>
              <a:ext cx="8505900" cy="1362000"/>
              <a:chOff x="-252412" y="-176212"/>
              <a:chExt cx="8505900" cy="1362000"/>
            </a:xfrm>
          </p:grpSpPr>
          <p:pic>
            <p:nvPicPr>
              <p:cNvPr id="394" name="Google Shape;394;p2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52412" y="-176212"/>
                <a:ext cx="8505900" cy="13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5" name="Google Shape;395;p25"/>
              <p:cNvSpPr/>
              <p:nvPr/>
            </p:nvSpPr>
            <p:spPr>
              <a:xfrm>
                <a:off x="0" y="0"/>
                <a:ext cx="114300" cy="857400"/>
              </a:xfrm>
              <a:prstGeom prst="roundRect">
                <a:avLst>
                  <a:gd name="adj" fmla="val 50000"/>
                </a:avLst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96" name="Google Shape;396;p25"/>
              <p:cNvGrpSpPr/>
              <p:nvPr/>
            </p:nvGrpSpPr>
            <p:grpSpPr>
              <a:xfrm>
                <a:off x="304800" y="276225"/>
                <a:ext cx="304800" cy="304800"/>
                <a:chOff x="0" y="0"/>
                <a:chExt cx="304800" cy="304800"/>
              </a:xfrm>
            </p:grpSpPr>
            <p:sp>
              <p:nvSpPr>
                <p:cNvPr id="397" name="Google Shape;397;p25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98" name="Google Shape;398;p25"/>
                <p:cNvSpPr/>
                <p:nvPr/>
              </p:nvSpPr>
              <p:spPr>
                <a:xfrm>
                  <a:off x="95250" y="114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399" name="Google Shape;399;p25"/>
              <p:cNvSpPr txBox="1"/>
              <p:nvPr/>
            </p:nvSpPr>
            <p:spPr>
              <a:xfrm>
                <a:off x="800100" y="0"/>
                <a:ext cx="691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Pivot answers</a:t>
                </a:r>
                <a:r>
                  <a:rPr lang="en-GB" sz="1425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to highlight your strongest skills.</a:t>
                </a:r>
                <a:endParaRPr sz="1425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400" name="Google Shape;400;p25"/>
            <p:cNvGrpSpPr/>
            <p:nvPr/>
          </p:nvGrpSpPr>
          <p:grpSpPr>
            <a:xfrm>
              <a:off x="-252412" y="1919288"/>
              <a:ext cx="8505900" cy="1362000"/>
              <a:chOff x="-252412" y="-176212"/>
              <a:chExt cx="8505900" cy="1362000"/>
            </a:xfrm>
          </p:grpSpPr>
          <p:pic>
            <p:nvPicPr>
              <p:cNvPr id="401" name="Google Shape;401;p25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-252412" y="-176212"/>
                <a:ext cx="8505900" cy="13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" name="Google Shape;402;p25"/>
              <p:cNvSpPr/>
              <p:nvPr/>
            </p:nvSpPr>
            <p:spPr>
              <a:xfrm>
                <a:off x="0" y="0"/>
                <a:ext cx="114300" cy="857400"/>
              </a:xfrm>
              <a:prstGeom prst="roundRect">
                <a:avLst>
                  <a:gd name="adj" fmla="val 50000"/>
                </a:avLst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403" name="Google Shape;403;p25"/>
              <p:cNvGrpSpPr/>
              <p:nvPr/>
            </p:nvGrpSpPr>
            <p:grpSpPr>
              <a:xfrm>
                <a:off x="304800" y="276225"/>
                <a:ext cx="304800" cy="304800"/>
                <a:chOff x="0" y="0"/>
                <a:chExt cx="304800" cy="304800"/>
              </a:xfrm>
            </p:grpSpPr>
            <p:sp>
              <p:nvSpPr>
                <p:cNvPr id="404" name="Google Shape;404;p25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405" name="Google Shape;405;p25"/>
                <p:cNvSpPr/>
                <p:nvPr/>
              </p:nvSpPr>
              <p:spPr>
                <a:xfrm>
                  <a:off x="95250" y="114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285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406" name="Google Shape;406;p25"/>
              <p:cNvSpPr txBox="1"/>
              <p:nvPr/>
            </p:nvSpPr>
            <p:spPr>
              <a:xfrm>
                <a:off x="800100" y="0"/>
                <a:ext cx="691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75" b="1">
                    <a:solidFill>
                      <a:srgbClr val="0B132B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Guide the interviewer</a:t>
                </a:r>
                <a:r>
                  <a:rPr lang="en-GB" sz="1425" b="0">
                    <a:solidFill>
                      <a:srgbClr val="4A5568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 toward your areas of expertise.</a:t>
                </a:r>
                <a:endParaRPr sz="1425" b="0">
                  <a:solidFill>
                    <a:srgbClr val="4A5568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</p:grpSp>
      <p:cxnSp>
        <p:nvCxnSpPr>
          <p:cNvPr id="93" name="Google Shape;93;p15"/>
          <p:cNvCxnSpPr/>
          <p:nvPr/>
        </p:nvCxnSpPr>
        <p:spPr>
          <a:xfrm>
            <a:off x="285750" y="1209675"/>
            <a:ext cx="8382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11182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35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699" name="Google Shape;699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13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700" name="Google Shape;700;p3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35"/>
            <p:cNvSpPr/>
            <p:nvPr/>
          </p:nvSpPr>
          <p:spPr>
            <a:xfrm>
              <a:off x="723900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cubicBezTo>
                    <a:pt x="120000" y="53726"/>
                    <a:pt x="66274" y="0"/>
                    <a:pt x="0" y="0"/>
                  </a:cubicBezTo>
                  <a:close/>
                </a:path>
              </a:pathLst>
            </a:custGeom>
            <a:solidFill>
              <a:srgbClr val="FFC300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35"/>
            <p:cNvSpPr/>
            <p:nvPr/>
          </p:nvSpPr>
          <p:spPr>
            <a:xfrm>
              <a:off x="0" y="2762250"/>
              <a:ext cx="2381400" cy="2381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68FE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03" name="Google Shape;703;p35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Final Takeaways, Q&amp;A, and Next Steps</a:t>
            </a:r>
            <a:endParaRPr sz="2700" b="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704" name="Google Shape;704;p35"/>
          <p:cNvGrpSpPr/>
          <p:nvPr/>
        </p:nvGrpSpPr>
        <p:grpSpPr>
          <a:xfrm>
            <a:off x="752475" y="1228725"/>
            <a:ext cx="8015363" cy="3729113"/>
            <a:chOff x="752475" y="1228725"/>
            <a:chExt cx="8015363" cy="3729113"/>
          </a:xfrm>
        </p:grpSpPr>
        <p:pic>
          <p:nvPicPr>
            <p:cNvPr id="705" name="Google Shape;705;p3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475" y="1228725"/>
              <a:ext cx="7639200" cy="335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6" name="Google Shape;706;p35"/>
            <p:cNvSpPr/>
            <p:nvPr/>
          </p:nvSpPr>
          <p:spPr>
            <a:xfrm>
              <a:off x="1047750" y="1428750"/>
              <a:ext cx="733590" cy="628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0000"/>
                  </a:moveTo>
                  <a:quadBezTo>
                    <a:pt x="17143" y="0"/>
                    <a:pt x="51429" y="0"/>
                  </a:quadBezTo>
                  <a:lnTo>
                    <a:pt x="51429" y="40000"/>
                  </a:lnTo>
                  <a:quadBezTo>
                    <a:pt x="34286" y="40000"/>
                    <a:pt x="34286" y="60000"/>
                  </a:quadBezTo>
                  <a:lnTo>
                    <a:pt x="51429" y="60000"/>
                  </a:lnTo>
                  <a:lnTo>
                    <a:pt x="51429" y="120000"/>
                  </a:lnTo>
                  <a:lnTo>
                    <a:pt x="0" y="120000"/>
                  </a:lnTo>
                  <a:close/>
                  <a:moveTo>
                    <a:pt x="68571" y="40000"/>
                  </a:moveTo>
                  <a:quadBezTo>
                    <a:pt x="85714" y="0"/>
                    <a:pt x="120000" y="0"/>
                  </a:quadBezTo>
                  <a:lnTo>
                    <a:pt x="120000" y="40000"/>
                  </a:lnTo>
                  <a:quadBezTo>
                    <a:pt x="102857" y="40000"/>
                    <a:pt x="102857" y="60000"/>
                  </a:quadBezTo>
                  <a:lnTo>
                    <a:pt x="120000" y="60000"/>
                  </a:lnTo>
                  <a:lnTo>
                    <a:pt x="120000" y="120000"/>
                  </a:lnTo>
                  <a:lnTo>
                    <a:pt x="68571" y="120000"/>
                  </a:lnTo>
                  <a:close/>
                </a:path>
              </a:pathLst>
            </a:custGeom>
            <a:solidFill>
              <a:srgbClr val="FFC300">
                <a:alpha val="2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35"/>
            <p:cNvSpPr txBox="1"/>
            <p:nvPr/>
          </p:nvSpPr>
          <p:spPr>
            <a:xfrm>
              <a:off x="1524000" y="1524000"/>
              <a:ext cx="609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50" b="0" i="1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"Your resume is your roadmap; own it."</a:t>
              </a:r>
              <a:endParaRPr sz="1950" b="0" i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1714500" y="2476500"/>
              <a:ext cx="5715000" cy="28500"/>
            </a:xfrm>
            <a:prstGeom prst="roundRect">
              <a:avLst>
                <a:gd name="adj" fmla="val 50000"/>
              </a:avLst>
            </a:prstGeom>
            <a:solidFill>
              <a:srgbClr val="FF57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09" name="Google Shape;709;p35"/>
            <p:cNvGrpSpPr/>
            <p:nvPr/>
          </p:nvGrpSpPr>
          <p:grpSpPr>
            <a:xfrm>
              <a:off x="1047750" y="2809875"/>
              <a:ext cx="2190750" cy="1428900"/>
              <a:chOff x="0" y="0"/>
              <a:chExt cx="2190750" cy="1428900"/>
            </a:xfrm>
          </p:grpSpPr>
          <p:sp>
            <p:nvSpPr>
              <p:cNvPr id="710" name="Google Shape;710;p35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2D68F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1" name="Google Shape;711;p35"/>
              <p:cNvSpPr/>
              <p:nvPr/>
            </p:nvSpPr>
            <p:spPr>
              <a:xfrm>
                <a:off x="123825" y="142875"/>
                <a:ext cx="1335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2857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2" name="Google Shape;712;p35"/>
              <p:cNvSpPr txBox="1"/>
              <p:nvPr/>
            </p:nvSpPr>
            <p:spPr>
              <a:xfrm>
                <a:off x="476250" y="0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FFC300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Takeaway 1</a:t>
                </a:r>
                <a:endParaRPr sz="1050" b="1">
                  <a:solidFill>
                    <a:srgbClr val="FFC300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GB" sz="1125" b="0">
                    <a:solidFill>
                      <a:srgbClr val="F8F9FA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Preparation builds confidence.</a:t>
                </a:r>
                <a:endParaRPr sz="1125" b="0">
                  <a:solidFill>
                    <a:srgbClr val="F8F9FA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713" name="Google Shape;713;p35"/>
            <p:cNvGrpSpPr/>
            <p:nvPr/>
          </p:nvGrpSpPr>
          <p:grpSpPr>
            <a:xfrm>
              <a:off x="3476625" y="2809875"/>
              <a:ext cx="2190750" cy="1428900"/>
              <a:chOff x="0" y="0"/>
              <a:chExt cx="2190750" cy="1428900"/>
            </a:xfrm>
          </p:grpSpPr>
          <p:sp>
            <p:nvSpPr>
              <p:cNvPr id="714" name="Google Shape;714;p35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573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5" name="Google Shape;715;p35"/>
              <p:cNvSpPr/>
              <p:nvPr/>
            </p:nvSpPr>
            <p:spPr>
              <a:xfrm>
                <a:off x="123825" y="142875"/>
                <a:ext cx="1335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2857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6" name="Google Shape;716;p35"/>
              <p:cNvSpPr txBox="1"/>
              <p:nvPr/>
            </p:nvSpPr>
            <p:spPr>
              <a:xfrm>
                <a:off x="476250" y="0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FFC300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Takeaway 2</a:t>
                </a:r>
                <a:endParaRPr sz="1050" b="1">
                  <a:solidFill>
                    <a:srgbClr val="FFC300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GB" sz="1125" b="0">
                    <a:solidFill>
                      <a:srgbClr val="F8F9FA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Practice consistently.</a:t>
                </a:r>
                <a:endParaRPr sz="1125" b="0">
                  <a:solidFill>
                    <a:srgbClr val="F8F9FA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grpSp>
          <p:nvGrpSpPr>
            <p:cNvPr id="717" name="Google Shape;717;p35"/>
            <p:cNvGrpSpPr/>
            <p:nvPr/>
          </p:nvGrpSpPr>
          <p:grpSpPr>
            <a:xfrm>
              <a:off x="5905500" y="2809875"/>
              <a:ext cx="2190750" cy="1428900"/>
              <a:chOff x="0" y="0"/>
              <a:chExt cx="2190750" cy="1428900"/>
            </a:xfrm>
          </p:grpSpPr>
          <p:sp>
            <p:nvSpPr>
              <p:cNvPr id="718" name="Google Shape;718;p35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C3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9" name="Google Shape;719;p35"/>
              <p:cNvSpPr txBox="1"/>
              <p:nvPr/>
            </p:nvSpPr>
            <p:spPr>
              <a:xfrm>
                <a:off x="95250" y="47625"/>
                <a:ext cx="19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500" b="0">
                    <a:solidFill>
                      <a:srgbClr val="0B132B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?</a:t>
                </a:r>
                <a:endParaRPr sz="1500" b="0">
                  <a:solidFill>
                    <a:srgbClr val="0B132B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  <p:sp>
            <p:nvSpPr>
              <p:cNvPr id="720" name="Google Shape;720;p35"/>
              <p:cNvSpPr txBox="1"/>
              <p:nvPr/>
            </p:nvSpPr>
            <p:spPr>
              <a:xfrm>
                <a:off x="476250" y="0"/>
                <a:ext cx="171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FFC300"/>
                    </a:solidFill>
                    <a:latin typeface="Poppins" panose="00000800000000000000"/>
                    <a:ea typeface="Poppins" panose="00000800000000000000"/>
                    <a:cs typeface="Poppins" panose="00000800000000000000"/>
                    <a:sym typeface="Poppins" panose="00000800000000000000"/>
                  </a:rPr>
                  <a:t>Next Step</a:t>
                </a:r>
                <a:endParaRPr sz="1050" b="1">
                  <a:solidFill>
                    <a:srgbClr val="FFC300"/>
                  </a:solidFill>
                  <a:latin typeface="Poppins" panose="00000800000000000000"/>
                  <a:ea typeface="Poppins" panose="00000800000000000000"/>
                  <a:cs typeface="Poppins" panose="00000800000000000000"/>
                  <a:sym typeface="Poppins" panose="00000800000000000000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GB" sz="1125" b="0">
                    <a:solidFill>
                      <a:srgbClr val="F8F9FA"/>
                    </a:solidFill>
                    <a:latin typeface="Inter" panose="02000503000000020004"/>
                    <a:ea typeface="Inter" panose="02000503000000020004"/>
                    <a:cs typeface="Inter" panose="02000503000000020004"/>
                    <a:sym typeface="Inter" panose="02000503000000020004"/>
                  </a:rPr>
                  <a:t>Open floor for Questions.</a:t>
                </a:r>
                <a:endParaRPr sz="1125" b="0">
                  <a:solidFill>
                    <a:srgbClr val="F8F9FA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endParaRPr>
              </a:p>
            </p:txBody>
          </p:sp>
        </p:grpSp>
        <p:pic>
          <p:nvPicPr>
            <p:cNvPr id="721" name="Google Shape;721;p3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038975" y="3228975"/>
              <a:ext cx="1352700" cy="135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2" name="Google Shape;722;p3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6662738" y="2852738"/>
              <a:ext cx="2105100" cy="2105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8976</Words>
  <Application>WPS Sheets</Application>
  <PresentationFormat>On-screen Show (16:9)</PresentationFormat>
  <Paragraphs>460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0" baseType="lpstr">
      <vt:lpstr>Arial</vt:lpstr>
      <vt:lpstr>SimSun</vt:lpstr>
      <vt:lpstr>Wingdings</vt:lpstr>
      <vt:lpstr>Arial</vt:lpstr>
      <vt:lpstr>Poppins ExtraBold</vt:lpstr>
      <vt:lpstr>Thonburi</vt:lpstr>
      <vt:lpstr>Poppins SemiBold</vt:lpstr>
      <vt:lpstr>Poppins</vt:lpstr>
      <vt:lpstr>Inter</vt:lpstr>
      <vt:lpstr>Outfit</vt:lpstr>
      <vt:lpstr>DM Sans</vt:lpstr>
      <vt:lpstr>DM Sans Medium</vt:lpstr>
      <vt:lpstr>Arial Bold</vt:lpstr>
      <vt:lpstr>Outfit</vt:lpstr>
      <vt:lpstr>Wingdings</vt:lpstr>
      <vt:lpstr>Microsoft YaHei</vt:lpstr>
      <vt:lpstr>汉仪旗黑</vt:lpstr>
      <vt:lpstr>Arial Unicode MS</vt:lpstr>
      <vt:lpstr>Inter SemiBold</vt:lpstr>
      <vt:lpstr>宋体-简</vt:lpstr>
      <vt:lpstr>SimSun</vt:lpstr>
      <vt:lpstr>Apple Color Emoji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vipar</cp:lastModifiedBy>
  <cp:revision>80</cp:revision>
  <dcterms:created xsi:type="dcterms:W3CDTF">2026-07-14T11:05:57Z</dcterms:created>
  <dcterms:modified xsi:type="dcterms:W3CDTF">2026-07-14T11:05:57Z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FF9D48A7EA6D578457BA4C6A6DBA8B1F_42</vt:lpwstr>
  </property>
</Properties>
</file>