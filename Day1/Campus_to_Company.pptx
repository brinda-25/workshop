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4"/>
  </p:notesMasterIdLst>
  <p:handoutMasterIdLst>
    <p:handoutMasterId r:id="rId35"/>
  </p:handoutMasterIdLst>
  <p:sldIdLst>
    <p:sldId id="256" r:id="rId2"/>
    <p:sldId id="257" r:id="rId3"/>
    <p:sldId id="279" r:id="rId4"/>
    <p:sldId id="280" r:id="rId5"/>
    <p:sldId id="291" r:id="rId6"/>
    <p:sldId id="278" r:id="rId7"/>
    <p:sldId id="259" r:id="rId8"/>
    <p:sldId id="260" r:id="rId9"/>
    <p:sldId id="282" r:id="rId10"/>
    <p:sldId id="283" r:id="rId11"/>
    <p:sldId id="297" r:id="rId12"/>
    <p:sldId id="298" r:id="rId13"/>
    <p:sldId id="261" r:id="rId14"/>
    <p:sldId id="286" r:id="rId15"/>
    <p:sldId id="284" r:id="rId16"/>
    <p:sldId id="296" r:id="rId17"/>
    <p:sldId id="262" r:id="rId18"/>
    <p:sldId id="288" r:id="rId19"/>
    <p:sldId id="289" r:id="rId20"/>
    <p:sldId id="290" r:id="rId21"/>
    <p:sldId id="287" r:id="rId22"/>
    <p:sldId id="263" r:id="rId23"/>
    <p:sldId id="292" r:id="rId24"/>
    <p:sldId id="293" r:id="rId25"/>
    <p:sldId id="300" r:id="rId26"/>
    <p:sldId id="299" r:id="rId27"/>
    <p:sldId id="302" r:id="rId28"/>
    <p:sldId id="264" r:id="rId29"/>
    <p:sldId id="295" r:id="rId30"/>
    <p:sldId id="266" r:id="rId31"/>
    <p:sldId id="267" r:id="rId32"/>
    <p:sldId id="277" r:id="rId33"/>
  </p:sldIdLst>
  <p:sldSz cx="9144000" cy="5143500" type="screen16x9"/>
  <p:notesSz cx="6858000" cy="9144000"/>
  <p:embeddedFontLst>
    <p:embeddedFont>
      <p:font typeface="Arial Bold" panose="020B0704020202020204" pitchFamily="34" charset="0"/>
      <p:bold r:id="rId36"/>
    </p:embeddedFont>
    <p:embeddedFont>
      <p:font typeface="DM Sans" pitchFamily="2" charset="0"/>
      <p:regular r:id="rId37"/>
      <p:bold r:id="rId38"/>
      <p:italic r:id="rId39"/>
      <p:boldItalic r:id="rId40"/>
    </p:embeddedFont>
    <p:embeddedFont>
      <p:font typeface="DM Sans Medium" pitchFamily="2" charset="0"/>
      <p:regular r:id="rId41"/>
      <p:italic r:id="rId42"/>
    </p:embeddedFont>
    <p:embeddedFont>
      <p:font typeface="Inter" panose="020B0604020202020204" charset="0"/>
      <p:regular r:id="rId43"/>
    </p:embeddedFont>
    <p:embeddedFont>
      <p:font typeface="Outfit" panose="020B0604020202020204" charset="0"/>
      <p:regular r:id="rId44"/>
    </p:embeddedFont>
    <p:embeddedFont>
      <p:font typeface="Poppins" panose="00000500000000000000" pitchFamily="2" charset="0"/>
      <p:regular r:id="rId45"/>
      <p:bold r:id="rId46"/>
      <p:italic r:id="rId47"/>
      <p:boldItalic r:id="rId48"/>
    </p:embeddedFont>
    <p:embeddedFont>
      <p:font typeface="Poppins ExtraBold" panose="00000900000000000000" pitchFamily="2" charset="0"/>
      <p:bold r:id="rId49"/>
      <p:boldItalic r:id="rId50"/>
    </p:embeddedFont>
    <p:embeddedFont>
      <p:font typeface="Poppins SemiBold" panose="00000700000000000000" pitchFamily="2" charset="0"/>
      <p:bold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936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11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75" d="100"/>
          <a:sy n="75" d="100"/>
        </p:scale>
        <p:origin x="392" y="128"/>
      </p:cViewPr>
      <p:guideLst>
        <p:guide orient="horz" pos="1620"/>
        <p:guide pos="293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50" Type="http://schemas.openxmlformats.org/officeDocument/2006/relationships/font" Target="fonts/font15.fntdata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9.fntdata"/><Relationship Id="rId52" Type="http://schemas.openxmlformats.org/officeDocument/2006/relationships/font" Target="fonts/font1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43" Type="http://schemas.openxmlformats.org/officeDocument/2006/relationships/font" Target="fonts/font8.fntdata"/><Relationship Id="rId48" Type="http://schemas.openxmlformats.org/officeDocument/2006/relationships/font" Target="fonts/font13.fntdata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1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font" Target="fonts/font6.fntdata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49" Type="http://schemas.openxmlformats.org/officeDocument/2006/relationships/font" Target="fonts/font14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064A-D61B-4B21-B757-51A9B82445B8}" type="datetimeFigureOut">
              <a:rPr lang="en-US" smtClean="0"/>
              <a:t>04-Sep-26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305E07-67EA-4042-A3F6-853A8AD8D2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2cca4355c_3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f2cca4355c_3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2cca4355c_3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f2cca4355c_3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f2cca4355c_29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f2cca4355c_29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f00237150d_3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f00237150d_3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2cca4355c_3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f2cca4355c_3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2cca4355c_3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f2cca4355c_3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2cca4355c_3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f2cca4355c_3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2cca4355c_3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f2cca4355c_3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2cca4355c_3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f2cca4355c_3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f2cca4355c_2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3f2cca4355c_2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2cca4355c_3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f2cca4355c_3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2cca4355c_3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f2cca4355c_3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2cca4355c_3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f2cca4355c_3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2cca4355c_3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f2cca4355c_3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f2cca4355c_29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f2cca4355c_29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2cca4355c_2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f2cca4355c_2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00237150d_3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f00237150d_3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>
          <a:extLst>
            <a:ext uri="{FF2B5EF4-FFF2-40B4-BE49-F238E27FC236}">
              <a16:creationId xmlns:a16="http://schemas.microsoft.com/office/drawing/2014/main" id="{BF3B07E6-6C9B-B8D8-76B7-AAAB6DE47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00237150d_34_0:notes">
            <a:extLst>
              <a:ext uri="{FF2B5EF4-FFF2-40B4-BE49-F238E27FC236}">
                <a16:creationId xmlns:a16="http://schemas.microsoft.com/office/drawing/2014/main" id="{04D494CC-56CF-4FAE-96E0-DD52574718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f00237150d_34_0:notes">
            <a:extLst>
              <a:ext uri="{FF2B5EF4-FFF2-40B4-BE49-F238E27FC236}">
                <a16:creationId xmlns:a16="http://schemas.microsoft.com/office/drawing/2014/main" id="{AC4A8365-5A39-047F-B40B-26E462CAC7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47041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>
          <a:extLst>
            <a:ext uri="{FF2B5EF4-FFF2-40B4-BE49-F238E27FC236}">
              <a16:creationId xmlns:a16="http://schemas.microsoft.com/office/drawing/2014/main" id="{6D61B382-970E-C0D3-5AD2-0883696CF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00237150d_34_0:notes">
            <a:extLst>
              <a:ext uri="{FF2B5EF4-FFF2-40B4-BE49-F238E27FC236}">
                <a16:creationId xmlns:a16="http://schemas.microsoft.com/office/drawing/2014/main" id="{3621DA55-32E7-8637-5E74-9ECC82157F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f00237150d_34_0:notes">
            <a:extLst>
              <a:ext uri="{FF2B5EF4-FFF2-40B4-BE49-F238E27FC236}">
                <a16:creationId xmlns:a16="http://schemas.microsoft.com/office/drawing/2014/main" id="{5D7A09F3-07E7-8D46-536E-FA4C2B9E0B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6624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>
          <a:extLst>
            <a:ext uri="{FF2B5EF4-FFF2-40B4-BE49-F238E27FC236}">
              <a16:creationId xmlns:a16="http://schemas.microsoft.com/office/drawing/2014/main" id="{CC12FCA9-77EB-EB97-CB7A-48241DD63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00237150d_34_0:notes">
            <a:extLst>
              <a:ext uri="{FF2B5EF4-FFF2-40B4-BE49-F238E27FC236}">
                <a16:creationId xmlns:a16="http://schemas.microsoft.com/office/drawing/2014/main" id="{755920E8-8575-9253-84E8-DC3F6C2047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f00237150d_34_0:notes">
            <a:extLst>
              <a:ext uri="{FF2B5EF4-FFF2-40B4-BE49-F238E27FC236}">
                <a16:creationId xmlns:a16="http://schemas.microsoft.com/office/drawing/2014/main" id="{8C56780F-CB48-41ED-231C-D5A14A2197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92220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2cca4355c_2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f2cca4355c_2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f00237150d_3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f00237150d_3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f2cca4355c_2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3f2cca4355c_2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f2cca4355c_2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3f2cca4355c_2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f2cca4355c_1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6" name="Google Shape;696;g3f2cca4355c_1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f2cca4355c_14_0)">
  <p:cSld name="Generated (g3f2cca4355c_14_0)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f00237150d_16_0)">
  <p:cSld name="Generated (g3f00237150d_16_0)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f0078361b1_13_0)">
  <p:cSld name="Generated (g3f0078361b1_13_0)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github.com/username" TargetMode="External"/><Relationship Id="rId4" Type="http://schemas.openxmlformats.org/officeDocument/2006/relationships/hyperlink" Target="https://linkedin.com/in/username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0" y="0"/>
            <a:ext cx="9144000" cy="5143650"/>
            <a:chOff x="0" y="0"/>
            <a:chExt cx="9144000" cy="5143650"/>
          </a:xfrm>
        </p:grpSpPr>
        <p:sp>
          <p:nvSpPr>
            <p:cNvPr id="56" name="Google Shape;56;p1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0B132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57" name="Google Shape;57;p14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4763" y="4763"/>
              <a:ext cx="8982000" cy="498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8" name="Google Shape;58;p14"/>
            <p:cNvSpPr/>
            <p:nvPr/>
          </p:nvSpPr>
          <p:spPr>
            <a:xfrm>
              <a:off x="7239000" y="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0"/>
                  </a:moveTo>
                  <a:lnTo>
                    <a:pt x="120000" y="120000"/>
                  </a:lnTo>
                  <a:cubicBezTo>
                    <a:pt x="120000" y="53726"/>
                    <a:pt x="66274" y="0"/>
                    <a:pt x="0" y="0"/>
                  </a:cubicBezTo>
                  <a:close/>
                </a:path>
              </a:pathLst>
            </a:custGeom>
            <a:solidFill>
              <a:srgbClr val="FFC300">
                <a:alpha val="8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4"/>
            <p:cNvSpPr/>
            <p:nvPr/>
          </p:nvSpPr>
          <p:spPr>
            <a:xfrm>
              <a:off x="0" y="2762250"/>
              <a:ext cx="2381400" cy="2381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20000"/>
                  </a:moveTo>
                  <a:lnTo>
                    <a:pt x="120000" y="12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D68FE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" name="Google Shape;60;p14"/>
          <p:cNvGrpSpPr/>
          <p:nvPr/>
        </p:nvGrpSpPr>
        <p:grpSpPr>
          <a:xfrm>
            <a:off x="466725" y="3057525"/>
            <a:ext cx="8201100" cy="1490700"/>
            <a:chOff x="466725" y="3057525"/>
            <a:chExt cx="8201100" cy="1490700"/>
          </a:xfrm>
        </p:grpSpPr>
        <p:pic>
          <p:nvPicPr>
            <p:cNvPr id="61" name="Google Shape;61;p14"/>
            <p:cNvPicPr preferRelativeResize="0"/>
            <p:nvPr/>
          </p:nvPicPr>
          <p:blipFill rotWithShape="1">
            <a:blip r:embed="rId4"/>
            <a:srcRect/>
            <a:stretch>
              <a:fillRect/>
            </a:stretch>
          </p:blipFill>
          <p:spPr>
            <a:xfrm>
              <a:off x="466725" y="3057525"/>
              <a:ext cx="8201100" cy="14907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62" name="Google Shape;62;p14"/>
            <p:cNvGrpSpPr/>
            <p:nvPr/>
          </p:nvGrpSpPr>
          <p:grpSpPr>
            <a:xfrm>
              <a:off x="2228850" y="3276600"/>
              <a:ext cx="304800" cy="304800"/>
              <a:chOff x="-152400" y="-152400"/>
              <a:chExt cx="304800" cy="304800"/>
            </a:xfrm>
          </p:grpSpPr>
          <p:sp>
            <p:nvSpPr>
              <p:cNvPr id="63" name="Google Shape;63;p14"/>
              <p:cNvSpPr/>
              <p:nvPr/>
            </p:nvSpPr>
            <p:spPr>
              <a:xfrm>
                <a:off x="-152400" y="-152400"/>
                <a:ext cx="304800" cy="304800"/>
              </a:xfrm>
              <a:prstGeom prst="ellipse">
                <a:avLst/>
              </a:prstGeom>
              <a:solidFill>
                <a:srgbClr val="FF5733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14"/>
              <p:cNvSpPr/>
              <p:nvPr/>
            </p:nvSpPr>
            <p:spPr>
              <a:xfrm>
                <a:off x="-57150" y="-57150"/>
                <a:ext cx="114300" cy="114300"/>
              </a:xfrm>
              <a:prstGeom prst="ellipse">
                <a:avLst/>
              </a:pr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5" name="Google Shape;65;p14"/>
            <p:cNvGrpSpPr/>
            <p:nvPr/>
          </p:nvGrpSpPr>
          <p:grpSpPr>
            <a:xfrm>
              <a:off x="4533900" y="3867150"/>
              <a:ext cx="457200" cy="457200"/>
              <a:chOff x="-228600" y="-228600"/>
              <a:chExt cx="457200" cy="457200"/>
            </a:xfrm>
          </p:grpSpPr>
          <p:sp>
            <p:nvSpPr>
              <p:cNvPr id="66" name="Google Shape;66;p14"/>
              <p:cNvSpPr/>
              <p:nvPr/>
            </p:nvSpPr>
            <p:spPr>
              <a:xfrm>
                <a:off x="-228600" y="-228600"/>
                <a:ext cx="457200" cy="457200"/>
              </a:xfrm>
              <a:prstGeom prst="ellipse">
                <a:avLst/>
              </a:prstGeom>
              <a:solidFill>
                <a:srgbClr val="FFC300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14"/>
              <p:cNvSpPr/>
              <p:nvPr/>
            </p:nvSpPr>
            <p:spPr>
              <a:xfrm>
                <a:off x="-95250" y="-95250"/>
                <a:ext cx="190500" cy="190500"/>
              </a:xfrm>
              <a:prstGeom prst="ellipse">
                <a:avLst/>
              </a:prstGeom>
              <a:solidFill>
                <a:srgbClr val="0B132B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8" name="Google Shape;68;p14"/>
            <p:cNvGrpSpPr/>
            <p:nvPr/>
          </p:nvGrpSpPr>
          <p:grpSpPr>
            <a:xfrm>
              <a:off x="7029450" y="3267075"/>
              <a:ext cx="228600" cy="228600"/>
              <a:chOff x="-114300" y="-114300"/>
              <a:chExt cx="228600" cy="228600"/>
            </a:xfrm>
          </p:grpSpPr>
          <p:sp>
            <p:nvSpPr>
              <p:cNvPr id="69" name="Google Shape;69;p14"/>
              <p:cNvSpPr/>
              <p:nvPr/>
            </p:nvSpPr>
            <p:spPr>
              <a:xfrm>
                <a:off x="-114300" y="-114300"/>
                <a:ext cx="228600" cy="228600"/>
              </a:xfrm>
              <a:prstGeom prst="ellipse">
                <a:avLst/>
              </a:prstGeom>
              <a:solidFill>
                <a:srgbClr val="2D68FE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14"/>
              <p:cNvSpPr/>
              <p:nvPr/>
            </p:nvSpPr>
            <p:spPr>
              <a:xfrm>
                <a:off x="-38100" y="-38100"/>
                <a:ext cx="76200" cy="76200"/>
              </a:xfrm>
              <a:prstGeom prst="ellipse">
                <a:avLst/>
              </a:prstGeom>
              <a:solidFill>
                <a:srgbClr val="FFFFFF">
                  <a:alpha val="89999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1" name="Google Shape;71;p14"/>
          <p:cNvGrpSpPr/>
          <p:nvPr/>
        </p:nvGrpSpPr>
        <p:grpSpPr>
          <a:xfrm>
            <a:off x="533400" y="1333500"/>
            <a:ext cx="8610600" cy="3048000"/>
            <a:chOff x="-228600" y="0"/>
            <a:chExt cx="7848600" cy="3048000"/>
          </a:xfrm>
        </p:grpSpPr>
        <p:sp>
          <p:nvSpPr>
            <p:cNvPr id="72" name="Google Shape;72;p14"/>
            <p:cNvSpPr/>
            <p:nvPr/>
          </p:nvSpPr>
          <p:spPr>
            <a:xfrm>
              <a:off x="-228600" y="47625"/>
              <a:ext cx="57300" cy="1666800"/>
            </a:xfrm>
            <a:prstGeom prst="roundRect">
              <a:avLst>
                <a:gd name="adj" fmla="val 50000"/>
              </a:avLst>
            </a:prstGeom>
            <a:solidFill>
              <a:srgbClr val="FF5733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4"/>
            <p:cNvSpPr txBox="1"/>
            <p:nvPr/>
          </p:nvSpPr>
          <p:spPr>
            <a:xfrm>
              <a:off x="0" y="0"/>
              <a:ext cx="7620000" cy="30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3300" b="0" dirty="0">
                  <a:solidFill>
                    <a:srgbClr val="F8F9FA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Campus to Company:</a:t>
              </a:r>
              <a:endParaRPr sz="3300" b="0" dirty="0">
                <a:solidFill>
                  <a:srgbClr val="F8F9FA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3300" b="0" dirty="0">
                  <a:solidFill>
                    <a:srgbClr val="FFC300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An insight into the Interview Process</a:t>
              </a:r>
              <a:endParaRPr sz="3300" b="0" dirty="0">
                <a:solidFill>
                  <a:srgbClr val="FFC300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  <a:p>
              <a:pPr marL="0" lvl="0" indent="0" algn="l" rtl="0">
                <a:spcBef>
                  <a:spcPts val="2100"/>
                </a:spcBef>
                <a:spcAft>
                  <a:spcPts val="0"/>
                </a:spcAft>
                <a:buNone/>
              </a:pPr>
              <a:r>
                <a:rPr lang="en-GB" sz="1650" b="0" dirty="0">
                  <a:solidFill>
                    <a:srgbClr val="FFFFFF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Your Roadmap to Professional Success</a:t>
              </a:r>
            </a:p>
            <a:p>
              <a:pPr marL="0" lvl="0" indent="0" algn="l" rtl="0">
                <a:spcBef>
                  <a:spcPts val="2100"/>
                </a:spcBef>
                <a:spcAft>
                  <a:spcPts val="0"/>
                </a:spcAft>
                <a:buNone/>
              </a:pPr>
              <a:endParaRPr sz="1650" b="0" dirty="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  <a:p>
              <a:pPr marL="3657600" lvl="8" indent="457200" algn="l" rtl="0">
                <a:spcBef>
                  <a:spcPts val="2100"/>
                </a:spcBef>
                <a:spcAft>
                  <a:spcPts val="0"/>
                </a:spcAft>
                <a:buNone/>
              </a:pPr>
              <a:r>
                <a:rPr lang="en-US" sz="3200" b="0" dirty="0">
                  <a:solidFill>
                    <a:schemeClr val="accent4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		 </a:t>
              </a:r>
              <a:r>
                <a:rPr lang="en-US" sz="4400" b="0" i="1" dirty="0">
                  <a:solidFill>
                    <a:schemeClr val="accent4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VIPAR</a:t>
              </a:r>
              <a:endParaRPr lang="en-US" sz="3200" b="0" i="1" dirty="0">
                <a:solidFill>
                  <a:schemeClr val="accent4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15"/>
          <p:cNvGrpSpPr/>
          <p:nvPr/>
        </p:nvGrpSpPr>
        <p:grpSpPr>
          <a:xfrm>
            <a:off x="0" y="0"/>
            <a:ext cx="9144150" cy="5143650"/>
            <a:chOff x="0" y="0"/>
            <a:chExt cx="9144150" cy="5143650"/>
          </a:xfrm>
        </p:grpSpPr>
        <p:sp>
          <p:nvSpPr>
            <p:cNvPr id="79" name="Google Shape;79;p1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80" name="Google Shape;80;p15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4763" y="4763"/>
              <a:ext cx="8982000" cy="498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" name="Google Shape;81;p15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8477250" y="4476750"/>
              <a:ext cx="666900" cy="6669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" name="Google Shape;83;p15"/>
          <p:cNvSpPr txBox="1"/>
          <p:nvPr/>
        </p:nvSpPr>
        <p:spPr>
          <a:xfrm>
            <a:off x="571500" y="381000"/>
            <a:ext cx="80010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ROADMAP TO SUCCESS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GB" sz="27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Session Agenda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</p:txBody>
      </p:sp>
      <p:grpSp>
        <p:nvGrpSpPr>
          <p:cNvPr id="84" name="Google Shape;84;p15"/>
          <p:cNvGrpSpPr/>
          <p:nvPr/>
        </p:nvGrpSpPr>
        <p:grpSpPr>
          <a:xfrm>
            <a:off x="323850" y="2085975"/>
            <a:ext cx="8486850" cy="2657588"/>
            <a:chOff x="-247650" y="133350"/>
            <a:chExt cx="8486850" cy="2657588"/>
          </a:xfrm>
        </p:grpSpPr>
        <p:pic>
          <p:nvPicPr>
            <p:cNvPr id="85" name="Google Shape;85;p15"/>
            <p:cNvPicPr preferRelativeResize="0"/>
            <p:nvPr/>
          </p:nvPicPr>
          <p:blipFill rotWithShape="1">
            <a:blip r:embed="rId4"/>
            <a:srcRect/>
            <a:stretch>
              <a:fillRect/>
            </a:stretch>
          </p:blipFill>
          <p:spPr>
            <a:xfrm>
              <a:off x="881063" y="361950"/>
              <a:ext cx="6191400" cy="381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86" name="Google Shape;86;p15"/>
            <p:cNvGrpSpPr/>
            <p:nvPr/>
          </p:nvGrpSpPr>
          <p:grpSpPr>
            <a:xfrm>
              <a:off x="-247650" y="133350"/>
              <a:ext cx="2257500" cy="2657588"/>
              <a:chOff x="-247650" y="133350"/>
              <a:chExt cx="2257500" cy="2657588"/>
            </a:xfrm>
          </p:grpSpPr>
          <p:pic>
            <p:nvPicPr>
              <p:cNvPr id="87" name="Google Shape;87;p15"/>
              <p:cNvPicPr preferRelativeResize="0"/>
              <p:nvPr/>
            </p:nvPicPr>
            <p:blipFill rotWithShape="1">
              <a:blip r:embed="rId5"/>
              <a:srcRect/>
              <a:stretch>
                <a:fillRect/>
              </a:stretch>
            </p:blipFill>
            <p:spPr>
              <a:xfrm>
                <a:off x="-247650" y="223838"/>
                <a:ext cx="2257500" cy="25671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8" name="Google Shape;88;p15"/>
              <p:cNvSpPr/>
              <p:nvPr/>
            </p:nvSpPr>
            <p:spPr>
              <a:xfrm>
                <a:off x="0" y="381000"/>
                <a:ext cx="1762200" cy="76200"/>
              </a:xfrm>
              <a:prstGeom prst="roundRect">
                <a:avLst>
                  <a:gd name="adj" fmla="val 50000"/>
                </a:avLst>
              </a:prstGeom>
              <a:solidFill>
                <a:srgbClr val="2D68FE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15"/>
              <p:cNvSpPr/>
              <p:nvPr/>
            </p:nvSpPr>
            <p:spPr>
              <a:xfrm>
                <a:off x="633413" y="133350"/>
                <a:ext cx="495300" cy="495300"/>
              </a:xfrm>
              <a:prstGeom prst="ellipse">
                <a:avLst/>
              </a:prstGeom>
              <a:solidFill>
                <a:srgbClr val="2D68FE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15"/>
              <p:cNvSpPr txBox="1"/>
              <p:nvPr/>
            </p:nvSpPr>
            <p:spPr>
              <a:xfrm>
                <a:off x="633413" y="133350"/>
                <a:ext cx="495300" cy="4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500" b="0">
                    <a:solidFill>
                      <a:srgbClr val="FFFFFF"/>
                    </a:solidFill>
                    <a:latin typeface="Poppins ExtraBold"/>
                    <a:ea typeface="Poppins ExtraBold"/>
                    <a:cs typeface="Poppins ExtraBold"/>
                    <a:sym typeface="Poppins ExtraBold"/>
                  </a:rPr>
                  <a:t>1</a:t>
                </a:r>
              </a:p>
            </p:txBody>
          </p:sp>
          <p:sp>
            <p:nvSpPr>
              <p:cNvPr id="91" name="Google Shape;91;p15"/>
              <p:cNvSpPr txBox="1"/>
              <p:nvPr/>
            </p:nvSpPr>
            <p:spPr>
              <a:xfrm>
                <a:off x="142875" y="762000"/>
                <a:ext cx="1476300" cy="15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350" b="1" dirty="0">
                    <a:solidFill>
                      <a:srgbClr val="0B132B"/>
                    </a:solidFill>
                    <a:latin typeface="Poppins" panose="00000800000000000000"/>
                    <a:ea typeface="Poppins" panose="00000800000000000000"/>
                    <a:cs typeface="Poppins" panose="00000800000000000000"/>
                    <a:sym typeface="Poppins" panose="00000800000000000000"/>
                  </a:rPr>
                  <a:t>The Selection Funnel</a:t>
                </a:r>
                <a:endParaRPr sz="1350" b="1" dirty="0">
                  <a:solidFill>
                    <a:srgbClr val="0B132B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endParaRPr>
              </a:p>
            </p:txBody>
          </p:sp>
        </p:grpSp>
        <p:grpSp>
          <p:nvGrpSpPr>
            <p:cNvPr id="92" name="Google Shape;92;p15"/>
            <p:cNvGrpSpPr/>
            <p:nvPr/>
          </p:nvGrpSpPr>
          <p:grpSpPr>
            <a:xfrm>
              <a:off x="1828800" y="133350"/>
              <a:ext cx="2257500" cy="2657588"/>
              <a:chOff x="-247650" y="133350"/>
              <a:chExt cx="2257500" cy="2657588"/>
            </a:xfrm>
          </p:grpSpPr>
          <p:pic>
            <p:nvPicPr>
              <p:cNvPr id="93" name="Google Shape;93;p15"/>
              <p:cNvPicPr preferRelativeResize="0"/>
              <p:nvPr/>
            </p:nvPicPr>
            <p:blipFill rotWithShape="1">
              <a:blip r:embed="rId5"/>
              <a:srcRect/>
              <a:stretch>
                <a:fillRect/>
              </a:stretch>
            </p:blipFill>
            <p:spPr>
              <a:xfrm>
                <a:off x="-247650" y="223838"/>
                <a:ext cx="2257500" cy="25671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" name="Google Shape;94;p15"/>
              <p:cNvSpPr/>
              <p:nvPr/>
            </p:nvSpPr>
            <p:spPr>
              <a:xfrm>
                <a:off x="0" y="381000"/>
                <a:ext cx="1762200" cy="76200"/>
              </a:xfrm>
              <a:prstGeom prst="roundRect">
                <a:avLst>
                  <a:gd name="adj" fmla="val 50000"/>
                </a:avLst>
              </a:prstGeom>
              <a:solidFill>
                <a:srgbClr val="FF5733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15"/>
              <p:cNvSpPr/>
              <p:nvPr/>
            </p:nvSpPr>
            <p:spPr>
              <a:xfrm>
                <a:off x="633413" y="133350"/>
                <a:ext cx="495300" cy="495300"/>
              </a:xfrm>
              <a:prstGeom prst="ellipse">
                <a:avLst/>
              </a:prstGeom>
              <a:solidFill>
                <a:srgbClr val="FF5733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15"/>
              <p:cNvSpPr txBox="1"/>
              <p:nvPr/>
            </p:nvSpPr>
            <p:spPr>
              <a:xfrm>
                <a:off x="633413" y="133350"/>
                <a:ext cx="495300" cy="4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500" b="0">
                    <a:solidFill>
                      <a:srgbClr val="FFFFFF"/>
                    </a:solidFill>
                    <a:latin typeface="Poppins ExtraBold"/>
                    <a:ea typeface="Poppins ExtraBold"/>
                    <a:cs typeface="Poppins ExtraBold"/>
                    <a:sym typeface="Poppins ExtraBold"/>
                  </a:rPr>
                  <a:t>2</a:t>
                </a:r>
              </a:p>
            </p:txBody>
          </p:sp>
          <p:sp>
            <p:nvSpPr>
              <p:cNvPr id="97" name="Google Shape;97;p15"/>
              <p:cNvSpPr txBox="1"/>
              <p:nvPr/>
            </p:nvSpPr>
            <p:spPr>
              <a:xfrm>
                <a:off x="142875" y="753836"/>
                <a:ext cx="1476300" cy="15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lvl="0" algn="ctr"/>
                <a:r>
                  <a:rPr lang="en-GB" sz="1350" b="1" dirty="0">
                    <a:solidFill>
                      <a:srgbClr val="0B132B"/>
                    </a:solidFill>
                    <a:latin typeface="Poppins" panose="00000800000000000000"/>
                    <a:ea typeface="Poppins" panose="00000800000000000000"/>
                    <a:cs typeface="Poppins" panose="00000800000000000000"/>
                    <a:sym typeface="Poppins" panose="00000800000000000000"/>
                  </a:rPr>
                  <a:t>Aptitude </a:t>
                </a:r>
              </a:p>
              <a:p>
                <a:pPr lvl="0" algn="ctr"/>
                <a:r>
                  <a:rPr lang="en-GB" sz="1350" b="1" dirty="0">
                    <a:solidFill>
                      <a:srgbClr val="0B132B"/>
                    </a:solidFill>
                    <a:latin typeface="Poppins" panose="00000800000000000000"/>
                    <a:ea typeface="Poppins" panose="00000800000000000000"/>
                    <a:cs typeface="Poppins" panose="00000800000000000000"/>
                    <a:sym typeface="Poppins" panose="00000800000000000000"/>
                  </a:rPr>
                  <a:t>&amp;</a:t>
                </a:r>
              </a:p>
              <a:p>
                <a:pPr lvl="0" algn="ctr"/>
                <a:r>
                  <a:rPr lang="en-GB" sz="1350" b="1" dirty="0">
                    <a:solidFill>
                      <a:srgbClr val="0B132B"/>
                    </a:solidFill>
                    <a:latin typeface="Poppins" panose="00000800000000000000"/>
                    <a:ea typeface="Poppins" panose="00000800000000000000"/>
                    <a:cs typeface="Poppins" panose="00000800000000000000"/>
                    <a:sym typeface="Poppins" panose="00000800000000000000"/>
                  </a:rPr>
                  <a:t> Coding rounds Preparation</a:t>
                </a:r>
                <a:endParaRPr sz="1350" b="1" dirty="0">
                  <a:solidFill>
                    <a:srgbClr val="0B132B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endParaRPr>
              </a:p>
            </p:txBody>
          </p:sp>
        </p:grpSp>
        <p:grpSp>
          <p:nvGrpSpPr>
            <p:cNvPr id="98" name="Google Shape;98;p15"/>
            <p:cNvGrpSpPr/>
            <p:nvPr/>
          </p:nvGrpSpPr>
          <p:grpSpPr>
            <a:xfrm>
              <a:off x="3905250" y="133350"/>
              <a:ext cx="2257500" cy="2657588"/>
              <a:chOff x="-247650" y="133350"/>
              <a:chExt cx="2257500" cy="2657588"/>
            </a:xfrm>
          </p:grpSpPr>
          <p:pic>
            <p:nvPicPr>
              <p:cNvPr id="99" name="Google Shape;99;p15"/>
              <p:cNvPicPr preferRelativeResize="0"/>
              <p:nvPr/>
            </p:nvPicPr>
            <p:blipFill rotWithShape="1">
              <a:blip r:embed="rId5"/>
              <a:srcRect/>
              <a:stretch>
                <a:fillRect/>
              </a:stretch>
            </p:blipFill>
            <p:spPr>
              <a:xfrm>
                <a:off x="-247650" y="223838"/>
                <a:ext cx="2257500" cy="25671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00" name="Google Shape;100;p15"/>
              <p:cNvSpPr/>
              <p:nvPr/>
            </p:nvSpPr>
            <p:spPr>
              <a:xfrm>
                <a:off x="0" y="381000"/>
                <a:ext cx="1762200" cy="76200"/>
              </a:xfrm>
              <a:prstGeom prst="roundRect">
                <a:avLst>
                  <a:gd name="adj" fmla="val 50000"/>
                </a:avLst>
              </a:prstGeom>
              <a:solidFill>
                <a:srgbClr val="FFC3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15"/>
              <p:cNvSpPr/>
              <p:nvPr/>
            </p:nvSpPr>
            <p:spPr>
              <a:xfrm>
                <a:off x="633413" y="133350"/>
                <a:ext cx="495300" cy="495300"/>
              </a:xfrm>
              <a:prstGeom prst="ellipse">
                <a:avLst/>
              </a:prstGeom>
              <a:solidFill>
                <a:srgbClr val="FFC3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15"/>
              <p:cNvSpPr txBox="1"/>
              <p:nvPr/>
            </p:nvSpPr>
            <p:spPr>
              <a:xfrm>
                <a:off x="633413" y="133350"/>
                <a:ext cx="495300" cy="4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500" b="0">
                    <a:solidFill>
                      <a:srgbClr val="0B132B"/>
                    </a:solidFill>
                    <a:latin typeface="Poppins ExtraBold"/>
                    <a:ea typeface="Poppins ExtraBold"/>
                    <a:cs typeface="Poppins ExtraBold"/>
                    <a:sym typeface="Poppins ExtraBold"/>
                  </a:rPr>
                  <a:t>3</a:t>
                </a:r>
              </a:p>
            </p:txBody>
          </p:sp>
          <p:sp>
            <p:nvSpPr>
              <p:cNvPr id="103" name="Google Shape;103;p15"/>
              <p:cNvSpPr txBox="1"/>
              <p:nvPr/>
            </p:nvSpPr>
            <p:spPr>
              <a:xfrm>
                <a:off x="142875" y="762000"/>
                <a:ext cx="1476300" cy="15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/>
                <a:r>
                  <a:rPr lang="en-GB" sz="1350" b="1" dirty="0">
                    <a:solidFill>
                      <a:srgbClr val="0B132B"/>
                    </a:solidFill>
                    <a:latin typeface="Poppins" panose="00000800000000000000"/>
                    <a:ea typeface="Poppins" panose="00000800000000000000"/>
                    <a:cs typeface="Poppins" panose="00000800000000000000"/>
                    <a:sym typeface="Poppins" panose="00000800000000000000"/>
                  </a:rPr>
                  <a:t>Technical Interview process </a:t>
                </a:r>
              </a:p>
              <a:p>
                <a:pPr algn="ctr"/>
                <a:r>
                  <a:rPr lang="en-GB" sz="1350" b="1" dirty="0">
                    <a:solidFill>
                      <a:srgbClr val="0B132B"/>
                    </a:solidFill>
                    <a:latin typeface="Poppins" panose="00000800000000000000"/>
                    <a:ea typeface="Poppins" panose="00000800000000000000"/>
                    <a:cs typeface="Poppins" panose="00000800000000000000"/>
                    <a:sym typeface="Poppins" panose="00000800000000000000"/>
                  </a:rPr>
                  <a:t>&amp;</a:t>
                </a:r>
              </a:p>
              <a:p>
                <a:pPr algn="ctr"/>
                <a:r>
                  <a:rPr lang="en-GB" sz="1350" b="1" dirty="0">
                    <a:solidFill>
                      <a:srgbClr val="0B132B"/>
                    </a:solidFill>
                    <a:latin typeface="Poppins" panose="00000800000000000000"/>
                    <a:ea typeface="Poppins" panose="00000800000000000000"/>
                    <a:cs typeface="Poppins" panose="00000800000000000000"/>
                    <a:sym typeface="Poppins" panose="00000800000000000000"/>
                  </a:rPr>
                  <a:t> preparation</a:t>
                </a:r>
              </a:p>
            </p:txBody>
          </p:sp>
        </p:grpSp>
        <p:grpSp>
          <p:nvGrpSpPr>
            <p:cNvPr id="104" name="Google Shape;104;p15"/>
            <p:cNvGrpSpPr/>
            <p:nvPr/>
          </p:nvGrpSpPr>
          <p:grpSpPr>
            <a:xfrm>
              <a:off x="5981700" y="133350"/>
              <a:ext cx="2257500" cy="2657588"/>
              <a:chOff x="-247650" y="133350"/>
              <a:chExt cx="2257500" cy="2657588"/>
            </a:xfrm>
          </p:grpSpPr>
          <p:pic>
            <p:nvPicPr>
              <p:cNvPr id="105" name="Google Shape;105;p15"/>
              <p:cNvPicPr preferRelativeResize="0"/>
              <p:nvPr/>
            </p:nvPicPr>
            <p:blipFill rotWithShape="1">
              <a:blip r:embed="rId5"/>
              <a:srcRect/>
              <a:stretch>
                <a:fillRect/>
              </a:stretch>
            </p:blipFill>
            <p:spPr>
              <a:xfrm>
                <a:off x="-247650" y="223838"/>
                <a:ext cx="2257500" cy="25671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06" name="Google Shape;106;p15"/>
              <p:cNvSpPr/>
              <p:nvPr/>
            </p:nvSpPr>
            <p:spPr>
              <a:xfrm>
                <a:off x="0" y="381000"/>
                <a:ext cx="1762200" cy="76200"/>
              </a:xfrm>
              <a:prstGeom prst="roundRect">
                <a:avLst>
                  <a:gd name="adj" fmla="val 50000"/>
                </a:avLst>
              </a:prstGeom>
              <a:solidFill>
                <a:srgbClr val="0B132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15"/>
              <p:cNvSpPr/>
              <p:nvPr/>
            </p:nvSpPr>
            <p:spPr>
              <a:xfrm>
                <a:off x="633413" y="133350"/>
                <a:ext cx="495300" cy="495300"/>
              </a:xfrm>
              <a:prstGeom prst="ellipse">
                <a:avLst/>
              </a:prstGeom>
              <a:solidFill>
                <a:srgbClr val="0B132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08" name="Google Shape;108;p15"/>
              <p:cNvSpPr txBox="1"/>
              <p:nvPr/>
            </p:nvSpPr>
            <p:spPr>
              <a:xfrm>
                <a:off x="633413" y="133350"/>
                <a:ext cx="495300" cy="4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500" b="0" dirty="0">
                    <a:solidFill>
                      <a:srgbClr val="FFFFFF"/>
                    </a:solidFill>
                    <a:latin typeface="Poppins ExtraBold"/>
                    <a:ea typeface="Poppins ExtraBold"/>
                    <a:cs typeface="Poppins ExtraBold"/>
                    <a:sym typeface="Poppins ExtraBold"/>
                  </a:rPr>
                  <a:t>4</a:t>
                </a:r>
              </a:p>
            </p:txBody>
          </p:sp>
          <p:sp>
            <p:nvSpPr>
              <p:cNvPr id="109" name="Google Shape;109;p15"/>
              <p:cNvSpPr txBox="1"/>
              <p:nvPr/>
            </p:nvSpPr>
            <p:spPr>
              <a:xfrm>
                <a:off x="142875" y="762000"/>
                <a:ext cx="1476300" cy="15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/>
                <a:r>
                  <a:rPr lang="en-GB" sz="1350" b="1" dirty="0">
                    <a:solidFill>
                      <a:srgbClr val="0B132B"/>
                    </a:solidFill>
                    <a:latin typeface="Poppins" panose="00000800000000000000"/>
                    <a:ea typeface="Poppins" panose="00000800000000000000"/>
                    <a:cs typeface="Poppins" panose="00000800000000000000"/>
                    <a:sym typeface="Poppins" panose="00000800000000000000"/>
                  </a:rPr>
                  <a:t>Resume Readiness </a:t>
                </a:r>
              </a:p>
              <a:p>
                <a:pPr algn="ctr"/>
                <a:r>
                  <a:rPr lang="en-GB" sz="1350" b="1" dirty="0">
                    <a:solidFill>
                      <a:srgbClr val="0B132B"/>
                    </a:solidFill>
                    <a:latin typeface="Poppins" panose="00000800000000000000"/>
                    <a:ea typeface="Poppins" panose="00000800000000000000"/>
                    <a:cs typeface="Poppins" panose="00000800000000000000"/>
                    <a:sym typeface="Poppins" panose="00000800000000000000"/>
                  </a:rPr>
                  <a:t>&amp;</a:t>
                </a:r>
              </a:p>
              <a:p>
                <a:pPr algn="ctr"/>
                <a:r>
                  <a:rPr lang="en-GB" sz="1350" b="1" dirty="0">
                    <a:solidFill>
                      <a:srgbClr val="0B132B"/>
                    </a:solidFill>
                    <a:latin typeface="Poppins" panose="00000800000000000000"/>
                    <a:ea typeface="Poppins" panose="00000800000000000000"/>
                    <a:cs typeface="Poppins" panose="00000800000000000000"/>
                    <a:sym typeface="Poppins" panose="00000800000000000000"/>
                  </a:rPr>
                  <a:t> Strategy</a:t>
                </a:r>
              </a:p>
            </p:txBody>
          </p:sp>
        </p:grpSp>
      </p:grpSp>
      <p:cxnSp>
        <p:nvCxnSpPr>
          <p:cNvPr id="2" name="Google Shape;93;p15"/>
          <p:cNvCxnSpPr/>
          <p:nvPr/>
        </p:nvCxnSpPr>
        <p:spPr>
          <a:xfrm>
            <a:off x="381000" y="125984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15"/>
          <p:cNvGrpSpPr/>
          <p:nvPr/>
        </p:nvGrpSpPr>
        <p:grpSpPr>
          <a:xfrm>
            <a:off x="0" y="0"/>
            <a:ext cx="9144150" cy="5143650"/>
            <a:chOff x="0" y="0"/>
            <a:chExt cx="9144150" cy="5143650"/>
          </a:xfrm>
        </p:grpSpPr>
        <p:sp>
          <p:nvSpPr>
            <p:cNvPr id="79" name="Google Shape;79;p1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80" name="Google Shape;80;p15"/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4763" y="4763"/>
              <a:ext cx="8982000" cy="498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" name="Google Shape;81;p15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8477250" y="4476750"/>
              <a:ext cx="666900" cy="6669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531" y="1551094"/>
            <a:ext cx="1781424" cy="171473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9457" y="1512988"/>
            <a:ext cx="1762371" cy="1752845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9873" y="1484408"/>
            <a:ext cx="1771897" cy="1810003"/>
          </a:xfrm>
          <a:prstGeom prst="rect">
            <a:avLst/>
          </a:prstGeom>
        </p:spPr>
      </p:pic>
      <p:sp>
        <p:nvSpPr>
          <p:cNvPr id="118" name="Google Shape;118;p16"/>
          <p:cNvSpPr txBox="1"/>
          <p:nvPr/>
        </p:nvSpPr>
        <p:spPr>
          <a:xfrm>
            <a:off x="571500" y="381000"/>
            <a:ext cx="8001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800" b="1" i="0" u="none" strike="noStrike" dirty="0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LET’S GET STARTED</a:t>
            </a: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GB" sz="2700" b="0" i="0" u="none" strike="noStrike" dirty="0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Quick Question</a:t>
            </a:r>
          </a:p>
        </p:txBody>
      </p:sp>
      <p:cxnSp>
        <p:nvCxnSpPr>
          <p:cNvPr id="93" name="Google Shape;93;p15"/>
          <p:cNvCxnSpPr/>
          <p:nvPr/>
        </p:nvCxnSpPr>
        <p:spPr>
          <a:xfrm>
            <a:off x="381000" y="13335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7695" y="3637280"/>
            <a:ext cx="4742180" cy="104203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7410" y="1551305"/>
            <a:ext cx="1714500" cy="1714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21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4688" y="9525"/>
            <a:ext cx="8982075" cy="51244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8" name="Google Shape;78;p15"/>
          <p:cNvGrpSpPr/>
          <p:nvPr/>
        </p:nvGrpSpPr>
        <p:grpSpPr>
          <a:xfrm>
            <a:off x="0" y="0"/>
            <a:ext cx="9144150" cy="5143650"/>
            <a:chOff x="0" y="0"/>
            <a:chExt cx="9144150" cy="5143650"/>
          </a:xfrm>
        </p:grpSpPr>
        <p:sp>
          <p:nvSpPr>
            <p:cNvPr id="79" name="Google Shape;79;p1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80" name="Google Shape;80;p15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4763" y="4763"/>
              <a:ext cx="8982000" cy="498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" name="Google Shape;81;p15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8477250" y="4476750"/>
              <a:ext cx="666900" cy="6669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311785" y="1152526"/>
            <a:ext cx="8520430" cy="1213758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endParaRPr lang="en-US" altLang="en-US" dirty="0"/>
          </a:p>
          <a:p>
            <a:pPr marL="114300" indent="0">
              <a:buNone/>
            </a:pPr>
            <a:r>
              <a:rPr lang="en-US" altLang="en-US" dirty="0"/>
              <a:t>✔ Technical fundamentals</a:t>
            </a:r>
          </a:p>
          <a:p>
            <a:pPr marL="114300" indent="0">
              <a:buNone/>
            </a:pPr>
            <a:r>
              <a:rPr lang="en-US" altLang="en-US" dirty="0"/>
              <a:t>✔ Problem solving</a:t>
            </a:r>
          </a:p>
          <a:p>
            <a:pPr marL="114300" indent="0">
              <a:buNone/>
            </a:pPr>
            <a:endParaRPr lang="en-US" altLang="en-US" dirty="0"/>
          </a:p>
        </p:txBody>
      </p:sp>
      <p:sp>
        <p:nvSpPr>
          <p:cNvPr id="118" name="Google Shape;118;p16"/>
          <p:cNvSpPr txBox="1"/>
          <p:nvPr/>
        </p:nvSpPr>
        <p:spPr>
          <a:xfrm>
            <a:off x="571500" y="381000"/>
            <a:ext cx="8001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LET’S GET STARTED</a:t>
            </a:r>
            <a:endParaRPr lang="en-US" sz="1800" b="1" i="0" u="none" strike="noStrike" dirty="0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sz="2700" dirty="0">
                <a:sym typeface="+mn-ea"/>
              </a:rPr>
              <a:t>What Companies Actually Look For</a:t>
            </a:r>
            <a:endParaRPr lang="en-US" altLang="en-GB" sz="2700" b="0" i="0" u="none" strike="noStrike" dirty="0">
              <a:solidFill>
                <a:srgbClr val="0B132B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cxnSp>
        <p:nvCxnSpPr>
          <p:cNvPr id="93" name="Google Shape;93;p15"/>
          <p:cNvCxnSpPr/>
          <p:nvPr/>
        </p:nvCxnSpPr>
        <p:spPr>
          <a:xfrm>
            <a:off x="311785" y="13335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B31CF35A-DB7C-AE75-8B1F-BB0BBEA63A04}"/>
              </a:ext>
            </a:extLst>
          </p:cNvPr>
          <p:cNvSpPr txBox="1">
            <a:spLocks/>
          </p:cNvSpPr>
          <p:nvPr/>
        </p:nvSpPr>
        <p:spPr>
          <a:xfrm>
            <a:off x="620349" y="3430438"/>
            <a:ext cx="7763193" cy="137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90204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endParaRPr lang="en-US" altLang="en-US" dirty="0"/>
          </a:p>
          <a:p>
            <a:pPr marL="114300" indent="0">
              <a:buFont typeface="Arial" panose="020B0604020202090204"/>
              <a:buNone/>
            </a:pPr>
            <a:r>
              <a:rPr lang="en-US" altLang="en-US" sz="3200" dirty="0"/>
              <a:t>Knowledge + Skills + Attitude = Selection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118C869-708A-AB73-99BC-510E42B3B0D2}"/>
              </a:ext>
            </a:extLst>
          </p:cNvPr>
          <p:cNvSpPr txBox="1">
            <a:spLocks/>
          </p:cNvSpPr>
          <p:nvPr/>
        </p:nvSpPr>
        <p:spPr>
          <a:xfrm>
            <a:off x="311785" y="2141729"/>
            <a:ext cx="8520430" cy="19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114300" indent="0">
              <a:lnSpc>
                <a:spcPct val="115000"/>
              </a:lnSpc>
              <a:buClr>
                <a:schemeClr val="dk2"/>
              </a:buClr>
              <a:buSzPts val="1800"/>
              <a:buNone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r>
              <a:rPr lang="en-US" altLang="en-US" dirty="0"/>
              <a:t>✔ Communication</a:t>
            </a:r>
          </a:p>
          <a:p>
            <a:r>
              <a:rPr lang="en-US" altLang="en-US" dirty="0"/>
              <a:t>✔ Confidence</a:t>
            </a:r>
          </a:p>
          <a:p>
            <a:r>
              <a:rPr lang="en-US" altLang="en-US" dirty="0"/>
              <a:t>✔ Learning attitude</a:t>
            </a:r>
          </a:p>
          <a:p>
            <a:r>
              <a:rPr lang="en-US" altLang="en-US" dirty="0"/>
              <a:t>✔ Cultural fit / Collaboration</a:t>
            </a:r>
          </a:p>
          <a:p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2" grpId="0"/>
      <p:bldP spid="3" grpId="0" build="allAtOnce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D68F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3" name="Google Shape;253;p21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080" y="5080"/>
            <a:ext cx="8982075" cy="512445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1"/>
          <p:cNvSpPr/>
          <p:nvPr/>
        </p:nvSpPr>
        <p:spPr>
          <a:xfrm>
            <a:off x="5334000" y="-1238250"/>
            <a:ext cx="7620000" cy="7620000"/>
          </a:xfrm>
          <a:prstGeom prst="ellipse">
            <a:avLst/>
          </a:prstGeom>
          <a:solidFill>
            <a:srgbClr val="FF5733">
              <a:alpha val="1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-1905000" y="3238500"/>
            <a:ext cx="3810000" cy="3810000"/>
          </a:xfrm>
          <a:prstGeom prst="ellipse">
            <a:avLst/>
          </a:prstGeom>
          <a:solidFill>
            <a:srgbClr val="0B132B">
              <a:alpha val="10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6" name="Google Shape;256;p21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7086600" y="-723900"/>
            <a:ext cx="2057400" cy="2971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1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-209550" y="3409950"/>
            <a:ext cx="2324100" cy="1719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8" name="Google Shape;258;p21"/>
          <p:cNvGrpSpPr/>
          <p:nvPr/>
        </p:nvGrpSpPr>
        <p:grpSpPr>
          <a:xfrm>
            <a:off x="533400" y="1428750"/>
            <a:ext cx="3657600" cy="2667000"/>
            <a:chOff x="-228600" y="0"/>
            <a:chExt cx="3657600" cy="2667000"/>
          </a:xfrm>
        </p:grpSpPr>
        <p:sp>
          <p:nvSpPr>
            <p:cNvPr id="259" name="Google Shape;259;p21"/>
            <p:cNvSpPr/>
            <p:nvPr/>
          </p:nvSpPr>
          <p:spPr>
            <a:xfrm>
              <a:off x="-228600" y="76200"/>
              <a:ext cx="57300" cy="1619100"/>
            </a:xfrm>
            <a:prstGeom prst="roundRect">
              <a:avLst>
                <a:gd name="adj" fmla="val 50000"/>
              </a:avLst>
            </a:prstGeom>
            <a:solidFill>
              <a:srgbClr val="FFC3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1"/>
            <p:cNvSpPr txBox="1"/>
            <p:nvPr/>
          </p:nvSpPr>
          <p:spPr>
            <a:xfrm>
              <a:off x="0" y="0"/>
              <a:ext cx="34290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3450" b="0">
                  <a:solidFill>
                    <a:srgbClr val="FFFFFF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Recruitment Process</a:t>
              </a: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950" b="0">
                  <a:solidFill>
                    <a:srgbClr val="FFC300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The Journey</a:t>
              </a:r>
            </a:p>
          </p:txBody>
        </p:sp>
      </p:grpSp>
      <p:grpSp>
        <p:nvGrpSpPr>
          <p:cNvPr id="261" name="Google Shape;261;p21"/>
          <p:cNvGrpSpPr/>
          <p:nvPr/>
        </p:nvGrpSpPr>
        <p:grpSpPr>
          <a:xfrm>
            <a:off x="4572000" y="952500"/>
            <a:ext cx="3810000" cy="857400"/>
            <a:chOff x="0" y="0"/>
            <a:chExt cx="3810000" cy="857400"/>
          </a:xfrm>
        </p:grpSpPr>
        <p:sp>
          <p:nvSpPr>
            <p:cNvPr id="262" name="Google Shape;262;p21"/>
            <p:cNvSpPr/>
            <p:nvPr/>
          </p:nvSpPr>
          <p:spPr>
            <a:xfrm>
              <a:off x="0" y="0"/>
              <a:ext cx="3810000" cy="8574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1"/>
            <p:cNvSpPr/>
            <p:nvPr/>
          </p:nvSpPr>
          <p:spPr>
            <a:xfrm>
              <a:off x="0" y="0"/>
              <a:ext cx="95400" cy="857400"/>
            </a:xfrm>
            <a:prstGeom prst="roundRect">
              <a:avLst>
                <a:gd name="adj" fmla="val 50000"/>
              </a:avLst>
            </a:prstGeom>
            <a:solidFill>
              <a:srgbClr val="FF5733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1"/>
            <p:cNvSpPr/>
            <p:nvPr/>
          </p:nvSpPr>
          <p:spPr>
            <a:xfrm>
              <a:off x="238125" y="238125"/>
              <a:ext cx="381000" cy="381000"/>
            </a:xfrm>
            <a:prstGeom prst="ellipse">
              <a:avLst/>
            </a:prstGeom>
            <a:solidFill>
              <a:srgbClr val="FF5733">
                <a:alpha val="11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1"/>
            <p:cNvSpPr txBox="1"/>
            <p:nvPr/>
          </p:nvSpPr>
          <p:spPr>
            <a:xfrm>
              <a:off x="333375" y="285750"/>
              <a:ext cx="190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FF5733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rPr>
                <a:t>1</a:t>
              </a:r>
            </a:p>
          </p:txBody>
        </p:sp>
        <p:sp>
          <p:nvSpPr>
            <p:cNvPr id="266" name="Google Shape;266;p21"/>
            <p:cNvSpPr txBox="1"/>
            <p:nvPr/>
          </p:nvSpPr>
          <p:spPr>
            <a:xfrm>
              <a:off x="762000" y="142875"/>
              <a:ext cx="2857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GB" sz="1200" b="1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Aptitude Tests</a:t>
              </a:r>
            </a:p>
          </p:txBody>
        </p:sp>
      </p:grpSp>
      <p:grpSp>
        <p:nvGrpSpPr>
          <p:cNvPr id="267" name="Google Shape;267;p21"/>
          <p:cNvGrpSpPr/>
          <p:nvPr/>
        </p:nvGrpSpPr>
        <p:grpSpPr>
          <a:xfrm>
            <a:off x="4572000" y="2000250"/>
            <a:ext cx="3810000" cy="857400"/>
            <a:chOff x="0" y="0"/>
            <a:chExt cx="3810000" cy="857400"/>
          </a:xfrm>
        </p:grpSpPr>
        <p:sp>
          <p:nvSpPr>
            <p:cNvPr id="268" name="Google Shape;268;p21"/>
            <p:cNvSpPr/>
            <p:nvPr/>
          </p:nvSpPr>
          <p:spPr>
            <a:xfrm>
              <a:off x="0" y="0"/>
              <a:ext cx="3810000" cy="8574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1"/>
            <p:cNvSpPr/>
            <p:nvPr/>
          </p:nvSpPr>
          <p:spPr>
            <a:xfrm>
              <a:off x="0" y="0"/>
              <a:ext cx="95400" cy="857400"/>
            </a:xfrm>
            <a:prstGeom prst="roundRect">
              <a:avLst>
                <a:gd name="adj" fmla="val 50000"/>
              </a:avLst>
            </a:prstGeom>
            <a:solidFill>
              <a:srgbClr val="FFC3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1"/>
            <p:cNvSpPr/>
            <p:nvPr/>
          </p:nvSpPr>
          <p:spPr>
            <a:xfrm>
              <a:off x="238125" y="238125"/>
              <a:ext cx="381000" cy="381000"/>
            </a:xfrm>
            <a:prstGeom prst="ellipse">
              <a:avLst/>
            </a:prstGeom>
            <a:solidFill>
              <a:srgbClr val="FFC300">
                <a:alpha val="2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1"/>
            <p:cNvSpPr txBox="1"/>
            <p:nvPr/>
          </p:nvSpPr>
          <p:spPr>
            <a:xfrm>
              <a:off x="333375" y="285750"/>
              <a:ext cx="190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0B132B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rPr>
                <a:t>2</a:t>
              </a:r>
            </a:p>
          </p:txBody>
        </p:sp>
        <p:sp>
          <p:nvSpPr>
            <p:cNvPr id="272" name="Google Shape;272;p21"/>
            <p:cNvSpPr txBox="1"/>
            <p:nvPr/>
          </p:nvSpPr>
          <p:spPr>
            <a:xfrm>
              <a:off x="762000" y="142875"/>
              <a:ext cx="2857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Coding Interviews</a:t>
              </a:r>
            </a:p>
          </p:txBody>
        </p:sp>
      </p:grpSp>
      <p:grpSp>
        <p:nvGrpSpPr>
          <p:cNvPr id="273" name="Google Shape;273;p21"/>
          <p:cNvGrpSpPr/>
          <p:nvPr/>
        </p:nvGrpSpPr>
        <p:grpSpPr>
          <a:xfrm>
            <a:off x="4572000" y="3048000"/>
            <a:ext cx="3810000" cy="857400"/>
            <a:chOff x="0" y="0"/>
            <a:chExt cx="3810000" cy="857400"/>
          </a:xfrm>
        </p:grpSpPr>
        <p:sp>
          <p:nvSpPr>
            <p:cNvPr id="274" name="Google Shape;274;p21"/>
            <p:cNvSpPr/>
            <p:nvPr/>
          </p:nvSpPr>
          <p:spPr>
            <a:xfrm>
              <a:off x="0" y="0"/>
              <a:ext cx="3810000" cy="8574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1"/>
            <p:cNvSpPr/>
            <p:nvPr/>
          </p:nvSpPr>
          <p:spPr>
            <a:xfrm>
              <a:off x="0" y="0"/>
              <a:ext cx="95400" cy="857400"/>
            </a:xfrm>
            <a:prstGeom prst="roundRect">
              <a:avLst>
                <a:gd name="adj" fmla="val 50000"/>
              </a:avLst>
            </a:prstGeom>
            <a:solidFill>
              <a:srgbClr val="0B132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1"/>
            <p:cNvSpPr/>
            <p:nvPr/>
          </p:nvSpPr>
          <p:spPr>
            <a:xfrm>
              <a:off x="238125" y="238125"/>
              <a:ext cx="381000" cy="381000"/>
            </a:xfrm>
            <a:prstGeom prst="ellipse">
              <a:avLst/>
            </a:prstGeom>
            <a:solidFill>
              <a:srgbClr val="0B132B">
                <a:alpha val="11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1"/>
            <p:cNvSpPr txBox="1"/>
            <p:nvPr/>
          </p:nvSpPr>
          <p:spPr>
            <a:xfrm>
              <a:off x="333375" y="285750"/>
              <a:ext cx="190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0B132B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rPr>
                <a:t>3</a:t>
              </a:r>
            </a:p>
          </p:txBody>
        </p:sp>
        <p:sp>
          <p:nvSpPr>
            <p:cNvPr id="278" name="Google Shape;278;p21"/>
            <p:cNvSpPr txBox="1"/>
            <p:nvPr/>
          </p:nvSpPr>
          <p:spPr>
            <a:xfrm>
              <a:off x="762000" y="95250"/>
              <a:ext cx="28575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GB" sz="1125" b="1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Technical Interviews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15"/>
          <p:cNvGrpSpPr/>
          <p:nvPr/>
        </p:nvGrpSpPr>
        <p:grpSpPr>
          <a:xfrm>
            <a:off x="5080" y="5080"/>
            <a:ext cx="9144150" cy="5143650"/>
            <a:chOff x="0" y="0"/>
            <a:chExt cx="9144150" cy="5143650"/>
          </a:xfrm>
        </p:grpSpPr>
        <p:sp>
          <p:nvSpPr>
            <p:cNvPr id="79" name="Google Shape;79;p1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80" name="Google Shape;80;p15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4763" y="4763"/>
              <a:ext cx="8982000" cy="498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" name="Google Shape;81;p15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8477250" y="4476750"/>
              <a:ext cx="666900" cy="6669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8" name="Google Shape;118;p16"/>
          <p:cNvSpPr txBox="1"/>
          <p:nvPr/>
        </p:nvSpPr>
        <p:spPr>
          <a:xfrm>
            <a:off x="476250" y="209550"/>
            <a:ext cx="8001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800" b="1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OVERVIEW OF SELECTION ROUNDS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altLang="en-GB" sz="2700">
                <a:solidFill>
                  <a:srgbClr val="0B132B"/>
                </a:solidFill>
                <a:latin typeface="+mj-lt"/>
                <a:ea typeface="Poppins SemiBold"/>
                <a:cs typeface="+mj-lt"/>
                <a:sym typeface="Poppins SemiBold"/>
              </a:rPr>
              <a:t>The Selection Funnel</a:t>
            </a:r>
            <a:endParaRPr lang="en-US" altLang="en-GB" sz="2700" b="0" i="0" u="none" strike="noStrike" dirty="0">
              <a:solidFill>
                <a:srgbClr val="0B132B"/>
              </a:solidFill>
              <a:latin typeface="+mj-lt"/>
              <a:ea typeface="Poppins SemiBold"/>
              <a:cs typeface="+mj-lt"/>
              <a:sym typeface="Poppins SemiBold"/>
            </a:endParaRPr>
          </a:p>
        </p:txBody>
      </p:sp>
      <p:grpSp>
        <p:nvGrpSpPr>
          <p:cNvPr id="95" name="Google Shape;95;p15"/>
          <p:cNvGrpSpPr/>
          <p:nvPr/>
        </p:nvGrpSpPr>
        <p:grpSpPr>
          <a:xfrm>
            <a:off x="381000" y="1407160"/>
            <a:ext cx="4153050" cy="3486150"/>
            <a:chOff x="0" y="0"/>
            <a:chExt cx="4153050" cy="3486150"/>
          </a:xfrm>
        </p:grpSpPr>
        <p:sp>
          <p:nvSpPr>
            <p:cNvPr id="96" name="Google Shape;96;p15"/>
            <p:cNvSpPr/>
            <p:nvPr/>
          </p:nvSpPr>
          <p:spPr>
            <a:xfrm>
              <a:off x="57150" y="57150"/>
              <a:ext cx="4095900" cy="3429000"/>
            </a:xfrm>
            <a:prstGeom prst="roundRect">
              <a:avLst>
                <a:gd name="adj" fmla="val 4444"/>
              </a:avLst>
            </a:prstGeom>
            <a:solidFill>
              <a:srgbClr val="11182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15"/>
            <p:cNvSpPr/>
            <p:nvPr/>
          </p:nvSpPr>
          <p:spPr>
            <a:xfrm>
              <a:off x="0" y="0"/>
              <a:ext cx="4095900" cy="34290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15"/>
            <p:cNvSpPr txBox="1"/>
            <p:nvPr/>
          </p:nvSpPr>
          <p:spPr>
            <a:xfrm>
              <a:off x="238125" y="122555"/>
              <a:ext cx="3619500" cy="3068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dirty="0">
                  <a:solidFill>
                    <a:srgbClr val="111827"/>
                  </a:solidFill>
                  <a:latin typeface="Outfit"/>
                  <a:ea typeface="Outfit"/>
                  <a:cs typeface="Outfit"/>
                  <a:sym typeface="Outfit"/>
                </a:rPr>
                <a:t>Recruitment stages</a:t>
              </a:r>
              <a:endParaRPr sz="1500" b="1" dirty="0">
                <a:solidFill>
                  <a:srgbClr val="111827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GB" sz="975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Resume Screening:</a:t>
              </a:r>
              <a:r>
                <a:rPr lang="en-GB" sz="975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Applicant Tracking Systems (ATS) to match keywords and basic qualifications.</a:t>
              </a:r>
              <a:endParaRPr sz="975" b="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975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Aptitude Tests:</a:t>
              </a:r>
              <a:r>
                <a:rPr lang="en-GB" sz="975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Evaluates quantitative, logical, and verbal reasoning skills under strict time limits.</a:t>
              </a:r>
              <a:endParaRPr sz="975" b="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975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Coding Assessment:</a:t>
              </a:r>
              <a:r>
                <a:rPr lang="en-GB" sz="975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Tests core domain knowledge and coding proficiency through automated platforms</a:t>
              </a:r>
              <a:r>
                <a:rPr lang="en-US" altLang="en-GB" sz="975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like </a:t>
              </a:r>
              <a:r>
                <a:rPr lang="en-US" altLang="en-GB" sz="975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Hackeranck.</a:t>
              </a:r>
              <a:endParaRPr sz="975" b="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975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Technical Interviews:</a:t>
              </a:r>
              <a:r>
                <a:rPr lang="en-GB" sz="975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Includes technical deep-dives </a:t>
              </a:r>
              <a:r>
                <a:rPr lang="en-US" altLang="en-GB" sz="975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to evaluate concept understanding and knowledge</a:t>
              </a:r>
              <a:endParaRPr lang="en-GB" sz="975" b="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endParaRPr lang="en-GB" sz="975" b="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marL="0" lvl="0" algn="l" rtl="0">
                <a:spcBef>
                  <a:spcPts val="750"/>
                </a:spcBef>
                <a:spcAft>
                  <a:spcPts val="0"/>
                </a:spcAft>
                <a:buSzTx/>
                <a:buNone/>
              </a:pPr>
              <a:r>
                <a:rPr lang="en-GB" sz="975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 Medium"/>
                </a:rPr>
                <a:t>Other rounds include </a:t>
              </a:r>
            </a:p>
            <a:p>
              <a:pPr marL="171450" lvl="0" indent="-171450" algn="l" rtl="0">
                <a:spcBef>
                  <a:spcPts val="750"/>
                </a:spcBef>
                <a:spcAft>
                  <a:spcPts val="0"/>
                </a:spcAft>
                <a:buFont typeface="Arial" panose="020B0604020202090204" pitchFamily="34" charset="0"/>
                <a:buChar char="•"/>
              </a:pPr>
              <a:r>
                <a:rPr lang="en-US" sz="975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Group Discussions</a:t>
              </a:r>
            </a:p>
            <a:p>
              <a:pPr marL="171450" lvl="0" indent="-171450" algn="l" rtl="0">
                <a:spcBef>
                  <a:spcPts val="750"/>
                </a:spcBef>
                <a:spcAft>
                  <a:spcPts val="0"/>
                </a:spcAft>
                <a:buFont typeface="Arial" panose="020B0604020202090204" pitchFamily="34" charset="0"/>
                <a:buChar char="•"/>
              </a:pPr>
              <a:r>
                <a:rPr lang="en-US" sz="975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HR Interviews</a:t>
              </a:r>
            </a:p>
          </p:txBody>
        </p:sp>
      </p:grpSp>
      <p:grpSp>
        <p:nvGrpSpPr>
          <p:cNvPr id="99" name="Google Shape;99;p15"/>
          <p:cNvGrpSpPr/>
          <p:nvPr/>
        </p:nvGrpSpPr>
        <p:grpSpPr>
          <a:xfrm>
            <a:off x="4667250" y="1380490"/>
            <a:ext cx="4153050" cy="3486150"/>
            <a:chOff x="0" y="0"/>
            <a:chExt cx="4153050" cy="3486150"/>
          </a:xfrm>
        </p:grpSpPr>
        <p:sp>
          <p:nvSpPr>
            <p:cNvPr id="100" name="Google Shape;100;p15"/>
            <p:cNvSpPr/>
            <p:nvPr/>
          </p:nvSpPr>
          <p:spPr>
            <a:xfrm>
              <a:off x="57150" y="57150"/>
              <a:ext cx="4095900" cy="3429000"/>
            </a:xfrm>
            <a:prstGeom prst="roundRect">
              <a:avLst>
                <a:gd name="adj" fmla="val 4444"/>
              </a:avLst>
            </a:prstGeom>
            <a:solidFill>
              <a:srgbClr val="11182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15"/>
            <p:cNvSpPr/>
            <p:nvPr/>
          </p:nvSpPr>
          <p:spPr>
            <a:xfrm>
              <a:off x="0" y="0"/>
              <a:ext cx="4095900" cy="34290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476250" y="428625"/>
              <a:ext cx="3143400" cy="5715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09091" y="120000"/>
                  </a:lnTo>
                  <a:lnTo>
                    <a:pt x="10909" y="120000"/>
                  </a:lnTo>
                  <a:close/>
                </a:path>
              </a:pathLst>
            </a:custGeom>
            <a:solidFill>
              <a:srgbClr val="4338CA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15"/>
            <p:cNvSpPr txBox="1"/>
            <p:nvPr/>
          </p:nvSpPr>
          <p:spPr>
            <a:xfrm>
              <a:off x="762000" y="590550"/>
              <a:ext cx="2571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dirty="0">
                  <a:solidFill>
                    <a:srgbClr val="FFFFFF"/>
                  </a:solidFill>
                  <a:latin typeface="Outfit"/>
                  <a:ea typeface="Outfit"/>
                  <a:cs typeface="Outfit"/>
                  <a:sym typeface="Outfit"/>
                </a:rPr>
                <a:t>Resume Screening</a:t>
              </a:r>
            </a:p>
          </p:txBody>
        </p:sp>
        <p:sp>
          <p:nvSpPr>
            <p:cNvPr id="104" name="Google Shape;104;p15"/>
            <p:cNvSpPr/>
            <p:nvPr/>
          </p:nvSpPr>
          <p:spPr>
            <a:xfrm>
              <a:off x="809625" y="1095375"/>
              <a:ext cx="2476500" cy="5715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06154" y="120000"/>
                  </a:lnTo>
                  <a:lnTo>
                    <a:pt x="13846" y="120000"/>
                  </a:lnTo>
                  <a:close/>
                </a:path>
              </a:pathLst>
            </a:custGeom>
            <a:solidFill>
              <a:srgbClr val="FF6B6B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5"/>
            <p:cNvSpPr txBox="1"/>
            <p:nvPr/>
          </p:nvSpPr>
          <p:spPr>
            <a:xfrm>
              <a:off x="1095375" y="125730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dirty="0">
                  <a:solidFill>
                    <a:srgbClr val="FFFFFF"/>
                  </a:solidFill>
                  <a:latin typeface="Outfit"/>
                  <a:ea typeface="Outfit"/>
                  <a:cs typeface="Outfit"/>
                  <a:sym typeface="Outfit"/>
                </a:rPr>
                <a:t>Aptitude Tests</a:t>
              </a:r>
            </a:p>
          </p:txBody>
        </p:sp>
        <p:sp>
          <p:nvSpPr>
            <p:cNvPr id="106" name="Google Shape;106;p15"/>
            <p:cNvSpPr/>
            <p:nvPr/>
          </p:nvSpPr>
          <p:spPr>
            <a:xfrm>
              <a:off x="1143000" y="1762125"/>
              <a:ext cx="1809600" cy="5715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97895" y="120000"/>
                  </a:lnTo>
                  <a:lnTo>
                    <a:pt x="22105" y="120000"/>
                  </a:lnTo>
                  <a:close/>
                </a:path>
              </a:pathLst>
            </a:custGeom>
            <a:solidFill>
              <a:srgbClr val="FBBF24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15"/>
            <p:cNvSpPr txBox="1"/>
            <p:nvPr/>
          </p:nvSpPr>
          <p:spPr>
            <a:xfrm>
              <a:off x="1476375" y="1924050"/>
              <a:ext cx="1143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b="1" dirty="0">
                  <a:solidFill>
                    <a:srgbClr val="111827"/>
                  </a:solidFill>
                  <a:latin typeface="Outfit"/>
                  <a:ea typeface="Outfit"/>
                  <a:cs typeface="Outfit"/>
                  <a:sym typeface="Outfit"/>
                </a:rPr>
                <a:t>Coding Assessments</a:t>
              </a:r>
              <a:endParaRPr sz="2400" dirty="0"/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1524000" y="2428875"/>
              <a:ext cx="1047900" cy="5715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81818" y="120000"/>
                  </a:lnTo>
                  <a:lnTo>
                    <a:pt x="38182" y="120000"/>
                  </a:lnTo>
                  <a:close/>
                </a:path>
              </a:pathLst>
            </a:custGeom>
            <a:solidFill>
              <a:srgbClr val="34D399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5"/>
            <p:cNvSpPr txBox="1"/>
            <p:nvPr/>
          </p:nvSpPr>
          <p:spPr>
            <a:xfrm>
              <a:off x="1714500" y="2533652"/>
              <a:ext cx="666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 dirty="0">
                  <a:solidFill>
                    <a:srgbClr val="111827"/>
                  </a:solidFill>
                  <a:latin typeface="Outfit"/>
                  <a:ea typeface="Outfit"/>
                  <a:cs typeface="Outfit"/>
                  <a:sym typeface="Outfit"/>
                </a:rPr>
                <a:t>Technical Interviews</a:t>
              </a:r>
              <a:endParaRPr sz="1600" dirty="0"/>
            </a:p>
          </p:txBody>
        </p:sp>
      </p:grpSp>
      <p:cxnSp>
        <p:nvCxnSpPr>
          <p:cNvPr id="2" name="Google Shape;93;p15"/>
          <p:cNvCxnSpPr/>
          <p:nvPr/>
        </p:nvCxnSpPr>
        <p:spPr>
          <a:xfrm>
            <a:off x="381000" y="116205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7"/>
          <p:cNvGrpSpPr/>
          <p:nvPr/>
        </p:nvGrpSpPr>
        <p:grpSpPr>
          <a:xfrm>
            <a:off x="0" y="0"/>
            <a:ext cx="9144150" cy="5143650"/>
            <a:chOff x="0" y="0"/>
            <a:chExt cx="9144150" cy="5143650"/>
          </a:xfrm>
        </p:grpSpPr>
        <p:sp>
          <p:nvSpPr>
            <p:cNvPr id="143" name="Google Shape;143;p17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4" name="Google Shape;144;p17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4763" y="4763"/>
              <a:ext cx="8982000" cy="498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5" name="Google Shape;145;p17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7"/>
            <p:cNvSpPr/>
            <p:nvPr/>
          </p:nvSpPr>
          <p:spPr>
            <a:xfrm>
              <a:off x="8667750" y="4667250"/>
              <a:ext cx="476400" cy="476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7" name="Google Shape;147;p17"/>
          <p:cNvSpPr txBox="1"/>
          <p:nvPr/>
        </p:nvSpPr>
        <p:spPr>
          <a:xfrm>
            <a:off x="571500" y="381000"/>
            <a:ext cx="8001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OVERVIEW OF SELECTION ROUNDS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altLang="en-GB" sz="27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Interview Process</a:t>
            </a:r>
          </a:p>
        </p:txBody>
      </p:sp>
      <p:grpSp>
        <p:nvGrpSpPr>
          <p:cNvPr id="148" name="Google Shape;148;p17"/>
          <p:cNvGrpSpPr/>
          <p:nvPr/>
        </p:nvGrpSpPr>
        <p:grpSpPr>
          <a:xfrm>
            <a:off x="628650" y="1581150"/>
            <a:ext cx="8001000" cy="2857500"/>
            <a:chOff x="628650" y="1581150"/>
            <a:chExt cx="8001000" cy="2857500"/>
          </a:xfrm>
        </p:grpSpPr>
        <p:sp>
          <p:nvSpPr>
            <p:cNvPr id="149" name="Google Shape;149;p17"/>
            <p:cNvSpPr/>
            <p:nvPr/>
          </p:nvSpPr>
          <p:spPr>
            <a:xfrm>
              <a:off x="628650" y="1581150"/>
              <a:ext cx="2476500" cy="28575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16000"/>
                  </a:lnTo>
                  <a:lnTo>
                    <a:pt x="120000" y="104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B132B">
                <a:alpha val="15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17"/>
            <p:cNvSpPr/>
            <p:nvPr/>
          </p:nvSpPr>
          <p:spPr>
            <a:xfrm>
              <a:off x="3390900" y="1962150"/>
              <a:ext cx="2476500" cy="20955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21818"/>
                  </a:lnTo>
                  <a:lnTo>
                    <a:pt x="120000" y="98182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B132B">
                <a:alpha val="15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17"/>
            <p:cNvSpPr/>
            <p:nvPr/>
          </p:nvSpPr>
          <p:spPr>
            <a:xfrm>
              <a:off x="6153150" y="2343150"/>
              <a:ext cx="2476500" cy="13335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34286"/>
                  </a:lnTo>
                  <a:lnTo>
                    <a:pt x="120000" y="85714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B132B">
                <a:alpha val="15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" name="Google Shape;152;p17"/>
          <p:cNvGrpSpPr/>
          <p:nvPr/>
        </p:nvGrpSpPr>
        <p:grpSpPr>
          <a:xfrm>
            <a:off x="571500" y="1524000"/>
            <a:ext cx="8001000" cy="2857500"/>
            <a:chOff x="571500" y="1524000"/>
            <a:chExt cx="8001000" cy="2857500"/>
          </a:xfrm>
        </p:grpSpPr>
        <p:sp>
          <p:nvSpPr>
            <p:cNvPr id="153" name="Google Shape;153;p17"/>
            <p:cNvSpPr/>
            <p:nvPr/>
          </p:nvSpPr>
          <p:spPr>
            <a:xfrm>
              <a:off x="571500" y="1524000"/>
              <a:ext cx="2476500" cy="28575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16000"/>
                  </a:lnTo>
                  <a:lnTo>
                    <a:pt x="120000" y="104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7"/>
            <p:cNvSpPr/>
            <p:nvPr/>
          </p:nvSpPr>
          <p:spPr>
            <a:xfrm>
              <a:off x="3333750" y="1905000"/>
              <a:ext cx="2476500" cy="20955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21818"/>
                  </a:lnTo>
                  <a:lnTo>
                    <a:pt x="120000" y="98182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5733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6096000" y="2286000"/>
              <a:ext cx="2476500" cy="13335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34286"/>
                  </a:lnTo>
                  <a:lnTo>
                    <a:pt x="120000" y="85714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6" name="Google Shape;156;p17"/>
          <p:cNvGrpSpPr/>
          <p:nvPr/>
        </p:nvGrpSpPr>
        <p:grpSpPr>
          <a:xfrm>
            <a:off x="3143250" y="2876550"/>
            <a:ext cx="2876550" cy="152400"/>
            <a:chOff x="3143250" y="2876550"/>
            <a:chExt cx="2876550" cy="152400"/>
          </a:xfrm>
        </p:grpSpPr>
        <p:sp>
          <p:nvSpPr>
            <p:cNvPr id="157" name="Google Shape;157;p17"/>
            <p:cNvSpPr/>
            <p:nvPr/>
          </p:nvSpPr>
          <p:spPr>
            <a:xfrm>
              <a:off x="3143250" y="2876550"/>
              <a:ext cx="114300" cy="152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6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B132B">
                <a:alpha val="8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17"/>
            <p:cNvSpPr/>
            <p:nvPr/>
          </p:nvSpPr>
          <p:spPr>
            <a:xfrm>
              <a:off x="5905500" y="2876550"/>
              <a:ext cx="114300" cy="152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6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B132B">
                <a:alpha val="8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9" name="Google Shape;159;p17"/>
          <p:cNvGrpSpPr/>
          <p:nvPr/>
        </p:nvGrpSpPr>
        <p:grpSpPr>
          <a:xfrm>
            <a:off x="714225" y="1702557"/>
            <a:ext cx="7715550" cy="2476500"/>
            <a:chOff x="714225" y="1702557"/>
            <a:chExt cx="7715550" cy="2476500"/>
          </a:xfrm>
        </p:grpSpPr>
        <p:sp>
          <p:nvSpPr>
            <p:cNvPr id="160" name="Google Shape;160;p17"/>
            <p:cNvSpPr txBox="1"/>
            <p:nvPr/>
          </p:nvSpPr>
          <p:spPr>
            <a:xfrm>
              <a:off x="714225" y="1702557"/>
              <a:ext cx="21909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50" b="0" dirty="0">
                  <a:solidFill>
                    <a:srgbClr val="FFC300"/>
                  </a:solidFill>
                  <a:highlight>
                    <a:srgbClr val="000080"/>
                  </a:highlight>
                  <a:latin typeface="Poppins ExtraBold"/>
                  <a:ea typeface="Poppins ExtraBold"/>
                  <a:cs typeface="Poppins ExtraBold"/>
                  <a:sym typeface="Poppins ExtraBold"/>
                </a:rPr>
                <a:t>Round 1</a:t>
              </a: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GB" sz="1650" b="1" dirty="0">
                  <a:solidFill>
                    <a:srgbClr val="FFFFFF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rPr>
                <a:t>Aptitude Tests</a:t>
              </a:r>
              <a:endParaRPr sz="1650" b="1" dirty="0">
                <a:solidFill>
                  <a:srgbClr val="FFFFFF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endParaRPr>
            </a:p>
          </p:txBody>
        </p:sp>
        <p:sp>
          <p:nvSpPr>
            <p:cNvPr id="161" name="Google Shape;161;p17"/>
            <p:cNvSpPr txBox="1"/>
            <p:nvPr/>
          </p:nvSpPr>
          <p:spPr>
            <a:xfrm>
              <a:off x="3476625" y="2047875"/>
              <a:ext cx="2190900" cy="18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50" b="0" dirty="0">
                  <a:solidFill>
                    <a:srgbClr val="FFFFFF"/>
                  </a:solidFill>
                  <a:highlight>
                    <a:srgbClr val="000080"/>
                  </a:highlight>
                  <a:latin typeface="Poppins ExtraBold"/>
                  <a:ea typeface="Poppins ExtraBold"/>
                  <a:cs typeface="Poppins ExtraBold"/>
                  <a:sym typeface="Poppins ExtraBold"/>
                </a:rPr>
                <a:t>Round 2</a:t>
              </a: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GB" sz="1500" b="1" dirty="0">
                  <a:solidFill>
                    <a:srgbClr val="FFFFFF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rPr>
                <a:t>Coding Assessments</a:t>
              </a:r>
              <a:endParaRPr sz="1500" b="1" dirty="0">
                <a:solidFill>
                  <a:srgbClr val="FFFFFF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endParaRPr>
            </a:p>
            <a:p>
              <a:pPr marL="0" lvl="0" indent="0" algn="ctr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050" b="0" dirty="0">
                  <a:solidFill>
                    <a:srgbClr val="F8F9FA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(e.g., </a:t>
              </a:r>
              <a:r>
                <a:rPr lang="en-GB" sz="1050" b="0" dirty="0" err="1">
                  <a:solidFill>
                    <a:srgbClr val="F8F9FA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HackerRank</a:t>
              </a:r>
              <a:r>
                <a:rPr lang="en-GB" sz="1050" b="0" dirty="0">
                  <a:solidFill>
                    <a:srgbClr val="F8F9FA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)</a:t>
              </a:r>
              <a:endParaRPr sz="1050" b="0" dirty="0">
                <a:solidFill>
                  <a:srgbClr val="F8F9F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62" name="Google Shape;162;p17"/>
            <p:cNvSpPr txBox="1"/>
            <p:nvPr/>
          </p:nvSpPr>
          <p:spPr>
            <a:xfrm>
              <a:off x="6238875" y="2381250"/>
              <a:ext cx="21909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5" b="0" dirty="0">
                  <a:solidFill>
                    <a:srgbClr val="FFFFFF"/>
                  </a:solidFill>
                  <a:highlight>
                    <a:srgbClr val="000080"/>
                  </a:highlight>
                  <a:latin typeface="Poppins ExtraBold"/>
                  <a:ea typeface="Poppins ExtraBold"/>
                  <a:cs typeface="Poppins ExtraBold"/>
                  <a:sym typeface="Poppins ExtraBold"/>
                </a:rPr>
                <a:t>Round 3</a:t>
              </a:r>
            </a:p>
            <a:p>
              <a:pPr marL="0" lvl="0" indent="0" algn="ctr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altLang="en-GB" sz="1200" b="1" dirty="0">
                  <a:solidFill>
                    <a:srgbClr val="0B132B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rPr>
                <a:t>Technical </a:t>
              </a:r>
              <a:r>
                <a:rPr lang="en-GB" sz="1200" b="1" dirty="0">
                  <a:solidFill>
                    <a:srgbClr val="0B132B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rPr>
                <a:t>Interviews</a:t>
              </a:r>
              <a:endParaRPr sz="1200" b="1" dirty="0">
                <a:solidFill>
                  <a:srgbClr val="0B132B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endParaRPr>
            </a:p>
          </p:txBody>
        </p:sp>
      </p:grpSp>
      <p:cxnSp>
        <p:nvCxnSpPr>
          <p:cNvPr id="93" name="Google Shape;93;p15"/>
          <p:cNvCxnSpPr/>
          <p:nvPr/>
        </p:nvCxnSpPr>
        <p:spPr>
          <a:xfrm>
            <a:off x="381000" y="11811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3" name="Google Shape;554;p30"/>
          <p:cNvGrpSpPr/>
          <p:nvPr/>
        </p:nvGrpSpPr>
        <p:grpSpPr>
          <a:xfrm>
            <a:off x="2400300" y="4344670"/>
            <a:ext cx="5251784" cy="604520"/>
            <a:chOff x="-4343400" y="-187842"/>
            <a:chExt cx="9312910" cy="666810"/>
          </a:xfrm>
        </p:grpSpPr>
        <p:sp>
          <p:nvSpPr>
            <p:cNvPr id="4" name="Google Shape;556;p30"/>
            <p:cNvSpPr/>
            <p:nvPr/>
          </p:nvSpPr>
          <p:spPr>
            <a:xfrm>
              <a:off x="-4343400" y="-187842"/>
              <a:ext cx="9312910" cy="666810"/>
            </a:xfrm>
            <a:prstGeom prst="roundRect">
              <a:avLst>
                <a:gd name="adj" fmla="val 16000"/>
              </a:avLst>
            </a:prstGeom>
            <a:solidFill>
              <a:srgbClr val="34D399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/>
            </a:p>
          </p:txBody>
        </p:sp>
        <p:sp>
          <p:nvSpPr>
            <p:cNvPr id="5" name="Google Shape;558;p30"/>
            <p:cNvSpPr txBox="1"/>
            <p:nvPr/>
          </p:nvSpPr>
          <p:spPr>
            <a:xfrm>
              <a:off x="-3872229" y="11036"/>
              <a:ext cx="8192770" cy="4004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algn="ctr" rtl="0">
                <a:spcBef>
                  <a:spcPts val="0"/>
                </a:spcBef>
                <a:spcAft>
                  <a:spcPts val="0"/>
                </a:spcAft>
                <a:buSzTx/>
                <a:buNone/>
              </a:pPr>
              <a:r>
                <a:rPr lang="en-US" altLang="zh-CN" sz="1600" b="1" dirty="0">
                  <a:latin typeface="Arial Bold" panose="020B0604020202090204" charset="0"/>
                  <a:cs typeface="Arial Bold" panose="020B0604020202090204" charset="0"/>
                  <a:sym typeface="+mn-ea"/>
                </a:rPr>
                <a:t>Remember</a:t>
              </a:r>
              <a:r>
                <a:rPr lang="en-US" altLang="zh-CN" sz="1600" dirty="0">
                  <a:latin typeface="Arial" panose="020B0604020202090204" pitchFamily="34" charset="0"/>
                  <a:cs typeface="Arial" panose="020B0604020202090204" pitchFamily="34" charset="0"/>
                  <a:sym typeface="+mn-ea"/>
                </a:rPr>
                <a:t>: Every round is an elimination round</a:t>
              </a:r>
              <a:endParaRPr lang="en-US" altLang="en-GB" sz="1600" dirty="0">
                <a:solidFill>
                  <a:srgbClr val="111827"/>
                </a:solidFill>
                <a:latin typeface="Outfit"/>
                <a:ea typeface="Outfit"/>
                <a:cs typeface="Outfit"/>
                <a:sym typeface="DM Sans Medium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8" name="Google Shape;168;p18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763" y="4763"/>
            <a:ext cx="8982000" cy="498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8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2D68F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8"/>
          <p:cNvSpPr/>
          <p:nvPr/>
        </p:nvSpPr>
        <p:spPr>
          <a:xfrm>
            <a:off x="8667750" y="4667250"/>
            <a:ext cx="476400" cy="47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120000" y="120000"/>
                </a:moveTo>
                <a:lnTo>
                  <a:pt x="120000" y="0"/>
                </a:lnTo>
                <a:lnTo>
                  <a:pt x="0" y="120000"/>
                </a:lnTo>
                <a:close/>
              </a:path>
            </a:pathLst>
          </a:custGeom>
          <a:solidFill>
            <a:srgbClr val="FFC300">
              <a:alpha val="60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571500" y="381000"/>
            <a:ext cx="80010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ROUND 1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GB" sz="27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Aptitude Tests - </a:t>
            </a:r>
            <a:r>
              <a:rPr lang="en-US" altLang="en-GB" sz="27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</a:t>
            </a:r>
            <a:r>
              <a:rPr lang="en-GB" sz="27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he First Hurdle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</p:txBody>
      </p:sp>
      <p:grpSp>
        <p:nvGrpSpPr>
          <p:cNvPr id="172" name="Google Shape;172;p18"/>
          <p:cNvGrpSpPr/>
          <p:nvPr/>
        </p:nvGrpSpPr>
        <p:grpSpPr>
          <a:xfrm>
            <a:off x="571500" y="2440940"/>
            <a:ext cx="8001000" cy="589915"/>
            <a:chOff x="0" y="0"/>
            <a:chExt cx="8001150" cy="563633"/>
          </a:xfrm>
        </p:grpSpPr>
        <p:grpSp>
          <p:nvGrpSpPr>
            <p:cNvPr id="173" name="Google Shape;173;p18"/>
            <p:cNvGrpSpPr/>
            <p:nvPr/>
          </p:nvGrpSpPr>
          <p:grpSpPr>
            <a:xfrm>
              <a:off x="0" y="133350"/>
              <a:ext cx="304800" cy="304800"/>
              <a:chOff x="0" y="0"/>
              <a:chExt cx="304800" cy="304800"/>
            </a:xfrm>
          </p:grpSpPr>
          <p:sp>
            <p:nvSpPr>
              <p:cNvPr id="174" name="Google Shape;174;p18"/>
              <p:cNvSpPr/>
              <p:nvPr/>
            </p:nvSpPr>
            <p:spPr>
              <a:xfrm>
                <a:off x="0" y="0"/>
                <a:ext cx="304800" cy="304800"/>
              </a:xfrm>
              <a:prstGeom prst="ellipse">
                <a:avLst/>
              </a:prstGeom>
              <a:solidFill>
                <a:srgbClr val="00B05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Google Shape;175;p18"/>
              <p:cNvSpPr/>
              <p:nvPr/>
            </p:nvSpPr>
            <p:spPr>
              <a:xfrm>
                <a:off x="95250" y="11430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60000"/>
                    </a:moveTo>
                    <a:lnTo>
                      <a:pt x="40000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6" name="Google Shape;176;p18"/>
            <p:cNvSpPr txBox="1"/>
            <p:nvPr/>
          </p:nvSpPr>
          <p:spPr>
            <a:xfrm>
              <a:off x="476259" y="0"/>
              <a:ext cx="7524891" cy="563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GB" sz="1350" b="0">
                  <a:solidFill>
                    <a:srgbClr val="4A5568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Tests Quantitative and Logical reasoning skills</a:t>
              </a:r>
              <a:endParaRPr lang="en-US" sz="1350" b="0">
                <a:solidFill>
                  <a:srgbClr val="4A556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177" name="Google Shape;177;p18"/>
          <p:cNvGrpSpPr/>
          <p:nvPr/>
        </p:nvGrpSpPr>
        <p:grpSpPr>
          <a:xfrm>
            <a:off x="571500" y="3142615"/>
            <a:ext cx="8001000" cy="589280"/>
            <a:chOff x="0" y="0"/>
            <a:chExt cx="8001150" cy="571500"/>
          </a:xfrm>
        </p:grpSpPr>
        <p:grpSp>
          <p:nvGrpSpPr>
            <p:cNvPr id="178" name="Google Shape;178;p18"/>
            <p:cNvGrpSpPr/>
            <p:nvPr/>
          </p:nvGrpSpPr>
          <p:grpSpPr>
            <a:xfrm>
              <a:off x="0" y="133350"/>
              <a:ext cx="304800" cy="304800"/>
              <a:chOff x="0" y="0"/>
              <a:chExt cx="304800" cy="304800"/>
            </a:xfrm>
          </p:grpSpPr>
          <p:sp>
            <p:nvSpPr>
              <p:cNvPr id="179" name="Google Shape;179;p18"/>
              <p:cNvSpPr/>
              <p:nvPr/>
            </p:nvSpPr>
            <p:spPr>
              <a:xfrm>
                <a:off x="0" y="0"/>
                <a:ext cx="304800" cy="304800"/>
              </a:xfrm>
              <a:prstGeom prst="ellipse">
                <a:avLst/>
              </a:prstGeom>
              <a:solidFill>
                <a:srgbClr val="00B05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Google Shape;180;p18"/>
              <p:cNvSpPr/>
              <p:nvPr/>
            </p:nvSpPr>
            <p:spPr>
              <a:xfrm>
                <a:off x="95250" y="11430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60000"/>
                    </a:moveTo>
                    <a:lnTo>
                      <a:pt x="40000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81" name="Google Shape;181;p18"/>
            <p:cNvSpPr txBox="1"/>
            <p:nvPr/>
          </p:nvSpPr>
          <p:spPr>
            <a:xfrm>
              <a:off x="476250" y="0"/>
              <a:ext cx="7524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50" b="0">
                  <a:solidFill>
                    <a:srgbClr val="4A5568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Requires a balance of speed and accuracy.</a:t>
              </a:r>
              <a:endParaRPr sz="1350" b="0">
                <a:solidFill>
                  <a:srgbClr val="4A556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182" name="Google Shape;182;p18"/>
          <p:cNvGrpSpPr/>
          <p:nvPr/>
        </p:nvGrpSpPr>
        <p:grpSpPr>
          <a:xfrm>
            <a:off x="571500" y="1784985"/>
            <a:ext cx="8001000" cy="590550"/>
            <a:chOff x="0" y="0"/>
            <a:chExt cx="8001150" cy="571500"/>
          </a:xfrm>
        </p:grpSpPr>
        <p:grpSp>
          <p:nvGrpSpPr>
            <p:cNvPr id="183" name="Google Shape;183;p18"/>
            <p:cNvGrpSpPr/>
            <p:nvPr/>
          </p:nvGrpSpPr>
          <p:grpSpPr>
            <a:xfrm>
              <a:off x="0" y="133350"/>
              <a:ext cx="304800" cy="304800"/>
              <a:chOff x="0" y="0"/>
              <a:chExt cx="304800" cy="304800"/>
            </a:xfrm>
          </p:grpSpPr>
          <p:sp>
            <p:nvSpPr>
              <p:cNvPr id="184" name="Google Shape;184;p18"/>
              <p:cNvSpPr/>
              <p:nvPr/>
            </p:nvSpPr>
            <p:spPr>
              <a:xfrm>
                <a:off x="0" y="0"/>
                <a:ext cx="304800" cy="304800"/>
              </a:xfrm>
              <a:prstGeom prst="ellipse">
                <a:avLst/>
              </a:prstGeom>
              <a:solidFill>
                <a:srgbClr val="00B05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18"/>
              <p:cNvSpPr/>
              <p:nvPr/>
            </p:nvSpPr>
            <p:spPr>
              <a:xfrm>
                <a:off x="95250" y="11430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60000"/>
                    </a:moveTo>
                    <a:lnTo>
                      <a:pt x="40000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86" name="Google Shape;186;p18"/>
            <p:cNvSpPr txBox="1"/>
            <p:nvPr/>
          </p:nvSpPr>
          <p:spPr>
            <a:xfrm>
              <a:off x="476250" y="0"/>
              <a:ext cx="7524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50" b="0">
                  <a:solidFill>
                    <a:srgbClr val="4A5568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Acts as the primary elimination round.</a:t>
              </a:r>
              <a:endParaRPr sz="1350" b="0">
                <a:solidFill>
                  <a:srgbClr val="4A556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cxnSp>
        <p:nvCxnSpPr>
          <p:cNvPr id="93" name="Google Shape;93;p15"/>
          <p:cNvCxnSpPr/>
          <p:nvPr/>
        </p:nvCxnSpPr>
        <p:spPr>
          <a:xfrm>
            <a:off x="381000" y="13716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8" name="Google Shape;168;p18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763" y="4763"/>
            <a:ext cx="8982000" cy="498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8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2D68F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8"/>
          <p:cNvSpPr/>
          <p:nvPr/>
        </p:nvSpPr>
        <p:spPr>
          <a:xfrm>
            <a:off x="8667750" y="4667250"/>
            <a:ext cx="476400" cy="47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120000" y="120000"/>
                </a:moveTo>
                <a:lnTo>
                  <a:pt x="120000" y="0"/>
                </a:lnTo>
                <a:lnTo>
                  <a:pt x="0" y="120000"/>
                </a:lnTo>
                <a:close/>
              </a:path>
            </a:pathLst>
          </a:custGeom>
          <a:solidFill>
            <a:srgbClr val="FFC300">
              <a:alpha val="60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571500" y="381000"/>
            <a:ext cx="80010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 dirty="0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ROUND 1</a:t>
            </a:r>
            <a:endParaRPr sz="1800" b="1" i="0" u="none" strike="noStrike" dirty="0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GB" sz="2700" b="0" i="0" u="none" strike="noStrike" dirty="0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Aptitude Tests - </a:t>
            </a:r>
            <a:r>
              <a:rPr lang="en-US" sz="2700" b="0" i="0" u="none" strike="noStrike" dirty="0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Keys Assessment topics</a:t>
            </a:r>
            <a:endParaRPr lang="en-US" sz="1800" b="1" i="0" u="none" strike="noStrike" dirty="0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</p:txBody>
      </p:sp>
      <p:cxnSp>
        <p:nvCxnSpPr>
          <p:cNvPr id="93" name="Google Shape;93;p15"/>
          <p:cNvCxnSpPr/>
          <p:nvPr/>
        </p:nvCxnSpPr>
        <p:spPr>
          <a:xfrm>
            <a:off x="381000" y="13716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3" name="Google Shape;123;p16"/>
          <p:cNvGrpSpPr/>
          <p:nvPr/>
        </p:nvGrpSpPr>
        <p:grpSpPr>
          <a:xfrm>
            <a:off x="250190" y="1656715"/>
            <a:ext cx="3255799" cy="3054985"/>
            <a:chOff x="-4000500" y="1361440"/>
            <a:chExt cx="3277420" cy="1645197"/>
          </a:xfrm>
        </p:grpSpPr>
        <p:sp>
          <p:nvSpPr>
            <p:cNvPr id="2" name="Google Shape;125;p16"/>
            <p:cNvSpPr/>
            <p:nvPr/>
          </p:nvSpPr>
          <p:spPr>
            <a:xfrm>
              <a:off x="-4000500" y="1361440"/>
              <a:ext cx="2917398" cy="1645197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952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7" name="Google Shape;127;p16"/>
            <p:cNvGrpSpPr/>
            <p:nvPr/>
          </p:nvGrpSpPr>
          <p:grpSpPr>
            <a:xfrm>
              <a:off x="-3916776" y="1455658"/>
              <a:ext cx="3193696" cy="1505675"/>
              <a:chOff x="-3916776" y="1455658"/>
              <a:chExt cx="3193696" cy="1505675"/>
            </a:xfrm>
          </p:grpSpPr>
          <p:sp>
            <p:nvSpPr>
              <p:cNvPr id="128" name="Google Shape;128;p16"/>
              <p:cNvSpPr/>
              <p:nvPr/>
            </p:nvSpPr>
            <p:spPr>
              <a:xfrm>
                <a:off x="-3916776" y="1455658"/>
                <a:ext cx="342620" cy="170641"/>
              </a:xfrm>
              <a:prstGeom prst="ellipse">
                <a:avLst/>
              </a:prstGeom>
              <a:solidFill>
                <a:srgbClr val="FF6B6B"/>
              </a:solidFill>
              <a:ln w="19050" cap="flat" cmpd="sng">
                <a:solidFill>
                  <a:srgbClr val="11182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129;p16"/>
              <p:cNvSpPr txBox="1"/>
              <p:nvPr/>
            </p:nvSpPr>
            <p:spPr>
              <a:xfrm>
                <a:off x="-3859613" y="1458715"/>
                <a:ext cx="211581" cy="1706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lvl="0" algn="ctr">
                  <a:buSzTx/>
                </a:pPr>
                <a:r>
                  <a:rPr lang="en-GB" sz="1000" b="1">
                    <a:solidFill>
                      <a:srgbClr val="FFFFFF"/>
                    </a:solidFill>
                    <a:uFillTx/>
                    <a:latin typeface="Outfit" charset="0"/>
                    <a:ea typeface="Outfit"/>
                    <a:cs typeface="Outfit"/>
                    <a:sym typeface="Outfit"/>
                  </a:rPr>
                  <a:t>1</a:t>
                </a:r>
              </a:p>
            </p:txBody>
          </p:sp>
          <p:sp>
            <p:nvSpPr>
              <p:cNvPr id="130" name="Google Shape;130;p16"/>
              <p:cNvSpPr txBox="1"/>
              <p:nvPr/>
            </p:nvSpPr>
            <p:spPr>
              <a:xfrm>
                <a:off x="-3441669" y="1468653"/>
                <a:ext cx="2718589" cy="14926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600" b="1" dirty="0">
                    <a:solidFill>
                      <a:srgbClr val="111827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Quantitative Aptitude</a:t>
                </a:r>
                <a:endParaRPr sz="1600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endParaRPr lang="en-US" altLang="en-GB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altLang="en-GB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M</a:t>
                </a:r>
                <a:r>
                  <a:rPr lang="en-GB" b="0" dirty="0" err="1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athematical</a:t>
                </a:r>
                <a:r>
                  <a:rPr lang="en-GB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 foundations </a:t>
                </a: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endParaRPr lang="en-GB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endParaRPr>
              </a:p>
              <a:p>
                <a:pPr marL="171450" lvl="0" indent="-171450" algn="l" rtl="0">
                  <a:spcBef>
                    <a:spcPts val="300"/>
                  </a:spcBef>
                  <a:spcAft>
                    <a:spcPts val="0"/>
                  </a:spcAft>
                  <a:buFont typeface="Wingdings" panose="05000000000000000000" charset="0"/>
                  <a:buChar char=""/>
                </a:pPr>
                <a:r>
                  <a:rPr lang="en-US" alt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P</a:t>
                </a:r>
                <a:r>
                  <a:rPr lang="en-GB" sz="1200" b="0" dirty="0" err="1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ercentages</a:t>
                </a:r>
                <a:endParaRPr lang="en-GB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endParaRPr>
              </a:p>
              <a:p>
                <a:pPr marL="171450" lvl="0" indent="-171450" algn="l" rtl="0">
                  <a:spcBef>
                    <a:spcPts val="300"/>
                  </a:spcBef>
                  <a:spcAft>
                    <a:spcPts val="0"/>
                  </a:spcAft>
                  <a:buFont typeface="Wingdings" panose="05000000000000000000" charset="0"/>
                  <a:buChar char=""/>
                </a:pPr>
                <a:r>
                  <a:rPr lang="en-US" alt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R</a:t>
                </a:r>
                <a:r>
                  <a:rPr lang="en-GB" sz="1200" b="0" dirty="0" err="1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atios</a:t>
                </a:r>
                <a:r>
                  <a:rPr lang="en-US" alt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 &amp; Proportion</a:t>
                </a:r>
              </a:p>
              <a:p>
                <a:pPr marL="171450" lvl="0" indent="-171450" algn="l" rtl="0">
                  <a:spcBef>
                    <a:spcPts val="300"/>
                  </a:spcBef>
                  <a:spcAft>
                    <a:spcPts val="0"/>
                  </a:spcAft>
                  <a:buFont typeface="Wingdings" panose="05000000000000000000" charset="0"/>
                  <a:buChar char=""/>
                </a:pPr>
                <a:r>
                  <a:rPr lang="en-US" alt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T</a:t>
                </a:r>
                <a:r>
                  <a:rPr lang="en-GB" sz="1200" b="0" dirty="0" err="1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ime</a:t>
                </a:r>
                <a:r>
                  <a:rPr 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 </a:t>
                </a:r>
                <a:r>
                  <a:rPr lang="en-US" alt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&amp;</a:t>
                </a:r>
                <a:r>
                  <a:rPr 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 work</a:t>
                </a:r>
              </a:p>
              <a:p>
                <a:pPr marL="171450" lvl="0" indent="-171450" algn="l" rtl="0">
                  <a:spcBef>
                    <a:spcPts val="300"/>
                  </a:spcBef>
                  <a:spcAft>
                    <a:spcPts val="0"/>
                  </a:spcAft>
                  <a:buFont typeface="Wingdings" panose="05000000000000000000" charset="0"/>
                  <a:buChar char=""/>
                </a:pPr>
                <a:r>
                  <a:rPr lang="en-US" alt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Time &amp; Distance</a:t>
                </a:r>
              </a:p>
              <a:p>
                <a:pPr marL="171450" lvl="0" indent="-171450" algn="l" rtl="0">
                  <a:spcBef>
                    <a:spcPts val="300"/>
                  </a:spcBef>
                  <a:spcAft>
                    <a:spcPts val="0"/>
                  </a:spcAft>
                  <a:buFont typeface="Wingdings" panose="05000000000000000000" charset="0"/>
                  <a:buChar char=""/>
                </a:pPr>
                <a:r>
                  <a:rPr lang="en-US" alt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P</a:t>
                </a:r>
                <a:r>
                  <a:rPr lang="en-GB" sz="1200" b="0" dirty="0" err="1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robability</a:t>
                </a:r>
                <a:endParaRPr lang="en-GB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endParaRPr>
              </a:p>
              <a:p>
                <a:pPr marL="171450" lvl="0" indent="-171450" algn="l" rtl="0">
                  <a:spcBef>
                    <a:spcPts val="300"/>
                  </a:spcBef>
                  <a:spcAft>
                    <a:spcPts val="0"/>
                  </a:spcAft>
                  <a:buFont typeface="Wingdings" panose="05000000000000000000" charset="0"/>
                  <a:buChar char=""/>
                </a:pPr>
                <a:r>
                  <a:rPr lang="en-US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Wage Problems</a:t>
                </a:r>
              </a:p>
            </p:txBody>
          </p:sp>
        </p:grpSp>
      </p:grpSp>
      <p:grpSp>
        <p:nvGrpSpPr>
          <p:cNvPr id="3" name="Google Shape;123;p16">
            <a:extLst>
              <a:ext uri="{FF2B5EF4-FFF2-40B4-BE49-F238E27FC236}">
                <a16:creationId xmlns:a16="http://schemas.microsoft.com/office/drawing/2014/main" id="{EA6679E2-370B-E66A-DEEF-FD69FDC7A549}"/>
              </a:ext>
            </a:extLst>
          </p:cNvPr>
          <p:cNvGrpSpPr/>
          <p:nvPr/>
        </p:nvGrpSpPr>
        <p:grpSpPr>
          <a:xfrm>
            <a:off x="3183833" y="1628230"/>
            <a:ext cx="2872208" cy="3054985"/>
            <a:chOff x="-4000500" y="1361440"/>
            <a:chExt cx="3140806" cy="1645197"/>
          </a:xfrm>
        </p:grpSpPr>
        <p:sp>
          <p:nvSpPr>
            <p:cNvPr id="4" name="Google Shape;125;p16">
              <a:extLst>
                <a:ext uri="{FF2B5EF4-FFF2-40B4-BE49-F238E27FC236}">
                  <a16:creationId xmlns:a16="http://schemas.microsoft.com/office/drawing/2014/main" id="{DDA92354-D5C3-DB70-135B-363CADF24A62}"/>
                </a:ext>
              </a:extLst>
            </p:cNvPr>
            <p:cNvSpPr/>
            <p:nvPr/>
          </p:nvSpPr>
          <p:spPr>
            <a:xfrm>
              <a:off x="-4000500" y="1361440"/>
              <a:ext cx="3140806" cy="1645197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952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" name="Google Shape;131;p16">
              <a:extLst>
                <a:ext uri="{FF2B5EF4-FFF2-40B4-BE49-F238E27FC236}">
                  <a16:creationId xmlns:a16="http://schemas.microsoft.com/office/drawing/2014/main" id="{9B71D4FD-B999-4260-A7E8-73BED0F9AE80}"/>
                </a:ext>
              </a:extLst>
            </p:cNvPr>
            <p:cNvGrpSpPr/>
            <p:nvPr/>
          </p:nvGrpSpPr>
          <p:grpSpPr>
            <a:xfrm>
              <a:off x="-3800189" y="1422696"/>
              <a:ext cx="2717068" cy="1434209"/>
              <a:chOff x="-3800189" y="1422696"/>
              <a:chExt cx="2717068" cy="1434209"/>
            </a:xfrm>
          </p:grpSpPr>
          <p:sp>
            <p:nvSpPr>
              <p:cNvPr id="11" name="Google Shape;132;p16">
                <a:extLst>
                  <a:ext uri="{FF2B5EF4-FFF2-40B4-BE49-F238E27FC236}">
                    <a16:creationId xmlns:a16="http://schemas.microsoft.com/office/drawing/2014/main" id="{710AD268-AB0C-85A0-45FE-07E439C01718}"/>
                  </a:ext>
                </a:extLst>
              </p:cNvPr>
              <p:cNvSpPr/>
              <p:nvPr/>
            </p:nvSpPr>
            <p:spPr>
              <a:xfrm>
                <a:off x="-3800189" y="1422696"/>
                <a:ext cx="357322" cy="193211"/>
              </a:xfrm>
              <a:prstGeom prst="ellipse">
                <a:avLst/>
              </a:prstGeom>
              <a:solidFill>
                <a:srgbClr val="FBBF24"/>
              </a:solidFill>
              <a:ln w="19050" cap="flat" cmpd="sng">
                <a:solidFill>
                  <a:srgbClr val="11182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133;p16">
                <a:extLst>
                  <a:ext uri="{FF2B5EF4-FFF2-40B4-BE49-F238E27FC236}">
                    <a16:creationId xmlns:a16="http://schemas.microsoft.com/office/drawing/2014/main" id="{BDDF39C9-1BE3-E6BF-A62D-7006B6CB10AE}"/>
                  </a:ext>
                </a:extLst>
              </p:cNvPr>
              <p:cNvSpPr txBox="1"/>
              <p:nvPr/>
            </p:nvSpPr>
            <p:spPr>
              <a:xfrm>
                <a:off x="-3775556" y="1453326"/>
                <a:ext cx="315673" cy="1326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000" b="1" dirty="0">
                    <a:solidFill>
                      <a:srgbClr val="FFFFFF"/>
                    </a:solidFill>
                    <a:uFillTx/>
                    <a:latin typeface="Outfit" charset="0"/>
                    <a:ea typeface="Outfit"/>
                    <a:cs typeface="Outfit"/>
                    <a:sym typeface="Outfit"/>
                  </a:rPr>
                  <a:t>2</a:t>
                </a:r>
              </a:p>
            </p:txBody>
          </p:sp>
          <p:sp>
            <p:nvSpPr>
              <p:cNvPr id="13" name="Google Shape;134;p16">
                <a:extLst>
                  <a:ext uri="{FF2B5EF4-FFF2-40B4-BE49-F238E27FC236}">
                    <a16:creationId xmlns:a16="http://schemas.microsoft.com/office/drawing/2014/main" id="{69C8802B-F530-74DE-6ABE-E19D7F2D043C}"/>
                  </a:ext>
                </a:extLst>
              </p:cNvPr>
              <p:cNvSpPr txBox="1"/>
              <p:nvPr/>
            </p:nvSpPr>
            <p:spPr>
              <a:xfrm>
                <a:off x="-3351976" y="1468245"/>
                <a:ext cx="2268855" cy="13886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600" b="1" dirty="0">
                    <a:solidFill>
                      <a:srgbClr val="111827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Logical Reasoning</a:t>
                </a:r>
                <a:endParaRPr sz="1600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endParaRPr lang="en-US" altLang="en-GB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altLang="en-GB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P</a:t>
                </a:r>
                <a:r>
                  <a:rPr lang="en-GB" b="0" dirty="0" err="1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attern</a:t>
                </a:r>
                <a:r>
                  <a:rPr lang="en-GB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 recognition</a:t>
                </a: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endParaRPr lang="en-GB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endParaRPr>
              </a:p>
              <a:p>
                <a:pPr marL="171450" lvl="0" indent="-171450" algn="l" rtl="0">
                  <a:spcBef>
                    <a:spcPts val="300"/>
                  </a:spcBef>
                  <a:spcAft>
                    <a:spcPts val="0"/>
                  </a:spcAft>
                  <a:buFont typeface="Wingdings" panose="05000000000000000000" charset="0"/>
                  <a:buChar char=""/>
                </a:pPr>
                <a:r>
                  <a:rPr lang="en-US" alt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P</a:t>
                </a:r>
                <a:r>
                  <a:rPr lang="en-GB" sz="1200" b="0" dirty="0" err="1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uzzles</a:t>
                </a:r>
                <a:endParaRPr lang="en-GB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endParaRPr>
              </a:p>
              <a:p>
                <a:pPr marL="171450" lvl="0" indent="-171450" algn="l" rtl="0">
                  <a:spcBef>
                    <a:spcPts val="300"/>
                  </a:spcBef>
                  <a:spcAft>
                    <a:spcPts val="0"/>
                  </a:spcAft>
                  <a:buFont typeface="Wingdings" panose="05000000000000000000" charset="0"/>
                  <a:buChar char=""/>
                </a:pPr>
                <a:r>
                  <a:rPr lang="en-US" alt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S</a:t>
                </a:r>
                <a:r>
                  <a:rPr 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eating arrangements</a:t>
                </a:r>
              </a:p>
              <a:p>
                <a:pPr marL="171450" lvl="0" indent="-171450" algn="l" rtl="0">
                  <a:spcBef>
                    <a:spcPts val="300"/>
                  </a:spcBef>
                  <a:spcAft>
                    <a:spcPts val="0"/>
                  </a:spcAft>
                  <a:buFont typeface="Wingdings" panose="05000000000000000000" charset="0"/>
                  <a:buChar char=""/>
                </a:pPr>
                <a:r>
                  <a:rPr lang="en-US" alt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S</a:t>
                </a:r>
                <a:r>
                  <a:rPr lang="en-GB" sz="1200" b="0" dirty="0" err="1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yllogisms</a:t>
                </a:r>
                <a:endParaRPr lang="en-GB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endParaRPr>
              </a:p>
              <a:p>
                <a:pPr marL="171450" lvl="0" indent="-171450" algn="l" rtl="0">
                  <a:spcBef>
                    <a:spcPts val="300"/>
                  </a:spcBef>
                  <a:spcAft>
                    <a:spcPts val="0"/>
                  </a:spcAft>
                  <a:buFont typeface="Wingdings" panose="05000000000000000000" charset="0"/>
                  <a:buChar char=""/>
                </a:pPr>
                <a:r>
                  <a:rPr lang="en-US" alt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B</a:t>
                </a:r>
                <a:r>
                  <a:rPr lang="en-GB" sz="1200" b="0" dirty="0" err="1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lood</a:t>
                </a:r>
                <a:r>
                  <a:rPr 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 relations</a:t>
                </a:r>
              </a:p>
              <a:p>
                <a:pPr marL="171450" lvl="0" indent="-171450" algn="l" rtl="0">
                  <a:spcBef>
                    <a:spcPts val="300"/>
                  </a:spcBef>
                  <a:spcAft>
                    <a:spcPts val="0"/>
                  </a:spcAft>
                  <a:buFont typeface="Wingdings" panose="05000000000000000000" charset="0"/>
                  <a:buChar char=""/>
                </a:pPr>
                <a:r>
                  <a:rPr lang="en-US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Patterns &amp; Series</a:t>
                </a:r>
              </a:p>
            </p:txBody>
          </p:sp>
        </p:grpSp>
      </p:grpSp>
      <p:grpSp>
        <p:nvGrpSpPr>
          <p:cNvPr id="17" name="Google Shape;123;p16">
            <a:extLst>
              <a:ext uri="{FF2B5EF4-FFF2-40B4-BE49-F238E27FC236}">
                <a16:creationId xmlns:a16="http://schemas.microsoft.com/office/drawing/2014/main" id="{F5713F29-F109-5292-4F79-C364D438924A}"/>
              </a:ext>
            </a:extLst>
          </p:cNvPr>
          <p:cNvGrpSpPr/>
          <p:nvPr/>
        </p:nvGrpSpPr>
        <p:grpSpPr>
          <a:xfrm>
            <a:off x="6078567" y="1628230"/>
            <a:ext cx="2872208" cy="3054985"/>
            <a:chOff x="-4027141" y="1361440"/>
            <a:chExt cx="3124125" cy="1645197"/>
          </a:xfrm>
        </p:grpSpPr>
        <p:sp>
          <p:nvSpPr>
            <p:cNvPr id="18" name="Google Shape;125;p16">
              <a:extLst>
                <a:ext uri="{FF2B5EF4-FFF2-40B4-BE49-F238E27FC236}">
                  <a16:creationId xmlns:a16="http://schemas.microsoft.com/office/drawing/2014/main" id="{001F01C5-7A3A-3EB8-6CFA-711F8434122A}"/>
                </a:ext>
              </a:extLst>
            </p:cNvPr>
            <p:cNvSpPr/>
            <p:nvPr/>
          </p:nvSpPr>
          <p:spPr>
            <a:xfrm>
              <a:off x="-4027141" y="1361440"/>
              <a:ext cx="3124125" cy="1645197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952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" name="Google Shape;135;p16">
              <a:extLst>
                <a:ext uri="{FF2B5EF4-FFF2-40B4-BE49-F238E27FC236}">
                  <a16:creationId xmlns:a16="http://schemas.microsoft.com/office/drawing/2014/main" id="{5E35EE06-1D8C-4636-9F2E-182E6B569083}"/>
                </a:ext>
              </a:extLst>
            </p:cNvPr>
            <p:cNvGrpSpPr/>
            <p:nvPr/>
          </p:nvGrpSpPr>
          <p:grpSpPr>
            <a:xfrm>
              <a:off x="-3828755" y="1420851"/>
              <a:ext cx="2889717" cy="1435865"/>
              <a:chOff x="-3828755" y="1420851"/>
              <a:chExt cx="2889717" cy="1435865"/>
            </a:xfrm>
          </p:grpSpPr>
          <p:sp>
            <p:nvSpPr>
              <p:cNvPr id="22" name="Google Shape;136;p16">
                <a:extLst>
                  <a:ext uri="{FF2B5EF4-FFF2-40B4-BE49-F238E27FC236}">
                    <a16:creationId xmlns:a16="http://schemas.microsoft.com/office/drawing/2014/main" id="{D38384ED-A6ED-5570-8E9C-4A4C26E8525F}"/>
                  </a:ext>
                </a:extLst>
              </p:cNvPr>
              <p:cNvSpPr/>
              <p:nvPr/>
            </p:nvSpPr>
            <p:spPr>
              <a:xfrm>
                <a:off x="-3820556" y="1420851"/>
                <a:ext cx="342620" cy="182610"/>
              </a:xfrm>
              <a:prstGeom prst="ellipse">
                <a:avLst/>
              </a:prstGeom>
              <a:solidFill>
                <a:srgbClr val="34D399"/>
              </a:solidFill>
              <a:ln w="19050" cap="flat" cmpd="sng">
                <a:solidFill>
                  <a:srgbClr val="11182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137;p16">
                <a:extLst>
                  <a:ext uri="{FF2B5EF4-FFF2-40B4-BE49-F238E27FC236}">
                    <a16:creationId xmlns:a16="http://schemas.microsoft.com/office/drawing/2014/main" id="{FE279CDC-49DC-24E9-4A4C-28A953CF56AC}"/>
                  </a:ext>
                </a:extLst>
              </p:cNvPr>
              <p:cNvSpPr txBox="1"/>
              <p:nvPr/>
            </p:nvSpPr>
            <p:spPr>
              <a:xfrm>
                <a:off x="-3828755" y="1424699"/>
                <a:ext cx="342621" cy="1706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lvl="0" algn="ctr">
                  <a:buSzTx/>
                </a:pPr>
                <a:r>
                  <a:rPr lang="en-GB" sz="1000" b="1" dirty="0">
                    <a:solidFill>
                      <a:srgbClr val="FFFFFF"/>
                    </a:solidFill>
                    <a:uFillTx/>
                    <a:latin typeface="Outfit" charset="0"/>
                    <a:ea typeface="Outfit"/>
                    <a:cs typeface="Outfit"/>
                    <a:sym typeface="Outfit"/>
                  </a:rPr>
                  <a:t>3</a:t>
                </a:r>
              </a:p>
            </p:txBody>
          </p:sp>
          <p:sp>
            <p:nvSpPr>
              <p:cNvPr id="24" name="Google Shape;138;p16">
                <a:extLst>
                  <a:ext uri="{FF2B5EF4-FFF2-40B4-BE49-F238E27FC236}">
                    <a16:creationId xmlns:a16="http://schemas.microsoft.com/office/drawing/2014/main" id="{9B9903D4-266E-7AC6-1ADD-8522A05A9049}"/>
                  </a:ext>
                </a:extLst>
              </p:cNvPr>
              <p:cNvSpPr txBox="1"/>
              <p:nvPr/>
            </p:nvSpPr>
            <p:spPr>
              <a:xfrm>
                <a:off x="-3356556" y="1468335"/>
                <a:ext cx="2417518" cy="1388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algn="l" rtl="0">
                  <a:spcBef>
                    <a:spcPts val="0"/>
                  </a:spcBef>
                  <a:spcAft>
                    <a:spcPts val="0"/>
                  </a:spcAft>
                  <a:buSzTx/>
                  <a:buNone/>
                </a:pPr>
                <a:r>
                  <a:rPr lang="en-GB" sz="1600" b="1" dirty="0">
                    <a:solidFill>
                      <a:srgbClr val="111827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Verbal Ability</a:t>
                </a:r>
              </a:p>
              <a:p>
                <a:pPr marL="0" lvl="0" algn="l" rtl="0">
                  <a:spcBef>
                    <a:spcPts val="300"/>
                  </a:spcBef>
                  <a:spcAft>
                    <a:spcPts val="0"/>
                  </a:spcAft>
                  <a:buSzTx/>
                  <a:buNone/>
                </a:pPr>
                <a:endParaRPr lang="en-GB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endParaRPr>
              </a:p>
              <a:p>
                <a:pPr marL="0" lvl="0" algn="l" rtl="0">
                  <a:spcBef>
                    <a:spcPts val="300"/>
                  </a:spcBef>
                  <a:spcAft>
                    <a:spcPts val="0"/>
                  </a:spcAft>
                  <a:buSzTx/>
                  <a:buNone/>
                </a:pPr>
                <a:r>
                  <a:rPr lang="en-GB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English proficiency</a:t>
                </a:r>
              </a:p>
              <a:p>
                <a:pPr marL="171450" lvl="0" indent="-171450" algn="l" rtl="0">
                  <a:spcBef>
                    <a:spcPts val="300"/>
                  </a:spcBef>
                  <a:spcAft>
                    <a:spcPts val="0"/>
                  </a:spcAft>
                  <a:buSzTx/>
                  <a:buFont typeface="Wingdings" panose="05000000000000000000" charset="0"/>
                  <a:buChar char=""/>
                </a:pPr>
                <a:endParaRPr lang="en-US" altLang="en-GB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endParaRPr>
              </a:p>
              <a:p>
                <a:pPr marL="171450" lvl="0" indent="-171450" algn="l" rtl="0">
                  <a:spcBef>
                    <a:spcPts val="300"/>
                  </a:spcBef>
                  <a:spcAft>
                    <a:spcPts val="0"/>
                  </a:spcAft>
                  <a:buSzTx/>
                  <a:buFont typeface="Wingdings" panose="05000000000000000000" charset="0"/>
                  <a:buChar char=""/>
                </a:pPr>
                <a:r>
                  <a:rPr lang="en-US" alt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R</a:t>
                </a:r>
                <a:r>
                  <a:rPr lang="en-GB" sz="1200" b="0" dirty="0" err="1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eading</a:t>
                </a:r>
                <a:r>
                  <a:rPr 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 comprehension</a:t>
                </a:r>
              </a:p>
              <a:p>
                <a:pPr marL="171450" lvl="0" indent="-171450" algn="l" rtl="0">
                  <a:spcBef>
                    <a:spcPts val="300"/>
                  </a:spcBef>
                  <a:spcAft>
                    <a:spcPts val="0"/>
                  </a:spcAft>
                  <a:buSzTx/>
                  <a:buFont typeface="Wingdings" panose="05000000000000000000" charset="0"/>
                  <a:buChar char=""/>
                </a:pPr>
                <a:r>
                  <a:rPr lang="en-US" alt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G</a:t>
                </a:r>
                <a:r>
                  <a:rPr lang="en-GB" sz="1200" b="0" dirty="0" err="1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rammar</a:t>
                </a:r>
                <a:r>
                  <a:rPr 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 correctio</a:t>
                </a:r>
                <a:r>
                  <a:rPr lang="en-US" alt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n</a:t>
                </a:r>
              </a:p>
              <a:p>
                <a:pPr marL="171450" lvl="0" indent="-171450" algn="l" rtl="0">
                  <a:spcBef>
                    <a:spcPts val="300"/>
                  </a:spcBef>
                  <a:spcAft>
                    <a:spcPts val="0"/>
                  </a:spcAft>
                  <a:buSzTx/>
                  <a:buFont typeface="Wingdings" panose="05000000000000000000" charset="0"/>
                  <a:buChar char=""/>
                </a:pPr>
                <a:r>
                  <a:rPr lang="en-US" alt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Vo</a:t>
                </a:r>
                <a:r>
                  <a:rPr lang="en-GB" sz="1200" b="0" dirty="0" err="1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cabulary</a:t>
                </a:r>
                <a:r>
                  <a:rPr lang="en-GB" sz="1200" b="0" dirty="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 tests.</a:t>
                </a: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15"/>
          <p:cNvGrpSpPr/>
          <p:nvPr/>
        </p:nvGrpSpPr>
        <p:grpSpPr>
          <a:xfrm>
            <a:off x="0" y="0"/>
            <a:ext cx="9144150" cy="5143650"/>
            <a:chOff x="0" y="0"/>
            <a:chExt cx="9144150" cy="5143650"/>
          </a:xfrm>
        </p:grpSpPr>
        <p:sp>
          <p:nvSpPr>
            <p:cNvPr id="79" name="Google Shape;79;p1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80" name="Google Shape;80;p15"/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4763" y="4763"/>
              <a:ext cx="8982000" cy="498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" name="Google Shape;81;p15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8477250" y="4476750"/>
              <a:ext cx="666900" cy="6669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311785" y="1466215"/>
            <a:ext cx="8520430" cy="2414270"/>
          </a:xfrm>
        </p:spPr>
        <p:txBody>
          <a:bodyPr>
            <a:noAutofit/>
          </a:bodyPr>
          <a:lstStyle/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en-US" sz="2000" dirty="0"/>
              <a:t>✔ Practice daily (30–45 mins)</a:t>
            </a:r>
          </a:p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en-US" sz="2000" dirty="0"/>
              <a:t>✔ Use timed exercises</a:t>
            </a:r>
          </a:p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en-US" sz="2000" dirty="0"/>
              <a:t>✔ Learn shortcuts &amp; formulas</a:t>
            </a:r>
          </a:p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en-US" sz="2000" dirty="0"/>
              <a:t>✔ Analyze mistakes</a:t>
            </a:r>
          </a:p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en-US" sz="2000" dirty="0"/>
              <a:t>✔ Improve speed gradually</a:t>
            </a:r>
            <a:endParaRPr lang="en-GB" sz="1600" b="1" dirty="0">
              <a:solidFill>
                <a:srgbClr val="111827"/>
              </a:solidFill>
              <a:latin typeface="Outfit"/>
              <a:ea typeface="Outfit"/>
              <a:cs typeface="Outfit"/>
            </a:endParaRPr>
          </a:p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en-US" sz="2000" dirty="0">
                <a:sym typeface="+mn-ea"/>
              </a:rPr>
              <a:t>✔ </a:t>
            </a:r>
            <a:r>
              <a:rPr lang="en-US" altLang="en-US" sz="2000" dirty="0">
                <a:sym typeface="Outfit"/>
              </a:rPr>
              <a:t>Identify Time Sinks</a:t>
            </a:r>
          </a:p>
        </p:txBody>
      </p:sp>
      <p:sp>
        <p:nvSpPr>
          <p:cNvPr id="118" name="Google Shape;118;p16"/>
          <p:cNvSpPr txBox="1"/>
          <p:nvPr/>
        </p:nvSpPr>
        <p:spPr>
          <a:xfrm>
            <a:off x="571500" y="381000"/>
            <a:ext cx="8001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GB" sz="1800" b="1" dirty="0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ROUND 1</a:t>
            </a:r>
            <a:endParaRPr sz="1800" b="1" i="0" u="none" strike="noStrike" dirty="0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sz="2700" dirty="0">
                <a:sym typeface="+mn-ea"/>
              </a:rPr>
              <a:t>Preparation Strategy - Aptitude</a:t>
            </a:r>
          </a:p>
        </p:txBody>
      </p:sp>
      <p:cxnSp>
        <p:nvCxnSpPr>
          <p:cNvPr id="93" name="Google Shape;93;p15"/>
          <p:cNvCxnSpPr/>
          <p:nvPr/>
        </p:nvCxnSpPr>
        <p:spPr>
          <a:xfrm>
            <a:off x="311785" y="13335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54" name="Google Shape;554;p30"/>
          <p:cNvGrpSpPr/>
          <p:nvPr/>
        </p:nvGrpSpPr>
        <p:grpSpPr>
          <a:xfrm>
            <a:off x="380365" y="4163695"/>
            <a:ext cx="8382635" cy="751205"/>
            <a:chOff x="-635" y="0"/>
            <a:chExt cx="8382635" cy="714525"/>
          </a:xfrm>
        </p:grpSpPr>
        <p:sp>
          <p:nvSpPr>
            <p:cNvPr id="3" name="Google Shape;556;p30"/>
            <p:cNvSpPr/>
            <p:nvPr/>
          </p:nvSpPr>
          <p:spPr>
            <a:xfrm>
              <a:off x="0" y="0"/>
              <a:ext cx="8382000" cy="666750"/>
            </a:xfrm>
            <a:prstGeom prst="roundRect">
              <a:avLst>
                <a:gd name="adj" fmla="val 16000"/>
              </a:avLst>
            </a:prstGeom>
            <a:solidFill>
              <a:srgbClr val="34D399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30"/>
            <p:cNvSpPr txBox="1"/>
            <p:nvPr/>
          </p:nvSpPr>
          <p:spPr>
            <a:xfrm>
              <a:off x="-635" y="237974"/>
              <a:ext cx="1524635" cy="4765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dirty="0">
                  <a:solidFill>
                    <a:srgbClr val="111827"/>
                  </a:solidFill>
                  <a:latin typeface="Outfit"/>
                  <a:ea typeface="Outfit"/>
                  <a:cs typeface="Outfit"/>
                  <a:sym typeface="Outfit"/>
                </a:rPr>
                <a:t>Shortcut Tricks:</a:t>
              </a:r>
            </a:p>
          </p:txBody>
        </p:sp>
        <p:sp>
          <p:nvSpPr>
            <p:cNvPr id="558" name="Google Shape;558;p30"/>
            <p:cNvSpPr txBox="1"/>
            <p:nvPr/>
          </p:nvSpPr>
          <p:spPr>
            <a:xfrm>
              <a:off x="1262110" y="151950"/>
              <a:ext cx="7050675" cy="4765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algn="ctr" rtl="0">
                <a:spcBef>
                  <a:spcPts val="0"/>
                </a:spcBef>
                <a:spcAft>
                  <a:spcPts val="0"/>
                </a:spcAft>
                <a:buSzTx/>
                <a:buNone/>
              </a:pPr>
              <a:r>
                <a:rPr lang="en-GB" sz="1600" b="1" dirty="0">
                  <a:solidFill>
                    <a:srgbClr val="111827"/>
                  </a:solidFill>
                  <a:latin typeface="Outfit"/>
                  <a:ea typeface="Outfit"/>
                  <a:cs typeface="Outfit"/>
                  <a:sym typeface="DM Sans Medium"/>
                </a:rPr>
                <a:t>Learn mental math tricks and approximation methods to bypass long calculations.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F5C24-F8AA-6719-D49E-1B7A9F2CA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15">
            <a:extLst>
              <a:ext uri="{FF2B5EF4-FFF2-40B4-BE49-F238E27FC236}">
                <a16:creationId xmlns:a16="http://schemas.microsoft.com/office/drawing/2014/main" id="{0C371489-0755-D0AA-D18A-829DB44B24C1}"/>
              </a:ext>
            </a:extLst>
          </p:cNvPr>
          <p:cNvGrpSpPr/>
          <p:nvPr/>
        </p:nvGrpSpPr>
        <p:grpSpPr>
          <a:xfrm>
            <a:off x="-257667" y="0"/>
            <a:ext cx="9401817" cy="5143650"/>
            <a:chOff x="-257667" y="0"/>
            <a:chExt cx="9401817" cy="5143650"/>
          </a:xfrm>
        </p:grpSpPr>
        <p:sp>
          <p:nvSpPr>
            <p:cNvPr id="79" name="Google Shape;79;p15">
              <a:extLst>
                <a:ext uri="{FF2B5EF4-FFF2-40B4-BE49-F238E27FC236}">
                  <a16:creationId xmlns:a16="http://schemas.microsoft.com/office/drawing/2014/main" id="{A1C69574-8A35-7222-0D6D-6CE6436739A2}"/>
                </a:ext>
              </a:extLst>
            </p:cNvPr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pic>
          <p:nvPicPr>
            <p:cNvPr id="80" name="Google Shape;80;p15">
              <a:extLst>
                <a:ext uri="{FF2B5EF4-FFF2-40B4-BE49-F238E27FC236}">
                  <a16:creationId xmlns:a16="http://schemas.microsoft.com/office/drawing/2014/main" id="{9CBDDEE4-84BA-8BFB-0BFC-F455AB699D59}"/>
                </a:ext>
              </a:extLst>
            </p:cNvPr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-257667" y="127116"/>
              <a:ext cx="8982000" cy="498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" name="Google Shape;81;p15">
              <a:extLst>
                <a:ext uri="{FF2B5EF4-FFF2-40B4-BE49-F238E27FC236}">
                  <a16:creationId xmlns:a16="http://schemas.microsoft.com/office/drawing/2014/main" id="{06C478C3-8226-C521-3522-81D71C3AAD6D}"/>
                </a:ext>
              </a:extLst>
            </p:cNvPr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>
              <a:extLst>
                <a:ext uri="{FF2B5EF4-FFF2-40B4-BE49-F238E27FC236}">
                  <a16:creationId xmlns:a16="http://schemas.microsoft.com/office/drawing/2014/main" id="{1B3CAB02-529F-06D6-BB7B-F64BE22EC6CD}"/>
                </a:ext>
              </a:extLst>
            </p:cNvPr>
            <p:cNvSpPr/>
            <p:nvPr/>
          </p:nvSpPr>
          <p:spPr>
            <a:xfrm>
              <a:off x="8477250" y="4476750"/>
              <a:ext cx="666900" cy="6669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697C25-3641-3B8B-0716-8D7320BE9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85" y="1466214"/>
            <a:ext cx="3921548" cy="3520047"/>
          </a:xfrm>
        </p:spPr>
        <p:txBody>
          <a:bodyPr>
            <a:noAutofit/>
          </a:bodyPr>
          <a:lstStyle/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IN" sz="2000" b="1" dirty="0">
                <a:solidFill>
                  <a:srgbClr val="1111A1"/>
                </a:solidFill>
              </a:rPr>
              <a:t>10% &amp; 1% method</a:t>
            </a:r>
          </a:p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IN" altLang="en-US" dirty="0">
                <a:sym typeface="Outfit"/>
              </a:rPr>
              <a:t>24% of 510</a:t>
            </a:r>
          </a:p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endParaRPr lang="en-IN" altLang="en-US" dirty="0">
              <a:sym typeface="Outfit"/>
            </a:endParaRPr>
          </a:p>
        </p:txBody>
      </p:sp>
      <p:sp>
        <p:nvSpPr>
          <p:cNvPr id="118" name="Google Shape;118;p16">
            <a:extLst>
              <a:ext uri="{FF2B5EF4-FFF2-40B4-BE49-F238E27FC236}">
                <a16:creationId xmlns:a16="http://schemas.microsoft.com/office/drawing/2014/main" id="{802491EC-646E-9146-325C-919DA28BBDFE}"/>
              </a:ext>
            </a:extLst>
          </p:cNvPr>
          <p:cNvSpPr txBox="1"/>
          <p:nvPr/>
        </p:nvSpPr>
        <p:spPr>
          <a:xfrm>
            <a:off x="571500" y="381000"/>
            <a:ext cx="8001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GB" sz="1800" b="1" dirty="0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ROUND 1</a:t>
            </a:r>
            <a:endParaRPr sz="1800" b="1" i="0" u="none" strike="noStrike" dirty="0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sz="2700" dirty="0">
                <a:sym typeface="+mn-ea"/>
              </a:rPr>
              <a:t>Preparation Strategy – Shortcut tips </a:t>
            </a:r>
            <a:r>
              <a:rPr lang="en-US" altLang="en-US" sz="1600" dirty="0">
                <a:sym typeface="+mn-ea"/>
              </a:rPr>
              <a:t>(examples)</a:t>
            </a:r>
            <a:endParaRPr lang="en-US" altLang="en-US" sz="2700" dirty="0">
              <a:sym typeface="+mn-ea"/>
            </a:endParaRPr>
          </a:p>
        </p:txBody>
      </p:sp>
      <p:cxnSp>
        <p:nvCxnSpPr>
          <p:cNvPr id="93" name="Google Shape;93;p15">
            <a:extLst>
              <a:ext uri="{FF2B5EF4-FFF2-40B4-BE49-F238E27FC236}">
                <a16:creationId xmlns:a16="http://schemas.microsoft.com/office/drawing/2014/main" id="{C5FC90D9-1680-1BE8-B482-374C30943746}"/>
              </a:ext>
            </a:extLst>
          </p:cNvPr>
          <p:cNvCxnSpPr/>
          <p:nvPr/>
        </p:nvCxnSpPr>
        <p:spPr>
          <a:xfrm>
            <a:off x="311785" y="13335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AF170C41-3CB3-46A9-E9FB-7D9222BD37E4}"/>
              </a:ext>
            </a:extLst>
          </p:cNvPr>
          <p:cNvSpPr txBox="1"/>
          <p:nvPr/>
        </p:nvSpPr>
        <p:spPr>
          <a:xfrm>
            <a:off x="311635" y="2597113"/>
            <a:ext cx="2055371" cy="6360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IN" altLang="en-US" sz="1600" dirty="0">
                <a:sym typeface="Outfit"/>
              </a:rPr>
              <a:t>10% of 510 -- &gt;  51</a:t>
            </a:r>
          </a:p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IN" altLang="en-US" sz="1600" dirty="0">
                <a:sym typeface="Outfit"/>
              </a:rPr>
              <a:t>20% -&gt; </a:t>
            </a:r>
            <a:r>
              <a:rPr lang="en-IN" altLang="en-US" sz="1600" u="sng" dirty="0">
                <a:sym typeface="Outfit"/>
              </a:rPr>
              <a:t>102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A570BD-A5F7-6954-8BAA-61A35954DFC1}"/>
              </a:ext>
            </a:extLst>
          </p:cNvPr>
          <p:cNvSpPr txBox="1"/>
          <p:nvPr/>
        </p:nvSpPr>
        <p:spPr>
          <a:xfrm>
            <a:off x="2673878" y="2617866"/>
            <a:ext cx="1300356" cy="6360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IN" altLang="en-US" sz="1600" dirty="0">
                <a:sym typeface="Outfit"/>
              </a:rPr>
              <a:t>1% - 5.1</a:t>
            </a:r>
          </a:p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IN" altLang="en-US" sz="1600" dirty="0">
                <a:sym typeface="Outfit"/>
              </a:rPr>
              <a:t>4% -&gt; </a:t>
            </a:r>
            <a:r>
              <a:rPr lang="en-IN" altLang="en-US" sz="1600" u="sng" dirty="0">
                <a:sym typeface="Outfit"/>
              </a:rPr>
              <a:t>20.4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08C9B94-920E-69A9-0200-4E9D121A7616}"/>
              </a:ext>
            </a:extLst>
          </p:cNvPr>
          <p:cNvSpPr txBox="1">
            <a:spLocks/>
          </p:cNvSpPr>
          <p:nvPr/>
        </p:nvSpPr>
        <p:spPr>
          <a:xfrm>
            <a:off x="4841452" y="1411605"/>
            <a:ext cx="3320415" cy="3520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90204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marL="114300" indent="0">
              <a:spcBef>
                <a:spcPts val="200"/>
              </a:spcBef>
              <a:spcAft>
                <a:spcPts val="200"/>
              </a:spcAft>
              <a:buFont typeface="Arial" panose="020B0604020202090204"/>
              <a:buNone/>
            </a:pPr>
            <a:r>
              <a:rPr lang="en-IN" sz="2000" b="1" dirty="0">
                <a:solidFill>
                  <a:srgbClr val="1111A1"/>
                </a:solidFill>
              </a:rPr>
              <a:t>Squaring numbers ending in 5</a:t>
            </a:r>
          </a:p>
          <a:p>
            <a:pPr marL="114300" indent="0">
              <a:spcBef>
                <a:spcPts val="200"/>
              </a:spcBef>
              <a:spcAft>
                <a:spcPts val="200"/>
              </a:spcAft>
              <a:buFont typeface="Arial" panose="020B0604020202090204"/>
              <a:buNone/>
            </a:pPr>
            <a:r>
              <a:rPr lang="en-IN" altLang="en-US" dirty="0">
                <a:sym typeface="Outfit"/>
              </a:rPr>
              <a:t>               85 X 85</a:t>
            </a:r>
          </a:p>
          <a:p>
            <a:pPr marL="114300" indent="0">
              <a:spcBef>
                <a:spcPts val="200"/>
              </a:spcBef>
              <a:spcAft>
                <a:spcPts val="200"/>
              </a:spcAft>
              <a:buFont typeface="Arial" panose="020B0604020202090204"/>
              <a:buNone/>
            </a:pPr>
            <a:endParaRPr lang="en-IN" altLang="en-US" dirty="0">
              <a:sym typeface="Outfit"/>
            </a:endParaRPr>
          </a:p>
          <a:p>
            <a:pPr marL="114300" indent="0">
              <a:spcBef>
                <a:spcPts val="200"/>
              </a:spcBef>
              <a:spcAft>
                <a:spcPts val="200"/>
              </a:spcAft>
              <a:buFont typeface="Arial" panose="020B0604020202090204"/>
              <a:buNone/>
            </a:pPr>
            <a:endParaRPr lang="en-IN" altLang="en-US" dirty="0">
              <a:sym typeface="Outfit"/>
            </a:endParaRPr>
          </a:p>
          <a:p>
            <a:pPr marL="114300" indent="0">
              <a:spcBef>
                <a:spcPts val="200"/>
              </a:spcBef>
              <a:spcAft>
                <a:spcPts val="200"/>
              </a:spcAft>
              <a:buFont typeface="Arial" panose="020B0604020202090204"/>
              <a:buNone/>
            </a:pPr>
            <a:endParaRPr lang="en-IN" altLang="en-US" dirty="0">
              <a:sym typeface="Outfit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B8BAD8-1923-CACA-41E7-E6789AA36C7A}"/>
              </a:ext>
            </a:extLst>
          </p:cNvPr>
          <p:cNvCxnSpPr>
            <a:cxnSpLocks/>
          </p:cNvCxnSpPr>
          <p:nvPr/>
        </p:nvCxnSpPr>
        <p:spPr>
          <a:xfrm>
            <a:off x="1453243" y="3253938"/>
            <a:ext cx="702129" cy="7772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9442AE-E2BB-C7BE-145A-A9E1FCB32347}"/>
              </a:ext>
            </a:extLst>
          </p:cNvPr>
          <p:cNvCxnSpPr>
            <a:cxnSpLocks/>
          </p:cNvCxnSpPr>
          <p:nvPr/>
        </p:nvCxnSpPr>
        <p:spPr>
          <a:xfrm flipH="1">
            <a:off x="2922814" y="3253938"/>
            <a:ext cx="702129" cy="7772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B7AF58E-3BB5-0436-6B9C-96D507A71121}"/>
              </a:ext>
            </a:extLst>
          </p:cNvPr>
          <p:cNvSpPr txBox="1"/>
          <p:nvPr/>
        </p:nvSpPr>
        <p:spPr>
          <a:xfrm>
            <a:off x="2161067" y="4051958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122.4</a:t>
            </a:r>
            <a:endParaRPr lang="en-IN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70C13E-180D-7153-F877-4049071DA423}"/>
              </a:ext>
            </a:extLst>
          </p:cNvPr>
          <p:cNvSpPr txBox="1"/>
          <p:nvPr/>
        </p:nvSpPr>
        <p:spPr>
          <a:xfrm>
            <a:off x="5112643" y="3692651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en-US" sz="1600" dirty="0">
                <a:sym typeface="Outfit"/>
              </a:rPr>
              <a:t>8</a:t>
            </a:r>
            <a:r>
              <a:rPr lang="en-IN" altLang="en-US" sz="1600" dirty="0">
                <a:sym typeface="Outfit"/>
              </a:rPr>
              <a:t> X 9 = </a:t>
            </a:r>
            <a:r>
              <a:rPr lang="en-IN" altLang="en-US" sz="1600" u="sng" dirty="0">
                <a:sym typeface="Outfit"/>
              </a:rPr>
              <a:t>72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317332-D3C7-83F3-1D01-2A25CC04D147}"/>
              </a:ext>
            </a:extLst>
          </p:cNvPr>
          <p:cNvSpPr txBox="1"/>
          <p:nvPr/>
        </p:nvSpPr>
        <p:spPr>
          <a:xfrm>
            <a:off x="5000775" y="3002351"/>
            <a:ext cx="11705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en-US" sz="1600" dirty="0">
                <a:sym typeface="Outfit"/>
              </a:rPr>
              <a:t>8</a:t>
            </a:r>
            <a:r>
              <a:rPr lang="en-IN" altLang="en-US" sz="1600" dirty="0">
                <a:sym typeface="Outfit"/>
              </a:rPr>
              <a:t> + 1 = 9 </a:t>
            </a:r>
            <a:endParaRPr lang="en-IN" altLang="en-US" sz="1600" u="sng" dirty="0">
              <a:sym typeface="Outfit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4A3E16D-8B14-4F5D-C858-A3DE637E52F9}"/>
              </a:ext>
            </a:extLst>
          </p:cNvPr>
          <p:cNvCxnSpPr>
            <a:cxnSpLocks/>
          </p:cNvCxnSpPr>
          <p:nvPr/>
        </p:nvCxnSpPr>
        <p:spPr>
          <a:xfrm flipH="1">
            <a:off x="5515276" y="2597113"/>
            <a:ext cx="482832" cy="4050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14AB2B-9B4F-366B-811A-7AAE79781178}"/>
              </a:ext>
            </a:extLst>
          </p:cNvPr>
          <p:cNvCxnSpPr>
            <a:cxnSpLocks/>
            <a:endCxn id="21" idx="0"/>
          </p:cNvCxnSpPr>
          <p:nvPr/>
        </p:nvCxnSpPr>
        <p:spPr>
          <a:xfrm flipH="1">
            <a:off x="5733967" y="3391821"/>
            <a:ext cx="137444" cy="3008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8E80704-C701-036F-F1E7-14813DD24CCB}"/>
              </a:ext>
            </a:extLst>
          </p:cNvPr>
          <p:cNvSpPr txBox="1"/>
          <p:nvPr/>
        </p:nvSpPr>
        <p:spPr>
          <a:xfrm>
            <a:off x="6792612" y="3084661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en-US" sz="1600" dirty="0">
                <a:sym typeface="Outfit"/>
              </a:rPr>
              <a:t>5 X 5 = </a:t>
            </a:r>
            <a:r>
              <a:rPr lang="en-US" altLang="en-US" sz="1600" u="sng" dirty="0">
                <a:sym typeface="Outfit"/>
              </a:rPr>
              <a:t>25</a:t>
            </a:r>
            <a:endParaRPr lang="en-IN" altLang="en-US" sz="1600" u="sng" dirty="0">
              <a:sym typeface="Outfit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5A3862B-3475-B90F-F7F7-45B5C6F871BF}"/>
              </a:ext>
            </a:extLst>
          </p:cNvPr>
          <p:cNvCxnSpPr>
            <a:cxnSpLocks/>
          </p:cNvCxnSpPr>
          <p:nvPr/>
        </p:nvCxnSpPr>
        <p:spPr>
          <a:xfrm>
            <a:off x="6769753" y="2539884"/>
            <a:ext cx="329318" cy="4623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416BDCF-A883-2A92-A5F4-296BFDBAEA0F}"/>
              </a:ext>
            </a:extLst>
          </p:cNvPr>
          <p:cNvCxnSpPr>
            <a:cxnSpLocks/>
          </p:cNvCxnSpPr>
          <p:nvPr/>
        </p:nvCxnSpPr>
        <p:spPr>
          <a:xfrm>
            <a:off x="6203027" y="4092795"/>
            <a:ext cx="217913" cy="3839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DB6F79B-A379-391F-DC7E-EE64DC999B61}"/>
              </a:ext>
            </a:extLst>
          </p:cNvPr>
          <p:cNvCxnSpPr>
            <a:cxnSpLocks/>
          </p:cNvCxnSpPr>
          <p:nvPr/>
        </p:nvCxnSpPr>
        <p:spPr>
          <a:xfrm flipH="1">
            <a:off x="7099071" y="3550331"/>
            <a:ext cx="665195" cy="9264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FEBBAF2-11BE-758A-5F02-B8F70D685F8C}"/>
              </a:ext>
            </a:extLst>
          </p:cNvPr>
          <p:cNvSpPr txBox="1"/>
          <p:nvPr/>
        </p:nvSpPr>
        <p:spPr>
          <a:xfrm>
            <a:off x="6420940" y="4418884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7225</a:t>
            </a:r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6105840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CA313-367A-11B5-2C6D-B599596AF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15">
            <a:extLst>
              <a:ext uri="{FF2B5EF4-FFF2-40B4-BE49-F238E27FC236}">
                <a16:creationId xmlns:a16="http://schemas.microsoft.com/office/drawing/2014/main" id="{D1026B16-48AF-CEAD-1603-4B931165EC96}"/>
              </a:ext>
            </a:extLst>
          </p:cNvPr>
          <p:cNvGrpSpPr/>
          <p:nvPr/>
        </p:nvGrpSpPr>
        <p:grpSpPr>
          <a:xfrm>
            <a:off x="0" y="0"/>
            <a:ext cx="9144150" cy="5143650"/>
            <a:chOff x="0" y="0"/>
            <a:chExt cx="9144150" cy="5143650"/>
          </a:xfrm>
        </p:grpSpPr>
        <p:sp>
          <p:nvSpPr>
            <p:cNvPr id="79" name="Google Shape;79;p15">
              <a:extLst>
                <a:ext uri="{FF2B5EF4-FFF2-40B4-BE49-F238E27FC236}">
                  <a16:creationId xmlns:a16="http://schemas.microsoft.com/office/drawing/2014/main" id="{7BCE2F11-B4FE-9657-601A-CA4C05C85621}"/>
                </a:ext>
              </a:extLst>
            </p:cNvPr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pic>
          <p:nvPicPr>
            <p:cNvPr id="80" name="Google Shape;80;p15">
              <a:extLst>
                <a:ext uri="{FF2B5EF4-FFF2-40B4-BE49-F238E27FC236}">
                  <a16:creationId xmlns:a16="http://schemas.microsoft.com/office/drawing/2014/main" id="{4BD85FF6-D6A7-AB23-3AEE-0312A8A66347}"/>
                </a:ext>
              </a:extLst>
            </p:cNvPr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4763" y="4763"/>
              <a:ext cx="8982000" cy="498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" name="Google Shape;81;p15">
              <a:extLst>
                <a:ext uri="{FF2B5EF4-FFF2-40B4-BE49-F238E27FC236}">
                  <a16:creationId xmlns:a16="http://schemas.microsoft.com/office/drawing/2014/main" id="{5733D67E-676A-94E9-3ABF-4360CCAA0044}"/>
                </a:ext>
              </a:extLst>
            </p:cNvPr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>
              <a:extLst>
                <a:ext uri="{FF2B5EF4-FFF2-40B4-BE49-F238E27FC236}">
                  <a16:creationId xmlns:a16="http://schemas.microsoft.com/office/drawing/2014/main" id="{9B512FE8-70CA-89C2-B823-E4AF87C03E0E}"/>
                </a:ext>
              </a:extLst>
            </p:cNvPr>
            <p:cNvSpPr/>
            <p:nvPr/>
          </p:nvSpPr>
          <p:spPr>
            <a:xfrm>
              <a:off x="8477250" y="4476750"/>
              <a:ext cx="666900" cy="6669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4F78B3-D39E-B9A8-797D-A7F4054BD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85" y="1466214"/>
            <a:ext cx="3921548" cy="3520047"/>
          </a:xfrm>
        </p:spPr>
        <p:txBody>
          <a:bodyPr>
            <a:noAutofit/>
          </a:bodyPr>
          <a:lstStyle/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IN" sz="2000" b="1" dirty="0">
                <a:solidFill>
                  <a:srgbClr val="1111A1"/>
                </a:solidFill>
              </a:rPr>
              <a:t>Two-Worker Fast Formula</a:t>
            </a:r>
          </a:p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endParaRPr lang="en-IN" altLang="en-US" dirty="0">
              <a:sym typeface="Outfit"/>
            </a:endParaRPr>
          </a:p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endParaRPr lang="en-IN" altLang="en-US" dirty="0">
              <a:sym typeface="Outfit"/>
            </a:endParaRPr>
          </a:p>
        </p:txBody>
      </p:sp>
      <p:sp>
        <p:nvSpPr>
          <p:cNvPr id="118" name="Google Shape;118;p16">
            <a:extLst>
              <a:ext uri="{FF2B5EF4-FFF2-40B4-BE49-F238E27FC236}">
                <a16:creationId xmlns:a16="http://schemas.microsoft.com/office/drawing/2014/main" id="{EC5DBFD3-F2B0-95E4-5F02-D6D920E049E4}"/>
              </a:ext>
            </a:extLst>
          </p:cNvPr>
          <p:cNvSpPr txBox="1"/>
          <p:nvPr/>
        </p:nvSpPr>
        <p:spPr>
          <a:xfrm>
            <a:off x="571500" y="381000"/>
            <a:ext cx="8001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GB" sz="1800" b="1" dirty="0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ROUND 1</a:t>
            </a:r>
            <a:endParaRPr sz="1800" b="1" i="0" u="none" strike="noStrike" dirty="0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altLang="en-US" sz="2700" dirty="0">
                <a:sym typeface="+mn-ea"/>
              </a:rPr>
              <a:t>Preparation Strategy – Shortcut tips</a:t>
            </a:r>
            <a:r>
              <a:rPr lang="en-US" altLang="en-US" sz="1800" dirty="0">
                <a:sym typeface="+mn-ea"/>
              </a:rPr>
              <a:t> (examples)</a:t>
            </a:r>
            <a:endParaRPr lang="en-US" altLang="en-US" sz="2700" dirty="0">
              <a:sym typeface="+mn-ea"/>
            </a:endParaRPr>
          </a:p>
        </p:txBody>
      </p:sp>
      <p:cxnSp>
        <p:nvCxnSpPr>
          <p:cNvPr id="93" name="Google Shape;93;p15">
            <a:extLst>
              <a:ext uri="{FF2B5EF4-FFF2-40B4-BE49-F238E27FC236}">
                <a16:creationId xmlns:a16="http://schemas.microsoft.com/office/drawing/2014/main" id="{8ADF1E54-80A1-4BB5-2462-E6C3909A34BD}"/>
              </a:ext>
            </a:extLst>
          </p:cNvPr>
          <p:cNvCxnSpPr/>
          <p:nvPr/>
        </p:nvCxnSpPr>
        <p:spPr>
          <a:xfrm>
            <a:off x="311785" y="13335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FC28CD34-0D7C-3BDC-C0DA-B5117160C0A4}"/>
              </a:ext>
            </a:extLst>
          </p:cNvPr>
          <p:cNvSpPr txBox="1"/>
          <p:nvPr/>
        </p:nvSpPr>
        <p:spPr>
          <a:xfrm>
            <a:off x="294040" y="2074802"/>
            <a:ext cx="33924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14300" indent="0" eaLnBrk="1" fontAlgn="auto" latinLnBrk="0" hangingPunct="1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en-US" sz="1600" dirty="0">
                <a:sym typeface="Outfit"/>
              </a:rPr>
              <a:t>2 persons take A and B hours to complete. Find combined hours.</a:t>
            </a:r>
            <a:endParaRPr lang="en-IN" altLang="en-US" sz="1600" dirty="0">
              <a:sym typeface="Outfit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60CCAA4-3033-5CD4-EF19-1D285CE2BF9D}"/>
              </a:ext>
            </a:extLst>
          </p:cNvPr>
          <p:cNvSpPr txBox="1">
            <a:spLocks/>
          </p:cNvSpPr>
          <p:nvPr/>
        </p:nvSpPr>
        <p:spPr>
          <a:xfrm>
            <a:off x="5303052" y="1476857"/>
            <a:ext cx="3320415" cy="3520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90204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marL="114300" indent="0">
              <a:spcBef>
                <a:spcPts val="200"/>
              </a:spcBef>
              <a:spcAft>
                <a:spcPts val="200"/>
              </a:spcAft>
              <a:buFont typeface="Arial" panose="020B0604020202090204"/>
              <a:buNone/>
            </a:pPr>
            <a:r>
              <a:rPr lang="en-IN" sz="2000" b="1" dirty="0">
                <a:solidFill>
                  <a:srgbClr val="1111A1"/>
                </a:solidFill>
              </a:rPr>
              <a:t>Others</a:t>
            </a:r>
          </a:p>
          <a:p>
            <a:pPr marL="114300" indent="0">
              <a:spcBef>
                <a:spcPts val="200"/>
              </a:spcBef>
              <a:spcAft>
                <a:spcPts val="200"/>
              </a:spcAft>
              <a:buFont typeface="Arial" panose="020B0604020202090204"/>
              <a:buNone/>
            </a:pPr>
            <a:endParaRPr lang="en-IN" altLang="en-US" dirty="0">
              <a:sym typeface="Outfit"/>
            </a:endParaRPr>
          </a:p>
          <a:p>
            <a:pPr marL="114300" indent="0">
              <a:spcBef>
                <a:spcPts val="200"/>
              </a:spcBef>
              <a:spcAft>
                <a:spcPts val="200"/>
              </a:spcAft>
              <a:buFont typeface="Arial" panose="020B0604020202090204"/>
              <a:buNone/>
            </a:pPr>
            <a:endParaRPr lang="en-IN" altLang="en-US" dirty="0">
              <a:sym typeface="Outfi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CD8528-C535-2B74-D97B-B376566992A8}"/>
              </a:ext>
            </a:extLst>
          </p:cNvPr>
          <p:cNvSpPr txBox="1"/>
          <p:nvPr/>
        </p:nvSpPr>
        <p:spPr>
          <a:xfrm>
            <a:off x="154548" y="2806500"/>
            <a:ext cx="40303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/>
              <a:t>                             Product       A X B    </a:t>
            </a:r>
          </a:p>
          <a:p>
            <a:r>
              <a:rPr lang="en-IN" sz="1800" dirty="0"/>
              <a:t>Time Together  = ------------ = ----------</a:t>
            </a:r>
          </a:p>
          <a:p>
            <a:r>
              <a:rPr lang="en-IN" sz="1800" dirty="0"/>
              <a:t>		 Sum          A + 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B4A035-7E99-33D9-D5C9-80C03C7C2153}"/>
              </a:ext>
            </a:extLst>
          </p:cNvPr>
          <p:cNvSpPr txBox="1"/>
          <p:nvPr/>
        </p:nvSpPr>
        <p:spPr>
          <a:xfrm>
            <a:off x="157236" y="3837124"/>
            <a:ext cx="4684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/>
              <a:t>                              6 X 12         6 X 12</a:t>
            </a:r>
          </a:p>
          <a:p>
            <a:r>
              <a:rPr lang="en-IN" sz="1800" dirty="0"/>
              <a:t>Time together  =    ---------   =  ----------  = 4</a:t>
            </a:r>
          </a:p>
          <a:p>
            <a:r>
              <a:rPr lang="en-IN" sz="1800" dirty="0"/>
              <a:t>		 6 + 12	         18</a:t>
            </a:r>
          </a:p>
        </p:txBody>
      </p:sp>
      <p:sp>
        <p:nvSpPr>
          <p:cNvPr id="13" name="Google Shape;130;p16">
            <a:extLst>
              <a:ext uri="{FF2B5EF4-FFF2-40B4-BE49-F238E27FC236}">
                <a16:creationId xmlns:a16="http://schemas.microsoft.com/office/drawing/2014/main" id="{B69DFF40-B3CD-D3E9-4D59-C40015D1309D}"/>
              </a:ext>
            </a:extLst>
          </p:cNvPr>
          <p:cNvSpPr txBox="1"/>
          <p:nvPr/>
        </p:nvSpPr>
        <p:spPr>
          <a:xfrm>
            <a:off x="5431380" y="1833562"/>
            <a:ext cx="3379320" cy="277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300"/>
              </a:spcAft>
              <a:buNone/>
            </a:pPr>
            <a:endParaRPr lang="en-GB" sz="2400" b="0" dirty="0">
              <a:solidFill>
                <a:srgbClr val="4B5563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171450" lvl="0" indent="-171450" algn="l" rtl="0">
              <a:spcBef>
                <a:spcPts val="300"/>
              </a:spcBef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sz="1600" dirty="0">
                <a:sym typeface="DM Sans Medium"/>
              </a:rPr>
              <a:t>Divisibility Rules</a:t>
            </a:r>
          </a:p>
          <a:p>
            <a:pPr marL="171450" lvl="0" indent="-171450" algn="l" rtl="0">
              <a:spcBef>
                <a:spcPts val="300"/>
              </a:spcBef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sz="1600" dirty="0">
                <a:sym typeface="DM Sans Medium"/>
              </a:rPr>
              <a:t>Calendar days calculation</a:t>
            </a:r>
          </a:p>
          <a:p>
            <a:pPr marL="171450" lvl="0" indent="-171450" algn="l" rtl="0">
              <a:spcBef>
                <a:spcPts val="300"/>
              </a:spcBef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sz="1600" dirty="0">
                <a:sym typeface="DM Sans Medium"/>
              </a:rPr>
              <a:t>Unit digit elimination</a:t>
            </a:r>
          </a:p>
          <a:p>
            <a:pPr marL="171450" lvl="0" indent="-171450" algn="l" rtl="0">
              <a:spcBef>
                <a:spcPts val="300"/>
              </a:spcBef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sz="1600" dirty="0">
                <a:sym typeface="DM Sans Medium"/>
              </a:rPr>
              <a:t>Estimation techniques</a:t>
            </a:r>
          </a:p>
        </p:txBody>
      </p:sp>
    </p:spTree>
    <p:extLst>
      <p:ext uri="{BB962C8B-B14F-4D97-AF65-F5344CB8AC3E}">
        <p14:creationId xmlns:p14="http://schemas.microsoft.com/office/powerpoint/2010/main" val="38895214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1" name="Google Shape;191;p19"/>
          <p:cNvGrpSpPr/>
          <p:nvPr/>
        </p:nvGrpSpPr>
        <p:grpSpPr>
          <a:xfrm>
            <a:off x="0" y="0"/>
            <a:ext cx="9144150" cy="5143650"/>
            <a:chOff x="0" y="0"/>
            <a:chExt cx="9144150" cy="5143650"/>
          </a:xfrm>
        </p:grpSpPr>
        <p:sp>
          <p:nvSpPr>
            <p:cNvPr id="192" name="Google Shape;192;p19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19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19"/>
            <p:cNvSpPr/>
            <p:nvPr/>
          </p:nvSpPr>
          <p:spPr>
            <a:xfrm>
              <a:off x="8667750" y="4667250"/>
              <a:ext cx="476400" cy="476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4" name="Google Shape;144;p17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763" y="4763"/>
            <a:ext cx="8982000" cy="498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9"/>
          <p:cNvSpPr txBox="1"/>
          <p:nvPr/>
        </p:nvSpPr>
        <p:spPr>
          <a:xfrm>
            <a:off x="571500" y="381000"/>
            <a:ext cx="8001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ROUND 2</a:t>
            </a:r>
            <a:endParaRPr sz="1800" b="1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2700" b="0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Coding Assessments</a:t>
            </a:r>
            <a:endParaRPr sz="2700" b="0">
              <a:solidFill>
                <a:srgbClr val="0B132B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grpSp>
        <p:nvGrpSpPr>
          <p:cNvPr id="196" name="Google Shape;196;p19"/>
          <p:cNvGrpSpPr/>
          <p:nvPr/>
        </p:nvGrpSpPr>
        <p:grpSpPr>
          <a:xfrm>
            <a:off x="700405" y="3129280"/>
            <a:ext cx="3343275" cy="1866900"/>
            <a:chOff x="385763" y="1528763"/>
            <a:chExt cx="4219500" cy="2505000"/>
          </a:xfrm>
        </p:grpSpPr>
        <p:pic>
          <p:nvPicPr>
            <p:cNvPr id="197" name="Google Shape;197;p19"/>
            <p:cNvPicPr preferRelativeResize="0"/>
            <p:nvPr/>
          </p:nvPicPr>
          <p:blipFill rotWithShape="1">
            <a:blip r:embed="rId4"/>
            <a:srcRect/>
            <a:stretch>
              <a:fillRect/>
            </a:stretch>
          </p:blipFill>
          <p:spPr>
            <a:xfrm>
              <a:off x="385763" y="1528763"/>
              <a:ext cx="4219500" cy="2505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8" name="Google Shape;198;p19"/>
            <p:cNvSpPr/>
            <p:nvPr/>
          </p:nvSpPr>
          <p:spPr>
            <a:xfrm>
              <a:off x="609600" y="1752600"/>
              <a:ext cx="3962400" cy="2229000"/>
            </a:xfrm>
            <a:prstGeom prst="roundRect">
              <a:avLst>
                <a:gd name="adj" fmla="val 5128"/>
              </a:avLst>
            </a:prstGeom>
            <a:solidFill>
              <a:srgbClr val="000000">
                <a:alpha val="0"/>
              </a:srgbClr>
            </a:solidFill>
            <a:ln w="38100" cap="flat" cmpd="sng">
              <a:solidFill>
                <a:srgbClr val="FF573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9" name="Google Shape;199;p19"/>
            <p:cNvGrpSpPr/>
            <p:nvPr/>
          </p:nvGrpSpPr>
          <p:grpSpPr>
            <a:xfrm>
              <a:off x="571500" y="1714500"/>
              <a:ext cx="3962400" cy="2229000"/>
              <a:chOff x="0" y="0"/>
              <a:chExt cx="3962400" cy="2229000"/>
            </a:xfrm>
          </p:grpSpPr>
          <p:pic>
            <p:nvPicPr>
              <p:cNvPr id="200" name="Google Shape;200;p19"/>
              <p:cNvPicPr preferRelativeResize="0"/>
              <p:nvPr/>
            </p:nvPicPr>
            <p:blipFill rotWithShape="1">
              <a:blip r:embed="rId5"/>
              <a:srcRect/>
              <a:stretch>
                <a:fillRect/>
              </a:stretch>
            </p:blipFill>
            <p:spPr>
              <a:xfrm>
                <a:off x="0" y="0"/>
                <a:ext cx="3962400" cy="2229000"/>
              </a:xfrm>
              <a:prstGeom prst="roundRect">
                <a:avLst>
                  <a:gd name="adj" fmla="val 5128"/>
                </a:avLst>
              </a:prstGeom>
              <a:noFill/>
              <a:ln>
                <a:noFill/>
              </a:ln>
            </p:spPr>
          </p:pic>
          <p:sp>
            <p:nvSpPr>
              <p:cNvPr id="201" name="Google Shape;201;p19"/>
              <p:cNvSpPr/>
              <p:nvPr/>
            </p:nvSpPr>
            <p:spPr>
              <a:xfrm>
                <a:off x="0" y="0"/>
                <a:ext cx="3962400" cy="2229000"/>
              </a:xfrm>
              <a:prstGeom prst="roundRect">
                <a:avLst>
                  <a:gd name="adj" fmla="val 5128"/>
                </a:avLst>
              </a:prstGeom>
              <a:solidFill>
                <a:srgbClr val="000000">
                  <a:alpha val="0"/>
                </a:srgbClr>
              </a:solidFill>
              <a:ln w="19050" cap="flat" cmpd="sng">
                <a:solidFill>
                  <a:srgbClr val="2D68F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02" name="Google Shape;202;p19"/>
          <p:cNvGrpSpPr/>
          <p:nvPr/>
        </p:nvGrpSpPr>
        <p:grpSpPr>
          <a:xfrm>
            <a:off x="419100" y="1577975"/>
            <a:ext cx="3619500" cy="1452245"/>
            <a:chOff x="4953000" y="1714500"/>
            <a:chExt cx="3619425" cy="2095650"/>
          </a:xfrm>
        </p:grpSpPr>
        <p:grpSp>
          <p:nvGrpSpPr>
            <p:cNvPr id="203" name="Google Shape;203;p19"/>
            <p:cNvGrpSpPr/>
            <p:nvPr/>
          </p:nvGrpSpPr>
          <p:grpSpPr>
            <a:xfrm>
              <a:off x="4953000" y="1714500"/>
              <a:ext cx="3619425" cy="571500"/>
              <a:chOff x="0" y="0"/>
              <a:chExt cx="3619425" cy="571500"/>
            </a:xfrm>
          </p:grpSpPr>
          <p:grpSp>
            <p:nvGrpSpPr>
              <p:cNvPr id="204" name="Google Shape;204;p19"/>
              <p:cNvGrpSpPr/>
              <p:nvPr/>
            </p:nvGrpSpPr>
            <p:grpSpPr>
              <a:xfrm>
                <a:off x="0" y="133350"/>
                <a:ext cx="305429" cy="421512"/>
                <a:chOff x="0" y="0"/>
                <a:chExt cx="305429" cy="421512"/>
              </a:xfrm>
            </p:grpSpPr>
            <p:sp>
              <p:nvSpPr>
                <p:cNvPr id="205" name="Google Shape;205;p19"/>
                <p:cNvSpPr/>
                <p:nvPr/>
              </p:nvSpPr>
              <p:spPr>
                <a:xfrm>
                  <a:off x="0" y="0"/>
                  <a:ext cx="305429" cy="421512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6" name="Google Shape;206;p19"/>
                <p:cNvSpPr/>
                <p:nvPr/>
              </p:nvSpPr>
              <p:spPr>
                <a:xfrm>
                  <a:off x="95248" y="140199"/>
                  <a:ext cx="114298" cy="1099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60000"/>
                      </a:moveTo>
                      <a:lnTo>
                        <a:pt x="40000" y="120000"/>
                      </a:lnTo>
                      <a:lnTo>
                        <a:pt x="120000" y="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07" name="Google Shape;207;p19"/>
              <p:cNvSpPr txBox="1"/>
              <p:nvPr/>
            </p:nvSpPr>
            <p:spPr>
              <a:xfrm>
                <a:off x="428625" y="0"/>
                <a:ext cx="31908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350" b="1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Platform</a:t>
                </a:r>
                <a:r>
                  <a:rPr lang="en-US" altLang="en-GB" sz="1350" b="1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 Examples</a:t>
                </a:r>
                <a:r>
                  <a:rPr lang="en-GB" sz="1350" b="1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:</a:t>
                </a:r>
                <a:r>
                  <a:rPr lang="en-GB" sz="1350" b="0">
                    <a:solidFill>
                      <a:srgbClr val="4A5568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 HackerRank, LeetCode</a:t>
                </a:r>
                <a:r>
                  <a:rPr lang="en-US" altLang="en-GB" sz="1350" b="0">
                    <a:solidFill>
                      <a:srgbClr val="4A5568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, CodeChef</a:t>
                </a:r>
              </a:p>
            </p:txBody>
          </p:sp>
        </p:grpSp>
        <p:grpSp>
          <p:nvGrpSpPr>
            <p:cNvPr id="208" name="Google Shape;208;p19"/>
            <p:cNvGrpSpPr/>
            <p:nvPr/>
          </p:nvGrpSpPr>
          <p:grpSpPr>
            <a:xfrm>
              <a:off x="4953000" y="2428875"/>
              <a:ext cx="3619425" cy="571500"/>
              <a:chOff x="0" y="0"/>
              <a:chExt cx="3619425" cy="571500"/>
            </a:xfrm>
          </p:grpSpPr>
          <p:grpSp>
            <p:nvGrpSpPr>
              <p:cNvPr id="209" name="Google Shape;209;p19"/>
              <p:cNvGrpSpPr/>
              <p:nvPr/>
            </p:nvGrpSpPr>
            <p:grpSpPr>
              <a:xfrm>
                <a:off x="0" y="133350"/>
                <a:ext cx="305429" cy="393106"/>
                <a:chOff x="0" y="0"/>
                <a:chExt cx="305429" cy="393106"/>
              </a:xfrm>
            </p:grpSpPr>
            <p:sp>
              <p:nvSpPr>
                <p:cNvPr id="210" name="Google Shape;210;p19"/>
                <p:cNvSpPr/>
                <p:nvPr/>
              </p:nvSpPr>
              <p:spPr>
                <a:xfrm>
                  <a:off x="0" y="0"/>
                  <a:ext cx="305429" cy="393106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1" name="Google Shape;211;p19"/>
                <p:cNvSpPr/>
                <p:nvPr/>
              </p:nvSpPr>
              <p:spPr>
                <a:xfrm>
                  <a:off x="95250" y="152787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60000"/>
                      </a:moveTo>
                      <a:lnTo>
                        <a:pt x="40000" y="120000"/>
                      </a:lnTo>
                      <a:lnTo>
                        <a:pt x="120000" y="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12" name="Google Shape;212;p19"/>
              <p:cNvSpPr txBox="1"/>
              <p:nvPr/>
            </p:nvSpPr>
            <p:spPr>
              <a:xfrm>
                <a:off x="428625" y="0"/>
                <a:ext cx="31908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350" b="1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Focuses on</a:t>
                </a:r>
                <a:r>
                  <a:rPr lang="en-GB" sz="1350" b="0">
                    <a:solidFill>
                      <a:srgbClr val="4A5568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 algorithmic thinking.</a:t>
                </a:r>
                <a:endParaRPr sz="1350" b="0">
                  <a:solidFill>
                    <a:srgbClr val="4A5568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213" name="Google Shape;213;p19"/>
            <p:cNvGrpSpPr/>
            <p:nvPr/>
          </p:nvGrpSpPr>
          <p:grpSpPr>
            <a:xfrm>
              <a:off x="4953000" y="3143250"/>
              <a:ext cx="3619425" cy="666900"/>
              <a:chOff x="0" y="0"/>
              <a:chExt cx="3619425" cy="666900"/>
            </a:xfrm>
          </p:grpSpPr>
          <p:grpSp>
            <p:nvGrpSpPr>
              <p:cNvPr id="214" name="Google Shape;214;p19"/>
              <p:cNvGrpSpPr/>
              <p:nvPr/>
            </p:nvGrpSpPr>
            <p:grpSpPr>
              <a:xfrm>
                <a:off x="0" y="168146"/>
                <a:ext cx="304794" cy="421512"/>
                <a:chOff x="0" y="-12829"/>
                <a:chExt cx="304794" cy="421512"/>
              </a:xfrm>
            </p:grpSpPr>
            <p:sp>
              <p:nvSpPr>
                <p:cNvPr id="215" name="Google Shape;215;p19"/>
                <p:cNvSpPr/>
                <p:nvPr/>
              </p:nvSpPr>
              <p:spPr>
                <a:xfrm>
                  <a:off x="0" y="-12829"/>
                  <a:ext cx="304794" cy="421512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6" name="Google Shape;216;p19"/>
                <p:cNvSpPr/>
                <p:nvPr/>
              </p:nvSpPr>
              <p:spPr>
                <a:xfrm>
                  <a:off x="95250" y="152787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60000"/>
                      </a:moveTo>
                      <a:lnTo>
                        <a:pt x="40000" y="120000"/>
                      </a:lnTo>
                      <a:lnTo>
                        <a:pt x="120000" y="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17" name="Google Shape;217;p19"/>
              <p:cNvSpPr txBox="1"/>
              <p:nvPr/>
            </p:nvSpPr>
            <p:spPr>
              <a:xfrm>
                <a:off x="428625" y="0"/>
                <a:ext cx="31908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350" b="1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Tests your ability</a:t>
                </a:r>
                <a:r>
                  <a:rPr lang="en-GB" sz="1350" b="0">
                    <a:solidFill>
                      <a:srgbClr val="4A5568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 to convert logic into clean, functional code.</a:t>
                </a:r>
                <a:endParaRPr sz="1350" b="0">
                  <a:solidFill>
                    <a:srgbClr val="4A5568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</p:grpSp>
      <p:cxnSp>
        <p:nvCxnSpPr>
          <p:cNvPr id="93" name="Google Shape;93;p15"/>
          <p:cNvCxnSpPr/>
          <p:nvPr/>
        </p:nvCxnSpPr>
        <p:spPr>
          <a:xfrm>
            <a:off x="311785" y="13335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782185" y="1529715"/>
            <a:ext cx="3538220" cy="3272155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US" altLang="en-US" sz="2000" b="1">
                <a:solidFill>
                  <a:schemeClr val="tx1"/>
                </a:solidFill>
                <a:latin typeface="Arial Bold" panose="020B0604020202090204" charset="0"/>
                <a:cs typeface="Arial Bold" panose="020B0604020202090204" charset="0"/>
              </a:rPr>
              <a:t>Typical Questions</a:t>
            </a:r>
            <a:endParaRPr lang="en-US" altLang="en-US" sz="1600" b="1">
              <a:solidFill>
                <a:schemeClr val="tx1"/>
              </a:solidFill>
              <a:latin typeface="Arial Bold" panose="020B0604020202090204" charset="0"/>
              <a:cs typeface="Arial Bold" panose="020B0604020202090204" charset="0"/>
            </a:endParaRPr>
          </a:p>
          <a:p>
            <a:pPr marL="114300" indent="0">
              <a:buNone/>
            </a:pPr>
            <a:r>
              <a:rPr lang="en-US" altLang="en-US" sz="1600">
                <a:latin typeface="Arial" panose="020B0604020202090204" pitchFamily="34" charset="0"/>
                <a:cs typeface="Arial" panose="020B0604020202090204" pitchFamily="34" charset="0"/>
              </a:rPr>
              <a:t>Data Structures &amp; Algorithms</a:t>
            </a:r>
            <a:endParaRPr lang="en-US" altLang="en-US" sz="1600" b="1">
              <a:latin typeface="Arial Bold" panose="020B0604020202090204" charset="0"/>
              <a:cs typeface="Arial Bold" panose="020B0604020202090204" charset="0"/>
            </a:endParaRPr>
          </a:p>
          <a:p>
            <a:pPr marL="114300" indent="0">
              <a:buNone/>
            </a:pPr>
            <a:endParaRPr lang="en-US" altLang="en-US" sz="1600" b="1">
              <a:latin typeface="Arial Bold" panose="020B0604020202090204" charset="0"/>
              <a:cs typeface="Arial Bold" panose="020B0604020202090204" charset="0"/>
            </a:endParaRPr>
          </a:p>
          <a:p>
            <a:pPr eaLnBrk="1" fontAlgn="auto" latinLnBrk="0" hangingPunct="1"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altLang="en-US" sz="1400">
                <a:latin typeface="Arial" panose="020B0604020202090204" pitchFamily="34" charset="0"/>
                <a:cs typeface="Arial" panose="020B0604020202090204" pitchFamily="34" charset="0"/>
              </a:rPr>
              <a:t>Arrays, LinkedList, Maps</a:t>
            </a:r>
          </a:p>
          <a:p>
            <a:pPr eaLnBrk="1" fontAlgn="auto" latinLnBrk="0" hangingPunct="1"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altLang="en-US" sz="1400">
                <a:latin typeface="Arial" panose="020B0604020202090204" pitchFamily="34" charset="0"/>
                <a:cs typeface="Arial" panose="020B0604020202090204" pitchFamily="34" charset="0"/>
              </a:rPr>
              <a:t>Stacks, Queues</a:t>
            </a:r>
          </a:p>
          <a:p>
            <a:pPr eaLnBrk="1" fontAlgn="auto" latinLnBrk="0" hangingPunct="1"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altLang="en-US" sz="1400">
                <a:latin typeface="Arial" panose="020B0604020202090204" pitchFamily="34" charset="0"/>
                <a:cs typeface="Arial" panose="020B0604020202090204" pitchFamily="34" charset="0"/>
              </a:rPr>
              <a:t>Strings &amp; Functions</a:t>
            </a:r>
          </a:p>
          <a:p>
            <a:pPr eaLnBrk="1" fontAlgn="auto" latinLnBrk="0" hangingPunct="1"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altLang="en-US" sz="1400">
                <a:latin typeface="Arial" panose="020B0604020202090204" pitchFamily="34" charset="0"/>
                <a:cs typeface="Arial" panose="020B0604020202090204" pitchFamily="34" charset="0"/>
              </a:rPr>
              <a:t>Loops</a:t>
            </a:r>
          </a:p>
          <a:p>
            <a:pPr eaLnBrk="1" fontAlgn="auto" latinLnBrk="0" hangingPunct="1"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altLang="en-US" sz="1400">
                <a:latin typeface="Arial" panose="020B0604020202090204" pitchFamily="34" charset="0"/>
                <a:cs typeface="Arial" panose="020B0604020202090204" pitchFamily="34" charset="0"/>
              </a:rPr>
              <a:t>Searching</a:t>
            </a:r>
          </a:p>
          <a:p>
            <a:pPr eaLnBrk="1" fontAlgn="auto" latinLnBrk="0" hangingPunct="1"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altLang="en-US" sz="1400">
                <a:latin typeface="Arial" panose="020B0604020202090204" pitchFamily="34" charset="0"/>
                <a:cs typeface="Arial" panose="020B0604020202090204" pitchFamily="34" charset="0"/>
              </a:rPr>
              <a:t>Sorting</a:t>
            </a:r>
          </a:p>
          <a:p>
            <a:pPr eaLnBrk="1" fontAlgn="auto" latinLnBrk="0" hangingPunct="1"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altLang="en-US" sz="1400">
                <a:latin typeface="Arial" panose="020B0604020202090204" pitchFamily="34" charset="0"/>
                <a:cs typeface="Arial" panose="020B0604020202090204" pitchFamily="34" charset="0"/>
              </a:rPr>
              <a:t>Logic Building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1" name="Google Shape;191;p19"/>
          <p:cNvGrpSpPr/>
          <p:nvPr/>
        </p:nvGrpSpPr>
        <p:grpSpPr>
          <a:xfrm>
            <a:off x="0" y="0"/>
            <a:ext cx="9144150" cy="5143650"/>
            <a:chOff x="0" y="0"/>
            <a:chExt cx="9144150" cy="5143650"/>
          </a:xfrm>
        </p:grpSpPr>
        <p:sp>
          <p:nvSpPr>
            <p:cNvPr id="192" name="Google Shape;192;p19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19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19"/>
            <p:cNvSpPr/>
            <p:nvPr/>
          </p:nvSpPr>
          <p:spPr>
            <a:xfrm>
              <a:off x="8667750" y="4667250"/>
              <a:ext cx="476400" cy="476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4" name="Google Shape;144;p17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080" y="5080"/>
            <a:ext cx="9138920" cy="5139055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9"/>
          <p:cNvSpPr txBox="1"/>
          <p:nvPr/>
        </p:nvSpPr>
        <p:spPr>
          <a:xfrm>
            <a:off x="571500" y="290195"/>
            <a:ext cx="8001000" cy="896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ROUND 2</a:t>
            </a:r>
            <a:endParaRPr sz="1800" b="1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2700" b="0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Coding Assessments</a:t>
            </a:r>
            <a:r>
              <a:rPr lang="en-US" altLang="en-GB" sz="2700" b="0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&amp; Evaluation</a:t>
            </a:r>
          </a:p>
        </p:txBody>
      </p:sp>
      <p:cxnSp>
        <p:nvCxnSpPr>
          <p:cNvPr id="93" name="Google Shape;93;p15"/>
          <p:cNvCxnSpPr/>
          <p:nvPr/>
        </p:nvCxnSpPr>
        <p:spPr>
          <a:xfrm>
            <a:off x="311785" y="123571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6" name="Google Shape;154;p17"/>
          <p:cNvPicPr preferRelativeResize="0"/>
          <p:nvPr/>
        </p:nvPicPr>
        <p:blipFill rotWithShape="1">
          <a:blip r:embed="rId4"/>
          <a:srcRect t="80" b="80"/>
          <a:stretch>
            <a:fillRect/>
          </a:stretch>
        </p:blipFill>
        <p:spPr>
          <a:xfrm>
            <a:off x="4732020" y="1400810"/>
            <a:ext cx="3218986" cy="2948610"/>
          </a:xfrm>
          <a:prstGeom prst="roundRect">
            <a:avLst>
              <a:gd name="adj" fmla="val 4968"/>
            </a:avLst>
          </a:prstGeom>
          <a:noFill/>
          <a:ln>
            <a:noFill/>
          </a:ln>
        </p:spPr>
      </p:pic>
      <p:sp>
        <p:nvSpPr>
          <p:cNvPr id="7" name="Google Shape;150;p17"/>
          <p:cNvSpPr txBox="1"/>
          <p:nvPr/>
        </p:nvSpPr>
        <p:spPr>
          <a:xfrm>
            <a:off x="414020" y="1354455"/>
            <a:ext cx="5798185" cy="35185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46050" lvl="0" indent="0" algn="l" rtl="0" eaLnBrk="1" fontAlgn="auto" latinLnBrk="0" hangingPunct="1">
              <a:spcBef>
                <a:spcPts val="200"/>
              </a:spcBef>
              <a:spcAft>
                <a:spcPts val="200"/>
              </a:spcAft>
              <a:buSzPts val="1295"/>
              <a:buNone/>
            </a:pPr>
            <a:r>
              <a:rPr lang="en-GB" b="1">
                <a:solidFill>
                  <a:srgbClr val="4338CA"/>
                </a:solidFill>
                <a:latin typeface="Outfit"/>
                <a:ea typeface="Outfit"/>
                <a:cs typeface="Outfit"/>
                <a:sym typeface="Outfit"/>
              </a:rPr>
              <a:t>Automated Evaluation:</a:t>
            </a:r>
            <a:r>
              <a:rPr lang="en-GB" b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</a:t>
            </a:r>
          </a:p>
          <a:p>
            <a:pPr marL="914400" lvl="1" indent="-311150" algn="l" rtl="0" eaLnBrk="1" fontAlgn="auto" latinLnBrk="0" hangingPunct="1">
              <a:spcBef>
                <a:spcPts val="200"/>
              </a:spcBef>
              <a:spcAft>
                <a:spcPts val="200"/>
              </a:spcAft>
              <a:buSzPts val="1295"/>
              <a:buFont typeface="Wingdings" panose="05000000000000000000" charset="0"/>
              <a:buChar char=""/>
            </a:pPr>
            <a:r>
              <a:rPr lang="en-US" altLang="en-GB" sz="1200" b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Hidden Test Cases</a:t>
            </a:r>
          </a:p>
          <a:p>
            <a:pPr marL="914400" lvl="1" indent="-311150" algn="l" rtl="0" eaLnBrk="1" fontAlgn="auto" latinLnBrk="0" hangingPunct="1">
              <a:spcBef>
                <a:spcPts val="200"/>
              </a:spcBef>
              <a:spcAft>
                <a:spcPts val="200"/>
              </a:spcAft>
              <a:buSzPts val="1295"/>
              <a:buFont typeface="Wingdings" panose="05000000000000000000" charset="0"/>
              <a:buChar char=""/>
            </a:pPr>
            <a:r>
              <a:rPr lang="en-US" altLang="en-GB" sz="1200" b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Edge Cases</a:t>
            </a:r>
            <a:endParaRPr lang="en-GB" sz="1200" b="0">
              <a:solidFill>
                <a:srgbClr val="4B5563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146050" lvl="0" indent="0" algn="l" rtl="0" eaLnBrk="1" fontAlgn="auto" latinLnBrk="0" hangingPunct="1">
              <a:spcBef>
                <a:spcPts val="200"/>
              </a:spcBef>
              <a:spcAft>
                <a:spcPts val="200"/>
              </a:spcAft>
              <a:buSzPts val="1295"/>
              <a:buNone/>
            </a:pPr>
            <a:r>
              <a:rPr lang="en-GB" b="1">
                <a:solidFill>
                  <a:srgbClr val="4338CA"/>
                </a:solidFill>
                <a:latin typeface="Outfit"/>
                <a:ea typeface="Outfit"/>
                <a:cs typeface="Outfit"/>
                <a:sym typeface="Outfit"/>
              </a:rPr>
              <a:t>Performance Metrics:</a:t>
            </a:r>
            <a:r>
              <a:rPr lang="en-GB" b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</a:t>
            </a:r>
          </a:p>
          <a:p>
            <a:pPr marL="914400" lvl="1" indent="-311150" algn="l" rtl="0" eaLnBrk="1" fontAlgn="auto" latinLnBrk="0" hangingPunct="1">
              <a:spcBef>
                <a:spcPts val="200"/>
              </a:spcBef>
              <a:spcAft>
                <a:spcPts val="200"/>
              </a:spcAft>
              <a:buSzPts val="1295"/>
              <a:buFont typeface="Wingdings" panose="05000000000000000000" charset="0"/>
              <a:buChar char=""/>
            </a:pPr>
            <a:r>
              <a:rPr lang="en-US" altLang="en-GB" sz="1200" b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Time complexity (execution speed) </a:t>
            </a:r>
          </a:p>
          <a:p>
            <a:pPr marL="914400" lvl="1" indent="-311150" algn="l" rtl="0" eaLnBrk="1" fontAlgn="auto" latinLnBrk="0" hangingPunct="1">
              <a:spcBef>
                <a:spcPts val="200"/>
              </a:spcBef>
              <a:spcAft>
                <a:spcPts val="200"/>
              </a:spcAft>
              <a:buSzPts val="1295"/>
              <a:buFont typeface="Wingdings" panose="05000000000000000000" charset="0"/>
              <a:buChar char=""/>
            </a:pPr>
            <a:r>
              <a:rPr lang="en-US" altLang="en-GB" sz="1200" b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Space complexity (memory usage)</a:t>
            </a:r>
          </a:p>
          <a:p>
            <a:pPr marL="146050" lvl="0" indent="0" algn="l" rtl="0" eaLnBrk="1" fontAlgn="auto" latinLnBrk="0" hangingPunct="1">
              <a:spcBef>
                <a:spcPts val="200"/>
              </a:spcBef>
              <a:spcAft>
                <a:spcPts val="200"/>
              </a:spcAft>
              <a:buSzPts val="1295"/>
              <a:buNone/>
            </a:pPr>
            <a:r>
              <a:rPr lang="en-US" altLang="en-GB" b="1">
                <a:solidFill>
                  <a:srgbClr val="4338CA"/>
                </a:solidFill>
                <a:latin typeface="Outfit"/>
                <a:ea typeface="Outfit"/>
                <a:cs typeface="Outfit"/>
                <a:sym typeface="Outfit"/>
              </a:rPr>
              <a:t>Efficiency:</a:t>
            </a:r>
          </a:p>
          <a:p>
            <a:pPr marL="914400" lvl="1" indent="-311150" algn="l" rtl="0" eaLnBrk="1" fontAlgn="auto" latinLnBrk="0" hangingPunct="1">
              <a:spcBef>
                <a:spcPts val="200"/>
              </a:spcBef>
              <a:spcAft>
                <a:spcPts val="200"/>
              </a:spcAft>
              <a:buSzPts val="1295"/>
              <a:buFont typeface="Wingdings" panose="05000000000000000000" charset="0"/>
              <a:buChar char=""/>
            </a:pPr>
            <a:r>
              <a:rPr lang="en-US" altLang="en-GB" sz="1200" b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Handle large Data sets without timing out</a:t>
            </a:r>
          </a:p>
          <a:p>
            <a:pPr marL="146050" lvl="0" indent="0" algn="l" rtl="0" eaLnBrk="1" fontAlgn="auto" latinLnBrk="0" hangingPunct="1">
              <a:spcBef>
                <a:spcPts val="200"/>
              </a:spcBef>
              <a:spcAft>
                <a:spcPts val="200"/>
              </a:spcAft>
              <a:buSzPts val="1295"/>
              <a:buNone/>
            </a:pPr>
            <a:r>
              <a:rPr lang="en-US" altLang="en-GB" b="1">
                <a:solidFill>
                  <a:srgbClr val="4338CA"/>
                </a:solidFill>
                <a:latin typeface="Outfit"/>
                <a:ea typeface="Outfit"/>
                <a:cs typeface="Outfit"/>
                <a:sym typeface="DM Sans Medium"/>
              </a:rPr>
              <a:t>Code Quality: </a:t>
            </a:r>
          </a:p>
          <a:p>
            <a:pPr marL="914400" lvl="1" indent="-311150" algn="l" rtl="0" eaLnBrk="1" fontAlgn="auto" latinLnBrk="0" hangingPunct="1">
              <a:spcBef>
                <a:spcPts val="200"/>
              </a:spcBef>
              <a:spcAft>
                <a:spcPts val="200"/>
              </a:spcAft>
              <a:buSzPts val="1295"/>
              <a:buFont typeface="Wingdings" panose="05000000000000000000" charset="0"/>
              <a:buChar char=""/>
            </a:pPr>
            <a:r>
              <a:rPr lang="en-US" altLang="en-GB" sz="1200" b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Naming convention and coding style</a:t>
            </a:r>
          </a:p>
          <a:p>
            <a:pPr marL="914400" lvl="1" indent="-311150" algn="l" rtl="0" eaLnBrk="1" fontAlgn="auto" latinLnBrk="0" hangingPunct="1">
              <a:spcBef>
                <a:spcPts val="200"/>
              </a:spcBef>
              <a:spcAft>
                <a:spcPts val="200"/>
              </a:spcAft>
              <a:buSzPts val="1295"/>
              <a:buFont typeface="Wingdings" panose="05000000000000000000" charset="0"/>
              <a:buChar char=""/>
            </a:pPr>
            <a:r>
              <a:rPr lang="en-US" altLang="en-GB" sz="1200" b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Code Modularity</a:t>
            </a:r>
          </a:p>
          <a:p>
            <a:pPr marL="146050" lvl="0" indent="0" algn="l" rtl="0" eaLnBrk="1" fontAlgn="auto" latinLnBrk="0" hangingPunct="1">
              <a:spcBef>
                <a:spcPts val="200"/>
              </a:spcBef>
              <a:spcAft>
                <a:spcPts val="200"/>
              </a:spcAft>
              <a:buSzPts val="1295"/>
              <a:buNone/>
            </a:pPr>
            <a:r>
              <a:rPr lang="en-US" altLang="en-GB" b="1">
                <a:solidFill>
                  <a:srgbClr val="4338CA"/>
                </a:solidFill>
                <a:latin typeface="Outfit"/>
                <a:ea typeface="Outfit"/>
                <a:cs typeface="Outfit"/>
                <a:sym typeface="DM Sans Medium"/>
              </a:rPr>
              <a:t>Integrity checks:</a:t>
            </a:r>
          </a:p>
          <a:p>
            <a:pPr marL="914400" lvl="1" indent="-311150" algn="l" rtl="0" eaLnBrk="1" fontAlgn="auto" latinLnBrk="0" hangingPunct="1">
              <a:spcBef>
                <a:spcPts val="200"/>
              </a:spcBef>
              <a:spcAft>
                <a:spcPts val="200"/>
              </a:spcAft>
              <a:buSzPts val="1295"/>
              <a:buFont typeface="Wingdings" panose="05000000000000000000" charset="0"/>
              <a:buChar char=""/>
            </a:pPr>
            <a:r>
              <a:rPr lang="en-US" altLang="en-GB" sz="120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Tab Switching</a:t>
            </a:r>
          </a:p>
          <a:p>
            <a:pPr marL="914400" lvl="1" indent="-311150" algn="l" rtl="0" eaLnBrk="1" fontAlgn="auto" latinLnBrk="0" hangingPunct="1">
              <a:spcBef>
                <a:spcPts val="200"/>
              </a:spcBef>
              <a:spcAft>
                <a:spcPts val="200"/>
              </a:spcAft>
              <a:buSzPts val="1295"/>
              <a:buFont typeface="Wingdings" panose="05000000000000000000" charset="0"/>
              <a:buChar char=""/>
            </a:pPr>
            <a:r>
              <a:rPr lang="en-US" altLang="en-GB" sz="120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Copy Pasting</a:t>
            </a:r>
          </a:p>
          <a:p>
            <a:pPr marL="914400" lvl="1" indent="-311150" algn="l" rtl="0" eaLnBrk="1" fontAlgn="auto" latinLnBrk="0" hangingPunct="1">
              <a:spcBef>
                <a:spcPts val="200"/>
              </a:spcBef>
              <a:spcAft>
                <a:spcPts val="200"/>
              </a:spcAft>
              <a:buSzPts val="1295"/>
              <a:buFont typeface="Wingdings" panose="05000000000000000000" charset="0"/>
              <a:buChar char=""/>
            </a:pPr>
            <a:r>
              <a:rPr lang="en-US" altLang="en-GB" sz="120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AI Usage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15"/>
          <p:cNvGrpSpPr/>
          <p:nvPr/>
        </p:nvGrpSpPr>
        <p:grpSpPr>
          <a:xfrm>
            <a:off x="0" y="0"/>
            <a:ext cx="9144150" cy="5143650"/>
            <a:chOff x="0" y="0"/>
            <a:chExt cx="9144150" cy="5143650"/>
          </a:xfrm>
        </p:grpSpPr>
        <p:sp>
          <p:nvSpPr>
            <p:cNvPr id="79" name="Google Shape;79;p1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80" name="Google Shape;80;p15"/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4763" y="4763"/>
              <a:ext cx="8982000" cy="498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" name="Google Shape;81;p15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8477250" y="4476750"/>
              <a:ext cx="666900" cy="6669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37870" y="2839085"/>
            <a:ext cx="3851275" cy="1148715"/>
          </a:xfrm>
        </p:spPr>
        <p:txBody>
          <a:bodyPr>
            <a:noAutofit/>
          </a:bodyPr>
          <a:lstStyle/>
          <a:p>
            <a:pPr marL="114300" indent="0" eaLnBrk="1" fontAlgn="auto" latinLnBrk="0" hangingPunct="1">
              <a:spcAft>
                <a:spcPts val="600"/>
              </a:spcAft>
              <a:buNone/>
            </a:pPr>
            <a:r>
              <a:rPr lang="en-US" altLang="en-US" sz="1600"/>
              <a:t>✔ Pick your comfortable language</a:t>
            </a:r>
          </a:p>
          <a:p>
            <a:pPr marL="114300" indent="0" eaLnBrk="1" fontAlgn="auto" latinLnBrk="0" hangingPunct="1">
              <a:spcAft>
                <a:spcPts val="600"/>
              </a:spcAft>
              <a:buNone/>
            </a:pPr>
            <a:r>
              <a:rPr lang="en-US" altLang="en-US" sz="1600">
                <a:sym typeface="+mn-ea"/>
              </a:rPr>
              <a:t>✔ </a:t>
            </a:r>
            <a:r>
              <a:rPr lang="en-US" altLang="en-US" sz="1600"/>
              <a:t>Write code regularly</a:t>
            </a:r>
          </a:p>
          <a:p>
            <a:pPr marL="114300" indent="0" eaLnBrk="1" fontAlgn="auto" latinLnBrk="0" hangingPunct="1">
              <a:spcAft>
                <a:spcPts val="600"/>
              </a:spcAft>
              <a:buNone/>
            </a:pPr>
            <a:r>
              <a:rPr lang="en-US" altLang="en-US" sz="1600"/>
              <a:t>✔ Debug errors</a:t>
            </a:r>
          </a:p>
        </p:txBody>
      </p:sp>
      <p:sp>
        <p:nvSpPr>
          <p:cNvPr id="118" name="Google Shape;118;p16"/>
          <p:cNvSpPr txBox="1"/>
          <p:nvPr/>
        </p:nvSpPr>
        <p:spPr>
          <a:xfrm>
            <a:off x="571500" y="381000"/>
            <a:ext cx="8001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GB" sz="1800" b="1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ROUND </a:t>
            </a:r>
            <a:r>
              <a:rPr lang="en-US" altLang="en-GB" sz="1800" b="1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2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sz="2700">
                <a:sym typeface="+mn-ea"/>
              </a:rPr>
              <a:t>Preparation Strategy - Coding Interviews</a:t>
            </a:r>
          </a:p>
        </p:txBody>
      </p:sp>
      <p:cxnSp>
        <p:nvCxnSpPr>
          <p:cNvPr id="93" name="Google Shape;93;p15"/>
          <p:cNvCxnSpPr/>
          <p:nvPr/>
        </p:nvCxnSpPr>
        <p:spPr>
          <a:xfrm>
            <a:off x="311785" y="13335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84" name="Google Shape;84;p15"/>
          <p:cNvGrpSpPr/>
          <p:nvPr/>
        </p:nvGrpSpPr>
        <p:grpSpPr>
          <a:xfrm>
            <a:off x="1285875" y="1456690"/>
            <a:ext cx="6425485" cy="1240155"/>
            <a:chOff x="-247650" y="133350"/>
            <a:chExt cx="6410325" cy="1240155"/>
          </a:xfrm>
        </p:grpSpPr>
        <p:grpSp>
          <p:nvGrpSpPr>
            <p:cNvPr id="86" name="Google Shape;86;p15"/>
            <p:cNvGrpSpPr/>
            <p:nvPr/>
          </p:nvGrpSpPr>
          <p:grpSpPr>
            <a:xfrm>
              <a:off x="-247650" y="133350"/>
              <a:ext cx="2257425" cy="1240155"/>
              <a:chOff x="-247650" y="133350"/>
              <a:chExt cx="2257425" cy="1240155"/>
            </a:xfrm>
          </p:grpSpPr>
          <p:pic>
            <p:nvPicPr>
              <p:cNvPr id="87" name="Google Shape;87;p15"/>
              <p:cNvPicPr preferRelativeResize="0"/>
              <p:nvPr/>
            </p:nvPicPr>
            <p:blipFill rotWithShape="1">
              <a:blip r:embed="rId3"/>
              <a:srcRect/>
              <a:stretch>
                <a:fillRect/>
              </a:stretch>
            </p:blipFill>
            <p:spPr>
              <a:xfrm>
                <a:off x="-247650" y="224155"/>
                <a:ext cx="2257425" cy="11493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8" name="Google Shape;88;p15"/>
              <p:cNvSpPr/>
              <p:nvPr/>
            </p:nvSpPr>
            <p:spPr>
              <a:xfrm>
                <a:off x="0" y="381000"/>
                <a:ext cx="1762200" cy="76200"/>
              </a:xfrm>
              <a:prstGeom prst="roundRect">
                <a:avLst>
                  <a:gd name="adj" fmla="val 50000"/>
                </a:avLst>
              </a:prstGeom>
              <a:solidFill>
                <a:srgbClr val="2D68FE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15"/>
              <p:cNvSpPr/>
              <p:nvPr/>
            </p:nvSpPr>
            <p:spPr>
              <a:xfrm>
                <a:off x="633413" y="133350"/>
                <a:ext cx="495300" cy="495300"/>
              </a:xfrm>
              <a:prstGeom prst="ellipse">
                <a:avLst/>
              </a:prstGeom>
              <a:solidFill>
                <a:srgbClr val="2D68FE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15"/>
              <p:cNvSpPr txBox="1"/>
              <p:nvPr/>
            </p:nvSpPr>
            <p:spPr>
              <a:xfrm>
                <a:off x="633413" y="133350"/>
                <a:ext cx="495300" cy="4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500" b="0">
                    <a:solidFill>
                      <a:srgbClr val="FFFFFF"/>
                    </a:solidFill>
                    <a:latin typeface="Poppins ExtraBold"/>
                    <a:ea typeface="Poppins ExtraBold"/>
                    <a:cs typeface="Poppins ExtraBold"/>
                    <a:sym typeface="Poppins ExtraBold"/>
                  </a:rPr>
                  <a:t>1</a:t>
                </a:r>
              </a:p>
            </p:txBody>
          </p:sp>
          <p:sp>
            <p:nvSpPr>
              <p:cNvPr id="91" name="Google Shape;91;p15"/>
              <p:cNvSpPr txBox="1"/>
              <p:nvPr/>
            </p:nvSpPr>
            <p:spPr>
              <a:xfrm>
                <a:off x="170180" y="522665"/>
                <a:ext cx="1476375" cy="7359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altLang="en-GB" sz="1350" b="1" dirty="0">
                    <a:solidFill>
                      <a:srgbClr val="0B132B"/>
                    </a:solidFill>
                    <a:latin typeface="Poppins" panose="00000800000000000000"/>
                    <a:ea typeface="Poppins" panose="00000800000000000000"/>
                    <a:cs typeface="Poppins" panose="00000800000000000000"/>
                    <a:sym typeface="Poppins" panose="00000800000000000000"/>
                  </a:rPr>
                  <a:t>Start Easy</a:t>
                </a:r>
              </a:p>
            </p:txBody>
          </p:sp>
        </p:grpSp>
        <p:grpSp>
          <p:nvGrpSpPr>
            <p:cNvPr id="92" name="Google Shape;92;p15"/>
            <p:cNvGrpSpPr/>
            <p:nvPr/>
          </p:nvGrpSpPr>
          <p:grpSpPr>
            <a:xfrm>
              <a:off x="1828800" y="133350"/>
              <a:ext cx="2257425" cy="1240155"/>
              <a:chOff x="-247650" y="133350"/>
              <a:chExt cx="2257425" cy="1240155"/>
            </a:xfrm>
          </p:grpSpPr>
          <p:pic>
            <p:nvPicPr>
              <p:cNvPr id="2" name="Google Shape;93;p15"/>
              <p:cNvPicPr preferRelativeResize="0"/>
              <p:nvPr/>
            </p:nvPicPr>
            <p:blipFill rotWithShape="1">
              <a:blip r:embed="rId3"/>
              <a:srcRect/>
              <a:stretch>
                <a:fillRect/>
              </a:stretch>
            </p:blipFill>
            <p:spPr>
              <a:xfrm>
                <a:off x="-247650" y="224155"/>
                <a:ext cx="2257425" cy="11493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" name="Google Shape;94;p15"/>
              <p:cNvSpPr/>
              <p:nvPr/>
            </p:nvSpPr>
            <p:spPr>
              <a:xfrm>
                <a:off x="0" y="381000"/>
                <a:ext cx="1762200" cy="76200"/>
              </a:xfrm>
              <a:prstGeom prst="roundRect">
                <a:avLst>
                  <a:gd name="adj" fmla="val 50000"/>
                </a:avLst>
              </a:prstGeom>
              <a:solidFill>
                <a:srgbClr val="FF5733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15"/>
              <p:cNvSpPr/>
              <p:nvPr/>
            </p:nvSpPr>
            <p:spPr>
              <a:xfrm>
                <a:off x="633413" y="133350"/>
                <a:ext cx="495300" cy="495300"/>
              </a:xfrm>
              <a:prstGeom prst="ellipse">
                <a:avLst/>
              </a:prstGeom>
              <a:solidFill>
                <a:srgbClr val="FF5733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15"/>
              <p:cNvSpPr txBox="1"/>
              <p:nvPr/>
            </p:nvSpPr>
            <p:spPr>
              <a:xfrm>
                <a:off x="633413" y="133350"/>
                <a:ext cx="495300" cy="4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500" b="0">
                    <a:solidFill>
                      <a:srgbClr val="FFFFFF"/>
                    </a:solidFill>
                    <a:latin typeface="Poppins ExtraBold"/>
                    <a:ea typeface="Poppins ExtraBold"/>
                    <a:cs typeface="Poppins ExtraBold"/>
                    <a:sym typeface="Poppins ExtraBold"/>
                  </a:rPr>
                  <a:t>2</a:t>
                </a:r>
              </a:p>
            </p:txBody>
          </p:sp>
          <p:sp>
            <p:nvSpPr>
              <p:cNvPr id="97" name="Google Shape;97;p15"/>
              <p:cNvSpPr txBox="1"/>
              <p:nvPr/>
            </p:nvSpPr>
            <p:spPr>
              <a:xfrm>
                <a:off x="142875" y="575310"/>
                <a:ext cx="1476375" cy="666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altLang="en-GB" sz="1350" b="1" dirty="0">
                    <a:solidFill>
                      <a:srgbClr val="0B132B"/>
                    </a:solidFill>
                    <a:latin typeface="Poppins" panose="00000800000000000000"/>
                    <a:ea typeface="Poppins" panose="00000800000000000000"/>
                    <a:cs typeface="Poppins" panose="00000800000000000000"/>
                    <a:sym typeface="Poppins" panose="00000800000000000000"/>
                  </a:rPr>
                  <a:t>Move to Medium</a:t>
                </a:r>
              </a:p>
            </p:txBody>
          </p:sp>
        </p:grpSp>
        <p:grpSp>
          <p:nvGrpSpPr>
            <p:cNvPr id="98" name="Google Shape;98;p15"/>
            <p:cNvGrpSpPr/>
            <p:nvPr/>
          </p:nvGrpSpPr>
          <p:grpSpPr>
            <a:xfrm>
              <a:off x="3905250" y="133350"/>
              <a:ext cx="2257425" cy="1224915"/>
              <a:chOff x="-247650" y="133350"/>
              <a:chExt cx="2257425" cy="1224915"/>
            </a:xfrm>
          </p:grpSpPr>
          <p:pic>
            <p:nvPicPr>
              <p:cNvPr id="99" name="Google Shape;99;p15"/>
              <p:cNvPicPr preferRelativeResize="0"/>
              <p:nvPr/>
            </p:nvPicPr>
            <p:blipFill rotWithShape="1">
              <a:blip r:embed="rId3"/>
              <a:srcRect/>
              <a:stretch>
                <a:fillRect/>
              </a:stretch>
            </p:blipFill>
            <p:spPr>
              <a:xfrm>
                <a:off x="-247650" y="224155"/>
                <a:ext cx="2257425" cy="113411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00" name="Google Shape;100;p15"/>
              <p:cNvSpPr/>
              <p:nvPr/>
            </p:nvSpPr>
            <p:spPr>
              <a:xfrm>
                <a:off x="0" y="381000"/>
                <a:ext cx="1762200" cy="76200"/>
              </a:xfrm>
              <a:prstGeom prst="roundRect">
                <a:avLst>
                  <a:gd name="adj" fmla="val 50000"/>
                </a:avLst>
              </a:prstGeom>
              <a:solidFill>
                <a:srgbClr val="FFC3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15"/>
              <p:cNvSpPr/>
              <p:nvPr/>
            </p:nvSpPr>
            <p:spPr>
              <a:xfrm>
                <a:off x="633413" y="133350"/>
                <a:ext cx="495300" cy="495300"/>
              </a:xfrm>
              <a:prstGeom prst="ellipse">
                <a:avLst/>
              </a:prstGeom>
              <a:solidFill>
                <a:srgbClr val="FFC3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15"/>
              <p:cNvSpPr txBox="1"/>
              <p:nvPr/>
            </p:nvSpPr>
            <p:spPr>
              <a:xfrm>
                <a:off x="633413" y="133350"/>
                <a:ext cx="495300" cy="4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500" b="0">
                    <a:solidFill>
                      <a:srgbClr val="0B132B"/>
                    </a:solidFill>
                    <a:latin typeface="Poppins ExtraBold"/>
                    <a:ea typeface="Poppins ExtraBold"/>
                    <a:cs typeface="Poppins ExtraBold"/>
                    <a:sym typeface="Poppins ExtraBold"/>
                  </a:rPr>
                  <a:t>3</a:t>
                </a:r>
              </a:p>
            </p:txBody>
          </p:sp>
          <p:sp>
            <p:nvSpPr>
              <p:cNvPr id="103" name="Google Shape;103;p15"/>
              <p:cNvSpPr txBox="1"/>
              <p:nvPr/>
            </p:nvSpPr>
            <p:spPr>
              <a:xfrm>
                <a:off x="142875" y="575310"/>
                <a:ext cx="1476375" cy="6661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altLang="en-GB" sz="1350" b="1" dirty="0">
                    <a:solidFill>
                      <a:srgbClr val="0B132B"/>
                    </a:solidFill>
                    <a:latin typeface="Poppins" panose="00000800000000000000"/>
                    <a:ea typeface="Poppins" panose="00000800000000000000"/>
                    <a:cs typeface="Poppins" panose="00000800000000000000"/>
                    <a:sym typeface="Poppins" panose="00000800000000000000"/>
                  </a:rPr>
                  <a:t>Attempt Hard </a:t>
                </a:r>
              </a:p>
            </p:txBody>
          </p:sp>
        </p:grpSp>
      </p:grpSp>
      <p:grpSp>
        <p:nvGrpSpPr>
          <p:cNvPr id="554" name="Google Shape;554;p30"/>
          <p:cNvGrpSpPr/>
          <p:nvPr/>
        </p:nvGrpSpPr>
        <p:grpSpPr>
          <a:xfrm>
            <a:off x="381000" y="4168139"/>
            <a:ext cx="8382000" cy="883587"/>
            <a:chOff x="0" y="0"/>
            <a:chExt cx="8382000" cy="714525"/>
          </a:xfrm>
        </p:grpSpPr>
        <p:sp>
          <p:nvSpPr>
            <p:cNvPr id="3" name="Google Shape;556;p30"/>
            <p:cNvSpPr/>
            <p:nvPr/>
          </p:nvSpPr>
          <p:spPr>
            <a:xfrm>
              <a:off x="0" y="0"/>
              <a:ext cx="8382000" cy="666750"/>
            </a:xfrm>
            <a:prstGeom prst="roundRect">
              <a:avLst>
                <a:gd name="adj" fmla="val 16000"/>
              </a:avLst>
            </a:prstGeom>
            <a:solidFill>
              <a:srgbClr val="34D399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30"/>
            <p:cNvSpPr txBox="1"/>
            <p:nvPr/>
          </p:nvSpPr>
          <p:spPr>
            <a:xfrm>
              <a:off x="85725" y="238125"/>
              <a:ext cx="1238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50" b="1" dirty="0">
                  <a:solidFill>
                    <a:srgbClr val="111827"/>
                  </a:solidFill>
                  <a:latin typeface="Outfit"/>
                  <a:ea typeface="Outfit"/>
                  <a:cs typeface="Outfit"/>
                  <a:sym typeface="Outfit"/>
                </a:rPr>
                <a:t>CONSISTENCY:</a:t>
              </a:r>
              <a:endParaRPr sz="1295" dirty="0"/>
            </a:p>
          </p:txBody>
        </p:sp>
        <p:sp>
          <p:nvSpPr>
            <p:cNvPr id="558" name="Google Shape;558;p30"/>
            <p:cNvSpPr txBox="1"/>
            <p:nvPr/>
          </p:nvSpPr>
          <p:spPr>
            <a:xfrm>
              <a:off x="1323693" y="168851"/>
              <a:ext cx="6788785" cy="4762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Solving 2-3 problems daily is far more effective than cramming 20 problems on a weekend.</a:t>
              </a:r>
            </a:p>
          </p:txBody>
        </p:sp>
      </p:grpSp>
      <p:sp>
        <p:nvSpPr>
          <p:cNvPr id="5" name="Text Placeholder 3"/>
          <p:cNvSpPr>
            <a:spLocks noGrp="1"/>
          </p:cNvSpPr>
          <p:nvPr/>
        </p:nvSpPr>
        <p:spPr>
          <a:xfrm>
            <a:off x="4373880" y="2814320"/>
            <a:ext cx="3851275" cy="98488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90204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9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marL="114300" algn="l" eaLnBrk="1" fontAlgn="auto" latinLnBrk="0" hangingPunct="1">
              <a:spcAft>
                <a:spcPts val="600"/>
              </a:spcAft>
              <a:buNone/>
            </a:pPr>
            <a:r>
              <a:rPr lang="en-US" altLang="en-US" sz="1600"/>
              <a:t>✔ Understand logic</a:t>
            </a:r>
          </a:p>
          <a:p>
            <a:pPr marL="114300" algn="l" eaLnBrk="1" fontAlgn="auto" latinLnBrk="0" hangingPunct="1">
              <a:spcAft>
                <a:spcPts val="600"/>
              </a:spcAft>
              <a:buNone/>
            </a:pPr>
            <a:r>
              <a:rPr lang="en-US" altLang="en-US" sz="1600"/>
              <a:t>✔ Convert ideas into code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1" name="Google Shape;531;p30"/>
          <p:cNvGrpSpPr/>
          <p:nvPr/>
        </p:nvGrpSpPr>
        <p:grpSpPr>
          <a:xfrm>
            <a:off x="0" y="0"/>
            <a:ext cx="9144150" cy="5143650"/>
            <a:chOff x="0" y="0"/>
            <a:chExt cx="9144150" cy="5143650"/>
          </a:xfrm>
        </p:grpSpPr>
        <p:sp>
          <p:nvSpPr>
            <p:cNvPr id="532" name="Google Shape;532;p30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533" name="Google Shape;533;p30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4763" y="4763"/>
              <a:ext cx="8982000" cy="498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34" name="Google Shape;534;p30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30"/>
            <p:cNvSpPr/>
            <p:nvPr/>
          </p:nvSpPr>
          <p:spPr>
            <a:xfrm>
              <a:off x="8667750" y="4667250"/>
              <a:ext cx="476400" cy="476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6" name="Google Shape;536;p30"/>
          <p:cNvSpPr txBox="1"/>
          <p:nvPr/>
        </p:nvSpPr>
        <p:spPr>
          <a:xfrm>
            <a:off x="571500" y="381000"/>
            <a:ext cx="8001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CODING METHODS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GB" sz="27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Traditional Practice vs. Vibe Coding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</p:txBody>
      </p:sp>
      <p:grpSp>
        <p:nvGrpSpPr>
          <p:cNvPr id="537" name="Google Shape;537;p30"/>
          <p:cNvGrpSpPr/>
          <p:nvPr/>
        </p:nvGrpSpPr>
        <p:grpSpPr>
          <a:xfrm>
            <a:off x="423863" y="1957387"/>
            <a:ext cx="4010100" cy="2376600"/>
            <a:chOff x="-147637" y="-71437"/>
            <a:chExt cx="4010100" cy="2376600"/>
          </a:xfrm>
        </p:grpSpPr>
        <p:pic>
          <p:nvPicPr>
            <p:cNvPr id="538" name="Google Shape;538;p30"/>
            <p:cNvPicPr preferRelativeResize="0"/>
            <p:nvPr/>
          </p:nvPicPr>
          <p:blipFill rotWithShape="1">
            <a:blip r:embed="rId4"/>
            <a:srcRect/>
            <a:stretch>
              <a:fillRect/>
            </a:stretch>
          </p:blipFill>
          <p:spPr>
            <a:xfrm>
              <a:off x="-147637" y="-71437"/>
              <a:ext cx="4010100" cy="23766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39" name="Google Shape;539;p30"/>
            <p:cNvSpPr/>
            <p:nvPr/>
          </p:nvSpPr>
          <p:spPr>
            <a:xfrm>
              <a:off x="0" y="0"/>
              <a:ext cx="3714900" cy="76200"/>
            </a:xfrm>
            <a:prstGeom prst="roundRect">
              <a:avLst>
                <a:gd name="adj" fmla="val 50000"/>
              </a:avLst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40" name="Google Shape;540;p30"/>
            <p:cNvGrpSpPr/>
            <p:nvPr/>
          </p:nvGrpSpPr>
          <p:grpSpPr>
            <a:xfrm>
              <a:off x="2905125" y="1476375"/>
              <a:ext cx="476250" cy="333375"/>
              <a:chOff x="0" y="95250"/>
              <a:chExt cx="476250" cy="333375"/>
            </a:xfrm>
          </p:grpSpPr>
          <p:pic>
            <p:nvPicPr>
              <p:cNvPr id="541" name="Google Shape;541;p30"/>
              <p:cNvPicPr preferRelativeResize="0"/>
              <p:nvPr/>
            </p:nvPicPr>
            <p:blipFill rotWithShape="1">
              <a:blip r:embed="rId5"/>
              <a:srcRect/>
              <a:stretch>
                <a:fillRect/>
              </a:stretch>
            </p:blipFill>
            <p:spPr>
              <a:xfrm>
                <a:off x="0" y="95250"/>
                <a:ext cx="190500" cy="1905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542" name="Google Shape;542;p30"/>
              <p:cNvPicPr preferRelativeResize="0"/>
              <p:nvPr/>
            </p:nvPicPr>
            <p:blipFill rotWithShape="1">
              <a:blip r:embed="rId6"/>
              <a:srcRect/>
              <a:stretch>
                <a:fillRect/>
              </a:stretch>
            </p:blipFill>
            <p:spPr>
              <a:xfrm>
                <a:off x="142875" y="238125"/>
                <a:ext cx="190500" cy="1905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543" name="Google Shape;543;p30"/>
              <p:cNvPicPr preferRelativeResize="0"/>
              <p:nvPr/>
            </p:nvPicPr>
            <p:blipFill rotWithShape="1">
              <a:blip r:embed="rId7"/>
              <a:srcRect/>
              <a:stretch>
                <a:fillRect/>
              </a:stretch>
            </p:blipFill>
            <p:spPr>
              <a:xfrm>
                <a:off x="285750" y="95250"/>
                <a:ext cx="190500" cy="1905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544" name="Google Shape;544;p30"/>
            <p:cNvSpPr txBox="1"/>
            <p:nvPr/>
          </p:nvSpPr>
          <p:spPr>
            <a:xfrm>
              <a:off x="238125" y="238125"/>
              <a:ext cx="3238500" cy="206703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50" b="1" dirty="0">
                  <a:solidFill>
                    <a:srgbClr val="2D68FE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rPr>
                <a:t>Traditional</a:t>
              </a:r>
              <a:endParaRPr sz="1650" b="1" dirty="0">
                <a:solidFill>
                  <a:srgbClr val="2D68FE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endParaRPr>
            </a:p>
            <a:p>
              <a:pPr marL="285750" lvl="0" indent="-285750" algn="l" rtl="0">
                <a:spcBef>
                  <a:spcPts val="90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GB" sz="1350" b="0" dirty="0">
                  <a:solidFill>
                    <a:srgbClr val="4A5568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Focuses on syntax and manual logic building.</a:t>
              </a:r>
            </a:p>
            <a:p>
              <a:pPr marL="285750" lvl="0" indent="-285750">
                <a:spcBef>
                  <a:spcPts val="900"/>
                </a:spcBef>
                <a:buFont typeface="Arial" panose="020B0604020202020204" pitchFamily="34" charset="0"/>
                <a:buChar char="•"/>
              </a:pPr>
              <a:r>
                <a:rPr lang="en-IN" sz="1200" dirty="0"/>
                <a:t>Deep Understanding &amp; Maintainability</a:t>
              </a:r>
            </a:p>
            <a:p>
              <a:pPr marL="285750" lvl="0" indent="-285750">
                <a:spcBef>
                  <a:spcPts val="900"/>
                </a:spcBef>
                <a:buFont typeface="Arial" panose="020B0604020202020204" pitchFamily="34" charset="0"/>
                <a:buChar char="•"/>
              </a:pPr>
              <a:r>
                <a:rPr lang="en-IN" sz="1200" dirty="0"/>
                <a:t>Deterministic Quality &amp; Security</a:t>
              </a:r>
              <a:endParaRPr lang="en-IN" sz="1200" b="0" dirty="0">
                <a:solidFill>
                  <a:srgbClr val="4A556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285750" lvl="0" indent="-285750">
                <a:spcBef>
                  <a:spcPts val="900"/>
                </a:spcBef>
                <a:buFont typeface="Arial" panose="020B0604020202020204" pitchFamily="34" charset="0"/>
                <a:buChar char="•"/>
              </a:pPr>
              <a:r>
                <a:rPr lang="en-IN" sz="1200" dirty="0"/>
                <a:t>Architectural Mastery</a:t>
              </a:r>
            </a:p>
            <a:p>
              <a:pPr marL="285750" lvl="0" indent="-285750">
                <a:spcBef>
                  <a:spcPts val="900"/>
                </a:spcBef>
                <a:buFont typeface="Arial" panose="020B0604020202020204" pitchFamily="34" charset="0"/>
                <a:buChar char="•"/>
              </a:pPr>
              <a:endParaRPr lang="en-GB" sz="1350" b="0" dirty="0">
                <a:solidFill>
                  <a:srgbClr val="4A556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285750" lvl="0" indent="-285750" algn="l" rtl="0">
                <a:spcBef>
                  <a:spcPts val="90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endParaRPr lang="en-GB" sz="1350" b="0" dirty="0">
                <a:solidFill>
                  <a:srgbClr val="4A556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285750" lvl="0" indent="-285750" algn="l" rtl="0">
                <a:spcBef>
                  <a:spcPts val="90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endParaRPr sz="1350" b="0" dirty="0">
                <a:solidFill>
                  <a:srgbClr val="4A556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545" name="Google Shape;545;p30"/>
          <p:cNvGrpSpPr/>
          <p:nvPr/>
        </p:nvGrpSpPr>
        <p:grpSpPr>
          <a:xfrm>
            <a:off x="4710113" y="1957387"/>
            <a:ext cx="4010100" cy="2376600"/>
            <a:chOff x="-147637" y="-71437"/>
            <a:chExt cx="4010100" cy="2376600"/>
          </a:xfrm>
        </p:grpSpPr>
        <p:pic>
          <p:nvPicPr>
            <p:cNvPr id="546" name="Google Shape;546;p30"/>
            <p:cNvPicPr preferRelativeResize="0"/>
            <p:nvPr/>
          </p:nvPicPr>
          <p:blipFill rotWithShape="1">
            <a:blip r:embed="rId4"/>
            <a:srcRect/>
            <a:stretch>
              <a:fillRect/>
            </a:stretch>
          </p:blipFill>
          <p:spPr>
            <a:xfrm>
              <a:off x="-147637" y="-71437"/>
              <a:ext cx="4010100" cy="23766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47" name="Google Shape;547;p30"/>
            <p:cNvSpPr/>
            <p:nvPr/>
          </p:nvSpPr>
          <p:spPr>
            <a:xfrm>
              <a:off x="0" y="0"/>
              <a:ext cx="3714900" cy="76200"/>
            </a:xfrm>
            <a:prstGeom prst="roundRect">
              <a:avLst>
                <a:gd name="adj" fmla="val 50000"/>
              </a:avLst>
            </a:prstGeom>
            <a:solidFill>
              <a:srgbClr val="FF5733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48" name="Google Shape;548;p30"/>
            <p:cNvGrpSpPr/>
            <p:nvPr/>
          </p:nvGrpSpPr>
          <p:grpSpPr>
            <a:xfrm>
              <a:off x="2743200" y="1552575"/>
              <a:ext cx="800100" cy="324000"/>
              <a:chOff x="-19050" y="219075"/>
              <a:chExt cx="800100" cy="324000"/>
            </a:xfrm>
          </p:grpSpPr>
          <p:pic>
            <p:nvPicPr>
              <p:cNvPr id="549" name="Google Shape;549;p30"/>
              <p:cNvPicPr preferRelativeResize="0"/>
              <p:nvPr/>
            </p:nvPicPr>
            <p:blipFill rotWithShape="1">
              <a:blip r:embed="rId8"/>
              <a:srcRect/>
              <a:stretch>
                <a:fillRect/>
              </a:stretch>
            </p:blipFill>
            <p:spPr>
              <a:xfrm>
                <a:off x="-19050" y="219075"/>
                <a:ext cx="800100" cy="324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550" name="Google Shape;550;p30"/>
              <p:cNvPicPr preferRelativeResize="0"/>
              <p:nvPr/>
            </p:nvPicPr>
            <p:blipFill rotWithShape="1">
              <a:blip r:embed="rId9"/>
              <a:srcRect/>
              <a:stretch>
                <a:fillRect/>
              </a:stretch>
            </p:blipFill>
            <p:spPr>
              <a:xfrm>
                <a:off x="323850" y="323850"/>
                <a:ext cx="114300" cy="1143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551" name="Google Shape;551;p30"/>
            <p:cNvSpPr txBox="1"/>
            <p:nvPr/>
          </p:nvSpPr>
          <p:spPr>
            <a:xfrm>
              <a:off x="238125" y="238125"/>
              <a:ext cx="3238500" cy="16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50" b="1" dirty="0">
                  <a:solidFill>
                    <a:srgbClr val="FF5733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rPr>
                <a:t>Vibe Coding </a:t>
              </a:r>
              <a:r>
                <a:rPr lang="en-GB" sz="1050" b="1" dirty="0">
                  <a:solidFill>
                    <a:srgbClr val="4A5568"/>
                  </a:solidFill>
                  <a:latin typeface="Inter" panose="02000503000000020004"/>
                  <a:ea typeface="Inter" panose="02000503000000020004"/>
                  <a:cs typeface="Poppins" panose="00000800000000000000"/>
                  <a:sym typeface="Inter" panose="02000503000000020004"/>
                </a:rPr>
                <a:t>(A</a:t>
              </a:r>
              <a:r>
                <a:rPr lang="en-GB" sz="1050" b="1" dirty="0">
                  <a:solidFill>
                    <a:srgbClr val="4A5568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I-Assisted)</a:t>
              </a:r>
              <a:endParaRPr sz="1050" b="1" dirty="0">
                <a:solidFill>
                  <a:srgbClr val="4A556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285750" lvl="0" indent="-285750" algn="l" rtl="0">
                <a:spcBef>
                  <a:spcPts val="90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GB" sz="1350" b="0" dirty="0">
                  <a:solidFill>
                    <a:srgbClr val="4A5568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Faster prototyping, but risks masking fundamental gaps.</a:t>
              </a:r>
            </a:p>
            <a:p>
              <a:pPr marL="285750" lvl="0" indent="-285750">
                <a:spcBef>
                  <a:spcPts val="900"/>
                </a:spcBef>
                <a:buFont typeface="Arial" panose="020B0604020202020204" pitchFamily="34" charset="0"/>
                <a:buChar char="•"/>
              </a:pPr>
              <a:r>
                <a:rPr lang="en-IN" sz="1200" dirty="0"/>
                <a:t>Unmatched Velocity</a:t>
              </a:r>
            </a:p>
            <a:p>
              <a:pPr marL="285750" lvl="0" indent="-285750">
                <a:spcBef>
                  <a:spcPts val="900"/>
                </a:spcBef>
                <a:buFont typeface="Arial" panose="020B0604020202020204" pitchFamily="34" charset="0"/>
                <a:buChar char="•"/>
              </a:pPr>
              <a:r>
                <a:rPr lang="en-IN" sz="1200" dirty="0"/>
                <a:t>Lower Barrier to Entry</a:t>
              </a:r>
            </a:p>
            <a:p>
              <a:pPr marL="285750" lvl="0" indent="-285750">
                <a:spcBef>
                  <a:spcPts val="900"/>
                </a:spcBef>
                <a:buFont typeface="Arial" panose="020B0604020202020204" pitchFamily="34" charset="0"/>
                <a:buChar char="•"/>
              </a:pPr>
              <a:r>
                <a:rPr lang="en-IN" sz="1200" dirty="0"/>
                <a:t>Boilerplate Elimination</a:t>
              </a:r>
              <a:endParaRPr sz="1350" b="0" dirty="0">
                <a:solidFill>
                  <a:srgbClr val="4A556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cxnSp>
        <p:nvCxnSpPr>
          <p:cNvPr id="93" name="Google Shape;93;p15"/>
          <p:cNvCxnSpPr/>
          <p:nvPr/>
        </p:nvCxnSpPr>
        <p:spPr>
          <a:xfrm>
            <a:off x="311785" y="128016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" name="Google Shape;222;p20"/>
          <p:cNvGrpSpPr/>
          <p:nvPr/>
        </p:nvGrpSpPr>
        <p:grpSpPr>
          <a:xfrm>
            <a:off x="0" y="0"/>
            <a:ext cx="9144150" cy="5143650"/>
            <a:chOff x="0" y="0"/>
            <a:chExt cx="9144150" cy="5143650"/>
          </a:xfrm>
        </p:grpSpPr>
        <p:sp>
          <p:nvSpPr>
            <p:cNvPr id="223" name="Google Shape;223;p20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0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25" name="Google Shape;225;p20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4957763" y="957263"/>
              <a:ext cx="3457500" cy="3076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6" name="Google Shape;226;p20"/>
            <p:cNvPicPr preferRelativeResize="0"/>
            <p:nvPr/>
          </p:nvPicPr>
          <p:blipFill rotWithShape="1">
            <a:blip r:embed="rId4"/>
            <a:srcRect/>
            <a:stretch>
              <a:fillRect/>
            </a:stretch>
          </p:blipFill>
          <p:spPr>
            <a:xfrm>
              <a:off x="6353175" y="1495425"/>
              <a:ext cx="2152800" cy="2152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7" name="Google Shape;227;p20"/>
            <p:cNvPicPr preferRelativeResize="0"/>
            <p:nvPr/>
          </p:nvPicPr>
          <p:blipFill rotWithShape="1">
            <a:blip r:embed="rId5"/>
            <a:srcRect/>
            <a:stretch>
              <a:fillRect/>
            </a:stretch>
          </p:blipFill>
          <p:spPr>
            <a:xfrm>
              <a:off x="7362825" y="1933575"/>
              <a:ext cx="705000" cy="705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8" name="Google Shape;228;p20"/>
            <p:cNvSpPr/>
            <p:nvPr/>
          </p:nvSpPr>
          <p:spPr>
            <a:xfrm>
              <a:off x="6343650" y="3295650"/>
              <a:ext cx="266700" cy="266700"/>
            </a:xfrm>
            <a:prstGeom prst="ellipse">
              <a:avLst/>
            </a:prstGeom>
            <a:solidFill>
              <a:srgbClr val="FFC300">
                <a:alpha val="75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0"/>
            <p:cNvSpPr/>
            <p:nvPr/>
          </p:nvSpPr>
          <p:spPr>
            <a:xfrm>
              <a:off x="7162800" y="1352550"/>
              <a:ext cx="152400" cy="152400"/>
            </a:xfrm>
            <a:prstGeom prst="ellipse">
              <a:avLst/>
            </a:prstGeom>
            <a:solidFill>
              <a:srgbClr val="2D68FE">
                <a:alpha val="6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20"/>
            <p:cNvSpPr/>
            <p:nvPr/>
          </p:nvSpPr>
          <p:spPr>
            <a:xfrm>
              <a:off x="8667750" y="4667250"/>
              <a:ext cx="476400" cy="476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4" name="Google Shape;144;p17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5080" y="5080"/>
            <a:ext cx="9138285" cy="5139055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0"/>
          <p:cNvSpPr txBox="1"/>
          <p:nvPr/>
        </p:nvSpPr>
        <p:spPr>
          <a:xfrm>
            <a:off x="571500" y="381000"/>
            <a:ext cx="8001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ROUND 3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altLang="en-GB" sz="27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</a:t>
            </a:r>
            <a:r>
              <a:rPr lang="en-US" sz="27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echnical Interviews</a:t>
            </a:r>
            <a:endParaRPr lang="en-US"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</p:txBody>
      </p:sp>
      <p:grpSp>
        <p:nvGrpSpPr>
          <p:cNvPr id="232" name="Google Shape;232;p20"/>
          <p:cNvGrpSpPr/>
          <p:nvPr/>
        </p:nvGrpSpPr>
        <p:grpSpPr>
          <a:xfrm>
            <a:off x="565150" y="1658620"/>
            <a:ext cx="8007350" cy="2485390"/>
            <a:chOff x="-6350" y="-151130"/>
            <a:chExt cx="8007350" cy="2485390"/>
          </a:xfrm>
        </p:grpSpPr>
        <p:grpSp>
          <p:nvGrpSpPr>
            <p:cNvPr id="233" name="Google Shape;233;p20"/>
            <p:cNvGrpSpPr/>
            <p:nvPr/>
          </p:nvGrpSpPr>
          <p:grpSpPr>
            <a:xfrm>
              <a:off x="0" y="-151130"/>
              <a:ext cx="8001000" cy="571500"/>
              <a:chOff x="0" y="-151130"/>
              <a:chExt cx="8001000" cy="571500"/>
            </a:xfrm>
          </p:grpSpPr>
          <p:grpSp>
            <p:nvGrpSpPr>
              <p:cNvPr id="234" name="Google Shape;234;p20"/>
              <p:cNvGrpSpPr/>
              <p:nvPr/>
            </p:nvGrpSpPr>
            <p:grpSpPr>
              <a:xfrm>
                <a:off x="0" y="0"/>
                <a:ext cx="304800" cy="304800"/>
                <a:chOff x="0" y="0"/>
                <a:chExt cx="304800" cy="304800"/>
              </a:xfrm>
            </p:grpSpPr>
            <p:sp>
              <p:nvSpPr>
                <p:cNvPr id="235" name="Google Shape;235;p20"/>
                <p:cNvSpPr/>
                <p:nvPr/>
              </p:nvSpPr>
              <p:spPr>
                <a:xfrm>
                  <a:off x="0" y="0"/>
                  <a:ext cx="304800" cy="304800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6" name="Google Shape;236;p20"/>
                <p:cNvSpPr/>
                <p:nvPr/>
              </p:nvSpPr>
              <p:spPr>
                <a:xfrm>
                  <a:off x="95250" y="114300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60000"/>
                      </a:moveTo>
                      <a:lnTo>
                        <a:pt x="40000" y="120000"/>
                      </a:lnTo>
                      <a:lnTo>
                        <a:pt x="120000" y="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37" name="Google Shape;237;p20"/>
              <p:cNvSpPr txBox="1"/>
              <p:nvPr/>
            </p:nvSpPr>
            <p:spPr>
              <a:xfrm>
                <a:off x="457200" y="-151130"/>
                <a:ext cx="75438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575" b="1" dirty="0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Deep dive into technical knowledge</a:t>
                </a:r>
                <a:endParaRPr sz="1575" b="1" dirty="0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238" name="Google Shape;238;p20"/>
            <p:cNvGrpSpPr/>
            <p:nvPr/>
          </p:nvGrpSpPr>
          <p:grpSpPr>
            <a:xfrm>
              <a:off x="0" y="457835"/>
              <a:ext cx="8001000" cy="571500"/>
              <a:chOff x="0" y="-304165"/>
              <a:chExt cx="8001000" cy="571500"/>
            </a:xfrm>
          </p:grpSpPr>
          <p:grpSp>
            <p:nvGrpSpPr>
              <p:cNvPr id="239" name="Google Shape;239;p20"/>
              <p:cNvGrpSpPr/>
              <p:nvPr/>
            </p:nvGrpSpPr>
            <p:grpSpPr>
              <a:xfrm>
                <a:off x="0" y="-153035"/>
                <a:ext cx="304800" cy="304800"/>
                <a:chOff x="0" y="-153035"/>
                <a:chExt cx="304800" cy="304800"/>
              </a:xfrm>
            </p:grpSpPr>
            <p:sp>
              <p:nvSpPr>
                <p:cNvPr id="240" name="Google Shape;240;p20"/>
                <p:cNvSpPr/>
                <p:nvPr/>
              </p:nvSpPr>
              <p:spPr>
                <a:xfrm>
                  <a:off x="0" y="-153035"/>
                  <a:ext cx="304800" cy="304800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1" name="Google Shape;241;p20"/>
                <p:cNvSpPr/>
                <p:nvPr/>
              </p:nvSpPr>
              <p:spPr>
                <a:xfrm>
                  <a:off x="95250" y="-40555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60000"/>
                      </a:moveTo>
                      <a:lnTo>
                        <a:pt x="40000" y="120000"/>
                      </a:lnTo>
                      <a:lnTo>
                        <a:pt x="120000" y="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42" name="Google Shape;242;p20"/>
              <p:cNvSpPr txBox="1"/>
              <p:nvPr/>
            </p:nvSpPr>
            <p:spPr>
              <a:xfrm>
                <a:off x="457200" y="-304165"/>
                <a:ext cx="75438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altLang="en-US" sz="1575" b="1" dirty="0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Behavioral &amp; Personality assessment</a:t>
                </a:r>
              </a:p>
            </p:txBody>
          </p:sp>
        </p:grpSp>
        <p:grpSp>
          <p:nvGrpSpPr>
            <p:cNvPr id="243" name="Google Shape;243;p20"/>
            <p:cNvGrpSpPr/>
            <p:nvPr/>
          </p:nvGrpSpPr>
          <p:grpSpPr>
            <a:xfrm>
              <a:off x="-6350" y="1762760"/>
              <a:ext cx="8007350" cy="571500"/>
              <a:chOff x="-6350" y="238760"/>
              <a:chExt cx="8007350" cy="571500"/>
            </a:xfrm>
          </p:grpSpPr>
          <p:grpSp>
            <p:nvGrpSpPr>
              <p:cNvPr id="244" name="Google Shape;244;p20"/>
              <p:cNvGrpSpPr/>
              <p:nvPr/>
            </p:nvGrpSpPr>
            <p:grpSpPr>
              <a:xfrm>
                <a:off x="-6350" y="373380"/>
                <a:ext cx="304800" cy="304800"/>
                <a:chOff x="-6350" y="373380"/>
                <a:chExt cx="304800" cy="304800"/>
              </a:xfrm>
            </p:grpSpPr>
            <p:sp>
              <p:nvSpPr>
                <p:cNvPr id="245" name="Google Shape;245;p20"/>
                <p:cNvSpPr/>
                <p:nvPr/>
              </p:nvSpPr>
              <p:spPr>
                <a:xfrm>
                  <a:off x="-6350" y="373380"/>
                  <a:ext cx="304800" cy="304800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" name="Google Shape;246;p20"/>
                <p:cNvSpPr/>
                <p:nvPr/>
              </p:nvSpPr>
              <p:spPr>
                <a:xfrm>
                  <a:off x="101600" y="479412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60000"/>
                      </a:moveTo>
                      <a:lnTo>
                        <a:pt x="40000" y="120000"/>
                      </a:lnTo>
                      <a:lnTo>
                        <a:pt x="120000" y="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47" name="Google Shape;247;p20"/>
              <p:cNvSpPr txBox="1"/>
              <p:nvPr/>
            </p:nvSpPr>
            <p:spPr>
              <a:xfrm>
                <a:off x="457200" y="238760"/>
                <a:ext cx="75438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575" b="1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Evaluation of team fit and problem-solving approach</a:t>
                </a:r>
                <a:endParaRPr sz="1575" b="1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</p:grpSp>
      <p:cxnSp>
        <p:nvCxnSpPr>
          <p:cNvPr id="93" name="Google Shape;93;p15"/>
          <p:cNvCxnSpPr/>
          <p:nvPr/>
        </p:nvCxnSpPr>
        <p:spPr>
          <a:xfrm>
            <a:off x="311785" y="13335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Google Shape;240;p20"/>
          <p:cNvSpPr/>
          <p:nvPr/>
        </p:nvSpPr>
        <p:spPr>
          <a:xfrm>
            <a:off x="565150" y="3081020"/>
            <a:ext cx="304800" cy="3048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241;p20"/>
          <p:cNvSpPr/>
          <p:nvPr/>
        </p:nvSpPr>
        <p:spPr>
          <a:xfrm>
            <a:off x="660400" y="3195320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60000"/>
                </a:moveTo>
                <a:lnTo>
                  <a:pt x="40000" y="120000"/>
                </a:lnTo>
                <a:lnTo>
                  <a:pt x="120000" y="0"/>
                </a:lnTo>
              </a:path>
            </a:pathLst>
          </a:custGeom>
          <a:solidFill>
            <a:srgbClr val="000000">
              <a:alpha val="0"/>
            </a:srgbClr>
          </a:solidFill>
          <a:ln w="28575" cap="rnd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242;p20"/>
          <p:cNvSpPr txBox="1"/>
          <p:nvPr/>
        </p:nvSpPr>
        <p:spPr>
          <a:xfrm>
            <a:off x="1022350" y="2929890"/>
            <a:ext cx="7543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75" b="1">
                <a:solidFill>
                  <a:srgbClr val="0B132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Assessment of communication skills</a:t>
            </a:r>
            <a:endParaRPr sz="1575" b="1">
              <a:solidFill>
                <a:srgbClr val="0B132B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" name="Google Shape;235;p20"/>
          <p:cNvSpPr/>
          <p:nvPr/>
        </p:nvSpPr>
        <p:spPr>
          <a:xfrm>
            <a:off x="571500" y="4293235"/>
            <a:ext cx="304800" cy="3048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36;p20"/>
          <p:cNvSpPr/>
          <p:nvPr/>
        </p:nvSpPr>
        <p:spPr>
          <a:xfrm>
            <a:off x="666750" y="4407535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60000"/>
                </a:moveTo>
                <a:lnTo>
                  <a:pt x="40000" y="120000"/>
                </a:lnTo>
                <a:lnTo>
                  <a:pt x="120000" y="0"/>
                </a:lnTo>
              </a:path>
            </a:pathLst>
          </a:custGeom>
          <a:solidFill>
            <a:srgbClr val="000000">
              <a:alpha val="0"/>
            </a:srgbClr>
          </a:solidFill>
          <a:ln w="28575" cap="rnd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237;p20"/>
          <p:cNvSpPr txBox="1"/>
          <p:nvPr/>
        </p:nvSpPr>
        <p:spPr>
          <a:xfrm>
            <a:off x="1028700" y="4142105"/>
            <a:ext cx="7543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1575" b="1">
                <a:solidFill>
                  <a:srgbClr val="0B132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Common Interview Style - “Difference Between” Questions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8" name="Google Shape;168;p18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29507" y="-47625"/>
            <a:ext cx="9138920" cy="5191125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8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2D68F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8"/>
          <p:cNvSpPr/>
          <p:nvPr/>
        </p:nvSpPr>
        <p:spPr>
          <a:xfrm>
            <a:off x="8667750" y="4667250"/>
            <a:ext cx="476400" cy="47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120000" y="120000"/>
                </a:moveTo>
                <a:lnTo>
                  <a:pt x="120000" y="0"/>
                </a:lnTo>
                <a:lnTo>
                  <a:pt x="0" y="120000"/>
                </a:lnTo>
                <a:close/>
              </a:path>
            </a:pathLst>
          </a:custGeom>
          <a:solidFill>
            <a:srgbClr val="FFC300">
              <a:alpha val="60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571500" y="381000"/>
            <a:ext cx="80010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ROUND </a:t>
            </a:r>
            <a:r>
              <a:rPr lang="en-US" altLang="en-GB" sz="18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3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27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Technical Interviews - Assessment areas </a:t>
            </a:r>
            <a:endParaRPr lang="en-US"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</p:txBody>
      </p:sp>
      <p:cxnSp>
        <p:nvCxnSpPr>
          <p:cNvPr id="93" name="Google Shape;93;p15"/>
          <p:cNvCxnSpPr/>
          <p:nvPr/>
        </p:nvCxnSpPr>
        <p:spPr>
          <a:xfrm>
            <a:off x="381000" y="13716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4A465CB2-B856-C3CC-FB2E-7F8E89317786}"/>
              </a:ext>
            </a:extLst>
          </p:cNvPr>
          <p:cNvGrpSpPr/>
          <p:nvPr/>
        </p:nvGrpSpPr>
        <p:grpSpPr>
          <a:xfrm>
            <a:off x="283210" y="1584960"/>
            <a:ext cx="3916680" cy="3216910"/>
            <a:chOff x="283210" y="1584960"/>
            <a:chExt cx="3916680" cy="3216910"/>
          </a:xfrm>
        </p:grpSpPr>
        <p:sp>
          <p:nvSpPr>
            <p:cNvPr id="2" name="Google Shape;125;p16"/>
            <p:cNvSpPr/>
            <p:nvPr/>
          </p:nvSpPr>
          <p:spPr>
            <a:xfrm>
              <a:off x="283210" y="1584960"/>
              <a:ext cx="3916680" cy="321691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952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6"/>
            <p:cNvSpPr txBox="1"/>
            <p:nvPr/>
          </p:nvSpPr>
          <p:spPr>
            <a:xfrm>
              <a:off x="473710" y="1724659"/>
              <a:ext cx="3614420" cy="28930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 Medium"/>
                </a:rPr>
                <a:t>Data Structures &amp; Algorithms</a:t>
              </a: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endParaRPr lang="en-US" sz="1600" b="1" dirty="0">
                <a:solidFill>
                  <a:srgbClr val="111827"/>
                </a:solidFill>
                <a:latin typeface="DM Sans"/>
                <a:ea typeface="DM Sans"/>
                <a:cs typeface="DM Sans"/>
                <a:sym typeface="DM Sans Medium"/>
              </a:endParaRP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Core Structures</a:t>
              </a:r>
              <a:r>
                <a:rPr lang="en-US" sz="16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- </a:t>
              </a:r>
              <a:r>
                <a:rPr lang="en-US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Arrays, Strings, Linked     </a:t>
              </a:r>
            </a:p>
            <a:p>
              <a:pPr marL="0" lvl="0" indent="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None/>
              </a:pPr>
              <a:r>
                <a:rPr lang="en-US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             Lists, Stacks, Queues</a:t>
              </a:r>
              <a:endParaRPr lang="en-US" sz="1600" b="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Basic Algorithms</a:t>
              </a:r>
              <a:r>
                <a:rPr lang="en-US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-</a:t>
              </a:r>
              <a:r>
                <a:rPr lang="en-US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Sorting &amp; Searching</a:t>
              </a: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Complexity</a:t>
              </a:r>
              <a:r>
                <a:rPr lang="en-US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</a:t>
              </a:r>
              <a:r>
                <a:rPr lang="en-US" sz="16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- </a:t>
              </a:r>
              <a:r>
                <a:rPr lang="en-US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Time and Space</a:t>
              </a: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 Advanced Topics</a:t>
              </a:r>
              <a:r>
                <a:rPr lang="en-US" sz="1600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</a:t>
              </a:r>
              <a:r>
                <a:rPr lang="en-US" sz="16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- </a:t>
              </a:r>
              <a:r>
                <a:rPr lang="en-US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Trees, Graphs,</a:t>
              </a:r>
            </a:p>
            <a:p>
              <a:pPr marL="0" lvl="0" indent="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None/>
              </a:pPr>
              <a:r>
                <a:rPr lang="en-US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             Dynamic Programming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56D8305-3434-E378-F26A-5CC889D7BEC8}"/>
              </a:ext>
            </a:extLst>
          </p:cNvPr>
          <p:cNvGrpSpPr/>
          <p:nvPr/>
        </p:nvGrpSpPr>
        <p:grpSpPr>
          <a:xfrm>
            <a:off x="4504055" y="1584960"/>
            <a:ext cx="4196715" cy="3234690"/>
            <a:chOff x="4504055" y="1584960"/>
            <a:chExt cx="4196715" cy="3234690"/>
          </a:xfrm>
        </p:grpSpPr>
        <p:sp>
          <p:nvSpPr>
            <p:cNvPr id="3" name="Google Shape;125;p16"/>
            <p:cNvSpPr/>
            <p:nvPr/>
          </p:nvSpPr>
          <p:spPr>
            <a:xfrm>
              <a:off x="4504055" y="1584960"/>
              <a:ext cx="4196715" cy="323469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952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6"/>
            <p:cNvSpPr txBox="1"/>
            <p:nvPr/>
          </p:nvSpPr>
          <p:spPr>
            <a:xfrm>
              <a:off x="4668519" y="1752601"/>
              <a:ext cx="3903981" cy="28174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600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DBMS and OOPS</a:t>
              </a: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endParaRPr lang="en-GB" b="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OOPS components </a:t>
              </a:r>
              <a:r>
                <a:rPr lang="en-US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- Class, Objects, </a:t>
              </a:r>
            </a:p>
            <a:p>
              <a:pPr marL="0" lvl="0" indent="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None/>
              </a:pPr>
              <a:r>
                <a:rPr lang="en-US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                Interfaces</a:t>
              </a: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4 Pillars of OOPS -</a:t>
              </a:r>
              <a:r>
                <a:rPr lang="en-US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Abstraction, </a:t>
              </a:r>
            </a:p>
            <a:p>
              <a:pPr marL="0" lvl="0" indent="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None/>
              </a:pPr>
              <a:r>
                <a:rPr lang="en-US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               Encapsulation, Inheritance, Polymorphism</a:t>
              </a: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Design Patterns</a:t>
              </a:r>
              <a:r>
                <a:rPr lang="en-US" sz="12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- Singleton, Factory</a:t>
              </a:r>
              <a:endParaRPr lang="en-US" sz="1200" b="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SQL fundamentals </a:t>
              </a:r>
              <a:r>
                <a:rPr lang="en-US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- CRUD, joins, aggregates</a:t>
              </a: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DBMS concepts </a:t>
              </a:r>
              <a:r>
                <a:rPr lang="en-US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- Relationships, Indexing</a:t>
              </a: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Java &amp; Python basics</a:t>
              </a:r>
            </a:p>
            <a:p>
              <a:pPr marL="171450" lvl="0" indent="-171450" algn="l" rtl="0">
                <a:spcBef>
                  <a:spcPts val="300"/>
                </a:spcBef>
                <a:spcAft>
                  <a:spcPts val="0"/>
                </a:spcAft>
                <a:buFont typeface="Wingdings" panose="05000000000000000000" charset="0"/>
                <a:buChar char=""/>
              </a:pPr>
              <a:endParaRPr lang="en-US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8" name="Google Shape;168;p18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080" y="5080"/>
            <a:ext cx="9138285" cy="5139055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8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2D68F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8"/>
          <p:cNvSpPr/>
          <p:nvPr/>
        </p:nvSpPr>
        <p:spPr>
          <a:xfrm>
            <a:off x="8667750" y="4667250"/>
            <a:ext cx="476400" cy="47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120000" y="120000"/>
                </a:moveTo>
                <a:lnTo>
                  <a:pt x="120000" y="0"/>
                </a:lnTo>
                <a:lnTo>
                  <a:pt x="0" y="120000"/>
                </a:lnTo>
                <a:close/>
              </a:path>
            </a:pathLst>
          </a:custGeom>
          <a:solidFill>
            <a:srgbClr val="FFC300">
              <a:alpha val="60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571499" y="381000"/>
            <a:ext cx="8381999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ROUND </a:t>
            </a:r>
            <a:r>
              <a:rPr lang="en-US" altLang="en-GB" sz="18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3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27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Technical Interviews - Assessment areas </a:t>
            </a:r>
            <a:r>
              <a:rPr lang="en-US" sz="16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(Cont..)</a:t>
            </a:r>
            <a:r>
              <a:rPr lang="en-US" sz="27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endParaRPr lang="en-US"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</p:txBody>
      </p:sp>
      <p:cxnSp>
        <p:nvCxnSpPr>
          <p:cNvPr id="93" name="Google Shape;93;p15"/>
          <p:cNvCxnSpPr/>
          <p:nvPr/>
        </p:nvCxnSpPr>
        <p:spPr>
          <a:xfrm>
            <a:off x="381000" y="13716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ECC26EE9-41A8-02ED-619B-68DDBF37F502}"/>
              </a:ext>
            </a:extLst>
          </p:cNvPr>
          <p:cNvGrpSpPr/>
          <p:nvPr/>
        </p:nvGrpSpPr>
        <p:grpSpPr>
          <a:xfrm>
            <a:off x="250190" y="1602740"/>
            <a:ext cx="4835525" cy="3382644"/>
            <a:chOff x="250190" y="1602740"/>
            <a:chExt cx="4835525" cy="3382644"/>
          </a:xfrm>
        </p:grpSpPr>
        <p:sp>
          <p:nvSpPr>
            <p:cNvPr id="2" name="Google Shape;125;p16"/>
            <p:cNvSpPr/>
            <p:nvPr/>
          </p:nvSpPr>
          <p:spPr>
            <a:xfrm>
              <a:off x="250190" y="1602740"/>
              <a:ext cx="4718685" cy="3382644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952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6"/>
            <p:cNvSpPr txBox="1"/>
            <p:nvPr/>
          </p:nvSpPr>
          <p:spPr>
            <a:xfrm>
              <a:off x="437515" y="1739901"/>
              <a:ext cx="4648200" cy="30346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algn="l" rtl="0">
                <a:spcBef>
                  <a:spcPts val="300"/>
                </a:spcBef>
                <a:spcAft>
                  <a:spcPts val="0"/>
                </a:spcAft>
                <a:buSzTx/>
                <a:buNone/>
              </a:pPr>
              <a:r>
                <a:rPr lang="en-US" sz="1600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 Medium"/>
                </a:rPr>
                <a:t>AI &amp; DS</a:t>
              </a: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Font typeface="Wingdings" panose="05000000000000000000" charset="0"/>
                <a:buNone/>
              </a:pPr>
              <a:endParaRPr lang="en-US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marL="171450" lvl="0" indent="-171450" algn="l" rtl="0">
                <a:spcBef>
                  <a:spcPts val="300"/>
                </a:spcBef>
                <a:spcAft>
                  <a:spcPts val="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Mathematical concepts - </a:t>
              </a:r>
              <a:r>
                <a:rPr lang="en-US" sz="12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Linear Algebra, </a:t>
              </a:r>
              <a:r>
                <a:rPr lang="en-US" sz="1200" dirty="0" err="1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Probabality</a:t>
              </a:r>
              <a:r>
                <a:rPr lang="en-US" sz="12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</a:t>
              </a:r>
            </a:p>
            <a:p>
              <a:pPr marL="171450" lvl="0" indent="-171450" algn="l" rtl="0">
                <a:spcBef>
                  <a:spcPts val="300"/>
                </a:spcBef>
                <a:spcAft>
                  <a:spcPts val="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Statistical Concepts - </a:t>
              </a:r>
              <a:r>
                <a:rPr lang="en-US" sz="12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Mean/Median/Mode, Standard </a:t>
              </a: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None/>
              </a:pPr>
              <a:r>
                <a:rPr lang="en-US" sz="12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                                        Deviation, Distributions</a:t>
              </a:r>
            </a:p>
            <a:p>
              <a:pPr marL="171450" lvl="0" indent="-171450" algn="l" rtl="0">
                <a:spcBef>
                  <a:spcPts val="300"/>
                </a:spcBef>
                <a:spcAft>
                  <a:spcPts val="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Core ML concepts</a:t>
              </a:r>
              <a:r>
                <a:rPr lang="en-US" sz="12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- Supervised / Unsupervised </a:t>
              </a: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None/>
              </a:pPr>
              <a:r>
                <a:rPr lang="en-US" sz="12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                                      Learning / Gen AI / LLMs</a:t>
              </a:r>
            </a:p>
            <a:p>
              <a:pPr marL="171450" lvl="0" indent="-171450" algn="l" rtl="0">
                <a:spcBef>
                  <a:spcPts val="300"/>
                </a:spcBef>
                <a:spcAft>
                  <a:spcPts val="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Key Algorithms</a:t>
              </a:r>
              <a:r>
                <a:rPr lang="en-US" sz="12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- Regression, Classification, Clustering</a:t>
              </a:r>
            </a:p>
            <a:p>
              <a:pPr marL="171450" lvl="0" indent="-171450" algn="l" rtl="0">
                <a:spcBef>
                  <a:spcPts val="300"/>
                </a:spcBef>
                <a:spcAft>
                  <a:spcPts val="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Model </a:t>
              </a:r>
              <a:r>
                <a:rPr lang="en-US" b="1" dirty="0" err="1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Evalutions</a:t>
              </a:r>
              <a:r>
                <a:rPr lang="en-US" sz="12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- Precision, Recall, Accuracy</a:t>
              </a:r>
            </a:p>
            <a:p>
              <a:pPr marL="171450" lvl="0" indent="-171450" algn="l" rtl="0">
                <a:spcBef>
                  <a:spcPts val="300"/>
                </a:spcBef>
                <a:spcAft>
                  <a:spcPts val="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Python Libraries </a:t>
              </a:r>
              <a:r>
                <a:rPr lang="en-US" sz="12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- pandas, </a:t>
              </a:r>
              <a:r>
                <a:rPr lang="en-US" sz="1200" dirty="0" err="1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numpy</a:t>
              </a:r>
              <a:r>
                <a:rPr lang="en-US" sz="12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, scikit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C3A5CEB9-1FC2-23CC-55DE-3F95C3CB36B2}"/>
              </a:ext>
            </a:extLst>
          </p:cNvPr>
          <p:cNvGrpSpPr/>
          <p:nvPr/>
        </p:nvGrpSpPr>
        <p:grpSpPr>
          <a:xfrm>
            <a:off x="5363210" y="1602740"/>
            <a:ext cx="3399790" cy="3382645"/>
            <a:chOff x="5363210" y="1602740"/>
            <a:chExt cx="3399790" cy="3382645"/>
          </a:xfrm>
        </p:grpSpPr>
        <p:sp>
          <p:nvSpPr>
            <p:cNvPr id="3" name="Google Shape;125;p16"/>
            <p:cNvSpPr/>
            <p:nvPr/>
          </p:nvSpPr>
          <p:spPr>
            <a:xfrm>
              <a:off x="5363210" y="1602740"/>
              <a:ext cx="3399790" cy="3382645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952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6"/>
            <p:cNvSpPr txBox="1"/>
            <p:nvPr/>
          </p:nvSpPr>
          <p:spPr>
            <a:xfrm>
              <a:off x="5489575" y="1768474"/>
              <a:ext cx="3075940" cy="27527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600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Other topics</a:t>
              </a: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endParaRPr lang="en-GB" b="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OS - </a:t>
              </a:r>
              <a:r>
                <a:rPr lang="en-US" sz="12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Process management and </a:t>
              </a:r>
            </a:p>
            <a:p>
              <a:pPr marL="0" lvl="0" indent="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None/>
              </a:pPr>
              <a:r>
                <a:rPr lang="en-US" sz="12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          Memory management</a:t>
              </a: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Networks -</a:t>
              </a:r>
              <a:r>
                <a:rPr lang="en-US" sz="12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Protocols, Security</a:t>
              </a: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SDLC </a:t>
              </a:r>
              <a:r>
                <a:rPr lang="en-US" sz="12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- Waterfall &amp; Agile</a:t>
              </a:r>
              <a:endParaRPr lang="en-US" b="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System Design </a:t>
              </a: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0000"/>
                <a:buFont typeface="Wingdings" panose="05000000000000000000" charset="0"/>
                <a:buChar char=""/>
              </a:pPr>
              <a:r>
                <a:rPr lang="en-US" b="1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Version Control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8" name="Google Shape;168;p18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763" y="4763"/>
            <a:ext cx="8982000" cy="498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8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2D68F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8"/>
          <p:cNvSpPr/>
          <p:nvPr/>
        </p:nvSpPr>
        <p:spPr>
          <a:xfrm>
            <a:off x="8667750" y="4667250"/>
            <a:ext cx="476400" cy="47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120000" y="120000"/>
                </a:moveTo>
                <a:lnTo>
                  <a:pt x="120000" y="0"/>
                </a:lnTo>
                <a:lnTo>
                  <a:pt x="0" y="120000"/>
                </a:lnTo>
                <a:close/>
              </a:path>
            </a:pathLst>
          </a:custGeom>
          <a:solidFill>
            <a:srgbClr val="FFC300">
              <a:alpha val="60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571499" y="381000"/>
            <a:ext cx="8381999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 dirty="0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ROUND </a:t>
            </a:r>
            <a:r>
              <a:rPr lang="en-US" altLang="en-GB" sz="1800" b="1" i="0" u="none" strike="noStrike" dirty="0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3</a:t>
            </a:r>
            <a:endParaRPr sz="1800" b="1" i="0" u="none" strike="noStrike" dirty="0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2400" b="0" i="0" u="none" strike="noStrike" dirty="0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Technical Interviews - Standard Behavioral Questions</a:t>
            </a:r>
            <a:r>
              <a:rPr lang="en-US" sz="2700" b="0" i="0" u="none" strike="noStrike" dirty="0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endParaRPr lang="en-US" sz="1800" b="1" i="0" u="none" strike="noStrike" dirty="0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</p:txBody>
      </p:sp>
      <p:cxnSp>
        <p:nvCxnSpPr>
          <p:cNvPr id="93" name="Google Shape;93;p15"/>
          <p:cNvCxnSpPr/>
          <p:nvPr/>
        </p:nvCxnSpPr>
        <p:spPr>
          <a:xfrm>
            <a:off x="381000" y="13716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3" name="Google Shape;123;p16"/>
          <p:cNvGrpSpPr/>
          <p:nvPr/>
        </p:nvGrpSpPr>
        <p:grpSpPr>
          <a:xfrm>
            <a:off x="345440" y="1571625"/>
            <a:ext cx="8417560" cy="3317241"/>
            <a:chOff x="-3904618" y="1345744"/>
            <a:chExt cx="8473440" cy="1673386"/>
          </a:xfrm>
        </p:grpSpPr>
        <p:sp>
          <p:nvSpPr>
            <p:cNvPr id="2" name="Google Shape;125;p16"/>
            <p:cNvSpPr/>
            <p:nvPr/>
          </p:nvSpPr>
          <p:spPr>
            <a:xfrm>
              <a:off x="-3904618" y="1345744"/>
              <a:ext cx="8473440" cy="1673386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952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6"/>
            <p:cNvSpPr txBox="1"/>
            <p:nvPr/>
          </p:nvSpPr>
          <p:spPr>
            <a:xfrm>
              <a:off x="-3676418" y="1423904"/>
              <a:ext cx="8053475" cy="15375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5000"/>
                <a:buFont typeface="Wingdings" panose="05000000000000000000" charset="0"/>
                <a:buChar char=""/>
              </a:pPr>
              <a:r>
                <a:rPr lang="en-US" sz="16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Tell me about yourself</a:t>
              </a: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5000"/>
                <a:buFont typeface="Wingdings" panose="05000000000000000000" charset="0"/>
                <a:buChar char=""/>
              </a:pPr>
              <a:r>
                <a:rPr lang="en-US" sz="16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Explain project XYZ</a:t>
              </a: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5000"/>
                <a:buFont typeface="Wingdings" panose="05000000000000000000" charset="0"/>
                <a:buChar char=""/>
              </a:pPr>
              <a:r>
                <a:rPr lang="en-US" sz="16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Tell me about a technical challenge you overcame during the Internship / Projects.</a:t>
              </a: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5000"/>
                <a:buFont typeface="Wingdings" panose="05000000000000000000" charset="0"/>
                <a:buChar char=""/>
              </a:pPr>
              <a:r>
                <a:rPr lang="en-US" sz="16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What is your most significant accomplishment across your projects?</a:t>
              </a: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5000"/>
                <a:buFont typeface="Wingdings" panose="05000000000000000000" charset="0"/>
                <a:buChar char=""/>
              </a:pPr>
              <a:r>
                <a:rPr lang="en-US" sz="16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Where do you see yourself in next 5 years ?</a:t>
              </a: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5000"/>
                <a:buFont typeface="Wingdings" panose="05000000000000000000" charset="0"/>
                <a:buChar char=""/>
              </a:pPr>
              <a:r>
                <a:rPr lang="en-US" sz="16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Why do you want to join our company ?</a:t>
              </a: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5000"/>
                <a:buFont typeface="Wingdings" panose="05000000000000000000" charset="0"/>
                <a:buChar char=""/>
              </a:pPr>
              <a:r>
                <a:rPr lang="en-US" sz="16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How do you manage conflict within the team ?</a:t>
              </a:r>
            </a:p>
            <a:p>
              <a:pPr marL="171450" lvl="0" indent="-171450" algn="l" rtl="0" eaLnBrk="1" fontAlgn="auto" latinLnBrk="0" hangingPunct="1">
                <a:spcBef>
                  <a:spcPts val="400"/>
                </a:spcBef>
                <a:spcAft>
                  <a:spcPts val="400"/>
                </a:spcAft>
                <a:buClr>
                  <a:srgbClr val="00B050"/>
                </a:buClr>
                <a:buSzPct val="125000"/>
                <a:buFont typeface="Wingdings" panose="05000000000000000000" charset="0"/>
                <a:buChar char=""/>
              </a:pPr>
              <a:r>
                <a:rPr lang="en-US" sz="160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 Do you have any question for me or the company ?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15"/>
          <p:cNvGrpSpPr/>
          <p:nvPr/>
        </p:nvGrpSpPr>
        <p:grpSpPr>
          <a:xfrm>
            <a:off x="5080" y="-5080"/>
            <a:ext cx="9144150" cy="5143650"/>
            <a:chOff x="0" y="0"/>
            <a:chExt cx="9144150" cy="5143650"/>
          </a:xfrm>
        </p:grpSpPr>
        <p:sp>
          <p:nvSpPr>
            <p:cNvPr id="79" name="Google Shape;79;p1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80" name="Google Shape;80;p15"/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4763" y="4763"/>
              <a:ext cx="8982000" cy="498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" name="Google Shape;81;p15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8477250" y="4476750"/>
              <a:ext cx="666900" cy="6669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311785" y="1452245"/>
            <a:ext cx="8520430" cy="2673985"/>
          </a:xfrm>
        </p:spPr>
        <p:txBody>
          <a:bodyPr>
            <a:normAutofit fontScale="90000" lnSpcReduction="10000"/>
          </a:bodyPr>
          <a:lstStyle/>
          <a:p>
            <a:pPr marL="114300" indent="0" eaLnBrk="1" fontAlgn="auto" latinLnBrk="0" hangingPunct="1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dirty="0"/>
              <a:t>✔ </a:t>
            </a:r>
            <a:r>
              <a:rPr lang="en-US" altLang="en-US" dirty="0">
                <a:sym typeface="+mn-ea"/>
              </a:rPr>
              <a:t>Master 1 or 2 Programming Languages</a:t>
            </a:r>
          </a:p>
          <a:p>
            <a:pPr marL="114300" indent="0" eaLnBrk="1" fontAlgn="auto" latinLnBrk="0" hangingPunct="1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dirty="0"/>
              <a:t>✔ Revise CS fundamentals and Practice DSA problems daily</a:t>
            </a:r>
          </a:p>
          <a:p>
            <a:pPr marL="114300" algn="l" eaLnBrk="1" fontAlgn="auto" latinLnBrk="0" hangingPunct="1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dirty="0">
                <a:sym typeface="+mn-ea"/>
              </a:rPr>
              <a:t>  ✔ </a:t>
            </a:r>
            <a:r>
              <a:rPr lang="en-US" altLang="en-US" dirty="0">
                <a:sym typeface="Inter SemiBold" panose="02000503000000020004"/>
              </a:rPr>
              <a:t>Understand the underlying mechanics, not just syntax.</a:t>
            </a:r>
            <a:endParaRPr lang="en-US" altLang="en-US" dirty="0"/>
          </a:p>
          <a:p>
            <a:pPr marL="114300" indent="0" eaLnBrk="1" fontAlgn="auto" latinLnBrk="0" hangingPunct="1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dirty="0"/>
              <a:t>✔ Identify </a:t>
            </a:r>
            <a:r>
              <a:rPr lang="en-US" altLang="en-US" dirty="0" err="1"/>
              <a:t>weakspot</a:t>
            </a:r>
            <a:r>
              <a:rPr lang="en-US" altLang="en-US" dirty="0"/>
              <a:t> and strengthen those areas</a:t>
            </a:r>
          </a:p>
          <a:p>
            <a:pPr marL="114300" indent="0" eaLnBrk="1" fontAlgn="auto" latinLnBrk="0" hangingPunct="1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dirty="0">
                <a:sym typeface="+mn-ea"/>
              </a:rPr>
              <a:t>✔ Prepare for real world examples and discussions</a:t>
            </a:r>
          </a:p>
          <a:p>
            <a:pPr marL="114300" indent="0" eaLnBrk="1" fontAlgn="auto" latinLnBrk="0" hangingPunct="1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dirty="0"/>
              <a:t>✔ Prepare and rehearse standard behavioral questions</a:t>
            </a:r>
            <a:endParaRPr lang="en-US" altLang="en-US" sz="3200" dirty="0"/>
          </a:p>
        </p:txBody>
      </p:sp>
      <p:sp>
        <p:nvSpPr>
          <p:cNvPr id="118" name="Google Shape;118;p16"/>
          <p:cNvSpPr txBox="1"/>
          <p:nvPr/>
        </p:nvSpPr>
        <p:spPr>
          <a:xfrm>
            <a:off x="571500" y="381000"/>
            <a:ext cx="8001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GB" sz="1800" b="1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ROUND </a:t>
            </a:r>
            <a:r>
              <a:rPr lang="en-US" altLang="en-GB" sz="1800" b="1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3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sz="2700">
                <a:sym typeface="+mn-ea"/>
              </a:rPr>
              <a:t>Preparation Strategy - Technical Interview</a:t>
            </a:r>
          </a:p>
        </p:txBody>
      </p:sp>
      <p:cxnSp>
        <p:nvCxnSpPr>
          <p:cNvPr id="93" name="Google Shape;93;p15"/>
          <p:cNvCxnSpPr/>
          <p:nvPr/>
        </p:nvCxnSpPr>
        <p:spPr>
          <a:xfrm>
            <a:off x="311785" y="13335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54" name="Google Shape;554;p30"/>
          <p:cNvGrpSpPr/>
          <p:nvPr/>
        </p:nvGrpSpPr>
        <p:grpSpPr>
          <a:xfrm>
            <a:off x="152158" y="4214495"/>
            <a:ext cx="8746914" cy="714525"/>
            <a:chOff x="-64590" y="0"/>
            <a:chExt cx="8446590" cy="714525"/>
          </a:xfrm>
        </p:grpSpPr>
        <p:sp>
          <p:nvSpPr>
            <p:cNvPr id="3" name="Google Shape;556;p30"/>
            <p:cNvSpPr/>
            <p:nvPr/>
          </p:nvSpPr>
          <p:spPr>
            <a:xfrm>
              <a:off x="0" y="0"/>
              <a:ext cx="8382000" cy="666750"/>
            </a:xfrm>
            <a:prstGeom prst="roundRect">
              <a:avLst>
                <a:gd name="adj" fmla="val 16000"/>
              </a:avLst>
            </a:prstGeom>
            <a:solidFill>
              <a:srgbClr val="34D399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/>
            </a:p>
          </p:txBody>
        </p:sp>
        <p:sp>
          <p:nvSpPr>
            <p:cNvPr id="557" name="Google Shape;557;p30"/>
            <p:cNvSpPr txBox="1"/>
            <p:nvPr/>
          </p:nvSpPr>
          <p:spPr>
            <a:xfrm>
              <a:off x="-64590" y="238125"/>
              <a:ext cx="1138816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GB" b="1" dirty="0">
                  <a:solidFill>
                    <a:srgbClr val="111827"/>
                  </a:solidFill>
                  <a:latin typeface="Outfit"/>
                  <a:ea typeface="Outfit"/>
                  <a:cs typeface="Outfit"/>
                  <a:sym typeface="Outfit"/>
                </a:rPr>
                <a:t>Remember</a:t>
              </a:r>
              <a:r>
                <a:rPr lang="en-GB" b="1" dirty="0">
                  <a:solidFill>
                    <a:srgbClr val="111827"/>
                  </a:solidFill>
                  <a:latin typeface="Outfit"/>
                  <a:ea typeface="Outfit"/>
                  <a:cs typeface="Outfit"/>
                  <a:sym typeface="Outfit"/>
                </a:rPr>
                <a:t>:</a:t>
              </a:r>
              <a:endParaRPr dirty="0"/>
            </a:p>
          </p:txBody>
        </p:sp>
        <p:sp>
          <p:nvSpPr>
            <p:cNvPr id="558" name="Google Shape;558;p30"/>
            <p:cNvSpPr txBox="1"/>
            <p:nvPr/>
          </p:nvSpPr>
          <p:spPr>
            <a:xfrm>
              <a:off x="947286" y="238125"/>
              <a:ext cx="7434714" cy="4762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GB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Understanding basics and revising fundamentals regularly gives immense confidence.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D68F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3" name="Google Shape;253;p21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080" y="5080"/>
            <a:ext cx="8982075" cy="512445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1"/>
          <p:cNvSpPr/>
          <p:nvPr/>
        </p:nvSpPr>
        <p:spPr>
          <a:xfrm>
            <a:off x="5334000" y="-1238250"/>
            <a:ext cx="7620000" cy="7620000"/>
          </a:xfrm>
          <a:prstGeom prst="ellipse">
            <a:avLst/>
          </a:prstGeom>
          <a:solidFill>
            <a:srgbClr val="FF5733">
              <a:alpha val="1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-1905000" y="3238500"/>
            <a:ext cx="3810000" cy="3810000"/>
          </a:xfrm>
          <a:prstGeom prst="ellipse">
            <a:avLst/>
          </a:prstGeom>
          <a:solidFill>
            <a:srgbClr val="0B132B">
              <a:alpha val="10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6" name="Google Shape;256;p21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7086600" y="-723900"/>
            <a:ext cx="2057400" cy="2971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1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-209550" y="3409950"/>
            <a:ext cx="2324100" cy="1719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8" name="Google Shape;258;p21"/>
          <p:cNvGrpSpPr/>
          <p:nvPr/>
        </p:nvGrpSpPr>
        <p:grpSpPr>
          <a:xfrm>
            <a:off x="533400" y="1428750"/>
            <a:ext cx="3657600" cy="2667000"/>
            <a:chOff x="-228600" y="0"/>
            <a:chExt cx="3657600" cy="2667000"/>
          </a:xfrm>
        </p:grpSpPr>
        <p:sp>
          <p:nvSpPr>
            <p:cNvPr id="259" name="Google Shape;259;p21"/>
            <p:cNvSpPr/>
            <p:nvPr/>
          </p:nvSpPr>
          <p:spPr>
            <a:xfrm>
              <a:off x="-228600" y="76200"/>
              <a:ext cx="57300" cy="1619100"/>
            </a:xfrm>
            <a:prstGeom prst="roundRect">
              <a:avLst>
                <a:gd name="adj" fmla="val 50000"/>
              </a:avLst>
            </a:prstGeom>
            <a:solidFill>
              <a:srgbClr val="FFC3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1"/>
            <p:cNvSpPr txBox="1"/>
            <p:nvPr/>
          </p:nvSpPr>
          <p:spPr>
            <a:xfrm>
              <a:off x="0" y="0"/>
              <a:ext cx="34290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3450" b="0">
                  <a:solidFill>
                    <a:srgbClr val="FFFFFF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Resume Readiness</a:t>
              </a:r>
              <a:endParaRPr sz="3450" b="0">
                <a:solidFill>
                  <a:srgbClr val="FFFFFF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GB" sz="1950" b="0">
                  <a:solidFill>
                    <a:srgbClr val="FFC300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The Power of First Impressions</a:t>
              </a:r>
              <a:endParaRPr sz="1950" b="0">
                <a:solidFill>
                  <a:srgbClr val="FFC300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</p:grpSp>
      <p:grpSp>
        <p:nvGrpSpPr>
          <p:cNvPr id="261" name="Google Shape;261;p21"/>
          <p:cNvGrpSpPr/>
          <p:nvPr/>
        </p:nvGrpSpPr>
        <p:grpSpPr>
          <a:xfrm>
            <a:off x="4562475" y="523875"/>
            <a:ext cx="3810000" cy="666750"/>
            <a:chOff x="0" y="0"/>
            <a:chExt cx="3810000" cy="857400"/>
          </a:xfrm>
        </p:grpSpPr>
        <p:sp>
          <p:nvSpPr>
            <p:cNvPr id="262" name="Google Shape;262;p21"/>
            <p:cNvSpPr/>
            <p:nvPr/>
          </p:nvSpPr>
          <p:spPr>
            <a:xfrm>
              <a:off x="0" y="0"/>
              <a:ext cx="3810000" cy="8574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1"/>
            <p:cNvSpPr/>
            <p:nvPr/>
          </p:nvSpPr>
          <p:spPr>
            <a:xfrm>
              <a:off x="0" y="0"/>
              <a:ext cx="95400" cy="857400"/>
            </a:xfrm>
            <a:prstGeom prst="roundRect">
              <a:avLst>
                <a:gd name="adj" fmla="val 50000"/>
              </a:avLst>
            </a:prstGeom>
            <a:solidFill>
              <a:srgbClr val="FF5733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1"/>
            <p:cNvSpPr/>
            <p:nvPr/>
          </p:nvSpPr>
          <p:spPr>
            <a:xfrm>
              <a:off x="238125" y="238125"/>
              <a:ext cx="381000" cy="381000"/>
            </a:xfrm>
            <a:prstGeom prst="ellipse">
              <a:avLst/>
            </a:prstGeom>
            <a:solidFill>
              <a:srgbClr val="FF5733">
                <a:alpha val="11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1"/>
            <p:cNvSpPr txBox="1"/>
            <p:nvPr/>
          </p:nvSpPr>
          <p:spPr>
            <a:xfrm>
              <a:off x="333375" y="285750"/>
              <a:ext cx="190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FF5733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rPr>
                <a:t>1</a:t>
              </a:r>
            </a:p>
          </p:txBody>
        </p:sp>
        <p:sp>
          <p:nvSpPr>
            <p:cNvPr id="266" name="Google Shape;266;p21"/>
            <p:cNvSpPr txBox="1"/>
            <p:nvPr/>
          </p:nvSpPr>
          <p:spPr>
            <a:xfrm>
              <a:off x="762000" y="142875"/>
              <a:ext cx="2857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Keep formatting simple and neat.</a:t>
              </a:r>
              <a:endParaRPr sz="1200" b="1">
                <a:solidFill>
                  <a:srgbClr val="0B132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67" name="Google Shape;267;p21"/>
          <p:cNvGrpSpPr/>
          <p:nvPr/>
        </p:nvGrpSpPr>
        <p:grpSpPr>
          <a:xfrm>
            <a:off x="4572000" y="1428750"/>
            <a:ext cx="3810000" cy="666750"/>
            <a:chOff x="0" y="0"/>
            <a:chExt cx="3810000" cy="857400"/>
          </a:xfrm>
        </p:grpSpPr>
        <p:sp>
          <p:nvSpPr>
            <p:cNvPr id="268" name="Google Shape;268;p21"/>
            <p:cNvSpPr/>
            <p:nvPr/>
          </p:nvSpPr>
          <p:spPr>
            <a:xfrm>
              <a:off x="0" y="0"/>
              <a:ext cx="3810000" cy="8574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1"/>
            <p:cNvSpPr/>
            <p:nvPr/>
          </p:nvSpPr>
          <p:spPr>
            <a:xfrm>
              <a:off x="0" y="0"/>
              <a:ext cx="95400" cy="857400"/>
            </a:xfrm>
            <a:prstGeom prst="roundRect">
              <a:avLst>
                <a:gd name="adj" fmla="val 50000"/>
              </a:avLst>
            </a:prstGeom>
            <a:solidFill>
              <a:srgbClr val="FFC3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1"/>
            <p:cNvSpPr/>
            <p:nvPr/>
          </p:nvSpPr>
          <p:spPr>
            <a:xfrm>
              <a:off x="238125" y="238125"/>
              <a:ext cx="381000" cy="381000"/>
            </a:xfrm>
            <a:prstGeom prst="ellipse">
              <a:avLst/>
            </a:prstGeom>
            <a:solidFill>
              <a:srgbClr val="FFC300">
                <a:alpha val="2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1"/>
            <p:cNvSpPr txBox="1"/>
            <p:nvPr/>
          </p:nvSpPr>
          <p:spPr>
            <a:xfrm>
              <a:off x="333375" y="285750"/>
              <a:ext cx="190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0B132B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rPr>
                <a:t>2</a:t>
              </a:r>
            </a:p>
          </p:txBody>
        </p:sp>
        <p:sp>
          <p:nvSpPr>
            <p:cNvPr id="272" name="Google Shape;272;p21"/>
            <p:cNvSpPr txBox="1"/>
            <p:nvPr/>
          </p:nvSpPr>
          <p:spPr>
            <a:xfrm>
              <a:off x="762000" y="142875"/>
              <a:ext cx="2857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Avoid confusing acronyms.</a:t>
              </a:r>
              <a:endParaRPr sz="1200" b="1">
                <a:solidFill>
                  <a:srgbClr val="0B132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73" name="Google Shape;273;p21"/>
          <p:cNvGrpSpPr/>
          <p:nvPr/>
        </p:nvGrpSpPr>
        <p:grpSpPr>
          <a:xfrm>
            <a:off x="4581525" y="2300605"/>
            <a:ext cx="3810000" cy="667385"/>
            <a:chOff x="0" y="0"/>
            <a:chExt cx="3810000" cy="857400"/>
          </a:xfrm>
        </p:grpSpPr>
        <p:sp>
          <p:nvSpPr>
            <p:cNvPr id="274" name="Google Shape;274;p21"/>
            <p:cNvSpPr/>
            <p:nvPr/>
          </p:nvSpPr>
          <p:spPr>
            <a:xfrm>
              <a:off x="0" y="0"/>
              <a:ext cx="3810000" cy="8574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1"/>
            <p:cNvSpPr/>
            <p:nvPr/>
          </p:nvSpPr>
          <p:spPr>
            <a:xfrm>
              <a:off x="0" y="0"/>
              <a:ext cx="95400" cy="857400"/>
            </a:xfrm>
            <a:prstGeom prst="roundRect">
              <a:avLst>
                <a:gd name="adj" fmla="val 50000"/>
              </a:avLst>
            </a:prstGeom>
            <a:solidFill>
              <a:srgbClr val="0B132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1"/>
            <p:cNvSpPr/>
            <p:nvPr/>
          </p:nvSpPr>
          <p:spPr>
            <a:xfrm>
              <a:off x="238125" y="238125"/>
              <a:ext cx="381000" cy="381000"/>
            </a:xfrm>
            <a:prstGeom prst="ellipse">
              <a:avLst/>
            </a:prstGeom>
            <a:solidFill>
              <a:srgbClr val="0B132B">
                <a:alpha val="11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1"/>
            <p:cNvSpPr txBox="1"/>
            <p:nvPr/>
          </p:nvSpPr>
          <p:spPr>
            <a:xfrm>
              <a:off x="333375" y="285750"/>
              <a:ext cx="190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0B132B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rPr>
                <a:t>3</a:t>
              </a:r>
            </a:p>
          </p:txBody>
        </p:sp>
        <p:sp>
          <p:nvSpPr>
            <p:cNvPr id="278" name="Google Shape;278;p21"/>
            <p:cNvSpPr txBox="1"/>
            <p:nvPr/>
          </p:nvSpPr>
          <p:spPr>
            <a:xfrm>
              <a:off x="762000" y="95250"/>
              <a:ext cx="28575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GB" sz="1125" b="1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Easy to read</a:t>
              </a:r>
            </a:p>
          </p:txBody>
        </p:sp>
      </p:grpSp>
      <p:grpSp>
        <p:nvGrpSpPr>
          <p:cNvPr id="2" name="Google Shape;273;p21"/>
          <p:cNvGrpSpPr/>
          <p:nvPr/>
        </p:nvGrpSpPr>
        <p:grpSpPr>
          <a:xfrm>
            <a:off x="4553585" y="3228340"/>
            <a:ext cx="3810000" cy="667385"/>
            <a:chOff x="0" y="0"/>
            <a:chExt cx="3810000" cy="857400"/>
          </a:xfrm>
        </p:grpSpPr>
        <p:sp>
          <p:nvSpPr>
            <p:cNvPr id="3" name="Google Shape;274;p21"/>
            <p:cNvSpPr/>
            <p:nvPr/>
          </p:nvSpPr>
          <p:spPr>
            <a:xfrm>
              <a:off x="0" y="0"/>
              <a:ext cx="3810000" cy="8574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275;p21"/>
            <p:cNvSpPr/>
            <p:nvPr/>
          </p:nvSpPr>
          <p:spPr>
            <a:xfrm>
              <a:off x="0" y="0"/>
              <a:ext cx="95400" cy="8574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76;p21"/>
            <p:cNvSpPr/>
            <p:nvPr/>
          </p:nvSpPr>
          <p:spPr>
            <a:xfrm>
              <a:off x="238125" y="238125"/>
              <a:ext cx="381000" cy="381000"/>
            </a:xfrm>
            <a:prstGeom prst="ellipse">
              <a:avLst/>
            </a:prstGeom>
            <a:solidFill>
              <a:srgbClr val="0B132B">
                <a:alpha val="11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77;p21"/>
            <p:cNvSpPr txBox="1"/>
            <p:nvPr/>
          </p:nvSpPr>
          <p:spPr>
            <a:xfrm>
              <a:off x="333375" y="285750"/>
              <a:ext cx="190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0B132B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rPr>
                <a:t>3</a:t>
              </a:r>
            </a:p>
          </p:txBody>
        </p:sp>
        <p:sp>
          <p:nvSpPr>
            <p:cNvPr id="7" name="Google Shape;278;p21"/>
            <p:cNvSpPr txBox="1"/>
            <p:nvPr/>
          </p:nvSpPr>
          <p:spPr>
            <a:xfrm>
              <a:off x="762000" y="95250"/>
              <a:ext cx="28575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GB" sz="1125" b="1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Showcase your strengths</a:t>
              </a:r>
            </a:p>
          </p:txBody>
        </p:sp>
      </p:grpSp>
      <p:grpSp>
        <p:nvGrpSpPr>
          <p:cNvPr id="554" name="Google Shape;554;p30"/>
          <p:cNvGrpSpPr/>
          <p:nvPr/>
        </p:nvGrpSpPr>
        <p:grpSpPr>
          <a:xfrm>
            <a:off x="1905000" y="4230370"/>
            <a:ext cx="5276215" cy="572555"/>
            <a:chOff x="0" y="0"/>
            <a:chExt cx="8382000" cy="674477"/>
          </a:xfrm>
        </p:grpSpPr>
        <p:sp>
          <p:nvSpPr>
            <p:cNvPr id="8" name="Google Shape;556;p30"/>
            <p:cNvSpPr/>
            <p:nvPr/>
          </p:nvSpPr>
          <p:spPr>
            <a:xfrm>
              <a:off x="0" y="0"/>
              <a:ext cx="8382000" cy="666750"/>
            </a:xfrm>
            <a:prstGeom prst="roundRect">
              <a:avLst>
                <a:gd name="adj" fmla="val 16000"/>
              </a:avLst>
            </a:prstGeom>
            <a:solidFill>
              <a:srgbClr val="34D399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/>
            </a:p>
          </p:txBody>
        </p:sp>
        <p:sp>
          <p:nvSpPr>
            <p:cNvPr id="558" name="Google Shape;558;p30"/>
            <p:cNvSpPr txBox="1"/>
            <p:nvPr/>
          </p:nvSpPr>
          <p:spPr>
            <a:xfrm>
              <a:off x="281848" y="197979"/>
              <a:ext cx="7725354" cy="4764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US" sz="1800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Your resume should drive the interview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17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080" y="5080"/>
            <a:ext cx="9120505" cy="5137785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22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2D68F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22"/>
          <p:cNvSpPr/>
          <p:nvPr/>
        </p:nvSpPr>
        <p:spPr>
          <a:xfrm>
            <a:off x="8667750" y="4667250"/>
            <a:ext cx="476400" cy="47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120000" y="120000"/>
                </a:moveTo>
                <a:lnTo>
                  <a:pt x="120000" y="0"/>
                </a:lnTo>
                <a:lnTo>
                  <a:pt x="0" y="120000"/>
                </a:lnTo>
                <a:close/>
              </a:path>
            </a:pathLst>
          </a:custGeom>
          <a:solidFill>
            <a:srgbClr val="FFC300">
              <a:alpha val="60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6" name="Google Shape;286;p22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6848475" y="847725"/>
            <a:ext cx="2276400" cy="344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22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7419975" y="1419225"/>
            <a:ext cx="1724100" cy="230520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2"/>
          <p:cNvSpPr txBox="1"/>
          <p:nvPr/>
        </p:nvSpPr>
        <p:spPr>
          <a:xfrm>
            <a:off x="571500" y="381000"/>
            <a:ext cx="80010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RESUME STRATEGY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GB" sz="27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Organizing the resume	</a:t>
            </a:r>
          </a:p>
        </p:txBody>
      </p:sp>
      <p:cxnSp>
        <p:nvCxnSpPr>
          <p:cNvPr id="93" name="Google Shape;93;p15"/>
          <p:cNvCxnSpPr/>
          <p:nvPr/>
        </p:nvCxnSpPr>
        <p:spPr>
          <a:xfrm>
            <a:off x="311785" y="13335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0" name="Google Shape;130;p16"/>
          <p:cNvSpPr txBox="1"/>
          <p:nvPr/>
        </p:nvSpPr>
        <p:spPr>
          <a:xfrm>
            <a:off x="572135" y="1739900"/>
            <a:ext cx="8094905" cy="3034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Font typeface="Wingdings" panose="05000000000000000000" charset="0"/>
              <a:buNone/>
            </a:pPr>
            <a:r>
              <a:rPr lang="en-US" sz="1800" b="1" dirty="0">
                <a:solidFill>
                  <a:srgbClr val="111827"/>
                </a:solidFill>
                <a:latin typeface="DM Sans"/>
                <a:ea typeface="DM Sans"/>
                <a:cs typeface="DM Sans"/>
                <a:sym typeface="DM Sans Medium"/>
              </a:rPr>
              <a:t>Organize the resume for interviewer to easily spot the below items - </a:t>
            </a: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Font typeface="Wingdings" panose="05000000000000000000" charset="0"/>
              <a:buNone/>
            </a:pPr>
            <a:endParaRPr lang="en-US" sz="1600" b="1" dirty="0">
              <a:solidFill>
                <a:srgbClr val="4B5563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171450" lvl="0" indent="-171450" algn="l" rtl="0" eaLnBrk="1" fontAlgn="auto" latinLnBrk="0" hangingPunct="1">
              <a:spcBef>
                <a:spcPts val="600"/>
              </a:spcBef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altLang="en-US" sz="1600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Education</a:t>
            </a:r>
            <a:r>
              <a:rPr lang="en-US" sz="1600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- </a:t>
            </a:r>
            <a:r>
              <a:rPr lang="en-US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Major, CGPA </a:t>
            </a:r>
          </a:p>
          <a:p>
            <a:pPr marL="171450" lvl="0" indent="-171450" algn="l" rtl="0" eaLnBrk="1" fontAlgn="auto" latinLnBrk="0" hangingPunct="1">
              <a:spcBef>
                <a:spcPts val="600"/>
              </a:spcBef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altLang="en-US" sz="1600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Skills </a:t>
            </a:r>
            <a:r>
              <a:rPr lang="en-US" sz="1600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- </a:t>
            </a:r>
            <a:r>
              <a:rPr lang="en-US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Technical Skills</a:t>
            </a:r>
          </a:p>
          <a:p>
            <a:pPr marL="171450" lvl="0" indent="-171450" algn="l" rtl="0" eaLnBrk="1" fontAlgn="auto" latinLnBrk="0" hangingPunct="1">
              <a:spcBef>
                <a:spcPts val="600"/>
              </a:spcBef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altLang="en-US" sz="1600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Projects </a:t>
            </a:r>
            <a:r>
              <a:rPr lang="en-US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- College / Own projects</a:t>
            </a:r>
          </a:p>
          <a:p>
            <a:pPr marL="171450" lvl="0" indent="-171450" algn="l" rtl="0" eaLnBrk="1" fontAlgn="auto" latinLnBrk="0" hangingPunct="1">
              <a:spcBef>
                <a:spcPts val="600"/>
              </a:spcBef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altLang="en-US" sz="1600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Internship / Experience</a:t>
            </a:r>
            <a:r>
              <a:rPr lang="en-US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- Internship projects</a:t>
            </a:r>
          </a:p>
          <a:p>
            <a:pPr marL="171450" lvl="0" indent="-171450" algn="l" rtl="0" eaLnBrk="1" fontAlgn="auto" latinLnBrk="0" hangingPunct="1">
              <a:spcBef>
                <a:spcPts val="600"/>
              </a:spcBef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altLang="en-US" sz="1600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Other achievements</a:t>
            </a:r>
            <a:r>
              <a:rPr lang="en-US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- Paper presentation, Hackathon</a:t>
            </a:r>
          </a:p>
          <a:p>
            <a:pPr marL="171450" lvl="0" indent="-171450" algn="l" rtl="0" eaLnBrk="1" fontAlgn="auto" latinLnBrk="0" hangingPunct="1">
              <a:spcBef>
                <a:spcPts val="600"/>
              </a:spcBef>
              <a:spcAft>
                <a:spcPts val="600"/>
              </a:spcAft>
              <a:buFont typeface="Wingdings" panose="05000000000000000000" charset="0"/>
              <a:buChar char=""/>
            </a:pPr>
            <a:r>
              <a:rPr lang="en-US" altLang="en-US" sz="1600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Certifications </a:t>
            </a:r>
            <a:r>
              <a:rPr lang="en-US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- Certified course completions</a:t>
            </a:r>
          </a:p>
          <a:p>
            <a:pPr marL="171450" lvl="0" indent="-171450" algn="l" rtl="0">
              <a:spcBef>
                <a:spcPts val="300"/>
              </a:spcBef>
              <a:spcAft>
                <a:spcPts val="0"/>
              </a:spcAft>
              <a:buFont typeface="Wingdings" panose="05000000000000000000" charset="0"/>
              <a:buChar char=""/>
            </a:pPr>
            <a:endParaRPr lang="en-US" dirty="0">
              <a:solidFill>
                <a:srgbClr val="4B5563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15"/>
          <p:cNvGrpSpPr/>
          <p:nvPr/>
        </p:nvGrpSpPr>
        <p:grpSpPr>
          <a:xfrm>
            <a:off x="0" y="0"/>
            <a:ext cx="9144150" cy="5144135"/>
            <a:chOff x="0" y="0"/>
            <a:chExt cx="9144150" cy="5144135"/>
          </a:xfrm>
        </p:grpSpPr>
        <p:sp>
          <p:nvSpPr>
            <p:cNvPr id="79" name="Google Shape;79;p1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80" name="Google Shape;80;p15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5080" y="5080"/>
              <a:ext cx="9138920" cy="513905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" name="Google Shape;81;p15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8477250" y="4476750"/>
              <a:ext cx="666900" cy="6669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201" name="Google Shape;201;p19"/>
          <p:cNvCxnSpPr/>
          <p:nvPr/>
        </p:nvCxnSpPr>
        <p:spPr>
          <a:xfrm>
            <a:off x="381000" y="109474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Google Shape;288;p22"/>
          <p:cNvSpPr txBox="1"/>
          <p:nvPr/>
        </p:nvSpPr>
        <p:spPr>
          <a:xfrm>
            <a:off x="381000" y="209550"/>
            <a:ext cx="8096250" cy="104775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RESUME STRATEGY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GB" sz="27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Embracing Simple &amp; Neat Layouts	</a:t>
            </a:r>
          </a:p>
        </p:txBody>
      </p:sp>
      <p:sp>
        <p:nvSpPr>
          <p:cNvPr id="6" name="Google Shape;206;p19">
            <a:extLst>
              <a:ext uri="{FF2B5EF4-FFF2-40B4-BE49-F238E27FC236}">
                <a16:creationId xmlns:a16="http://schemas.microsoft.com/office/drawing/2014/main" id="{786FC8DA-72A7-F33C-20FA-E06356BBD41F}"/>
              </a:ext>
            </a:extLst>
          </p:cNvPr>
          <p:cNvSpPr txBox="1"/>
          <p:nvPr/>
        </p:nvSpPr>
        <p:spPr>
          <a:xfrm>
            <a:off x="3906593" y="1507062"/>
            <a:ext cx="4858526" cy="3729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11150" algn="l" rtl="0">
              <a:spcBef>
                <a:spcPts val="900"/>
              </a:spcBef>
              <a:spcAft>
                <a:spcPts val="600"/>
              </a:spcAft>
              <a:buClr>
                <a:srgbClr val="FF0000"/>
              </a:buClr>
              <a:buSzPts val="1295"/>
              <a:buFont typeface="Arial" panose="020B0604020202020204" pitchFamily="34" charset="0"/>
              <a:buChar char="X"/>
            </a:pPr>
            <a:r>
              <a:rPr lang="en-GB" sz="1600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Complex Layout </a:t>
            </a:r>
            <a:r>
              <a:rPr lang="en-GB" sz="1600" b="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– Multiple columns, images, graphics</a:t>
            </a:r>
          </a:p>
          <a:p>
            <a:pPr marL="457200" lvl="0" indent="-311150" algn="l" rtl="0">
              <a:spcBef>
                <a:spcPts val="900"/>
              </a:spcBef>
              <a:spcAft>
                <a:spcPts val="600"/>
              </a:spcAft>
              <a:buClr>
                <a:srgbClr val="FF0000"/>
              </a:buClr>
              <a:buSzPts val="1295"/>
              <a:buFont typeface="Arial" panose="020B0604020202020204" pitchFamily="34" charset="0"/>
              <a:buChar char="X"/>
            </a:pPr>
            <a:r>
              <a:rPr lang="en-GB" sz="1600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Creative Headings – </a:t>
            </a:r>
            <a:r>
              <a:rPr lang="en-GB" sz="1600" dirty="0" err="1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MyJourney</a:t>
            </a:r>
            <a:r>
              <a:rPr lang="en-GB" sz="160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, </a:t>
            </a:r>
            <a:r>
              <a:rPr lang="en-GB" sz="1600" dirty="0" err="1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ToolBox</a:t>
            </a:r>
            <a:endParaRPr lang="en-GB" sz="1600" dirty="0">
              <a:solidFill>
                <a:srgbClr val="4B5563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457200" lvl="0" indent="-311150" algn="l" rtl="0">
              <a:spcBef>
                <a:spcPts val="900"/>
              </a:spcBef>
              <a:spcAft>
                <a:spcPts val="600"/>
              </a:spcAft>
              <a:buClr>
                <a:srgbClr val="FF0000"/>
              </a:buClr>
              <a:buSzPts val="1295"/>
              <a:buFont typeface="Arial" panose="020B0604020202020204" pitchFamily="34" charset="0"/>
              <a:buChar char="X"/>
            </a:pPr>
            <a:r>
              <a:rPr lang="en-GB" sz="1600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Inconsistent Formatting – </a:t>
            </a:r>
            <a:r>
              <a:rPr lang="en-GB" sz="160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Differences in bullets and fonts</a:t>
            </a:r>
            <a:r>
              <a:rPr lang="en-GB" sz="1600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</a:t>
            </a:r>
          </a:p>
          <a:p>
            <a:pPr marL="457200" indent="-311150">
              <a:spcBef>
                <a:spcPts val="900"/>
              </a:spcBef>
              <a:spcAft>
                <a:spcPts val="600"/>
              </a:spcAft>
              <a:buClr>
                <a:srgbClr val="FF0000"/>
              </a:buClr>
              <a:buSzPts val="1295"/>
              <a:buFont typeface="Arial" panose="020B0604020202020204" pitchFamily="34" charset="0"/>
              <a:buChar char="X"/>
            </a:pPr>
            <a:r>
              <a:rPr lang="en-GB" sz="1600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Unnecessary Sections – </a:t>
            </a:r>
            <a:r>
              <a:rPr lang="en-GB" sz="160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More personal info</a:t>
            </a:r>
          </a:p>
          <a:p>
            <a:pPr marL="457200" indent="-311150">
              <a:spcBef>
                <a:spcPts val="900"/>
              </a:spcBef>
              <a:spcAft>
                <a:spcPts val="600"/>
              </a:spcAft>
              <a:buClr>
                <a:srgbClr val="FF0000"/>
              </a:buClr>
              <a:buSzPts val="1295"/>
              <a:buFont typeface="Arial" panose="020B0604020202020204" pitchFamily="34" charset="0"/>
              <a:buChar char="X"/>
            </a:pPr>
            <a:r>
              <a:rPr lang="en-GB" sz="1600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Hidden Links – </a:t>
            </a:r>
            <a:r>
              <a:rPr lang="en-GB" sz="160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LinkedIn link hidden under text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F65982E-134C-C71E-55A3-7A8BE801A3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641" y="1197364"/>
            <a:ext cx="2880783" cy="387332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>
          <a:extLst>
            <a:ext uri="{FF2B5EF4-FFF2-40B4-BE49-F238E27FC236}">
              <a16:creationId xmlns:a16="http://schemas.microsoft.com/office/drawing/2014/main" id="{794C4EF3-07AF-55AF-CF17-CD5CB3A4A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15">
            <a:extLst>
              <a:ext uri="{FF2B5EF4-FFF2-40B4-BE49-F238E27FC236}">
                <a16:creationId xmlns:a16="http://schemas.microsoft.com/office/drawing/2014/main" id="{8F1D49EA-FDCF-AEC9-2C08-9489F93615CA}"/>
              </a:ext>
            </a:extLst>
          </p:cNvPr>
          <p:cNvGrpSpPr/>
          <p:nvPr/>
        </p:nvGrpSpPr>
        <p:grpSpPr>
          <a:xfrm>
            <a:off x="0" y="0"/>
            <a:ext cx="9144150" cy="5144135"/>
            <a:chOff x="0" y="0"/>
            <a:chExt cx="9144150" cy="5144135"/>
          </a:xfrm>
        </p:grpSpPr>
        <p:pic>
          <p:nvPicPr>
            <p:cNvPr id="80" name="Google Shape;80;p15">
              <a:extLst>
                <a:ext uri="{FF2B5EF4-FFF2-40B4-BE49-F238E27FC236}">
                  <a16:creationId xmlns:a16="http://schemas.microsoft.com/office/drawing/2014/main" id="{3C2BE75D-F3BF-EDC1-922C-55A5D3E4E2E3}"/>
                </a:ext>
              </a:extLst>
            </p:cNvPr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5080" y="5080"/>
              <a:ext cx="9138920" cy="513905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9" name="Google Shape;79;p15">
              <a:extLst>
                <a:ext uri="{FF2B5EF4-FFF2-40B4-BE49-F238E27FC236}">
                  <a16:creationId xmlns:a16="http://schemas.microsoft.com/office/drawing/2014/main" id="{5D628F4A-A0E1-C094-FD04-AB1A2B9D89B5}"/>
                </a:ext>
              </a:extLst>
            </p:cNvPr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5">
              <a:extLst>
                <a:ext uri="{FF2B5EF4-FFF2-40B4-BE49-F238E27FC236}">
                  <a16:creationId xmlns:a16="http://schemas.microsoft.com/office/drawing/2014/main" id="{87145288-9021-65B5-66C5-9B6010182E0B}"/>
                </a:ext>
              </a:extLst>
            </p:cNvPr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>
              <a:extLst>
                <a:ext uri="{FF2B5EF4-FFF2-40B4-BE49-F238E27FC236}">
                  <a16:creationId xmlns:a16="http://schemas.microsoft.com/office/drawing/2014/main" id="{A80D62CC-5E65-214F-A372-24EFF02E65FC}"/>
                </a:ext>
              </a:extLst>
            </p:cNvPr>
            <p:cNvSpPr/>
            <p:nvPr/>
          </p:nvSpPr>
          <p:spPr>
            <a:xfrm>
              <a:off x="8477250" y="4476750"/>
              <a:ext cx="666900" cy="6669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201" name="Google Shape;201;p19">
            <a:extLst>
              <a:ext uri="{FF2B5EF4-FFF2-40B4-BE49-F238E27FC236}">
                <a16:creationId xmlns:a16="http://schemas.microsoft.com/office/drawing/2014/main" id="{5F47C6C9-0E17-97EE-3DD0-A1E6CA69198B}"/>
              </a:ext>
            </a:extLst>
          </p:cNvPr>
          <p:cNvCxnSpPr/>
          <p:nvPr/>
        </p:nvCxnSpPr>
        <p:spPr>
          <a:xfrm>
            <a:off x="381000" y="109474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Google Shape;288;p22">
            <a:extLst>
              <a:ext uri="{FF2B5EF4-FFF2-40B4-BE49-F238E27FC236}">
                <a16:creationId xmlns:a16="http://schemas.microsoft.com/office/drawing/2014/main" id="{663E498E-CC6A-ED50-FD50-3FA50BF109A7}"/>
              </a:ext>
            </a:extLst>
          </p:cNvPr>
          <p:cNvSpPr txBox="1"/>
          <p:nvPr/>
        </p:nvSpPr>
        <p:spPr>
          <a:xfrm>
            <a:off x="381000" y="209550"/>
            <a:ext cx="8096250" cy="104775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RESUME STRATEGY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GB" sz="27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Embracing Simple &amp; Neat Layouts	</a:t>
            </a:r>
          </a:p>
        </p:txBody>
      </p:sp>
      <p:sp>
        <p:nvSpPr>
          <p:cNvPr id="6" name="Google Shape;206;p19">
            <a:extLst>
              <a:ext uri="{FF2B5EF4-FFF2-40B4-BE49-F238E27FC236}">
                <a16:creationId xmlns:a16="http://schemas.microsoft.com/office/drawing/2014/main" id="{7554A9B2-FB4D-378D-6ABB-8EACC47D1715}"/>
              </a:ext>
            </a:extLst>
          </p:cNvPr>
          <p:cNvSpPr txBox="1"/>
          <p:nvPr/>
        </p:nvSpPr>
        <p:spPr>
          <a:xfrm>
            <a:off x="3879414" y="1240360"/>
            <a:ext cx="4883585" cy="3729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31800" lvl="0" indent="-285750">
              <a:spcBef>
                <a:spcPts val="900"/>
              </a:spcBef>
              <a:spcAft>
                <a:spcPts val="600"/>
              </a:spcAft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GB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Clean &amp; Simple Layout – </a:t>
            </a:r>
            <a:r>
              <a:rPr lang="en-GB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Avoids complex graphics, multi-column layouts, or heavy colours.</a:t>
            </a:r>
            <a:endParaRPr lang="en-GB" b="1" dirty="0">
              <a:solidFill>
                <a:srgbClr val="4B5563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431800" lvl="0" indent="-285750">
              <a:spcBef>
                <a:spcPts val="900"/>
              </a:spcBef>
              <a:spcAft>
                <a:spcPts val="600"/>
              </a:spcAft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GB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Standard Headings – </a:t>
            </a:r>
            <a:r>
              <a:rPr lang="en-GB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Chronologically ordered sections with clear, bold standard headers</a:t>
            </a:r>
            <a:endParaRPr lang="en-GB" b="1" dirty="0">
              <a:solidFill>
                <a:srgbClr val="4B5563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431800" lvl="0" indent="-285750">
              <a:spcBef>
                <a:spcPts val="900"/>
              </a:spcBef>
              <a:spcAft>
                <a:spcPts val="600"/>
              </a:spcAft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GB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Consistent Formatting – </a:t>
            </a:r>
            <a:r>
              <a:rPr lang="en-GB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Same font and bullet style throughout</a:t>
            </a:r>
            <a:endParaRPr lang="en-GB" b="1" dirty="0">
              <a:solidFill>
                <a:srgbClr val="4B5563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431800" lvl="0" indent="-285750">
              <a:spcBef>
                <a:spcPts val="900"/>
              </a:spcBef>
              <a:spcAft>
                <a:spcPts val="600"/>
              </a:spcAft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GB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Relevant Information – </a:t>
            </a:r>
            <a:r>
              <a:rPr lang="en-GB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Emphasizes on academic and technical expertise and excludes hobbies and profile summary</a:t>
            </a:r>
            <a:endParaRPr lang="en-GB" b="1" dirty="0">
              <a:solidFill>
                <a:srgbClr val="4B5563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431800" lvl="0" indent="-285750">
              <a:spcBef>
                <a:spcPts val="900"/>
              </a:spcBef>
              <a:spcAft>
                <a:spcPts val="600"/>
              </a:spcAft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GB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Visible Links – </a:t>
            </a:r>
            <a:r>
              <a:rPr lang="en-GB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Links are clearly visible</a:t>
            </a:r>
          </a:p>
          <a:p>
            <a:pPr marL="431800" indent="-285750">
              <a:spcBef>
                <a:spcPts val="900"/>
              </a:spcBef>
              <a:spcAft>
                <a:spcPts val="600"/>
              </a:spcAft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GB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"/>
              </a:rPr>
              <a:t>Concise Length:</a:t>
            </a:r>
            <a:r>
              <a:rPr lang="en-GB" b="1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</a:rPr>
              <a:t> </a:t>
            </a:r>
            <a:r>
              <a:rPr lang="en-GB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Restrict your resume to a single page for entry-level campus recruitment.</a:t>
            </a:r>
          </a:p>
          <a:p>
            <a:pPr marL="431800" lvl="0" indent="-285750">
              <a:spcBef>
                <a:spcPts val="900"/>
              </a:spcBef>
              <a:spcAft>
                <a:spcPts val="600"/>
              </a:spcAft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n-GB" b="1" dirty="0">
              <a:solidFill>
                <a:srgbClr val="4B5563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4B2694-53DB-327B-E63F-04F4C80823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569" y="1257300"/>
            <a:ext cx="3054693" cy="38313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4FC831-C345-0D6C-4C81-2774A5406A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2573" y="1741802"/>
            <a:ext cx="1016052" cy="114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804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>
          <a:extLst>
            <a:ext uri="{FF2B5EF4-FFF2-40B4-BE49-F238E27FC236}">
              <a16:creationId xmlns:a16="http://schemas.microsoft.com/office/drawing/2014/main" id="{B11227A0-D7B8-A628-C2EC-CB271F399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15">
            <a:extLst>
              <a:ext uri="{FF2B5EF4-FFF2-40B4-BE49-F238E27FC236}">
                <a16:creationId xmlns:a16="http://schemas.microsoft.com/office/drawing/2014/main" id="{FAC1FFBB-F656-E3D1-F6C3-F40D63B8A899}"/>
              </a:ext>
            </a:extLst>
          </p:cNvPr>
          <p:cNvGrpSpPr/>
          <p:nvPr/>
        </p:nvGrpSpPr>
        <p:grpSpPr>
          <a:xfrm>
            <a:off x="0" y="0"/>
            <a:ext cx="9144150" cy="5144135"/>
            <a:chOff x="0" y="0"/>
            <a:chExt cx="9144150" cy="5144135"/>
          </a:xfrm>
        </p:grpSpPr>
        <p:sp>
          <p:nvSpPr>
            <p:cNvPr id="79" name="Google Shape;79;p15">
              <a:extLst>
                <a:ext uri="{FF2B5EF4-FFF2-40B4-BE49-F238E27FC236}">
                  <a16:creationId xmlns:a16="http://schemas.microsoft.com/office/drawing/2014/main" id="{699EA69B-42D6-D290-B564-41F428FBA8FA}"/>
                </a:ext>
              </a:extLst>
            </p:cNvPr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80" name="Google Shape;80;p15">
              <a:extLst>
                <a:ext uri="{FF2B5EF4-FFF2-40B4-BE49-F238E27FC236}">
                  <a16:creationId xmlns:a16="http://schemas.microsoft.com/office/drawing/2014/main" id="{B976FEFA-E3F3-F9F9-F8A2-3A19CA383B44}"/>
                </a:ext>
              </a:extLst>
            </p:cNvPr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5080" y="5080"/>
              <a:ext cx="9138920" cy="513905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" name="Google Shape;81;p15">
              <a:extLst>
                <a:ext uri="{FF2B5EF4-FFF2-40B4-BE49-F238E27FC236}">
                  <a16:creationId xmlns:a16="http://schemas.microsoft.com/office/drawing/2014/main" id="{240CFC51-AA2B-04D5-4AE2-2776ADE98372}"/>
                </a:ext>
              </a:extLst>
            </p:cNvPr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>
              <a:extLst>
                <a:ext uri="{FF2B5EF4-FFF2-40B4-BE49-F238E27FC236}">
                  <a16:creationId xmlns:a16="http://schemas.microsoft.com/office/drawing/2014/main" id="{608F9203-25F1-A02C-592B-E9CA28F38E4E}"/>
                </a:ext>
              </a:extLst>
            </p:cNvPr>
            <p:cNvSpPr/>
            <p:nvPr/>
          </p:nvSpPr>
          <p:spPr>
            <a:xfrm>
              <a:off x="8477250" y="4476750"/>
              <a:ext cx="666900" cy="6669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201" name="Google Shape;201;p19">
            <a:extLst>
              <a:ext uri="{FF2B5EF4-FFF2-40B4-BE49-F238E27FC236}">
                <a16:creationId xmlns:a16="http://schemas.microsoft.com/office/drawing/2014/main" id="{0EE1480C-B33B-DD74-F111-AD9916212C10}"/>
              </a:ext>
            </a:extLst>
          </p:cNvPr>
          <p:cNvCxnSpPr/>
          <p:nvPr/>
        </p:nvCxnSpPr>
        <p:spPr>
          <a:xfrm>
            <a:off x="381000" y="109474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Google Shape;288;p22">
            <a:extLst>
              <a:ext uri="{FF2B5EF4-FFF2-40B4-BE49-F238E27FC236}">
                <a16:creationId xmlns:a16="http://schemas.microsoft.com/office/drawing/2014/main" id="{90B62685-716F-DAD4-E58E-2109C22D4F80}"/>
              </a:ext>
            </a:extLst>
          </p:cNvPr>
          <p:cNvSpPr txBox="1"/>
          <p:nvPr/>
        </p:nvSpPr>
        <p:spPr>
          <a:xfrm>
            <a:off x="381000" y="209550"/>
            <a:ext cx="8096250" cy="104775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 dirty="0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RESUME STRATEGY</a:t>
            </a:r>
            <a:endParaRPr sz="1800" b="1" i="0" u="none" strike="noStrike" dirty="0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GB" sz="2700" b="0" i="0" u="none" strike="noStrike" dirty="0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Embracing Simple &amp; Neat Layouts	</a:t>
            </a:r>
          </a:p>
        </p:txBody>
      </p:sp>
      <p:sp>
        <p:nvSpPr>
          <p:cNvPr id="3" name="Google Shape;206;p19">
            <a:extLst>
              <a:ext uri="{FF2B5EF4-FFF2-40B4-BE49-F238E27FC236}">
                <a16:creationId xmlns:a16="http://schemas.microsoft.com/office/drawing/2014/main" id="{31695F3E-80E9-A169-650A-79CE6D3DCAE9}"/>
              </a:ext>
            </a:extLst>
          </p:cNvPr>
          <p:cNvSpPr txBox="1"/>
          <p:nvPr/>
        </p:nvSpPr>
        <p:spPr>
          <a:xfrm>
            <a:off x="317500" y="1333500"/>
            <a:ext cx="8238671" cy="703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111827"/>
                </a:solidFill>
                <a:latin typeface="Outfit"/>
                <a:ea typeface="Outfit"/>
                <a:cs typeface="Outfit"/>
                <a:sym typeface="Outfit"/>
              </a:rPr>
              <a:t>ATS-Friendly Optimization</a:t>
            </a:r>
            <a:endParaRPr lang="en-US" sz="2000" b="1" dirty="0">
              <a:solidFill>
                <a:srgbClr val="111827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O</a:t>
            </a:r>
            <a:r>
              <a:rPr lang="en-US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ptimize</a:t>
            </a:r>
            <a:r>
              <a:rPr lang="en-US" altLang="en-GB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</a:t>
            </a:r>
            <a:r>
              <a:rPr lang="en-US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for both human recruiters and Applicant Tracking Systems (ATS).</a:t>
            </a:r>
          </a:p>
          <a:p>
            <a:pPr marL="457200" lvl="0" indent="-311150" algn="l" rtl="0">
              <a:spcBef>
                <a:spcPts val="900"/>
              </a:spcBef>
              <a:spcAft>
                <a:spcPts val="0"/>
              </a:spcAft>
              <a:buClr>
                <a:srgbClr val="4338CA"/>
              </a:buClr>
              <a:buSzPts val="1295"/>
              <a:buChar char="●"/>
            </a:pPr>
            <a:endParaRPr lang="en-GB" b="0" dirty="0">
              <a:solidFill>
                <a:srgbClr val="4B5563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F1C5F2E-D36D-E2AE-D04B-FB14123DEE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386261"/>
              </p:ext>
            </p:extLst>
          </p:nvPr>
        </p:nvGraphicFramePr>
        <p:xfrm>
          <a:off x="287865" y="2174235"/>
          <a:ext cx="8382000" cy="2759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493">
                  <a:extLst>
                    <a:ext uri="{9D8B030D-6E8A-4147-A177-3AD203B41FA5}">
                      <a16:colId xmlns:a16="http://schemas.microsoft.com/office/drawing/2014/main" val="1498933806"/>
                    </a:ext>
                  </a:extLst>
                </a:gridCol>
                <a:gridCol w="3923945">
                  <a:extLst>
                    <a:ext uri="{9D8B030D-6E8A-4147-A177-3AD203B41FA5}">
                      <a16:colId xmlns:a16="http://schemas.microsoft.com/office/drawing/2014/main" val="1413528557"/>
                    </a:ext>
                  </a:extLst>
                </a:gridCol>
                <a:gridCol w="3029562">
                  <a:extLst>
                    <a:ext uri="{9D8B030D-6E8A-4147-A177-3AD203B41FA5}">
                      <a16:colId xmlns:a16="http://schemas.microsoft.com/office/drawing/2014/main" val="1174432998"/>
                    </a:ext>
                  </a:extLst>
                </a:gridCol>
              </a:tblGrid>
              <a:tr h="389044">
                <a:tc>
                  <a:txBody>
                    <a:bodyPr/>
                    <a:lstStyle/>
                    <a:p>
                      <a:r>
                        <a:rPr lang="en-US" dirty="0"/>
                        <a:t>Aspect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DONTs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042342"/>
                  </a:ext>
                </a:extLst>
              </a:tr>
              <a:tr h="389044">
                <a:tc>
                  <a:txBody>
                    <a:bodyPr/>
                    <a:lstStyle/>
                    <a:p>
                      <a:r>
                        <a:rPr lang="en-US" dirty="0"/>
                        <a:t>Layout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Avoid multi-columns, split panels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Single column, top-to-bottom reading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3509996"/>
                  </a:ext>
                </a:extLst>
              </a:tr>
              <a:tr h="389044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Avoid flashing colors, images, photos, borders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clean &amp; Clear plain text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9285435"/>
                  </a:ext>
                </a:extLst>
              </a:tr>
              <a:tr h="389044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Avoid placing contact info like phone numbers and links in document headers / footers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Place all contact details on top section of document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5769339"/>
                  </a:ext>
                </a:extLst>
              </a:tr>
              <a:tr h="389044">
                <a:tc>
                  <a:txBody>
                    <a:bodyPr/>
                    <a:lstStyle/>
                    <a:p>
                      <a:r>
                        <a:rPr lang="en-US" dirty="0"/>
                        <a:t>Hyperlinks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Avoid hiding URLs under custom text like Click Here or using long URLs.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Anchor clean URLs to identifiable text: 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 panose="020B0604020202090204"/>
                          <a:hlinkClick r:id="rId4"/>
                        </a:rPr>
                        <a:t>https://linkedin.com/in/username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 panose="020B0604020202090204"/>
                        </a:rPr>
                        <a:t> </a:t>
                      </a:r>
                      <a:r>
                        <a:rPr lang="en-US" dirty="0"/>
                        <a:t>or 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 panose="020B0604020202090204"/>
                          <a:hlinkClick r:id="rId5"/>
                        </a:rPr>
                        <a:t>https://github.com/username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2775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08204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>
          <a:extLst>
            <a:ext uri="{FF2B5EF4-FFF2-40B4-BE49-F238E27FC236}">
              <a16:creationId xmlns:a16="http://schemas.microsoft.com/office/drawing/2014/main" id="{F933E6A2-2F78-845B-096A-236299D79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15">
            <a:extLst>
              <a:ext uri="{FF2B5EF4-FFF2-40B4-BE49-F238E27FC236}">
                <a16:creationId xmlns:a16="http://schemas.microsoft.com/office/drawing/2014/main" id="{1A9256F8-4AF7-06C8-29AF-04667528D641}"/>
              </a:ext>
            </a:extLst>
          </p:cNvPr>
          <p:cNvGrpSpPr/>
          <p:nvPr/>
        </p:nvGrpSpPr>
        <p:grpSpPr>
          <a:xfrm>
            <a:off x="0" y="0"/>
            <a:ext cx="9144150" cy="5144135"/>
            <a:chOff x="0" y="0"/>
            <a:chExt cx="9144150" cy="5144135"/>
          </a:xfrm>
        </p:grpSpPr>
        <p:sp>
          <p:nvSpPr>
            <p:cNvPr id="79" name="Google Shape;79;p15">
              <a:extLst>
                <a:ext uri="{FF2B5EF4-FFF2-40B4-BE49-F238E27FC236}">
                  <a16:creationId xmlns:a16="http://schemas.microsoft.com/office/drawing/2014/main" id="{ACD438A1-C572-CEE3-69D8-048984469C0A}"/>
                </a:ext>
              </a:extLst>
            </p:cNvPr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80" name="Google Shape;80;p15">
              <a:extLst>
                <a:ext uri="{FF2B5EF4-FFF2-40B4-BE49-F238E27FC236}">
                  <a16:creationId xmlns:a16="http://schemas.microsoft.com/office/drawing/2014/main" id="{B6027A4A-25C3-A106-CCEF-DF082A1FC20E}"/>
                </a:ext>
              </a:extLst>
            </p:cNvPr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5080" y="5080"/>
              <a:ext cx="9138920" cy="513905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" name="Google Shape;81;p15">
              <a:extLst>
                <a:ext uri="{FF2B5EF4-FFF2-40B4-BE49-F238E27FC236}">
                  <a16:creationId xmlns:a16="http://schemas.microsoft.com/office/drawing/2014/main" id="{5EAF079A-2F95-2AF6-77BC-D150D17FA255}"/>
                </a:ext>
              </a:extLst>
            </p:cNvPr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>
              <a:extLst>
                <a:ext uri="{FF2B5EF4-FFF2-40B4-BE49-F238E27FC236}">
                  <a16:creationId xmlns:a16="http://schemas.microsoft.com/office/drawing/2014/main" id="{2D35B1BE-D6BA-19BB-A243-3A8D3FD9CB76}"/>
                </a:ext>
              </a:extLst>
            </p:cNvPr>
            <p:cNvSpPr/>
            <p:nvPr/>
          </p:nvSpPr>
          <p:spPr>
            <a:xfrm>
              <a:off x="8477250" y="4476750"/>
              <a:ext cx="666900" cy="6669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201" name="Google Shape;201;p19">
            <a:extLst>
              <a:ext uri="{FF2B5EF4-FFF2-40B4-BE49-F238E27FC236}">
                <a16:creationId xmlns:a16="http://schemas.microsoft.com/office/drawing/2014/main" id="{1D76611F-7CC1-B9A5-6D61-0A1BAF229023}"/>
              </a:ext>
            </a:extLst>
          </p:cNvPr>
          <p:cNvCxnSpPr/>
          <p:nvPr/>
        </p:nvCxnSpPr>
        <p:spPr>
          <a:xfrm>
            <a:off x="381000" y="109474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Google Shape;288;p22">
            <a:extLst>
              <a:ext uri="{FF2B5EF4-FFF2-40B4-BE49-F238E27FC236}">
                <a16:creationId xmlns:a16="http://schemas.microsoft.com/office/drawing/2014/main" id="{7814F0CF-1DB6-6BC8-B85C-D3FD9D6D91E6}"/>
              </a:ext>
            </a:extLst>
          </p:cNvPr>
          <p:cNvSpPr txBox="1"/>
          <p:nvPr/>
        </p:nvSpPr>
        <p:spPr>
          <a:xfrm>
            <a:off x="381000" y="209550"/>
            <a:ext cx="8096250" cy="104775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RESUME STRATEGY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GB" sz="27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Embracing Simple &amp; Neat Layouts	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0FD4227-B8E9-C61A-46FF-1C71EE49C1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6150283"/>
              </p:ext>
            </p:extLst>
          </p:nvPr>
        </p:nvGraphicFramePr>
        <p:xfrm>
          <a:off x="262462" y="1195912"/>
          <a:ext cx="8500539" cy="3711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2509">
                  <a:extLst>
                    <a:ext uri="{9D8B030D-6E8A-4147-A177-3AD203B41FA5}">
                      <a16:colId xmlns:a16="http://schemas.microsoft.com/office/drawing/2014/main" val="1498933806"/>
                    </a:ext>
                  </a:extLst>
                </a:gridCol>
                <a:gridCol w="2766207">
                  <a:extLst>
                    <a:ext uri="{9D8B030D-6E8A-4147-A177-3AD203B41FA5}">
                      <a16:colId xmlns:a16="http://schemas.microsoft.com/office/drawing/2014/main" val="1413528557"/>
                    </a:ext>
                  </a:extLst>
                </a:gridCol>
                <a:gridCol w="3621823">
                  <a:extLst>
                    <a:ext uri="{9D8B030D-6E8A-4147-A177-3AD203B41FA5}">
                      <a16:colId xmlns:a16="http://schemas.microsoft.com/office/drawing/2014/main" val="1174432998"/>
                    </a:ext>
                  </a:extLst>
                </a:gridCol>
              </a:tblGrid>
              <a:tr h="389044">
                <a:tc>
                  <a:txBody>
                    <a:bodyPr/>
                    <a:lstStyle/>
                    <a:p>
                      <a:r>
                        <a:rPr lang="en-US" dirty="0"/>
                        <a:t>Aspect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Regular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ATS Compatible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042342"/>
                  </a:ext>
                </a:extLst>
              </a:tr>
              <a:tr h="389044">
                <a:tc>
                  <a:txBody>
                    <a:bodyPr/>
                    <a:lstStyle/>
                    <a:p>
                      <a:r>
                        <a:rPr lang="en-US" dirty="0"/>
                        <a:t>Styling and Formatting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Avoid custom web fonts, decorative scripts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standard fonts like Arial, Calibri, Times New Roman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3509996"/>
                  </a:ext>
                </a:extLst>
              </a:tr>
              <a:tr h="389044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Avoid tiny font sizes to fit more content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legible uniform font sizes for headers and content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9285435"/>
                  </a:ext>
                </a:extLst>
              </a:tr>
              <a:tr h="389044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Avoid fancy fonts and symbols for bullets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common standard circular or hyphen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5769339"/>
                  </a:ext>
                </a:extLst>
              </a:tr>
              <a:tr h="389044">
                <a:tc>
                  <a:txBody>
                    <a:bodyPr/>
                    <a:lstStyle/>
                    <a:p>
                      <a:r>
                        <a:rPr lang="en-US" dirty="0"/>
                        <a:t>Headings and Sections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Avoid creative headings like “</a:t>
                      </a:r>
                      <a:r>
                        <a:rPr lang="en-US" dirty="0" err="1"/>
                        <a:t>ToolBox</a:t>
                      </a:r>
                      <a:r>
                        <a:rPr lang="en-US" dirty="0"/>
                        <a:t>”, “My Journey” </a:t>
                      </a:r>
                      <a:r>
                        <a:rPr lang="en-US" dirty="0" err="1"/>
                        <a:t>etc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standard headings like “Skills”, “Projects”, “Experience” </a:t>
                      </a:r>
                      <a:r>
                        <a:rPr lang="en-US" dirty="0" err="1"/>
                        <a:t>etc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028418"/>
                  </a:ext>
                </a:extLst>
              </a:tr>
              <a:tr h="389044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Avoid passive summaries (</a:t>
                      </a:r>
                      <a:r>
                        <a:rPr lang="en-US" i="1" dirty="0"/>
                        <a:t>"Responsible for developing a website"</a:t>
                      </a:r>
                      <a:r>
                        <a:rPr lang="en-US" dirty="0"/>
                        <a:t>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action-based summaries </a:t>
                      </a:r>
                      <a:r>
                        <a:rPr lang="en-US" i="1" dirty="0"/>
                        <a:t>"Built a full-stack portal using React &amp; Node.js, reducing query response times by 30%"</a:t>
                      </a:r>
                      <a:r>
                        <a:rPr lang="en-US" dirty="0"/>
                        <a:t>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154493"/>
                  </a:ext>
                </a:extLst>
              </a:tr>
              <a:tr h="389044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Avoid plain abbreviations like ML, DS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Spell out along with abbreviations like Machine Learning (ML), Data Science(DS)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3177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27722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0" name="Google Shape;80;p15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080" y="5080"/>
            <a:ext cx="9138920" cy="5139055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22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2D68F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22"/>
          <p:cNvSpPr/>
          <p:nvPr/>
        </p:nvSpPr>
        <p:spPr>
          <a:xfrm>
            <a:off x="8667750" y="4667250"/>
            <a:ext cx="476400" cy="47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120000" y="120000"/>
                </a:moveTo>
                <a:lnTo>
                  <a:pt x="120000" y="0"/>
                </a:lnTo>
                <a:lnTo>
                  <a:pt x="0" y="120000"/>
                </a:lnTo>
                <a:close/>
              </a:path>
            </a:pathLst>
          </a:custGeom>
          <a:solidFill>
            <a:srgbClr val="FFC300">
              <a:alpha val="60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6" name="Google Shape;286;p22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6848475" y="847725"/>
            <a:ext cx="2276400" cy="344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22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7419975" y="1419225"/>
            <a:ext cx="1724100" cy="230520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2"/>
          <p:cNvSpPr txBox="1"/>
          <p:nvPr/>
        </p:nvSpPr>
        <p:spPr>
          <a:xfrm>
            <a:off x="571500" y="381000"/>
            <a:ext cx="80010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 dirty="0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RESUME STRATEGY</a:t>
            </a:r>
            <a:endParaRPr sz="1800" b="1" i="0" u="none" strike="noStrike" dirty="0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GB" sz="2700" b="0" i="0" u="none" strike="noStrike" dirty="0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Showcasing Your Projects for Impact</a:t>
            </a:r>
            <a:endParaRPr sz="1800" b="1" i="0" u="none" strike="noStrike" dirty="0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</p:txBody>
      </p:sp>
      <p:grpSp>
        <p:nvGrpSpPr>
          <p:cNvPr id="289" name="Google Shape;289;p22"/>
          <p:cNvGrpSpPr/>
          <p:nvPr/>
        </p:nvGrpSpPr>
        <p:grpSpPr>
          <a:xfrm>
            <a:off x="408305" y="1572260"/>
            <a:ext cx="4163695" cy="772160"/>
            <a:chOff x="-55998" y="-23812"/>
            <a:chExt cx="8228448" cy="914400"/>
          </a:xfrm>
        </p:grpSpPr>
        <p:pic>
          <p:nvPicPr>
            <p:cNvPr id="290" name="Google Shape;290;p22"/>
            <p:cNvPicPr preferRelativeResize="0"/>
            <p:nvPr/>
          </p:nvPicPr>
          <p:blipFill rotWithShape="1">
            <a:blip r:embed="rId6"/>
            <a:srcRect/>
            <a:stretch>
              <a:fillRect/>
            </a:stretch>
          </p:blipFill>
          <p:spPr>
            <a:xfrm>
              <a:off x="-55998" y="-23812"/>
              <a:ext cx="8228448" cy="914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1" name="Google Shape;291;p22"/>
            <p:cNvSpPr/>
            <p:nvPr/>
          </p:nvSpPr>
          <p:spPr>
            <a:xfrm>
              <a:off x="219714" y="152386"/>
              <a:ext cx="57300" cy="523800"/>
            </a:xfrm>
            <a:prstGeom prst="roundRect">
              <a:avLst>
                <a:gd name="adj" fmla="val 50000"/>
              </a:avLst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92" name="Google Shape;292;p22"/>
            <p:cNvGrpSpPr/>
            <p:nvPr/>
          </p:nvGrpSpPr>
          <p:grpSpPr>
            <a:xfrm>
              <a:off x="519393" y="270755"/>
              <a:ext cx="601102" cy="313858"/>
              <a:chOff x="214593" y="18342"/>
              <a:chExt cx="601102" cy="313858"/>
            </a:xfrm>
          </p:grpSpPr>
          <p:sp>
            <p:nvSpPr>
              <p:cNvPr id="293" name="Google Shape;293;p22"/>
              <p:cNvSpPr/>
              <p:nvPr/>
            </p:nvSpPr>
            <p:spPr>
              <a:xfrm>
                <a:off x="214593" y="18342"/>
                <a:ext cx="601102" cy="313858"/>
              </a:xfrm>
              <a:prstGeom prst="ellipse">
                <a:avLst/>
              </a:prstGeom>
              <a:solidFill>
                <a:srgbClr val="00B05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22"/>
              <p:cNvSpPr/>
              <p:nvPr/>
            </p:nvSpPr>
            <p:spPr>
              <a:xfrm>
                <a:off x="390279" y="108696"/>
                <a:ext cx="244708" cy="116168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60000"/>
                    </a:moveTo>
                    <a:lnTo>
                      <a:pt x="40000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5" name="Google Shape;295;p22"/>
            <p:cNvSpPr txBox="1"/>
            <p:nvPr/>
          </p:nvSpPr>
          <p:spPr>
            <a:xfrm>
              <a:off x="1271697" y="-35"/>
              <a:ext cx="6443965" cy="8097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50" dirty="0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Place your most important </a:t>
              </a:r>
              <a:r>
                <a:rPr lang="en-US" altLang="en-GB" sz="1350" dirty="0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and strongest </a:t>
              </a:r>
              <a:r>
                <a:rPr lang="en-GB" sz="1350" dirty="0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projects at the top.</a:t>
              </a:r>
              <a:endParaRPr sz="1350" dirty="0">
                <a:solidFill>
                  <a:srgbClr val="0B132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96" name="Google Shape;296;p22"/>
          <p:cNvGrpSpPr/>
          <p:nvPr/>
        </p:nvGrpSpPr>
        <p:grpSpPr>
          <a:xfrm>
            <a:off x="386080" y="3187065"/>
            <a:ext cx="4222115" cy="914400"/>
            <a:chOff x="-93646" y="-23812"/>
            <a:chExt cx="8343900" cy="914400"/>
          </a:xfrm>
        </p:grpSpPr>
        <p:pic>
          <p:nvPicPr>
            <p:cNvPr id="297" name="Google Shape;297;p22"/>
            <p:cNvPicPr preferRelativeResize="0"/>
            <p:nvPr/>
          </p:nvPicPr>
          <p:blipFill rotWithShape="1">
            <a:blip r:embed="rId6"/>
            <a:srcRect/>
            <a:stretch>
              <a:fillRect/>
            </a:stretch>
          </p:blipFill>
          <p:spPr>
            <a:xfrm>
              <a:off x="-93646" y="-23812"/>
              <a:ext cx="8343900" cy="914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8" name="Google Shape;298;p22"/>
            <p:cNvSpPr/>
            <p:nvPr/>
          </p:nvSpPr>
          <p:spPr>
            <a:xfrm>
              <a:off x="254852" y="142875"/>
              <a:ext cx="57300" cy="523800"/>
            </a:xfrm>
            <a:prstGeom prst="roundRect">
              <a:avLst>
                <a:gd name="adj" fmla="val 50000"/>
              </a:avLst>
            </a:prstGeom>
            <a:solidFill>
              <a:srgbClr val="FF5733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99" name="Google Shape;299;p22"/>
            <p:cNvGrpSpPr/>
            <p:nvPr/>
          </p:nvGrpSpPr>
          <p:grpSpPr>
            <a:xfrm>
              <a:off x="558292" y="252413"/>
              <a:ext cx="601102" cy="307975"/>
              <a:chOff x="253492" y="0"/>
              <a:chExt cx="601102" cy="307975"/>
            </a:xfrm>
          </p:grpSpPr>
          <p:sp>
            <p:nvSpPr>
              <p:cNvPr id="300" name="Google Shape;300;p22"/>
              <p:cNvSpPr/>
              <p:nvPr/>
            </p:nvSpPr>
            <p:spPr>
              <a:xfrm>
                <a:off x="253492" y="0"/>
                <a:ext cx="601102" cy="307975"/>
              </a:xfrm>
              <a:prstGeom prst="ellipse">
                <a:avLst/>
              </a:prstGeom>
              <a:solidFill>
                <a:srgbClr val="00B05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301;p22"/>
              <p:cNvSpPr/>
              <p:nvPr/>
            </p:nvSpPr>
            <p:spPr>
              <a:xfrm>
                <a:off x="445625" y="114300"/>
                <a:ext cx="244708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60000"/>
                    </a:moveTo>
                    <a:lnTo>
                      <a:pt x="40000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02" name="Google Shape;302;p22"/>
            <p:cNvSpPr txBox="1"/>
            <p:nvPr/>
          </p:nvSpPr>
          <p:spPr>
            <a:xfrm>
              <a:off x="1416015" y="-317"/>
              <a:ext cx="6510476" cy="809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50" dirty="0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sym typeface="Inter SemiBold" panose="02000503000000020004"/>
                </a:rPr>
                <a:t>Only list technologies you can confidently explain in detail.</a:t>
              </a:r>
              <a:endParaRPr sz="1350" dirty="0">
                <a:solidFill>
                  <a:srgbClr val="0B132B"/>
                </a:solidFill>
                <a:latin typeface="Inter" panose="02000503000000020004"/>
                <a:ea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303" name="Google Shape;303;p22"/>
          <p:cNvGrpSpPr/>
          <p:nvPr/>
        </p:nvGrpSpPr>
        <p:grpSpPr>
          <a:xfrm>
            <a:off x="408305" y="2392680"/>
            <a:ext cx="4294505" cy="762635"/>
            <a:chOff x="-120650" y="-28726"/>
            <a:chExt cx="8363747" cy="914400"/>
          </a:xfrm>
        </p:grpSpPr>
        <p:pic>
          <p:nvPicPr>
            <p:cNvPr id="304" name="Google Shape;304;p22"/>
            <p:cNvPicPr preferRelativeResize="0"/>
            <p:nvPr/>
          </p:nvPicPr>
          <p:blipFill rotWithShape="1">
            <a:blip r:embed="rId6"/>
            <a:srcRect/>
            <a:stretch>
              <a:fillRect/>
            </a:stretch>
          </p:blipFill>
          <p:spPr>
            <a:xfrm>
              <a:off x="-120650" y="-28726"/>
              <a:ext cx="8108315" cy="914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05" name="Google Shape;305;p22"/>
            <p:cNvSpPr/>
            <p:nvPr/>
          </p:nvSpPr>
          <p:spPr>
            <a:xfrm flipH="1">
              <a:off x="196087" y="89529"/>
              <a:ext cx="78105" cy="644411"/>
            </a:xfrm>
            <a:prstGeom prst="roundRect">
              <a:avLst>
                <a:gd name="adj" fmla="val 15000"/>
              </a:avLst>
            </a:prstGeom>
            <a:solidFill>
              <a:srgbClr val="FFC3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22"/>
            <p:cNvSpPr/>
            <p:nvPr/>
          </p:nvSpPr>
          <p:spPr>
            <a:xfrm>
              <a:off x="479146" y="275353"/>
              <a:ext cx="592375" cy="34587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22"/>
            <p:cNvSpPr txBox="1"/>
            <p:nvPr/>
          </p:nvSpPr>
          <p:spPr>
            <a:xfrm>
              <a:off x="1289136" y="213097"/>
              <a:ext cx="6953961" cy="5238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 eaLnBrk="1" fontAlgn="auto" latinLnBrk="0" hangingPunct="1">
                <a:spcAft>
                  <a:spcPts val="600"/>
                </a:spcAft>
                <a:buNone/>
              </a:pPr>
              <a:r>
                <a:rPr lang="en-GB" sz="1350" dirty="0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Be ready to explain </a:t>
              </a:r>
              <a:r>
                <a:rPr lang="en-US" altLang="en-GB" sz="1350" dirty="0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the project </a:t>
              </a:r>
              <a:r>
                <a:rPr lang="en-GB" sz="1350" dirty="0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deeply</a:t>
              </a:r>
              <a:endParaRPr lang="en-US" altLang="en-US" sz="1000" dirty="0">
                <a:solidFill>
                  <a:srgbClr val="0B132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cxnSp>
        <p:nvCxnSpPr>
          <p:cNvPr id="93" name="Google Shape;93;p15"/>
          <p:cNvCxnSpPr/>
          <p:nvPr/>
        </p:nvCxnSpPr>
        <p:spPr>
          <a:xfrm>
            <a:off x="311785" y="13335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37" name="Google Shape;237;p20"/>
          <p:cNvGrpSpPr/>
          <p:nvPr/>
        </p:nvGrpSpPr>
        <p:grpSpPr>
          <a:xfrm>
            <a:off x="4895850" y="1594485"/>
            <a:ext cx="3524325" cy="2304702"/>
            <a:chOff x="285750" y="238125"/>
            <a:chExt cx="3524400" cy="2471893"/>
          </a:xfrm>
        </p:grpSpPr>
        <p:sp>
          <p:nvSpPr>
            <p:cNvPr id="240" name="Google Shape;240;p20"/>
            <p:cNvSpPr txBox="1"/>
            <p:nvPr/>
          </p:nvSpPr>
          <p:spPr>
            <a:xfrm>
              <a:off x="285750" y="238125"/>
              <a:ext cx="3524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>
                  <a:solidFill>
                    <a:srgbClr val="111827"/>
                  </a:solidFill>
                  <a:latin typeface="Outfit"/>
                  <a:ea typeface="Outfit"/>
                  <a:cs typeface="Outfit"/>
                  <a:sym typeface="Outfit"/>
                </a:rPr>
                <a:t>Key Project Elements</a:t>
              </a:r>
            </a:p>
          </p:txBody>
        </p:sp>
        <p:sp>
          <p:nvSpPr>
            <p:cNvPr id="241" name="Google Shape;241;p20"/>
            <p:cNvSpPr/>
            <p:nvPr/>
          </p:nvSpPr>
          <p:spPr>
            <a:xfrm>
              <a:off x="285750" y="665190"/>
              <a:ext cx="304800" cy="304800"/>
            </a:xfrm>
            <a:prstGeom prst="ellipse">
              <a:avLst/>
            </a:prstGeom>
            <a:solidFill>
              <a:srgbClr val="FF6B6B"/>
            </a:solidFill>
            <a:ln w="19050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/>
            </a:p>
          </p:txBody>
        </p:sp>
        <p:sp>
          <p:nvSpPr>
            <p:cNvPr id="242" name="Google Shape;242;p20"/>
            <p:cNvSpPr txBox="1"/>
            <p:nvPr/>
          </p:nvSpPr>
          <p:spPr>
            <a:xfrm>
              <a:off x="285750" y="655654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 b="1">
                  <a:solidFill>
                    <a:srgbClr val="FFFFFF"/>
                  </a:solidFill>
                  <a:latin typeface="Outfit"/>
                  <a:ea typeface="Outfit"/>
                  <a:cs typeface="Outfit"/>
                  <a:sym typeface="Outfit"/>
                </a:rPr>
                <a:t>1</a:t>
              </a:r>
            </a:p>
          </p:txBody>
        </p:sp>
        <p:sp>
          <p:nvSpPr>
            <p:cNvPr id="243" name="Google Shape;243;p20"/>
            <p:cNvSpPr txBox="1"/>
            <p:nvPr/>
          </p:nvSpPr>
          <p:spPr>
            <a:xfrm>
              <a:off x="714375" y="2043118"/>
              <a:ext cx="30957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Project Title, Role &amp; Tech Stack</a:t>
              </a:r>
              <a:endParaRPr sz="1100" b="1" dirty="0">
                <a:solidFill>
                  <a:srgbClr val="111827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0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State what you built, your contribution, </a:t>
              </a:r>
              <a:r>
                <a:rPr lang="en-US" altLang="en-GB" sz="10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experience </a:t>
              </a:r>
              <a:r>
                <a:rPr lang="en-GB" sz="10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and languages or tools used (e.g., React, Node.js, MongoDB).</a:t>
              </a:r>
              <a:endParaRPr sz="1000" b="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  <p:sp>
          <p:nvSpPr>
            <p:cNvPr id="244" name="Google Shape;244;p20"/>
            <p:cNvSpPr/>
            <p:nvPr/>
          </p:nvSpPr>
          <p:spPr>
            <a:xfrm>
              <a:off x="285750" y="1361805"/>
              <a:ext cx="304800" cy="304800"/>
            </a:xfrm>
            <a:prstGeom prst="ellipse">
              <a:avLst/>
            </a:prstGeom>
            <a:solidFill>
              <a:srgbClr val="FBBF24"/>
            </a:solidFill>
            <a:ln w="19050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/>
            </a:p>
          </p:txBody>
        </p:sp>
        <p:sp>
          <p:nvSpPr>
            <p:cNvPr id="245" name="Google Shape;245;p20"/>
            <p:cNvSpPr txBox="1"/>
            <p:nvPr/>
          </p:nvSpPr>
          <p:spPr>
            <a:xfrm>
              <a:off x="285750" y="1371340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 b="1">
                  <a:solidFill>
                    <a:srgbClr val="FFFFFF"/>
                  </a:solidFill>
                  <a:latin typeface="Outfit"/>
                  <a:ea typeface="Outfit"/>
                  <a:cs typeface="Outfit"/>
                  <a:sym typeface="Outfit"/>
                </a:rPr>
                <a:t>2</a:t>
              </a:r>
            </a:p>
          </p:txBody>
        </p:sp>
        <p:sp>
          <p:nvSpPr>
            <p:cNvPr id="246" name="Google Shape;246;p20"/>
            <p:cNvSpPr txBox="1"/>
            <p:nvPr/>
          </p:nvSpPr>
          <p:spPr>
            <a:xfrm>
              <a:off x="714375" y="619125"/>
              <a:ext cx="30957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Core Problem Solved</a:t>
              </a:r>
              <a:endParaRPr sz="1100" b="1" dirty="0">
                <a:solidFill>
                  <a:srgbClr val="111827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1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Briefly explain the objective or the real-world problem that the project actively addresses.</a:t>
              </a:r>
              <a:endParaRPr sz="1100" b="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  <p:sp>
          <p:nvSpPr>
            <p:cNvPr id="247" name="Google Shape;247;p20"/>
            <p:cNvSpPr/>
            <p:nvPr/>
          </p:nvSpPr>
          <p:spPr>
            <a:xfrm>
              <a:off x="285750" y="2142875"/>
              <a:ext cx="304800" cy="304800"/>
            </a:xfrm>
            <a:prstGeom prst="ellipse">
              <a:avLst/>
            </a:prstGeom>
            <a:solidFill>
              <a:srgbClr val="34D399"/>
            </a:solidFill>
            <a:ln w="19050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/>
            </a:p>
          </p:txBody>
        </p:sp>
        <p:sp>
          <p:nvSpPr>
            <p:cNvPr id="248" name="Google Shape;248;p20"/>
            <p:cNvSpPr txBox="1"/>
            <p:nvPr/>
          </p:nvSpPr>
          <p:spPr>
            <a:xfrm>
              <a:off x="285750" y="2142875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 b="1">
                  <a:solidFill>
                    <a:srgbClr val="FFFFFF"/>
                  </a:solidFill>
                  <a:latin typeface="Outfit"/>
                  <a:ea typeface="Outfit"/>
                  <a:cs typeface="Outfit"/>
                  <a:sym typeface="Outfit"/>
                </a:rPr>
                <a:t>3</a:t>
              </a:r>
              <a:endParaRPr lang="en-US" altLang="en-GB" sz="1000" b="1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49" name="Google Shape;249;p20"/>
            <p:cNvSpPr txBox="1"/>
            <p:nvPr/>
          </p:nvSpPr>
          <p:spPr>
            <a:xfrm>
              <a:off x="714384" y="1293095"/>
              <a:ext cx="3095691" cy="7273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100" b="1" dirty="0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Beneficiary</a:t>
              </a: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altLang="en-GB" sz="1100" b="0" dirty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Who is benefitted by the project or who are the potential users of the project outcome.</a:t>
              </a:r>
            </a:p>
          </p:txBody>
        </p:sp>
      </p:grpSp>
      <p:sp>
        <p:nvSpPr>
          <p:cNvPr id="3" name="Google Shape;249;p20"/>
          <p:cNvSpPr txBox="1"/>
          <p:nvPr/>
        </p:nvSpPr>
        <p:spPr>
          <a:xfrm>
            <a:off x="5345430" y="4101465"/>
            <a:ext cx="3095700" cy="66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dirty="0">
                <a:solidFill>
                  <a:srgbClr val="111827"/>
                </a:solidFill>
                <a:latin typeface="DM Sans"/>
                <a:ea typeface="DM Sans"/>
                <a:cs typeface="DM Sans"/>
                <a:sym typeface="DM Sans"/>
              </a:rPr>
              <a:t>Quantifiable Impact</a:t>
            </a:r>
            <a:endParaRPr sz="1100" b="1" dirty="0">
              <a:solidFill>
                <a:srgbClr val="11182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Highlight outcomes using metrics (e.g., 'Reduced load time by 20%' or 'Handled 500+ daily users').</a:t>
            </a:r>
            <a:endParaRPr sz="1100" b="0" dirty="0">
              <a:solidFill>
                <a:srgbClr val="4B5563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4" name="Google Shape;241;p20"/>
          <p:cNvSpPr/>
          <p:nvPr/>
        </p:nvSpPr>
        <p:spPr>
          <a:xfrm>
            <a:off x="4895850" y="4140234"/>
            <a:ext cx="304794" cy="284184"/>
          </a:xfrm>
          <a:prstGeom prst="ellipse">
            <a:avLst/>
          </a:prstGeom>
          <a:solidFill>
            <a:srgbClr val="FF6B6B"/>
          </a:solidFill>
          <a:ln w="1905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</p:txBody>
      </p:sp>
      <p:sp>
        <p:nvSpPr>
          <p:cNvPr id="2" name="Google Shape;248;p20"/>
          <p:cNvSpPr txBox="1"/>
          <p:nvPr/>
        </p:nvSpPr>
        <p:spPr>
          <a:xfrm>
            <a:off x="4895850" y="4135755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000" b="1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4</a:t>
            </a:r>
          </a:p>
        </p:txBody>
      </p:sp>
      <p:sp>
        <p:nvSpPr>
          <p:cNvPr id="5" name="Google Shape;294;p22"/>
          <p:cNvSpPr/>
          <p:nvPr/>
        </p:nvSpPr>
        <p:spPr>
          <a:xfrm>
            <a:off x="795978" y="2732154"/>
            <a:ext cx="123825" cy="10858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60000"/>
                </a:moveTo>
                <a:lnTo>
                  <a:pt x="40000" y="120000"/>
                </a:lnTo>
                <a:lnTo>
                  <a:pt x="120000" y="0"/>
                </a:lnTo>
              </a:path>
            </a:pathLst>
          </a:custGeom>
          <a:solidFill>
            <a:srgbClr val="000000">
              <a:alpha val="0"/>
            </a:srgbClr>
          </a:solidFill>
          <a:ln w="28575" cap="rnd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" name="Google Shape;296;p22"/>
          <p:cNvGrpSpPr/>
          <p:nvPr/>
        </p:nvGrpSpPr>
        <p:grpSpPr>
          <a:xfrm>
            <a:off x="396240" y="4126230"/>
            <a:ext cx="4222115" cy="914400"/>
            <a:chOff x="-93646" y="-23812"/>
            <a:chExt cx="8343900" cy="914400"/>
          </a:xfrm>
        </p:grpSpPr>
        <p:pic>
          <p:nvPicPr>
            <p:cNvPr id="14" name="Google Shape;297;p22"/>
            <p:cNvPicPr preferRelativeResize="0"/>
            <p:nvPr/>
          </p:nvPicPr>
          <p:blipFill rotWithShape="1">
            <a:blip r:embed="rId6"/>
            <a:srcRect/>
            <a:stretch>
              <a:fillRect/>
            </a:stretch>
          </p:blipFill>
          <p:spPr>
            <a:xfrm>
              <a:off x="-93646" y="-23812"/>
              <a:ext cx="8343900" cy="914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" name="Google Shape;298;p22"/>
            <p:cNvSpPr/>
            <p:nvPr/>
          </p:nvSpPr>
          <p:spPr>
            <a:xfrm>
              <a:off x="219714" y="142875"/>
              <a:ext cx="57300" cy="523800"/>
            </a:xfrm>
            <a:prstGeom prst="roundRect">
              <a:avLst>
                <a:gd name="adj" fmla="val 50000"/>
              </a:avLst>
            </a:prstGeom>
            <a:solidFill>
              <a:srgbClr val="00B05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" name="Google Shape;299;p22"/>
            <p:cNvGrpSpPr/>
            <p:nvPr/>
          </p:nvGrpSpPr>
          <p:grpSpPr>
            <a:xfrm>
              <a:off x="505586" y="252413"/>
              <a:ext cx="601102" cy="307975"/>
              <a:chOff x="200786" y="0"/>
              <a:chExt cx="601102" cy="307975"/>
            </a:xfrm>
          </p:grpSpPr>
          <p:sp>
            <p:nvSpPr>
              <p:cNvPr id="17" name="Google Shape;300;p22"/>
              <p:cNvSpPr/>
              <p:nvPr/>
            </p:nvSpPr>
            <p:spPr>
              <a:xfrm>
                <a:off x="200786" y="0"/>
                <a:ext cx="601102" cy="307975"/>
              </a:xfrm>
              <a:prstGeom prst="ellipse">
                <a:avLst/>
              </a:prstGeom>
              <a:solidFill>
                <a:srgbClr val="00B05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301;p22"/>
              <p:cNvSpPr/>
              <p:nvPr/>
            </p:nvSpPr>
            <p:spPr>
              <a:xfrm>
                <a:off x="377810" y="114300"/>
                <a:ext cx="244708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60000"/>
                    </a:moveTo>
                    <a:lnTo>
                      <a:pt x="40000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" name="Google Shape;302;p22"/>
            <p:cNvSpPr txBox="1"/>
            <p:nvPr/>
          </p:nvSpPr>
          <p:spPr>
            <a:xfrm>
              <a:off x="1308090" y="-317"/>
              <a:ext cx="6510476" cy="809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50" dirty="0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Avoid repeating the same skills across multiple projects.</a:t>
              </a:r>
              <a:endParaRPr sz="1350" dirty="0">
                <a:solidFill>
                  <a:srgbClr val="0B132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  <p:bldP spid="2" grpId="0"/>
      <p:bldP spid="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5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080" y="5080"/>
            <a:ext cx="9138920" cy="513905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8" name="Google Shape;288;p22"/>
          <p:cNvCxnSpPr/>
          <p:nvPr/>
        </p:nvCxnSpPr>
        <p:spPr>
          <a:xfrm>
            <a:off x="313055" y="118745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4" name="Google Shape;284;p22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2D68F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288;p22"/>
          <p:cNvSpPr txBox="1"/>
          <p:nvPr/>
        </p:nvSpPr>
        <p:spPr>
          <a:xfrm>
            <a:off x="381000" y="288925"/>
            <a:ext cx="8001000" cy="88138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RESUME STRATEGY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GB" sz="24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Strategic Focus and Top-Value Entries</a:t>
            </a:r>
          </a:p>
        </p:txBody>
      </p:sp>
      <p:grpSp>
        <p:nvGrpSpPr>
          <p:cNvPr id="554" name="Google Shape;554;p30"/>
          <p:cNvGrpSpPr/>
          <p:nvPr/>
        </p:nvGrpSpPr>
        <p:grpSpPr>
          <a:xfrm>
            <a:off x="1224280" y="4352290"/>
            <a:ext cx="6933565" cy="606425"/>
            <a:chOff x="0" y="0"/>
            <a:chExt cx="8382000" cy="714375"/>
          </a:xfrm>
        </p:grpSpPr>
        <p:sp>
          <p:nvSpPr>
            <p:cNvPr id="8" name="Google Shape;556;p30"/>
            <p:cNvSpPr/>
            <p:nvPr/>
          </p:nvSpPr>
          <p:spPr>
            <a:xfrm>
              <a:off x="0" y="0"/>
              <a:ext cx="8382000" cy="666750"/>
            </a:xfrm>
            <a:prstGeom prst="roundRect">
              <a:avLst>
                <a:gd name="adj" fmla="val 16000"/>
              </a:avLst>
            </a:prstGeom>
            <a:solidFill>
              <a:srgbClr val="34D399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30"/>
            <p:cNvSpPr txBox="1"/>
            <p:nvPr/>
          </p:nvSpPr>
          <p:spPr>
            <a:xfrm>
              <a:off x="281849" y="237876"/>
              <a:ext cx="7725353" cy="4764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GB" sz="120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P</a:t>
              </a:r>
              <a:r>
                <a:rPr lang="en-GB" sz="120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rioritizing academic and professional milestones over generic personal details.</a:t>
              </a:r>
              <a:endParaRPr sz="1200" b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altLang="en-US" sz="1200" b="1">
                <a:solidFill>
                  <a:srgbClr val="111827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4" name="Google Shape;304;p22"/>
          <p:cNvGrpSpPr/>
          <p:nvPr/>
        </p:nvGrpSpPr>
        <p:grpSpPr>
          <a:xfrm>
            <a:off x="1072515" y="1522730"/>
            <a:ext cx="3048000" cy="1944370"/>
            <a:chOff x="723900" y="857250"/>
            <a:chExt cx="3048000" cy="1944370"/>
          </a:xfrm>
        </p:grpSpPr>
        <p:sp>
          <p:nvSpPr>
            <p:cNvPr id="11" name="Google Shape;310;p22"/>
            <p:cNvSpPr txBox="1"/>
            <p:nvPr/>
          </p:nvSpPr>
          <p:spPr>
            <a:xfrm>
              <a:off x="723900" y="857250"/>
              <a:ext cx="3048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5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CGPA &amp; Coursework</a:t>
              </a:r>
              <a:endParaRPr sz="1050" b="1">
                <a:solidFill>
                  <a:srgbClr val="111827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975" b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Prominently display your CGPA/GPA, core courses, and academic achievements.</a:t>
              </a:r>
              <a:endParaRPr sz="975" b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  <p:sp>
          <p:nvSpPr>
            <p:cNvPr id="14" name="Google Shape;313;p22"/>
            <p:cNvSpPr txBox="1"/>
            <p:nvPr/>
          </p:nvSpPr>
          <p:spPr>
            <a:xfrm>
              <a:off x="723900" y="1530350"/>
              <a:ext cx="3048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5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Competitions &amp; Hackathons</a:t>
              </a:r>
              <a:endParaRPr sz="1050" b="1">
                <a:solidFill>
                  <a:srgbClr val="111827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975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Showcase coding competitions and hackathon</a:t>
              </a:r>
              <a:r>
                <a:rPr lang="en-US" altLang="en-GB" sz="975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s, and paper presentation</a:t>
              </a:r>
              <a:r>
                <a:rPr lang="en-GB" sz="975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.</a:t>
              </a:r>
              <a:endParaRPr sz="975" b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  <p:sp>
          <p:nvSpPr>
            <p:cNvPr id="17" name="Google Shape;316;p22"/>
            <p:cNvSpPr txBox="1"/>
            <p:nvPr/>
          </p:nvSpPr>
          <p:spPr>
            <a:xfrm>
              <a:off x="723900" y="2230120"/>
              <a:ext cx="3048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5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Leadership &amp; Open Source</a:t>
              </a:r>
              <a:endParaRPr sz="1050" b="1">
                <a:solidFill>
                  <a:srgbClr val="111827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975" b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Highlight open-source contributions or activities that demonstrate active technical passion.</a:t>
              </a:r>
              <a:endParaRPr sz="975" b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</p:grpSp>
      <p:grpSp>
        <p:nvGrpSpPr>
          <p:cNvPr id="19" name="Google Shape;304;p22"/>
          <p:cNvGrpSpPr/>
          <p:nvPr/>
        </p:nvGrpSpPr>
        <p:grpSpPr>
          <a:xfrm>
            <a:off x="5155565" y="1549400"/>
            <a:ext cx="3048000" cy="1271270"/>
            <a:chOff x="1262828" y="857250"/>
            <a:chExt cx="2509072" cy="1271270"/>
          </a:xfrm>
        </p:grpSpPr>
        <p:sp>
          <p:nvSpPr>
            <p:cNvPr id="22" name="Google Shape;310;p22"/>
            <p:cNvSpPr txBox="1"/>
            <p:nvPr/>
          </p:nvSpPr>
          <p:spPr>
            <a:xfrm>
              <a:off x="1262828" y="857250"/>
              <a:ext cx="2509072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05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Minimize </a:t>
              </a:r>
              <a:r>
                <a:rPr lang="en-US" altLang="en-GB" sz="105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Personal Info</a:t>
              </a:r>
              <a:endParaRPr lang="en-GB" sz="1050" b="1">
                <a:solidFill>
                  <a:srgbClr val="111827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975" b="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Minimize Personal Info like Place etc, Keep only those required for contact.</a:t>
              </a:r>
            </a:p>
          </p:txBody>
        </p:sp>
        <p:sp>
          <p:nvSpPr>
            <p:cNvPr id="25" name="Google Shape;313;p22"/>
            <p:cNvSpPr txBox="1"/>
            <p:nvPr/>
          </p:nvSpPr>
          <p:spPr>
            <a:xfrm>
              <a:off x="1263351" y="1557020"/>
              <a:ext cx="2508549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05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Remove Obsolete Data</a:t>
              </a:r>
            </a:p>
            <a:p>
              <a:pPr marL="0" marR="0" lvl="0" indent="0" algn="l" rtl="0">
                <a:spcBef>
                  <a:spcPts val="600"/>
                </a:spcBef>
                <a:spcAft>
                  <a:spcPts val="0"/>
                </a:spcAft>
                <a:buFont typeface="Wingdings" panose="05000000000000000000" charset="0"/>
                <a:buNone/>
              </a:pPr>
              <a:r>
                <a:rPr lang="en-GB" sz="975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Exclude high school grades unless requested.</a:t>
              </a:r>
              <a:endParaRPr sz="975" b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635635" y="1556385"/>
            <a:ext cx="303530" cy="264160"/>
            <a:chOff x="481" y="2988"/>
            <a:chExt cx="478" cy="416"/>
          </a:xfrm>
        </p:grpSpPr>
        <p:sp>
          <p:nvSpPr>
            <p:cNvPr id="29" name="Google Shape;293;p22"/>
            <p:cNvSpPr/>
            <p:nvPr/>
          </p:nvSpPr>
          <p:spPr>
            <a:xfrm>
              <a:off x="481" y="2988"/>
              <a:ext cx="479" cy="41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94;p22"/>
            <p:cNvSpPr/>
            <p:nvPr/>
          </p:nvSpPr>
          <p:spPr>
            <a:xfrm>
              <a:off x="621" y="3108"/>
              <a:ext cx="195" cy="154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60000"/>
                  </a:moveTo>
                  <a:lnTo>
                    <a:pt x="40000" y="120000"/>
                  </a:ln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638810" y="2194560"/>
            <a:ext cx="303530" cy="264160"/>
            <a:chOff x="481" y="2988"/>
            <a:chExt cx="478" cy="416"/>
          </a:xfrm>
        </p:grpSpPr>
        <p:sp>
          <p:nvSpPr>
            <p:cNvPr id="33" name="Google Shape;293;p22"/>
            <p:cNvSpPr/>
            <p:nvPr/>
          </p:nvSpPr>
          <p:spPr>
            <a:xfrm>
              <a:off x="481" y="2988"/>
              <a:ext cx="479" cy="41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294;p22"/>
            <p:cNvSpPr/>
            <p:nvPr/>
          </p:nvSpPr>
          <p:spPr>
            <a:xfrm>
              <a:off x="621" y="3108"/>
              <a:ext cx="195" cy="154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60000"/>
                  </a:moveTo>
                  <a:lnTo>
                    <a:pt x="40000" y="120000"/>
                  </a:ln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635635" y="2882265"/>
            <a:ext cx="303530" cy="264160"/>
            <a:chOff x="481" y="2988"/>
            <a:chExt cx="478" cy="416"/>
          </a:xfrm>
        </p:grpSpPr>
        <p:sp>
          <p:nvSpPr>
            <p:cNvPr id="36" name="Google Shape;293;p22"/>
            <p:cNvSpPr/>
            <p:nvPr/>
          </p:nvSpPr>
          <p:spPr>
            <a:xfrm>
              <a:off x="481" y="2988"/>
              <a:ext cx="479" cy="41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294;p22"/>
            <p:cNvSpPr/>
            <p:nvPr/>
          </p:nvSpPr>
          <p:spPr>
            <a:xfrm>
              <a:off x="621" y="3108"/>
              <a:ext cx="195" cy="154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60000"/>
                  </a:moveTo>
                  <a:lnTo>
                    <a:pt x="40000" y="120000"/>
                  </a:ln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4728210" y="1567815"/>
            <a:ext cx="303530" cy="264160"/>
            <a:chOff x="8891" y="5135"/>
            <a:chExt cx="478" cy="416"/>
          </a:xfrm>
        </p:grpSpPr>
        <p:sp>
          <p:nvSpPr>
            <p:cNvPr id="38" name="Google Shape;293;p22"/>
            <p:cNvSpPr/>
            <p:nvPr/>
          </p:nvSpPr>
          <p:spPr>
            <a:xfrm>
              <a:off x="8891" y="5135"/>
              <a:ext cx="479" cy="41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32"/>
            <p:cNvSpPr/>
            <p:nvPr/>
          </p:nvSpPr>
          <p:spPr>
            <a:xfrm>
              <a:off x="9058" y="5276"/>
              <a:ext cx="120" cy="154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120000"/>
                  </a:lnTo>
                  <a:moveTo>
                    <a:pt x="120000" y="0"/>
                  </a:moveTo>
                  <a:lnTo>
                    <a:pt x="0" y="120000"/>
                  </a:lnTo>
                </a:path>
              </a:pathLst>
            </a:custGeom>
            <a:solidFill>
              <a:schemeClr val="bg1"/>
            </a:solidFill>
            <a:ln w="28575" cap="rnd" cmpd="sng">
              <a:solidFill>
                <a:schemeClr val="bg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4728845" y="2236470"/>
            <a:ext cx="303530" cy="264160"/>
            <a:chOff x="8891" y="5135"/>
            <a:chExt cx="478" cy="416"/>
          </a:xfrm>
        </p:grpSpPr>
        <p:sp>
          <p:nvSpPr>
            <p:cNvPr id="49" name="Google Shape;293;p22"/>
            <p:cNvSpPr/>
            <p:nvPr/>
          </p:nvSpPr>
          <p:spPr>
            <a:xfrm>
              <a:off x="8891" y="5135"/>
              <a:ext cx="479" cy="41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612;p32"/>
            <p:cNvSpPr/>
            <p:nvPr/>
          </p:nvSpPr>
          <p:spPr>
            <a:xfrm>
              <a:off x="9058" y="5276"/>
              <a:ext cx="120" cy="154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120000"/>
                  </a:lnTo>
                  <a:moveTo>
                    <a:pt x="120000" y="0"/>
                  </a:moveTo>
                  <a:lnTo>
                    <a:pt x="0" y="120000"/>
                  </a:lnTo>
                </a:path>
              </a:pathLst>
            </a:custGeom>
            <a:solidFill>
              <a:schemeClr val="bg1"/>
            </a:solidFill>
            <a:ln w="28575" cap="rnd" cmpd="sng">
              <a:solidFill>
                <a:schemeClr val="bg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" name="Google Shape;310;p22"/>
          <p:cNvSpPr txBox="1"/>
          <p:nvPr/>
        </p:nvSpPr>
        <p:spPr>
          <a:xfrm>
            <a:off x="5155565" y="2856230"/>
            <a:ext cx="3048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050" b="1">
                <a:solidFill>
                  <a:srgbClr val="111827"/>
                </a:solidFill>
                <a:latin typeface="DM Sans"/>
                <a:ea typeface="DM Sans"/>
                <a:cs typeface="DM Sans"/>
                <a:sym typeface="DM Sans"/>
              </a:rPr>
              <a:t>Minimize Hobbies</a:t>
            </a: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975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Omit generic hobbies. Only keep those showing leadership/tech passion</a:t>
            </a:r>
            <a:endParaRPr sz="975" b="0">
              <a:solidFill>
                <a:srgbClr val="4B5563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975" b="0">
              <a:solidFill>
                <a:srgbClr val="4B5563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53" name="Google Shape;293;p22"/>
          <p:cNvSpPr/>
          <p:nvPr/>
        </p:nvSpPr>
        <p:spPr>
          <a:xfrm>
            <a:off x="4728210" y="2856230"/>
            <a:ext cx="304165" cy="2647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612;p32"/>
          <p:cNvSpPr/>
          <p:nvPr/>
        </p:nvSpPr>
        <p:spPr>
          <a:xfrm>
            <a:off x="4834255" y="2945765"/>
            <a:ext cx="76200" cy="9779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120000"/>
                </a:lnTo>
                <a:moveTo>
                  <a:pt x="120000" y="0"/>
                </a:moveTo>
                <a:lnTo>
                  <a:pt x="0" y="120000"/>
                </a:lnTo>
              </a:path>
            </a:pathLst>
          </a:custGeom>
          <a:solidFill>
            <a:schemeClr val="bg1"/>
          </a:solidFill>
          <a:ln w="28575" cap="rnd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" name="Group 54"/>
          <p:cNvGrpSpPr/>
          <p:nvPr/>
        </p:nvGrpSpPr>
        <p:grpSpPr>
          <a:xfrm>
            <a:off x="635635" y="3564255"/>
            <a:ext cx="303530" cy="264160"/>
            <a:chOff x="481" y="2988"/>
            <a:chExt cx="478" cy="416"/>
          </a:xfrm>
        </p:grpSpPr>
        <p:sp>
          <p:nvSpPr>
            <p:cNvPr id="56" name="Google Shape;293;p22"/>
            <p:cNvSpPr/>
            <p:nvPr/>
          </p:nvSpPr>
          <p:spPr>
            <a:xfrm>
              <a:off x="481" y="2988"/>
              <a:ext cx="479" cy="41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294;p22"/>
            <p:cNvSpPr/>
            <p:nvPr/>
          </p:nvSpPr>
          <p:spPr>
            <a:xfrm>
              <a:off x="621" y="3108"/>
              <a:ext cx="195" cy="154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60000"/>
                  </a:moveTo>
                  <a:lnTo>
                    <a:pt x="40000" y="120000"/>
                  </a:ln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8" name="Google Shape;316;p22"/>
          <p:cNvSpPr txBox="1"/>
          <p:nvPr/>
        </p:nvSpPr>
        <p:spPr>
          <a:xfrm>
            <a:off x="1072515" y="3583940"/>
            <a:ext cx="3048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111827"/>
                </a:solidFill>
                <a:latin typeface="DM Sans"/>
                <a:ea typeface="DM Sans"/>
                <a:cs typeface="DM Sans"/>
                <a:sym typeface="DM Sans"/>
              </a:rPr>
              <a:t>GitHub URL</a:t>
            </a:r>
            <a:endParaRPr sz="1050" b="1">
              <a:solidFill>
                <a:srgbClr val="11182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altLang="en-GB" sz="975" b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Project source Code or any other code you developed of your interest </a:t>
            </a:r>
          </a:p>
        </p:txBody>
      </p:sp>
      <p:sp>
        <p:nvSpPr>
          <p:cNvPr id="59" name="Google Shape;310;p22"/>
          <p:cNvSpPr txBox="1"/>
          <p:nvPr/>
        </p:nvSpPr>
        <p:spPr>
          <a:xfrm>
            <a:off x="5158105" y="3489960"/>
            <a:ext cx="3048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altLang="en-GB" sz="1050" b="1">
                <a:solidFill>
                  <a:srgbClr val="111827"/>
                </a:solidFill>
                <a:latin typeface="DM Sans"/>
                <a:ea typeface="DM Sans"/>
                <a:cs typeface="DM Sans"/>
                <a:sym typeface="DM Sans"/>
              </a:rPr>
              <a:t>Do NOT Repeat Yourself</a:t>
            </a:r>
            <a:endParaRPr lang="en-GB" sz="1050" b="1">
              <a:solidFill>
                <a:srgbClr val="11182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975" b="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Avoid repeating similar information across projects</a:t>
            </a:r>
            <a:endParaRPr sz="975" b="0">
              <a:solidFill>
                <a:srgbClr val="4B5563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975" b="0">
              <a:solidFill>
                <a:srgbClr val="4B5563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60" name="Google Shape;293;p22"/>
          <p:cNvSpPr/>
          <p:nvPr/>
        </p:nvSpPr>
        <p:spPr>
          <a:xfrm>
            <a:off x="4730750" y="3489960"/>
            <a:ext cx="304165" cy="2647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12;p32"/>
          <p:cNvSpPr/>
          <p:nvPr/>
        </p:nvSpPr>
        <p:spPr>
          <a:xfrm>
            <a:off x="4843780" y="3571240"/>
            <a:ext cx="76200" cy="9779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120000"/>
                </a:lnTo>
                <a:moveTo>
                  <a:pt x="120000" y="0"/>
                </a:moveTo>
                <a:lnTo>
                  <a:pt x="0" y="120000"/>
                </a:lnTo>
              </a:path>
            </a:pathLst>
          </a:custGeom>
          <a:solidFill>
            <a:schemeClr val="bg1"/>
          </a:solidFill>
          <a:ln w="28575" cap="rnd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8" name="Google Shape;348;p24"/>
          <p:cNvGrpSpPr/>
          <p:nvPr/>
        </p:nvGrpSpPr>
        <p:grpSpPr>
          <a:xfrm>
            <a:off x="-571500" y="0"/>
            <a:ext cx="9810750" cy="5905500"/>
            <a:chOff x="-571500" y="0"/>
            <a:chExt cx="9810750" cy="5905500"/>
          </a:xfrm>
        </p:grpSpPr>
        <p:sp>
          <p:nvSpPr>
            <p:cNvPr id="349" name="Google Shape;349;p2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24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51" name="Google Shape;351;p24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4763" y="4763"/>
              <a:ext cx="8982000" cy="498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52" name="Google Shape;352;p24"/>
            <p:cNvSpPr/>
            <p:nvPr/>
          </p:nvSpPr>
          <p:spPr>
            <a:xfrm>
              <a:off x="6953250" y="0"/>
              <a:ext cx="2286000" cy="2286000"/>
            </a:xfrm>
            <a:prstGeom prst="ellipse">
              <a:avLst/>
            </a:prstGeom>
            <a:solidFill>
              <a:srgbClr val="FFC300">
                <a:alpha val="15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24"/>
            <p:cNvSpPr/>
            <p:nvPr/>
          </p:nvSpPr>
          <p:spPr>
            <a:xfrm>
              <a:off x="-571500" y="2857500"/>
              <a:ext cx="3048000" cy="3048000"/>
            </a:xfrm>
            <a:prstGeom prst="ellipse">
              <a:avLst/>
            </a:prstGeom>
            <a:solidFill>
              <a:srgbClr val="FF5733">
                <a:alpha val="7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24"/>
            <p:cNvSpPr/>
            <p:nvPr/>
          </p:nvSpPr>
          <p:spPr>
            <a:xfrm>
              <a:off x="8667750" y="4667250"/>
              <a:ext cx="476400" cy="476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" name="Google Shape;355;p24"/>
          <p:cNvSpPr txBox="1"/>
          <p:nvPr/>
        </p:nvSpPr>
        <p:spPr>
          <a:xfrm>
            <a:off x="571500" y="381000"/>
            <a:ext cx="8001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RESUME STRATEGY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114300" indent="0" eaLnBrk="1" fontAlgn="auto" latinLnBrk="0" hangingPunct="1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sz="2700">
                <a:sym typeface="+mn-ea"/>
              </a:rPr>
              <a:t>Common Resume Mistakes</a:t>
            </a:r>
            <a:endParaRPr sz="18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</p:txBody>
      </p:sp>
      <p:cxnSp>
        <p:nvCxnSpPr>
          <p:cNvPr id="93" name="Google Shape;93;p15"/>
          <p:cNvCxnSpPr/>
          <p:nvPr/>
        </p:nvCxnSpPr>
        <p:spPr>
          <a:xfrm>
            <a:off x="311785" y="1333500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311785" y="1638299"/>
            <a:ext cx="8520430" cy="3124201"/>
          </a:xfrm>
        </p:spPr>
        <p:txBody>
          <a:bodyPr>
            <a:normAutofit fontScale="87500" lnSpcReduction="20000"/>
          </a:bodyPr>
          <a:lstStyle/>
          <a:p>
            <a:pPr marL="114300" indent="0" eaLnBrk="1" fontAlgn="auto" latinLnBrk="0" hangingPunct="1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altLang="en-US" sz="3200" dirty="0"/>
              <a:t>❌ Too many personal details</a:t>
            </a:r>
          </a:p>
          <a:p>
            <a:pPr marL="114300" indent="0" eaLnBrk="1" fontAlgn="auto" latinLnBrk="0" hangingPunct="1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altLang="en-US" sz="3200" dirty="0"/>
              <a:t>❌ Complex design</a:t>
            </a:r>
          </a:p>
          <a:p>
            <a:pPr marL="114300" indent="0" eaLnBrk="1" fontAlgn="auto" latinLnBrk="0" hangingPunct="1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altLang="en-US" sz="3200" dirty="0"/>
              <a:t>❌ Too many acronyms</a:t>
            </a:r>
          </a:p>
          <a:p>
            <a:pPr marL="114300" indent="0" eaLnBrk="1" fontAlgn="auto" latinLnBrk="0" hangingPunct="1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altLang="en-US" sz="3200" dirty="0"/>
              <a:t>❌ Fake technologies</a:t>
            </a:r>
          </a:p>
          <a:p>
            <a:pPr marL="114300" indent="0" eaLnBrk="1" fontAlgn="auto" latinLnBrk="0" hangingPunct="1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altLang="en-US" sz="3200" dirty="0"/>
              <a:t>❌ Mentioning tools without knowledge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9" name="Google Shape;379;p25"/>
          <p:cNvGrpSpPr/>
          <p:nvPr/>
        </p:nvGrpSpPr>
        <p:grpSpPr>
          <a:xfrm>
            <a:off x="0" y="0"/>
            <a:ext cx="9144150" cy="5143650"/>
            <a:chOff x="0" y="0"/>
            <a:chExt cx="9144150" cy="5143650"/>
          </a:xfrm>
        </p:grpSpPr>
        <p:sp>
          <p:nvSpPr>
            <p:cNvPr id="380" name="Google Shape;380;p2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81" name="Google Shape;381;p25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4763" y="4763"/>
              <a:ext cx="8982000" cy="498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82" name="Google Shape;382;p25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25"/>
            <p:cNvSpPr/>
            <p:nvPr/>
          </p:nvSpPr>
          <p:spPr>
            <a:xfrm>
              <a:off x="8667750" y="4667250"/>
              <a:ext cx="476400" cy="476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4" name="Google Shape;384;p25"/>
          <p:cNvSpPr txBox="1"/>
          <p:nvPr/>
        </p:nvSpPr>
        <p:spPr>
          <a:xfrm>
            <a:off x="571500" y="381000"/>
            <a:ext cx="8001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3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PROACTIVE INTERVIEW STRATEGY</a:t>
            </a:r>
            <a:endParaRPr sz="153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2295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Steering the Conversation: Drive Your Own Interview</a:t>
            </a:r>
            <a:endParaRPr sz="153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</p:txBody>
      </p:sp>
      <p:grpSp>
        <p:nvGrpSpPr>
          <p:cNvPr id="385" name="Google Shape;385;p25"/>
          <p:cNvGrpSpPr/>
          <p:nvPr/>
        </p:nvGrpSpPr>
        <p:grpSpPr>
          <a:xfrm>
            <a:off x="319088" y="1347788"/>
            <a:ext cx="8505900" cy="3457500"/>
            <a:chOff x="-252412" y="-176212"/>
            <a:chExt cx="8505900" cy="3457500"/>
          </a:xfrm>
        </p:grpSpPr>
        <p:grpSp>
          <p:nvGrpSpPr>
            <p:cNvPr id="386" name="Google Shape;386;p25"/>
            <p:cNvGrpSpPr/>
            <p:nvPr/>
          </p:nvGrpSpPr>
          <p:grpSpPr>
            <a:xfrm>
              <a:off x="-252412" y="-176212"/>
              <a:ext cx="8505900" cy="1362000"/>
              <a:chOff x="-252412" y="-176212"/>
              <a:chExt cx="8505900" cy="1362000"/>
            </a:xfrm>
          </p:grpSpPr>
          <p:pic>
            <p:nvPicPr>
              <p:cNvPr id="387" name="Google Shape;387;p25"/>
              <p:cNvPicPr preferRelativeResize="0"/>
              <p:nvPr/>
            </p:nvPicPr>
            <p:blipFill rotWithShape="1">
              <a:blip r:embed="rId4"/>
              <a:srcRect/>
              <a:stretch>
                <a:fillRect/>
              </a:stretch>
            </p:blipFill>
            <p:spPr>
              <a:xfrm>
                <a:off x="-252412" y="-176212"/>
                <a:ext cx="8505900" cy="1362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88" name="Google Shape;388;p25"/>
              <p:cNvSpPr/>
              <p:nvPr/>
            </p:nvSpPr>
            <p:spPr>
              <a:xfrm>
                <a:off x="0" y="0"/>
                <a:ext cx="114300" cy="857400"/>
              </a:xfrm>
              <a:prstGeom prst="roundRect">
                <a:avLst>
                  <a:gd name="adj" fmla="val 50000"/>
                </a:avLst>
              </a:prstGeom>
              <a:solidFill>
                <a:srgbClr val="2D68FE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89" name="Google Shape;389;p25"/>
              <p:cNvGrpSpPr/>
              <p:nvPr/>
            </p:nvGrpSpPr>
            <p:grpSpPr>
              <a:xfrm>
                <a:off x="304800" y="276225"/>
                <a:ext cx="304800" cy="304800"/>
                <a:chOff x="0" y="0"/>
                <a:chExt cx="304800" cy="304800"/>
              </a:xfrm>
            </p:grpSpPr>
            <p:sp>
              <p:nvSpPr>
                <p:cNvPr id="390" name="Google Shape;390;p25"/>
                <p:cNvSpPr/>
                <p:nvPr/>
              </p:nvSpPr>
              <p:spPr>
                <a:xfrm>
                  <a:off x="0" y="0"/>
                  <a:ext cx="304800" cy="304800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91" name="Google Shape;391;p25"/>
                <p:cNvSpPr/>
                <p:nvPr/>
              </p:nvSpPr>
              <p:spPr>
                <a:xfrm>
                  <a:off x="95250" y="114300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60000"/>
                      </a:moveTo>
                      <a:lnTo>
                        <a:pt x="40000" y="120000"/>
                      </a:lnTo>
                      <a:lnTo>
                        <a:pt x="120000" y="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392" name="Google Shape;392;p25"/>
              <p:cNvSpPr txBox="1"/>
              <p:nvPr/>
            </p:nvSpPr>
            <p:spPr>
              <a:xfrm>
                <a:off x="800100" y="0"/>
                <a:ext cx="6915300" cy="8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575" b="1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Anticipate questions</a:t>
                </a:r>
                <a:r>
                  <a:rPr lang="en-GB" sz="1425" b="0">
                    <a:solidFill>
                      <a:srgbClr val="4A5568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 based on your resume.</a:t>
                </a:r>
                <a:endParaRPr sz="1425" b="0">
                  <a:solidFill>
                    <a:srgbClr val="4A5568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393" name="Google Shape;393;p25"/>
            <p:cNvGrpSpPr/>
            <p:nvPr/>
          </p:nvGrpSpPr>
          <p:grpSpPr>
            <a:xfrm>
              <a:off x="-252412" y="871538"/>
              <a:ext cx="8505900" cy="1362000"/>
              <a:chOff x="-252412" y="-176212"/>
              <a:chExt cx="8505900" cy="1362000"/>
            </a:xfrm>
          </p:grpSpPr>
          <p:pic>
            <p:nvPicPr>
              <p:cNvPr id="394" name="Google Shape;394;p25"/>
              <p:cNvPicPr preferRelativeResize="0"/>
              <p:nvPr/>
            </p:nvPicPr>
            <p:blipFill rotWithShape="1">
              <a:blip r:embed="rId4"/>
              <a:srcRect/>
              <a:stretch>
                <a:fillRect/>
              </a:stretch>
            </p:blipFill>
            <p:spPr>
              <a:xfrm>
                <a:off x="-252412" y="-176212"/>
                <a:ext cx="8505900" cy="1362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5" name="Google Shape;395;p25"/>
              <p:cNvSpPr/>
              <p:nvPr/>
            </p:nvSpPr>
            <p:spPr>
              <a:xfrm>
                <a:off x="0" y="0"/>
                <a:ext cx="114300" cy="857400"/>
              </a:xfrm>
              <a:prstGeom prst="roundRect">
                <a:avLst>
                  <a:gd name="adj" fmla="val 50000"/>
                </a:avLst>
              </a:prstGeom>
              <a:solidFill>
                <a:srgbClr val="FF5733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96" name="Google Shape;396;p25"/>
              <p:cNvGrpSpPr/>
              <p:nvPr/>
            </p:nvGrpSpPr>
            <p:grpSpPr>
              <a:xfrm>
                <a:off x="304800" y="276225"/>
                <a:ext cx="304800" cy="304800"/>
                <a:chOff x="0" y="0"/>
                <a:chExt cx="304800" cy="304800"/>
              </a:xfrm>
            </p:grpSpPr>
            <p:sp>
              <p:nvSpPr>
                <p:cNvPr id="397" name="Google Shape;397;p25"/>
                <p:cNvSpPr/>
                <p:nvPr/>
              </p:nvSpPr>
              <p:spPr>
                <a:xfrm>
                  <a:off x="0" y="0"/>
                  <a:ext cx="304800" cy="304800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98" name="Google Shape;398;p25"/>
                <p:cNvSpPr/>
                <p:nvPr/>
              </p:nvSpPr>
              <p:spPr>
                <a:xfrm>
                  <a:off x="95250" y="114300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60000"/>
                      </a:moveTo>
                      <a:lnTo>
                        <a:pt x="40000" y="120000"/>
                      </a:lnTo>
                      <a:lnTo>
                        <a:pt x="120000" y="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399" name="Google Shape;399;p25"/>
              <p:cNvSpPr txBox="1"/>
              <p:nvPr/>
            </p:nvSpPr>
            <p:spPr>
              <a:xfrm>
                <a:off x="800100" y="0"/>
                <a:ext cx="6915300" cy="8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575" b="1" dirty="0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Pivot answers</a:t>
                </a:r>
                <a:r>
                  <a:rPr lang="en-GB" sz="1425" b="0" dirty="0">
                    <a:solidFill>
                      <a:srgbClr val="4A5568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 to highlight your strongest skills.</a:t>
                </a:r>
                <a:endParaRPr sz="1425" b="0" dirty="0">
                  <a:solidFill>
                    <a:srgbClr val="4A5568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400" name="Google Shape;400;p25"/>
            <p:cNvGrpSpPr/>
            <p:nvPr/>
          </p:nvGrpSpPr>
          <p:grpSpPr>
            <a:xfrm>
              <a:off x="-252412" y="1919288"/>
              <a:ext cx="8505900" cy="1362000"/>
              <a:chOff x="-252412" y="-176212"/>
              <a:chExt cx="8505900" cy="1362000"/>
            </a:xfrm>
          </p:grpSpPr>
          <p:pic>
            <p:nvPicPr>
              <p:cNvPr id="401" name="Google Shape;401;p25"/>
              <p:cNvPicPr preferRelativeResize="0"/>
              <p:nvPr/>
            </p:nvPicPr>
            <p:blipFill rotWithShape="1">
              <a:blip r:embed="rId4"/>
              <a:srcRect/>
              <a:stretch>
                <a:fillRect/>
              </a:stretch>
            </p:blipFill>
            <p:spPr>
              <a:xfrm>
                <a:off x="-252412" y="-176212"/>
                <a:ext cx="8505900" cy="1362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2" name="Google Shape;402;p25"/>
              <p:cNvSpPr/>
              <p:nvPr/>
            </p:nvSpPr>
            <p:spPr>
              <a:xfrm>
                <a:off x="0" y="0"/>
                <a:ext cx="114300" cy="857400"/>
              </a:xfrm>
              <a:prstGeom prst="roundRect">
                <a:avLst>
                  <a:gd name="adj" fmla="val 50000"/>
                </a:avLst>
              </a:prstGeom>
              <a:solidFill>
                <a:srgbClr val="FFC3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03" name="Google Shape;403;p25"/>
              <p:cNvGrpSpPr/>
              <p:nvPr/>
            </p:nvGrpSpPr>
            <p:grpSpPr>
              <a:xfrm>
                <a:off x="304800" y="276225"/>
                <a:ext cx="304800" cy="304800"/>
                <a:chOff x="0" y="0"/>
                <a:chExt cx="304800" cy="304800"/>
              </a:xfrm>
            </p:grpSpPr>
            <p:sp>
              <p:nvSpPr>
                <p:cNvPr id="404" name="Google Shape;404;p25"/>
                <p:cNvSpPr/>
                <p:nvPr/>
              </p:nvSpPr>
              <p:spPr>
                <a:xfrm>
                  <a:off x="0" y="0"/>
                  <a:ext cx="304800" cy="304800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05" name="Google Shape;405;p25"/>
                <p:cNvSpPr/>
                <p:nvPr/>
              </p:nvSpPr>
              <p:spPr>
                <a:xfrm>
                  <a:off x="95250" y="114300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60000"/>
                      </a:moveTo>
                      <a:lnTo>
                        <a:pt x="40000" y="120000"/>
                      </a:lnTo>
                      <a:lnTo>
                        <a:pt x="120000" y="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06" name="Google Shape;406;p25"/>
              <p:cNvSpPr txBox="1"/>
              <p:nvPr/>
            </p:nvSpPr>
            <p:spPr>
              <a:xfrm>
                <a:off x="800100" y="0"/>
                <a:ext cx="6915300" cy="8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575" b="1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Guide the interviewer</a:t>
                </a:r>
                <a:r>
                  <a:rPr lang="en-GB" sz="1425" b="0">
                    <a:solidFill>
                      <a:srgbClr val="4A5568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 toward your areas of expertise.</a:t>
                </a:r>
                <a:endParaRPr sz="1425" b="0">
                  <a:solidFill>
                    <a:srgbClr val="4A5568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</p:grpSp>
      <p:cxnSp>
        <p:nvCxnSpPr>
          <p:cNvPr id="93" name="Google Shape;93;p15"/>
          <p:cNvCxnSpPr/>
          <p:nvPr/>
        </p:nvCxnSpPr>
        <p:spPr>
          <a:xfrm>
            <a:off x="285750" y="1209675"/>
            <a:ext cx="8382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8" name="Google Shape;698;p35"/>
          <p:cNvGrpSpPr/>
          <p:nvPr/>
        </p:nvGrpSpPr>
        <p:grpSpPr>
          <a:xfrm>
            <a:off x="0" y="0"/>
            <a:ext cx="9144000" cy="5143650"/>
            <a:chOff x="0" y="0"/>
            <a:chExt cx="9144000" cy="5143650"/>
          </a:xfrm>
        </p:grpSpPr>
        <p:sp>
          <p:nvSpPr>
            <p:cNvPr id="699" name="Google Shape;699;p3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0B132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700" name="Google Shape;700;p35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4763" y="4763"/>
              <a:ext cx="8982000" cy="498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01" name="Google Shape;701;p35"/>
            <p:cNvSpPr/>
            <p:nvPr/>
          </p:nvSpPr>
          <p:spPr>
            <a:xfrm>
              <a:off x="7239000" y="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0"/>
                  </a:moveTo>
                  <a:lnTo>
                    <a:pt x="120000" y="120000"/>
                  </a:lnTo>
                  <a:cubicBezTo>
                    <a:pt x="120000" y="53726"/>
                    <a:pt x="66274" y="0"/>
                    <a:pt x="0" y="0"/>
                  </a:cubicBezTo>
                  <a:close/>
                </a:path>
              </a:pathLst>
            </a:custGeom>
            <a:solidFill>
              <a:srgbClr val="FFC300">
                <a:alpha val="8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35"/>
            <p:cNvSpPr/>
            <p:nvPr/>
          </p:nvSpPr>
          <p:spPr>
            <a:xfrm>
              <a:off x="0" y="2762250"/>
              <a:ext cx="2381400" cy="2381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20000"/>
                  </a:moveTo>
                  <a:lnTo>
                    <a:pt x="120000" y="12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D68FE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03" name="Google Shape;703;p35"/>
          <p:cNvSpPr txBox="1"/>
          <p:nvPr/>
        </p:nvSpPr>
        <p:spPr>
          <a:xfrm>
            <a:off x="571500" y="428625"/>
            <a:ext cx="8001000" cy="66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700" b="0">
                <a:solidFill>
                  <a:srgbClr val="FFFFFF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Final Takeaways, Q&amp;A, and Next Steps</a:t>
            </a:r>
            <a:endParaRPr sz="2700" b="0">
              <a:solidFill>
                <a:srgbClr val="FFFFFF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grpSp>
        <p:nvGrpSpPr>
          <p:cNvPr id="704" name="Google Shape;704;p35"/>
          <p:cNvGrpSpPr/>
          <p:nvPr/>
        </p:nvGrpSpPr>
        <p:grpSpPr>
          <a:xfrm>
            <a:off x="752475" y="1228725"/>
            <a:ext cx="8015363" cy="3729113"/>
            <a:chOff x="752475" y="1228725"/>
            <a:chExt cx="8015363" cy="3729113"/>
          </a:xfrm>
        </p:grpSpPr>
        <p:pic>
          <p:nvPicPr>
            <p:cNvPr id="705" name="Google Shape;705;p35"/>
            <p:cNvPicPr preferRelativeResize="0"/>
            <p:nvPr/>
          </p:nvPicPr>
          <p:blipFill rotWithShape="1">
            <a:blip r:embed="rId4"/>
            <a:srcRect/>
            <a:stretch>
              <a:fillRect/>
            </a:stretch>
          </p:blipFill>
          <p:spPr>
            <a:xfrm>
              <a:off x="752475" y="1228725"/>
              <a:ext cx="7639200" cy="3352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06" name="Google Shape;706;p35"/>
            <p:cNvSpPr/>
            <p:nvPr/>
          </p:nvSpPr>
          <p:spPr>
            <a:xfrm>
              <a:off x="1047750" y="1428750"/>
              <a:ext cx="733590" cy="62865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40000"/>
                  </a:moveTo>
                  <a:quadBezTo>
                    <a:pt x="17143" y="0"/>
                    <a:pt x="51429" y="0"/>
                  </a:quadBezTo>
                  <a:lnTo>
                    <a:pt x="51429" y="40000"/>
                  </a:lnTo>
                  <a:quadBezTo>
                    <a:pt x="34286" y="40000"/>
                    <a:pt x="34286" y="60000"/>
                  </a:quadBezTo>
                  <a:lnTo>
                    <a:pt x="51429" y="60000"/>
                  </a:lnTo>
                  <a:lnTo>
                    <a:pt x="51429" y="120000"/>
                  </a:lnTo>
                  <a:lnTo>
                    <a:pt x="0" y="120000"/>
                  </a:lnTo>
                  <a:close/>
                  <a:moveTo>
                    <a:pt x="68571" y="40000"/>
                  </a:moveTo>
                  <a:quadBezTo>
                    <a:pt x="85714" y="0"/>
                    <a:pt x="120000" y="0"/>
                  </a:quadBezTo>
                  <a:lnTo>
                    <a:pt x="120000" y="40000"/>
                  </a:lnTo>
                  <a:quadBezTo>
                    <a:pt x="102857" y="40000"/>
                    <a:pt x="102857" y="60000"/>
                  </a:quadBezTo>
                  <a:lnTo>
                    <a:pt x="120000" y="60000"/>
                  </a:lnTo>
                  <a:lnTo>
                    <a:pt x="120000" y="120000"/>
                  </a:lnTo>
                  <a:lnTo>
                    <a:pt x="68571" y="120000"/>
                  </a:lnTo>
                  <a:close/>
                </a:path>
              </a:pathLst>
            </a:custGeom>
            <a:solidFill>
              <a:srgbClr val="FFC300">
                <a:alpha val="25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35"/>
            <p:cNvSpPr txBox="1"/>
            <p:nvPr/>
          </p:nvSpPr>
          <p:spPr>
            <a:xfrm>
              <a:off x="1524000" y="1524000"/>
              <a:ext cx="60960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950" b="0" i="1">
                  <a:solidFill>
                    <a:srgbClr val="FFFFFF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"Your resume is your roadmap; own it."</a:t>
              </a:r>
              <a:endParaRPr sz="1950" b="0" i="1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708" name="Google Shape;708;p35"/>
            <p:cNvSpPr/>
            <p:nvPr/>
          </p:nvSpPr>
          <p:spPr>
            <a:xfrm>
              <a:off x="1714500" y="2476500"/>
              <a:ext cx="5715000" cy="28500"/>
            </a:xfrm>
            <a:prstGeom prst="roundRect">
              <a:avLst>
                <a:gd name="adj" fmla="val 50000"/>
              </a:avLst>
            </a:prstGeom>
            <a:solidFill>
              <a:srgbClr val="FF5733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09" name="Google Shape;709;p35"/>
            <p:cNvGrpSpPr/>
            <p:nvPr/>
          </p:nvGrpSpPr>
          <p:grpSpPr>
            <a:xfrm>
              <a:off x="1047750" y="2809875"/>
              <a:ext cx="2190750" cy="1428900"/>
              <a:chOff x="0" y="0"/>
              <a:chExt cx="2190750" cy="1428900"/>
            </a:xfrm>
          </p:grpSpPr>
          <p:sp>
            <p:nvSpPr>
              <p:cNvPr id="710" name="Google Shape;710;p35"/>
              <p:cNvSpPr/>
              <p:nvPr/>
            </p:nvSpPr>
            <p:spPr>
              <a:xfrm>
                <a:off x="0" y="0"/>
                <a:ext cx="381000" cy="381000"/>
              </a:xfrm>
              <a:prstGeom prst="ellipse">
                <a:avLst/>
              </a:prstGeom>
              <a:solidFill>
                <a:srgbClr val="2D68FE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Google Shape;711;p35"/>
              <p:cNvSpPr/>
              <p:nvPr/>
            </p:nvSpPr>
            <p:spPr>
              <a:xfrm>
                <a:off x="123825" y="142875"/>
                <a:ext cx="133500" cy="954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60000"/>
                    </a:moveTo>
                    <a:lnTo>
                      <a:pt x="42857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Google Shape;712;p35"/>
              <p:cNvSpPr txBox="1"/>
              <p:nvPr/>
            </p:nvSpPr>
            <p:spPr>
              <a:xfrm>
                <a:off x="476250" y="0"/>
                <a:ext cx="1714500" cy="1428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050" b="1">
                    <a:solidFill>
                      <a:srgbClr val="FFC300"/>
                    </a:solidFill>
                    <a:latin typeface="Poppins" panose="00000800000000000000"/>
                    <a:ea typeface="Poppins" panose="00000800000000000000"/>
                    <a:cs typeface="Poppins" panose="00000800000000000000"/>
                    <a:sym typeface="Poppins" panose="00000800000000000000"/>
                  </a:rPr>
                  <a:t>Takeaway 1</a:t>
                </a:r>
                <a:endParaRPr sz="1050" b="1">
                  <a:solidFill>
                    <a:srgbClr val="FFC300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GB" sz="1125" b="0">
                    <a:solidFill>
                      <a:srgbClr val="F8F9FA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Preparation builds confidence.</a:t>
                </a:r>
                <a:endParaRPr sz="1125" b="0">
                  <a:solidFill>
                    <a:srgbClr val="F8F9FA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713" name="Google Shape;713;p35"/>
            <p:cNvGrpSpPr/>
            <p:nvPr/>
          </p:nvGrpSpPr>
          <p:grpSpPr>
            <a:xfrm>
              <a:off x="3476625" y="2809875"/>
              <a:ext cx="2190750" cy="1428900"/>
              <a:chOff x="0" y="0"/>
              <a:chExt cx="2190750" cy="1428900"/>
            </a:xfrm>
          </p:grpSpPr>
          <p:sp>
            <p:nvSpPr>
              <p:cNvPr id="714" name="Google Shape;714;p35"/>
              <p:cNvSpPr/>
              <p:nvPr/>
            </p:nvSpPr>
            <p:spPr>
              <a:xfrm>
                <a:off x="0" y="0"/>
                <a:ext cx="381000" cy="381000"/>
              </a:xfrm>
              <a:prstGeom prst="ellipse">
                <a:avLst/>
              </a:prstGeom>
              <a:solidFill>
                <a:srgbClr val="FF5733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Google Shape;715;p35"/>
              <p:cNvSpPr/>
              <p:nvPr/>
            </p:nvSpPr>
            <p:spPr>
              <a:xfrm>
                <a:off x="123825" y="142875"/>
                <a:ext cx="133500" cy="954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60000"/>
                    </a:moveTo>
                    <a:lnTo>
                      <a:pt x="42857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Google Shape;716;p35"/>
              <p:cNvSpPr txBox="1"/>
              <p:nvPr/>
            </p:nvSpPr>
            <p:spPr>
              <a:xfrm>
                <a:off x="476250" y="0"/>
                <a:ext cx="1714500" cy="1428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050" b="1">
                    <a:solidFill>
                      <a:srgbClr val="FFC300"/>
                    </a:solidFill>
                    <a:latin typeface="Poppins" panose="00000800000000000000"/>
                    <a:ea typeface="Poppins" panose="00000800000000000000"/>
                    <a:cs typeface="Poppins" panose="00000800000000000000"/>
                    <a:sym typeface="Poppins" panose="00000800000000000000"/>
                  </a:rPr>
                  <a:t>Takeaway 2</a:t>
                </a:r>
                <a:endParaRPr sz="1050" b="1">
                  <a:solidFill>
                    <a:srgbClr val="FFC300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GB" sz="1125" b="0">
                    <a:solidFill>
                      <a:srgbClr val="F8F9FA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Practice consistently.</a:t>
                </a:r>
                <a:endParaRPr sz="1125" b="0">
                  <a:solidFill>
                    <a:srgbClr val="F8F9FA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717" name="Google Shape;717;p35"/>
            <p:cNvGrpSpPr/>
            <p:nvPr/>
          </p:nvGrpSpPr>
          <p:grpSpPr>
            <a:xfrm>
              <a:off x="5905500" y="2809875"/>
              <a:ext cx="2190750" cy="1428900"/>
              <a:chOff x="0" y="0"/>
              <a:chExt cx="2190750" cy="1428900"/>
            </a:xfrm>
          </p:grpSpPr>
          <p:sp>
            <p:nvSpPr>
              <p:cNvPr id="718" name="Google Shape;718;p35"/>
              <p:cNvSpPr/>
              <p:nvPr/>
            </p:nvSpPr>
            <p:spPr>
              <a:xfrm>
                <a:off x="0" y="0"/>
                <a:ext cx="381000" cy="381000"/>
              </a:xfrm>
              <a:prstGeom prst="ellipse">
                <a:avLst/>
              </a:prstGeom>
              <a:solidFill>
                <a:srgbClr val="FFC3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Google Shape;719;p35"/>
              <p:cNvSpPr txBox="1"/>
              <p:nvPr/>
            </p:nvSpPr>
            <p:spPr>
              <a:xfrm>
                <a:off x="95250" y="47625"/>
                <a:ext cx="1905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500" b="0">
                    <a:solidFill>
                      <a:srgbClr val="0B132B"/>
                    </a:solidFill>
                    <a:latin typeface="Poppins ExtraBold"/>
                    <a:ea typeface="Poppins ExtraBold"/>
                    <a:cs typeface="Poppins ExtraBold"/>
                    <a:sym typeface="Poppins ExtraBold"/>
                  </a:rPr>
                  <a:t>?</a:t>
                </a:r>
                <a:endParaRPr sz="1500" b="0">
                  <a:solidFill>
                    <a:srgbClr val="0B132B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endParaRPr>
              </a:p>
            </p:txBody>
          </p:sp>
          <p:sp>
            <p:nvSpPr>
              <p:cNvPr id="720" name="Google Shape;720;p35"/>
              <p:cNvSpPr txBox="1"/>
              <p:nvPr/>
            </p:nvSpPr>
            <p:spPr>
              <a:xfrm>
                <a:off x="476250" y="0"/>
                <a:ext cx="1714500" cy="1428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050" b="1">
                    <a:solidFill>
                      <a:srgbClr val="FFC300"/>
                    </a:solidFill>
                    <a:latin typeface="Poppins" panose="00000800000000000000"/>
                    <a:ea typeface="Poppins" panose="00000800000000000000"/>
                    <a:cs typeface="Poppins" panose="00000800000000000000"/>
                    <a:sym typeface="Poppins" panose="00000800000000000000"/>
                  </a:rPr>
                  <a:t>Next Step</a:t>
                </a:r>
                <a:endParaRPr sz="1050" b="1">
                  <a:solidFill>
                    <a:srgbClr val="FFC300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GB" sz="1125" b="0">
                    <a:solidFill>
                      <a:srgbClr val="F8F9FA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Open floor for Questions.</a:t>
                </a:r>
                <a:endParaRPr sz="1125" b="0">
                  <a:solidFill>
                    <a:srgbClr val="F8F9FA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pic>
          <p:nvPicPr>
            <p:cNvPr id="721" name="Google Shape;721;p35"/>
            <p:cNvPicPr preferRelativeResize="0"/>
            <p:nvPr/>
          </p:nvPicPr>
          <p:blipFill rotWithShape="1">
            <a:blip r:embed="rId5"/>
            <a:srcRect/>
            <a:stretch>
              <a:fillRect/>
            </a:stretch>
          </p:blipFill>
          <p:spPr>
            <a:xfrm>
              <a:off x="7038975" y="3228975"/>
              <a:ext cx="1352700" cy="1352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22" name="Google Shape;722;p35"/>
            <p:cNvPicPr preferRelativeResize="0"/>
            <p:nvPr/>
          </p:nvPicPr>
          <p:blipFill rotWithShape="1">
            <a:blip r:embed="rId6"/>
            <a:srcRect/>
            <a:stretch>
              <a:fillRect/>
            </a:stretch>
          </p:blipFill>
          <p:spPr>
            <a:xfrm>
              <a:off x="6662738" y="2852738"/>
              <a:ext cx="2105100" cy="21051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8245</TotalTime>
  <Words>1960</Words>
  <Application>Microsoft Office PowerPoint</Application>
  <PresentationFormat>On-screen Show (16:9)</PresentationFormat>
  <Paragraphs>403</Paragraphs>
  <Slides>32</Slides>
  <Notes>25</Notes>
  <HiddenSlides>2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4" baseType="lpstr">
      <vt:lpstr>Inter</vt:lpstr>
      <vt:lpstr>Outfit</vt:lpstr>
      <vt:lpstr>DM Sans Medium</vt:lpstr>
      <vt:lpstr>Arial</vt:lpstr>
      <vt:lpstr>DM Sans</vt:lpstr>
      <vt:lpstr>Arial Bold</vt:lpstr>
      <vt:lpstr>Poppins ExtraBold</vt:lpstr>
      <vt:lpstr>Inter SemiBold</vt:lpstr>
      <vt:lpstr>Poppins SemiBold</vt:lpstr>
      <vt:lpstr>Wingdings</vt:lpstr>
      <vt:lpstr>Poppins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Brinda Dorairaj</cp:lastModifiedBy>
  <cp:revision>115</cp:revision>
  <dcterms:created xsi:type="dcterms:W3CDTF">2026-07-14T11:05:57Z</dcterms:created>
  <dcterms:modified xsi:type="dcterms:W3CDTF">2026-09-05T18:25:39Z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FF9D48A7EA6D578457BA4C6A6DBA8B1F_42</vt:lpwstr>
  </property>
</Properties>
</file>