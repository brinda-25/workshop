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6"/>
  </p:notesMasterIdLst>
  <p:handoutMasterIdLst>
    <p:handoutMasterId r:id="rId37"/>
  </p:handoutMasterIdLst>
  <p:sldIdLst>
    <p:sldId id="256" r:id="rId2"/>
    <p:sldId id="257" r:id="rId3"/>
    <p:sldId id="279" r:id="rId4"/>
    <p:sldId id="280" r:id="rId5"/>
    <p:sldId id="291" r:id="rId6"/>
    <p:sldId id="278" r:id="rId7"/>
    <p:sldId id="259" r:id="rId8"/>
    <p:sldId id="260" r:id="rId9"/>
    <p:sldId id="282" r:id="rId10"/>
    <p:sldId id="283" r:id="rId11"/>
    <p:sldId id="297" r:id="rId12"/>
    <p:sldId id="298" r:id="rId13"/>
    <p:sldId id="261" r:id="rId14"/>
    <p:sldId id="286" r:id="rId15"/>
    <p:sldId id="284" r:id="rId16"/>
    <p:sldId id="296" r:id="rId17"/>
    <p:sldId id="262" r:id="rId18"/>
    <p:sldId id="288" r:id="rId19"/>
    <p:sldId id="289" r:id="rId20"/>
    <p:sldId id="290" r:id="rId21"/>
    <p:sldId id="287" r:id="rId22"/>
    <p:sldId id="263" r:id="rId23"/>
    <p:sldId id="292" r:id="rId24"/>
    <p:sldId id="293" r:id="rId25"/>
    <p:sldId id="300" r:id="rId26"/>
    <p:sldId id="299" r:id="rId27"/>
    <p:sldId id="302" r:id="rId28"/>
    <p:sldId id="264" r:id="rId29"/>
    <p:sldId id="303" r:id="rId30"/>
    <p:sldId id="304" r:id="rId31"/>
    <p:sldId id="295" r:id="rId32"/>
    <p:sldId id="266" r:id="rId33"/>
    <p:sldId id="267" r:id="rId34"/>
    <p:sldId id="277" r:id="rId35"/>
  </p:sldIdLst>
  <p:sldSz cx="9144000" cy="5143500" type="screen16x9"/>
  <p:notesSz cx="6858000" cy="9144000"/>
  <p:embeddedFontLst>
    <p:embeddedFont>
      <p:font typeface="Arial Bold" panose="020B0704020202020204" pitchFamily="34" charset="0"/>
      <p:bold r:id="rId38"/>
    </p:embeddedFont>
    <p:embeddedFont>
      <p:font typeface="DM Sans" pitchFamily="2" charset="0"/>
      <p:regular r:id="rId39"/>
      <p:bold r:id="rId40"/>
      <p:italic r:id="rId41"/>
      <p:boldItalic r:id="rId42"/>
    </p:embeddedFont>
    <p:embeddedFont>
      <p:font typeface="DM Sans Medium" pitchFamily="2" charset="0"/>
      <p:regular r:id="rId43"/>
      <p:italic r:id="rId44"/>
    </p:embeddedFont>
    <p:embeddedFont>
      <p:font typeface="Inter" panose="020B0604020202020204" charset="0"/>
      <p:regular r:id="rId45"/>
    </p:embeddedFont>
    <p:embeddedFont>
      <p:font typeface="Outfit" panose="020B0604020202020204" charset="0"/>
      <p:regular r:id="rId46"/>
    </p:embeddedFont>
    <p:embeddedFont>
      <p:font typeface="Poppins" panose="00000500000000000000" pitchFamily="2" charset="0"/>
      <p:regular r:id="rId47"/>
      <p:bold r:id="rId48"/>
      <p:italic r:id="rId49"/>
      <p:boldItalic r:id="rId50"/>
    </p:embeddedFont>
    <p:embeddedFont>
      <p:font typeface="Poppins ExtraBold" panose="00000900000000000000" pitchFamily="2" charset="0"/>
      <p:bold r:id="rId51"/>
      <p:boldItalic r:id="rId52"/>
    </p:embeddedFont>
    <p:embeddedFont>
      <p:font typeface="Poppins SemiBold" panose="00000700000000000000" pitchFamily="2" charset="0"/>
      <p:bold r:id="rId53"/>
      <p:boldItalic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defaultTextStyle>
  <p:extLst>
    <p:ext uri="{EFAFB233-063F-42B5-8137-9DF3F51BA10A}">
      <p15:sldGuideLst xmlns:p15="http://schemas.microsoft.com/office/powerpoint/2012/main">
        <p15:guide id="1" orient="horz" pos="1620" userDrawn="1">
          <p15:clr>
            <a:srgbClr val="747775"/>
          </p15:clr>
        </p15:guide>
        <p15:guide id="2" pos="2936"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111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p:scale>
          <a:sx n="75" d="100"/>
          <a:sy n="75" d="100"/>
        </p:scale>
        <p:origin x="948" y="92"/>
      </p:cViewPr>
      <p:guideLst>
        <p:guide orient="horz" pos="1620"/>
        <p:guide pos="29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5.fntdata"/><Relationship Id="rId47" Type="http://schemas.openxmlformats.org/officeDocument/2006/relationships/font" Target="fonts/font10.fntdata"/><Relationship Id="rId50" Type="http://schemas.openxmlformats.org/officeDocument/2006/relationships/font" Target="fonts/font13.fntdata"/><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font" Target="fonts/font3.fntdata"/><Relationship Id="rId45" Type="http://schemas.openxmlformats.org/officeDocument/2006/relationships/font" Target="fonts/font8.fntdata"/><Relationship Id="rId53" Type="http://schemas.openxmlformats.org/officeDocument/2006/relationships/font" Target="fonts/font16.fntdata"/><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6.fntdata"/><Relationship Id="rId48" Type="http://schemas.openxmlformats.org/officeDocument/2006/relationships/font" Target="fonts/font11.fntdata"/><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14.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46"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font" Target="fonts/font4.fntdata"/><Relationship Id="rId54" Type="http://schemas.openxmlformats.org/officeDocument/2006/relationships/font" Target="fonts/font17.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49" Type="http://schemas.openxmlformats.org/officeDocument/2006/relationships/font" Target="fonts/font12.fntdata"/><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7.fntdata"/><Relationship Id="rId52" Type="http://schemas.openxmlformats.org/officeDocument/2006/relationships/font" Target="fonts/font15.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t>06-Sep-26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p:cNvGrpSpPr/>
        <p:nvPr/>
      </p:nvGrpSpPr>
      <p:grpSpPr>
        <a:xfrm>
          <a:off x="0" y="0"/>
          <a:ext cx="0" cy="0"/>
          <a:chOff x="0" y="0"/>
          <a:chExt cx="0" cy="0"/>
        </a:xfrm>
      </p:grpSpPr>
      <p:sp>
        <p:nvSpPr>
          <p:cNvPr id="52" name="Google Shape;52;g3f2cca4355c_36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 name="Google Shape;53;g3f2cca4355c_36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f2cca4355c_35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f2cca4355c_3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f2cca4355c_2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3f2cca4355c_2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3f00237150d_38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3f00237150d_38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f2cca4355c_33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3f2cca4355c_3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f2cca4355c_3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3f2cca4355c_3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f2cca4355c_3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3f2cca4355c_3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2cca4355c_3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2cca4355c_3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2cca4355c_3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2cca4355c_3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g3f2cca4355c_2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9" name="Google Shape;529;g3f2cca4355c_2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3f2cca4355c_3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3f2cca4355c_3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f2cca4355c_3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3f2cca4355c_3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f2cca4355c_3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3f2cca4355c_3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f2cca4355c_3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3f2cca4355c_3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f2cca4355c_2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3f2cca4355c_2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f2cca4355c_28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f00237150d_34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3f00237150d_34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a:extLst>
            <a:ext uri="{FF2B5EF4-FFF2-40B4-BE49-F238E27FC236}">
              <a16:creationId xmlns:a16="http://schemas.microsoft.com/office/drawing/2014/main" id="{BF3B07E6-6C9B-B8D8-76B7-AAAB6DE47B42}"/>
            </a:ext>
          </a:extLst>
        </p:cNvPr>
        <p:cNvGrpSpPr/>
        <p:nvPr/>
      </p:nvGrpSpPr>
      <p:grpSpPr>
        <a:xfrm>
          <a:off x="0" y="0"/>
          <a:ext cx="0" cy="0"/>
          <a:chOff x="0" y="0"/>
          <a:chExt cx="0" cy="0"/>
        </a:xfrm>
      </p:grpSpPr>
      <p:sp>
        <p:nvSpPr>
          <p:cNvPr id="196" name="Google Shape;196;g3f00237150d_34_0:notes">
            <a:extLst>
              <a:ext uri="{FF2B5EF4-FFF2-40B4-BE49-F238E27FC236}">
                <a16:creationId xmlns:a16="http://schemas.microsoft.com/office/drawing/2014/main" id="{04D494CC-56CF-4FAE-96E0-DD52574718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3f00237150d_34_0:notes">
            <a:extLst>
              <a:ext uri="{FF2B5EF4-FFF2-40B4-BE49-F238E27FC236}">
                <a16:creationId xmlns:a16="http://schemas.microsoft.com/office/drawing/2014/main" id="{AC4A8365-5A39-047F-B40B-26E462CAC7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147041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a:extLst>
            <a:ext uri="{FF2B5EF4-FFF2-40B4-BE49-F238E27FC236}">
              <a16:creationId xmlns:a16="http://schemas.microsoft.com/office/drawing/2014/main" id="{6D61B382-970E-C0D3-5AD2-0883696CF49A}"/>
            </a:ext>
          </a:extLst>
        </p:cNvPr>
        <p:cNvGrpSpPr/>
        <p:nvPr/>
      </p:nvGrpSpPr>
      <p:grpSpPr>
        <a:xfrm>
          <a:off x="0" y="0"/>
          <a:ext cx="0" cy="0"/>
          <a:chOff x="0" y="0"/>
          <a:chExt cx="0" cy="0"/>
        </a:xfrm>
      </p:grpSpPr>
      <p:sp>
        <p:nvSpPr>
          <p:cNvPr id="196" name="Google Shape;196;g3f00237150d_34_0:notes">
            <a:extLst>
              <a:ext uri="{FF2B5EF4-FFF2-40B4-BE49-F238E27FC236}">
                <a16:creationId xmlns:a16="http://schemas.microsoft.com/office/drawing/2014/main" id="{3621DA55-32E7-8637-5E74-9ECC82157F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3f00237150d_34_0:notes">
            <a:extLst>
              <a:ext uri="{FF2B5EF4-FFF2-40B4-BE49-F238E27FC236}">
                <a16:creationId xmlns:a16="http://schemas.microsoft.com/office/drawing/2014/main" id="{5D7A09F3-07E7-8D46-536E-FA4C2B9E0B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06624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a:extLst>
            <a:ext uri="{FF2B5EF4-FFF2-40B4-BE49-F238E27FC236}">
              <a16:creationId xmlns:a16="http://schemas.microsoft.com/office/drawing/2014/main" id="{CC12FCA9-77EB-EB97-CB7A-48241DD6353F}"/>
            </a:ext>
          </a:extLst>
        </p:cNvPr>
        <p:cNvGrpSpPr/>
        <p:nvPr/>
      </p:nvGrpSpPr>
      <p:grpSpPr>
        <a:xfrm>
          <a:off x="0" y="0"/>
          <a:ext cx="0" cy="0"/>
          <a:chOff x="0" y="0"/>
          <a:chExt cx="0" cy="0"/>
        </a:xfrm>
      </p:grpSpPr>
      <p:sp>
        <p:nvSpPr>
          <p:cNvPr id="196" name="Google Shape;196;g3f00237150d_34_0:notes">
            <a:extLst>
              <a:ext uri="{FF2B5EF4-FFF2-40B4-BE49-F238E27FC236}">
                <a16:creationId xmlns:a16="http://schemas.microsoft.com/office/drawing/2014/main" id="{755920E8-8575-9253-84E8-DC3F6C20473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3f00237150d_34_0:notes">
            <a:extLst>
              <a:ext uri="{FF2B5EF4-FFF2-40B4-BE49-F238E27FC236}">
                <a16:creationId xmlns:a16="http://schemas.microsoft.com/office/drawing/2014/main" id="{8C56780F-CB48-41ED-231C-D5A14A2197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492220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f2cca4355c_28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AFBBFFBE-1561-5D1B-917F-2656AE51B753}"/>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539EDFB9-59A4-BCF8-0CF4-363A4E6AE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1EF39BCA-4461-77D8-E05D-B6FA97375D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317120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a:extLst>
            <a:ext uri="{FF2B5EF4-FFF2-40B4-BE49-F238E27FC236}">
              <a16:creationId xmlns:a16="http://schemas.microsoft.com/office/drawing/2014/main" id="{C950AC1D-4AEB-6208-7AE8-1998219C457F}"/>
            </a:ext>
          </a:extLst>
        </p:cNvPr>
        <p:cNvGrpSpPr/>
        <p:nvPr/>
      </p:nvGrpSpPr>
      <p:grpSpPr>
        <a:xfrm>
          <a:off x="0" y="0"/>
          <a:ext cx="0" cy="0"/>
          <a:chOff x="0" y="0"/>
          <a:chExt cx="0" cy="0"/>
        </a:xfrm>
      </p:grpSpPr>
      <p:sp>
        <p:nvSpPr>
          <p:cNvPr id="280" name="Google Shape;280;g3f2cca4355c_28_0:notes">
            <a:extLst>
              <a:ext uri="{FF2B5EF4-FFF2-40B4-BE49-F238E27FC236}">
                <a16:creationId xmlns:a16="http://schemas.microsoft.com/office/drawing/2014/main" id="{1C87B376-B086-6528-2770-321A719E8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3f2cca4355c_28_0:notes">
            <a:extLst>
              <a:ext uri="{FF2B5EF4-FFF2-40B4-BE49-F238E27FC236}">
                <a16:creationId xmlns:a16="http://schemas.microsoft.com/office/drawing/2014/main" id="{7230AEDF-39EF-40A8-FC0E-55D96626E9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61956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f00237150d_3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3f00237150d_3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3f2cca4355c_26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3f2cca4355c_26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g3f2cca4355c_25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7" name="Google Shape;377;g3f2cca4355c_2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g3f2cca4355c_15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6" name="Google Shape;696;g3f2cca4355c_1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ted (g3f2cca4355c_14_0)">
  <p:cSld name="Generated (g3f2cca4355c_14_0)">
    <p:spTree>
      <p:nvGrpSpPr>
        <p:cNvPr id="1"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9" name="Google Shape;19;p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0" name="Google Shape;20;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3" name="Google Shape;23;p6"/>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6"/>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5" name="Google Shape;2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sp>
        <p:nvSpPr>
          <p:cNvPr id="27" name="Google Shape;27;p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8" name="Google Shape;2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9"/>
        <p:cNvGrpSpPr/>
        <p:nvPr/>
      </p:nvGrpSpPr>
      <p:grpSpPr>
        <a:xfrm>
          <a:off x="0" y="0"/>
          <a:ext cx="0" cy="0"/>
          <a:chOff x="0" y="0"/>
          <a:chExt cx="0" cy="0"/>
        </a:xfrm>
      </p:grpSpPr>
      <p:sp>
        <p:nvSpPr>
          <p:cNvPr id="30" name="Google Shape;30;p8"/>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1" name="Google Shape;31;p8"/>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3"/>
        <p:cNvGrpSpPr/>
        <p:nvPr/>
      </p:nvGrpSpPr>
      <p:grpSpPr>
        <a:xfrm>
          <a:off x="0" y="0"/>
          <a:ext cx="0" cy="0"/>
          <a:chOff x="0" y="0"/>
          <a:chExt cx="0" cy="0"/>
        </a:xfrm>
      </p:grpSpPr>
      <p:sp>
        <p:nvSpPr>
          <p:cNvPr id="34" name="Google Shape;34;p9"/>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5" name="Google Shape;35;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6"/>
        <p:cNvGrpSpPr/>
        <p:nvPr/>
      </p:nvGrpSpPr>
      <p:grpSpPr>
        <a:xfrm>
          <a:off x="0" y="0"/>
          <a:ext cx="0" cy="0"/>
          <a:chOff x="0" y="0"/>
          <a:chExt cx="0" cy="0"/>
        </a:xfrm>
      </p:grpSpPr>
      <p:sp>
        <p:nvSpPr>
          <p:cNvPr id="37" name="Google Shape;37;p1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10"/>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9" name="Google Shape;39;p10"/>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0" name="Google Shape;40;p10"/>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1" name="Google Shape;41;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2"/>
        <p:cNvGrpSpPr/>
        <p:nvPr/>
      </p:nvGrpSpPr>
      <p:grpSpPr>
        <a:xfrm>
          <a:off x="0" y="0"/>
          <a:ext cx="0" cy="0"/>
          <a:chOff x="0" y="0"/>
          <a:chExt cx="0" cy="0"/>
        </a:xfrm>
      </p:grpSpPr>
      <p:sp>
        <p:nvSpPr>
          <p:cNvPr id="43" name="Google Shape;43;p11"/>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4" name="Google Shape;44;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5"/>
        <p:cNvGrpSpPr/>
        <p:nvPr/>
      </p:nvGrpSpPr>
      <p:grpSpPr>
        <a:xfrm>
          <a:off x="0" y="0"/>
          <a:ext cx="0" cy="0"/>
          <a:chOff x="0" y="0"/>
          <a:chExt cx="0" cy="0"/>
        </a:xfrm>
      </p:grpSpPr>
      <p:sp>
        <p:nvSpPr>
          <p:cNvPr id="46" name="Google Shape;46;p12"/>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7" name="Google Shape;47;p12"/>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8" name="Google Shape;4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9"/>
        <p:cNvGrpSpPr/>
        <p:nvPr/>
      </p:nvGrpSpPr>
      <p:grpSpPr>
        <a:xfrm>
          <a:off x="0" y="0"/>
          <a:ext cx="0" cy="0"/>
          <a:chOff x="0" y="0"/>
          <a:chExt cx="0" cy="0"/>
        </a:xfrm>
      </p:grpSpPr>
      <p:sp>
        <p:nvSpPr>
          <p:cNvPr id="50" name="Google Shape;50;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Generated (g3f00237150d_16_0)">
  <p:cSld name="Generated (g3f00237150d_16_0)">
    <p:spTree>
      <p:nvGrpSpPr>
        <p:cNvPr id="1" name="Shape 9"/>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Generated (g3f0078361b1_13_0)">
  <p:cSld name="Generated (g3f0078361b1_13_0)">
    <p:spTree>
      <p:nvGrpSpPr>
        <p:cNvPr id="1" name="Shape 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6.jpe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7.jpe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2.xml"/><Relationship Id="rId5" Type="http://schemas.openxmlformats.org/officeDocument/2006/relationships/image" Target="../media/image32.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2.xml"/><Relationship Id="rId5" Type="http://schemas.openxmlformats.org/officeDocument/2006/relationships/hyperlink" Target="https://github.com/username" TargetMode="External"/><Relationship Id="rId4" Type="http://schemas.openxmlformats.org/officeDocument/2006/relationships/hyperlink" Target="https://linkedin.com/in/username"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29.pn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4"/>
        <p:cNvGrpSpPr/>
        <p:nvPr/>
      </p:nvGrpSpPr>
      <p:grpSpPr>
        <a:xfrm>
          <a:off x="0" y="0"/>
          <a:ext cx="0" cy="0"/>
          <a:chOff x="0" y="0"/>
          <a:chExt cx="0" cy="0"/>
        </a:xfrm>
      </p:grpSpPr>
      <p:grpSp>
        <p:nvGrpSpPr>
          <p:cNvPr id="55" name="Google Shape;55;p14"/>
          <p:cNvGrpSpPr/>
          <p:nvPr/>
        </p:nvGrpSpPr>
        <p:grpSpPr>
          <a:xfrm>
            <a:off x="0" y="0"/>
            <a:ext cx="9144000" cy="5143650"/>
            <a:chOff x="0" y="0"/>
            <a:chExt cx="9144000" cy="5143650"/>
          </a:xfrm>
        </p:grpSpPr>
        <p:sp>
          <p:nvSpPr>
            <p:cNvPr id="56" name="Google Shape;56;p14"/>
            <p:cNvSpPr/>
            <p:nvPr/>
          </p:nvSpPr>
          <p:spPr>
            <a:xfrm>
              <a:off x="0" y="0"/>
              <a:ext cx="9144000" cy="5143500"/>
            </a:xfrm>
            <a:prstGeom prst="rect">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57" name="Google Shape;57;p14"/>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58" name="Google Shape;58;p14"/>
            <p:cNvSpPr/>
            <p:nvPr/>
          </p:nvSpPr>
          <p:spPr>
            <a:xfrm>
              <a:off x="7239000" y="0"/>
              <a:ext cx="1905000" cy="1905000"/>
            </a:xfrm>
            <a:custGeom>
              <a:avLst/>
              <a:gdLst/>
              <a:ahLst/>
              <a:cxnLst/>
              <a:rect l="l" t="t" r="r" b="b"/>
              <a:pathLst>
                <a:path w="120000" h="120000" extrusionOk="0">
                  <a:moveTo>
                    <a:pt x="120000" y="0"/>
                  </a:moveTo>
                  <a:lnTo>
                    <a:pt x="120000" y="120000"/>
                  </a:lnTo>
                  <a:cubicBezTo>
                    <a:pt x="120000" y="53726"/>
                    <a:pt x="66274" y="0"/>
                    <a:pt x="0" y="0"/>
                  </a:cubicBezTo>
                  <a:close/>
                </a:path>
              </a:pathLst>
            </a:custGeom>
            <a:solidFill>
              <a:srgbClr val="FFC300">
                <a:alpha val="8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14"/>
            <p:cNvSpPr/>
            <p:nvPr/>
          </p:nvSpPr>
          <p:spPr>
            <a:xfrm>
              <a:off x="0" y="2762250"/>
              <a:ext cx="2381400" cy="2381400"/>
            </a:xfrm>
            <a:custGeom>
              <a:avLst/>
              <a:gdLst/>
              <a:ahLst/>
              <a:cxnLst/>
              <a:rect l="l" t="t" r="r" b="b"/>
              <a:pathLst>
                <a:path w="120000" h="120000" extrusionOk="0">
                  <a:moveTo>
                    <a:pt x="0" y="120000"/>
                  </a:moveTo>
                  <a:lnTo>
                    <a:pt x="120000" y="120000"/>
                  </a:lnTo>
                  <a:lnTo>
                    <a:pt x="0" y="0"/>
                  </a:lnTo>
                  <a:close/>
                </a:path>
              </a:pathLst>
            </a:custGeom>
            <a:solidFill>
              <a:srgbClr val="2D68FE">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60" name="Google Shape;60;p14"/>
          <p:cNvGrpSpPr/>
          <p:nvPr/>
        </p:nvGrpSpPr>
        <p:grpSpPr>
          <a:xfrm>
            <a:off x="466725" y="3057525"/>
            <a:ext cx="8201100" cy="1490700"/>
            <a:chOff x="466725" y="3057525"/>
            <a:chExt cx="8201100" cy="1490700"/>
          </a:xfrm>
        </p:grpSpPr>
        <p:pic>
          <p:nvPicPr>
            <p:cNvPr id="61" name="Google Shape;61;p14"/>
            <p:cNvPicPr preferRelativeResize="0"/>
            <p:nvPr/>
          </p:nvPicPr>
          <p:blipFill rotWithShape="1">
            <a:blip r:embed="rId4"/>
            <a:srcRect/>
            <a:stretch>
              <a:fillRect/>
            </a:stretch>
          </p:blipFill>
          <p:spPr>
            <a:xfrm>
              <a:off x="466725" y="3057525"/>
              <a:ext cx="8201100" cy="1490700"/>
            </a:xfrm>
            <a:prstGeom prst="rect">
              <a:avLst/>
            </a:prstGeom>
            <a:noFill/>
            <a:ln>
              <a:noFill/>
            </a:ln>
          </p:spPr>
        </p:pic>
        <p:grpSp>
          <p:nvGrpSpPr>
            <p:cNvPr id="62" name="Google Shape;62;p14"/>
            <p:cNvGrpSpPr/>
            <p:nvPr/>
          </p:nvGrpSpPr>
          <p:grpSpPr>
            <a:xfrm>
              <a:off x="2228850" y="3276600"/>
              <a:ext cx="304800" cy="304800"/>
              <a:chOff x="-152400" y="-152400"/>
              <a:chExt cx="304800" cy="304800"/>
            </a:xfrm>
          </p:grpSpPr>
          <p:sp>
            <p:nvSpPr>
              <p:cNvPr id="63" name="Google Shape;63;p14"/>
              <p:cNvSpPr/>
              <p:nvPr/>
            </p:nvSpPr>
            <p:spPr>
              <a:xfrm>
                <a:off x="-152400" y="-152400"/>
                <a:ext cx="304800" cy="304800"/>
              </a:xfrm>
              <a:prstGeom prst="ellipse">
                <a:avLst/>
              </a:prstGeom>
              <a:solidFill>
                <a:srgbClr val="FF5733">
                  <a:alpha val="4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4" name="Google Shape;64;p14"/>
              <p:cNvSpPr/>
              <p:nvPr/>
            </p:nvSpPr>
            <p:spPr>
              <a:xfrm>
                <a:off x="-57150" y="-57150"/>
                <a:ext cx="114300" cy="114300"/>
              </a:xfrm>
              <a:prstGeom prst="ellipse">
                <a:avLst/>
              </a:prstGeom>
              <a:solidFill>
                <a:srgbClr val="FFFFFF">
                  <a:alpha val="8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65" name="Google Shape;65;p14"/>
            <p:cNvGrpSpPr/>
            <p:nvPr/>
          </p:nvGrpSpPr>
          <p:grpSpPr>
            <a:xfrm>
              <a:off x="4533900" y="3867150"/>
              <a:ext cx="457200" cy="457200"/>
              <a:chOff x="-228600" y="-228600"/>
              <a:chExt cx="457200" cy="457200"/>
            </a:xfrm>
          </p:grpSpPr>
          <p:sp>
            <p:nvSpPr>
              <p:cNvPr id="66" name="Google Shape;66;p14"/>
              <p:cNvSpPr/>
              <p:nvPr/>
            </p:nvSpPr>
            <p:spPr>
              <a:xfrm>
                <a:off x="-228600" y="-228600"/>
                <a:ext cx="457200" cy="457200"/>
              </a:xfrm>
              <a:prstGeom prst="ellipse">
                <a:avLst/>
              </a:prstGeom>
              <a:solidFill>
                <a:srgbClr val="FFC300">
                  <a:alpha val="3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7" name="Google Shape;67;p14"/>
              <p:cNvSpPr/>
              <p:nvPr/>
            </p:nvSpPr>
            <p:spPr>
              <a:xfrm>
                <a:off x="-95250" y="-95250"/>
                <a:ext cx="190500" cy="190500"/>
              </a:xfrm>
              <a:prstGeom prst="ellipse">
                <a:avLst/>
              </a:prstGeom>
              <a:solidFill>
                <a:srgbClr val="0B132B">
                  <a:alpha val="5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68" name="Google Shape;68;p14"/>
            <p:cNvGrpSpPr/>
            <p:nvPr/>
          </p:nvGrpSpPr>
          <p:grpSpPr>
            <a:xfrm>
              <a:off x="7029450" y="3267075"/>
              <a:ext cx="228600" cy="228600"/>
              <a:chOff x="-114300" y="-114300"/>
              <a:chExt cx="228600" cy="228600"/>
            </a:xfrm>
          </p:grpSpPr>
          <p:sp>
            <p:nvSpPr>
              <p:cNvPr id="69" name="Google Shape;69;p14"/>
              <p:cNvSpPr/>
              <p:nvPr/>
            </p:nvSpPr>
            <p:spPr>
              <a:xfrm>
                <a:off x="-114300" y="-114300"/>
                <a:ext cx="228600" cy="228600"/>
              </a:xfrm>
              <a:prstGeom prst="ellipse">
                <a:avLst/>
              </a:prstGeom>
              <a:solidFill>
                <a:srgbClr val="2D68FE">
                  <a:alpha val="5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0" name="Google Shape;70;p14"/>
              <p:cNvSpPr/>
              <p:nvPr/>
            </p:nvSpPr>
            <p:spPr>
              <a:xfrm>
                <a:off x="-38100" y="-38100"/>
                <a:ext cx="76200" cy="76200"/>
              </a:xfrm>
              <a:prstGeom prst="ellipse">
                <a:avLst/>
              </a:prstGeom>
              <a:solidFill>
                <a:srgbClr val="FFFFFF">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grpSp>
        <p:nvGrpSpPr>
          <p:cNvPr id="71" name="Google Shape;71;p14"/>
          <p:cNvGrpSpPr/>
          <p:nvPr/>
        </p:nvGrpSpPr>
        <p:grpSpPr>
          <a:xfrm>
            <a:off x="533400" y="1333500"/>
            <a:ext cx="8610600" cy="3048000"/>
            <a:chOff x="-228600" y="0"/>
            <a:chExt cx="7848600" cy="3048000"/>
          </a:xfrm>
        </p:grpSpPr>
        <p:sp>
          <p:nvSpPr>
            <p:cNvPr id="72" name="Google Shape;72;p14"/>
            <p:cNvSpPr/>
            <p:nvPr/>
          </p:nvSpPr>
          <p:spPr>
            <a:xfrm>
              <a:off x="-228600" y="47625"/>
              <a:ext cx="57300" cy="16668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3" name="Google Shape;73;p14"/>
            <p:cNvSpPr txBox="1"/>
            <p:nvPr/>
          </p:nvSpPr>
          <p:spPr>
            <a:xfrm>
              <a:off x="0" y="0"/>
              <a:ext cx="7620000" cy="3048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3300" b="0" dirty="0">
                  <a:solidFill>
                    <a:srgbClr val="F8F9FA"/>
                  </a:solidFill>
                  <a:latin typeface="Poppins ExtraBold"/>
                  <a:ea typeface="Poppins ExtraBold"/>
                  <a:cs typeface="Poppins ExtraBold"/>
                  <a:sym typeface="Poppins ExtraBold"/>
                </a:rPr>
                <a:t>Campus to Company:</a:t>
              </a:r>
              <a:endParaRPr sz="3300" b="0" dirty="0">
                <a:solidFill>
                  <a:srgbClr val="F8F9FA"/>
                </a:solidFill>
                <a:latin typeface="Poppins ExtraBold"/>
                <a:ea typeface="Poppins ExtraBold"/>
                <a:cs typeface="Poppins ExtraBold"/>
                <a:sym typeface="Poppins ExtraBold"/>
              </a:endParaRPr>
            </a:p>
            <a:p>
              <a:pPr marL="0" lvl="0" indent="0" algn="l" rtl="0">
                <a:spcBef>
                  <a:spcPts val="600"/>
                </a:spcBef>
                <a:spcAft>
                  <a:spcPts val="0"/>
                </a:spcAft>
                <a:buNone/>
              </a:pPr>
              <a:r>
                <a:rPr lang="en-GB" sz="3300" b="0" dirty="0">
                  <a:solidFill>
                    <a:srgbClr val="FFC300"/>
                  </a:solidFill>
                  <a:latin typeface="Poppins ExtraBold"/>
                  <a:ea typeface="Poppins ExtraBold"/>
                  <a:cs typeface="Poppins ExtraBold"/>
                  <a:sym typeface="Poppins ExtraBold"/>
                </a:rPr>
                <a:t>An insight into the Interview Process</a:t>
              </a:r>
              <a:endParaRPr sz="3300" b="0" dirty="0">
                <a:solidFill>
                  <a:srgbClr val="FFC300"/>
                </a:solidFill>
                <a:latin typeface="Poppins ExtraBold"/>
                <a:ea typeface="Poppins ExtraBold"/>
                <a:cs typeface="Poppins ExtraBold"/>
                <a:sym typeface="Poppins ExtraBold"/>
              </a:endParaRPr>
            </a:p>
            <a:p>
              <a:pPr marL="0" lvl="0" indent="0" algn="l" rtl="0">
                <a:spcBef>
                  <a:spcPts val="2100"/>
                </a:spcBef>
                <a:spcAft>
                  <a:spcPts val="0"/>
                </a:spcAft>
                <a:buNone/>
              </a:pPr>
              <a:r>
                <a:rPr lang="en-GB" sz="1650" b="0" dirty="0">
                  <a:solidFill>
                    <a:srgbClr val="FFFFFF"/>
                  </a:solidFill>
                  <a:latin typeface="Poppins SemiBold"/>
                  <a:ea typeface="Poppins SemiBold"/>
                  <a:cs typeface="Poppins SemiBold"/>
                  <a:sym typeface="Poppins SemiBold"/>
                </a:rPr>
                <a:t>Your Roadmap to Professional Success</a:t>
              </a:r>
            </a:p>
            <a:p>
              <a:pPr marL="0" lvl="0" indent="0" algn="l" rtl="0">
                <a:spcBef>
                  <a:spcPts val="2100"/>
                </a:spcBef>
                <a:spcAft>
                  <a:spcPts val="0"/>
                </a:spcAft>
                <a:buNone/>
              </a:pPr>
              <a:endParaRPr sz="1650" b="0" dirty="0">
                <a:solidFill>
                  <a:srgbClr val="FFFFFF"/>
                </a:solidFill>
                <a:latin typeface="Poppins SemiBold"/>
                <a:ea typeface="Poppins SemiBold"/>
                <a:cs typeface="Poppins SemiBold"/>
                <a:sym typeface="Poppins SemiBold"/>
              </a:endParaRPr>
            </a:p>
            <a:p>
              <a:pPr marL="3657600" lvl="8" indent="457200" algn="l" rtl="0">
                <a:spcBef>
                  <a:spcPts val="2100"/>
                </a:spcBef>
                <a:spcAft>
                  <a:spcPts val="0"/>
                </a:spcAft>
                <a:buNone/>
              </a:pPr>
              <a:r>
                <a:rPr lang="en-US" sz="3200" b="0" dirty="0">
                  <a:solidFill>
                    <a:schemeClr val="accent4"/>
                  </a:solidFill>
                  <a:latin typeface="Poppins SemiBold"/>
                  <a:ea typeface="Poppins SemiBold"/>
                  <a:cs typeface="Poppins SemiBold"/>
                  <a:sym typeface="Poppins SemiBold"/>
                </a:rPr>
                <a:t>		 </a:t>
              </a:r>
              <a:r>
                <a:rPr lang="en-US" sz="4400" b="0" i="1" dirty="0">
                  <a:solidFill>
                    <a:schemeClr val="accent4"/>
                  </a:solidFill>
                  <a:latin typeface="Poppins SemiBold"/>
                  <a:ea typeface="Poppins SemiBold"/>
                  <a:cs typeface="Poppins SemiBold"/>
                  <a:sym typeface="Poppins SemiBold"/>
                </a:rPr>
                <a:t>VIPAR</a:t>
              </a:r>
              <a:endParaRPr lang="en-US" sz="3200" b="0" i="1" dirty="0">
                <a:solidFill>
                  <a:schemeClr val="accent4"/>
                </a:solidFill>
                <a:latin typeface="Poppins SemiBold"/>
                <a:ea typeface="Poppins SemiBold"/>
                <a:cs typeface="Poppins SemiBold"/>
                <a:sym typeface="Poppins SemiBold"/>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grpSp>
        <p:nvGrpSpPr>
          <p:cNvPr id="78" name="Google Shape;78;p15"/>
          <p:cNvGrpSpPr/>
          <p:nvPr/>
        </p:nvGrpSpPr>
        <p:grpSpPr>
          <a:xfrm>
            <a:off x="0" y="0"/>
            <a:ext cx="9144150" cy="5143650"/>
            <a:chOff x="0" y="0"/>
            <a:chExt cx="9144150" cy="5143650"/>
          </a:xfrm>
        </p:grpSpPr>
        <p:sp>
          <p:nvSpPr>
            <p:cNvPr id="79" name="Google Shape;79;p15"/>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81" name="Google Shape;81;p15"/>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83" name="Google Shape;83;p15"/>
          <p:cNvSpPr txBox="1"/>
          <p:nvPr/>
        </p:nvSpPr>
        <p:spPr>
          <a:xfrm>
            <a:off x="571500" y="381000"/>
            <a:ext cx="8001000"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ROADMAP TO SUCCESS</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900"/>
              </a:spcBef>
              <a:spcAft>
                <a:spcPts val="900"/>
              </a:spcAft>
              <a:buNone/>
            </a:pPr>
            <a:r>
              <a:rPr lang="en-GB" sz="2700" b="0" i="0" u="none" strike="noStrike">
                <a:solidFill>
                  <a:srgbClr val="0B132B"/>
                </a:solidFill>
                <a:latin typeface="Poppins SemiBold"/>
                <a:ea typeface="Poppins SemiBold"/>
                <a:cs typeface="Poppins SemiBold"/>
                <a:sym typeface="Poppins SemiBold"/>
              </a:rPr>
              <a:t>Session Agenda</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84" name="Google Shape;84;p15"/>
          <p:cNvGrpSpPr/>
          <p:nvPr/>
        </p:nvGrpSpPr>
        <p:grpSpPr>
          <a:xfrm>
            <a:off x="323850" y="2085975"/>
            <a:ext cx="8486850" cy="2657588"/>
            <a:chOff x="-247650" y="133350"/>
            <a:chExt cx="8486850" cy="2657588"/>
          </a:xfrm>
        </p:grpSpPr>
        <p:pic>
          <p:nvPicPr>
            <p:cNvPr id="85" name="Google Shape;85;p15"/>
            <p:cNvPicPr preferRelativeResize="0"/>
            <p:nvPr/>
          </p:nvPicPr>
          <p:blipFill rotWithShape="1">
            <a:blip r:embed="rId4"/>
            <a:srcRect/>
            <a:stretch>
              <a:fillRect/>
            </a:stretch>
          </p:blipFill>
          <p:spPr>
            <a:xfrm>
              <a:off x="881063" y="361950"/>
              <a:ext cx="6191400" cy="38100"/>
            </a:xfrm>
            <a:prstGeom prst="rect">
              <a:avLst/>
            </a:prstGeom>
            <a:noFill/>
            <a:ln>
              <a:noFill/>
            </a:ln>
          </p:spPr>
        </p:pic>
        <p:grpSp>
          <p:nvGrpSpPr>
            <p:cNvPr id="86" name="Google Shape;86;p15"/>
            <p:cNvGrpSpPr/>
            <p:nvPr/>
          </p:nvGrpSpPr>
          <p:grpSpPr>
            <a:xfrm>
              <a:off x="-247650" y="133350"/>
              <a:ext cx="2257500" cy="2657588"/>
              <a:chOff x="-247650" y="133350"/>
              <a:chExt cx="2257500" cy="2657588"/>
            </a:xfrm>
          </p:grpSpPr>
          <p:pic>
            <p:nvPicPr>
              <p:cNvPr id="87" name="Google Shape;87;p15"/>
              <p:cNvPicPr preferRelativeResize="0"/>
              <p:nvPr/>
            </p:nvPicPr>
            <p:blipFill rotWithShape="1">
              <a:blip r:embed="rId5"/>
              <a:srcRect/>
              <a:stretch>
                <a:fillRect/>
              </a:stretch>
            </p:blipFill>
            <p:spPr>
              <a:xfrm>
                <a:off x="-247650" y="223838"/>
                <a:ext cx="2257500" cy="2567100"/>
              </a:xfrm>
              <a:prstGeom prst="rect">
                <a:avLst/>
              </a:prstGeom>
              <a:noFill/>
              <a:ln>
                <a:noFill/>
              </a:ln>
            </p:spPr>
          </p:pic>
          <p:sp>
            <p:nvSpPr>
              <p:cNvPr id="88" name="Google Shape;88;p15"/>
              <p:cNvSpPr/>
              <p:nvPr/>
            </p:nvSpPr>
            <p:spPr>
              <a:xfrm>
                <a:off x="0" y="381000"/>
                <a:ext cx="1762200" cy="76200"/>
              </a:xfrm>
              <a:prstGeom prst="roundRect">
                <a:avLst>
                  <a:gd name="adj" fmla="val 50000"/>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9" name="Google Shape;89;p15"/>
              <p:cNvSpPr/>
              <p:nvPr/>
            </p:nvSpPr>
            <p:spPr>
              <a:xfrm>
                <a:off x="633413" y="133350"/>
                <a:ext cx="495300" cy="495300"/>
              </a:xfrm>
              <a:prstGeom prst="ellipse">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0" name="Google Shape;90;p15"/>
              <p:cNvSpPr txBox="1"/>
              <p:nvPr/>
            </p:nvSpPr>
            <p:spPr>
              <a:xfrm>
                <a:off x="633413" y="133350"/>
                <a:ext cx="495300" cy="495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500" b="0">
                    <a:solidFill>
                      <a:srgbClr val="FFFFFF"/>
                    </a:solidFill>
                    <a:latin typeface="Poppins ExtraBold"/>
                    <a:ea typeface="Poppins ExtraBold"/>
                    <a:cs typeface="Poppins ExtraBold"/>
                    <a:sym typeface="Poppins ExtraBold"/>
                  </a:rPr>
                  <a:t>1</a:t>
                </a:r>
              </a:p>
            </p:txBody>
          </p:sp>
          <p:sp>
            <p:nvSpPr>
              <p:cNvPr id="91" name="Google Shape;91;p15"/>
              <p:cNvSpPr txBox="1"/>
              <p:nvPr/>
            </p:nvSpPr>
            <p:spPr>
              <a:xfrm>
                <a:off x="142875" y="762000"/>
                <a:ext cx="1476300" cy="1524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350" b="1" dirty="0">
                    <a:solidFill>
                      <a:srgbClr val="0B132B"/>
                    </a:solidFill>
                    <a:latin typeface="Poppins" panose="00000800000000000000"/>
                    <a:ea typeface="Poppins" panose="00000800000000000000"/>
                    <a:cs typeface="Poppins" panose="00000800000000000000"/>
                    <a:sym typeface="Poppins" panose="00000800000000000000"/>
                  </a:rPr>
                  <a:t>The Selection Funnel</a:t>
                </a:r>
                <a:endParaRPr sz="1350" b="1" dirty="0">
                  <a:solidFill>
                    <a:srgbClr val="0B132B"/>
                  </a:solidFill>
                  <a:latin typeface="Poppins" panose="00000800000000000000"/>
                  <a:ea typeface="Poppins" panose="00000800000000000000"/>
                  <a:cs typeface="Poppins" panose="00000800000000000000"/>
                  <a:sym typeface="Poppins" panose="00000800000000000000"/>
                </a:endParaRPr>
              </a:p>
            </p:txBody>
          </p:sp>
        </p:grpSp>
        <p:grpSp>
          <p:nvGrpSpPr>
            <p:cNvPr id="92" name="Google Shape;92;p15"/>
            <p:cNvGrpSpPr/>
            <p:nvPr/>
          </p:nvGrpSpPr>
          <p:grpSpPr>
            <a:xfrm>
              <a:off x="1828800" y="133350"/>
              <a:ext cx="2257500" cy="2657588"/>
              <a:chOff x="-247650" y="133350"/>
              <a:chExt cx="2257500" cy="2657588"/>
            </a:xfrm>
          </p:grpSpPr>
          <p:pic>
            <p:nvPicPr>
              <p:cNvPr id="93" name="Google Shape;93;p15"/>
              <p:cNvPicPr preferRelativeResize="0"/>
              <p:nvPr/>
            </p:nvPicPr>
            <p:blipFill rotWithShape="1">
              <a:blip r:embed="rId5"/>
              <a:srcRect/>
              <a:stretch>
                <a:fillRect/>
              </a:stretch>
            </p:blipFill>
            <p:spPr>
              <a:xfrm>
                <a:off x="-247650" y="223838"/>
                <a:ext cx="2257500" cy="2567100"/>
              </a:xfrm>
              <a:prstGeom prst="rect">
                <a:avLst/>
              </a:prstGeom>
              <a:noFill/>
              <a:ln>
                <a:noFill/>
              </a:ln>
            </p:spPr>
          </p:pic>
          <p:sp>
            <p:nvSpPr>
              <p:cNvPr id="94" name="Google Shape;94;p15"/>
              <p:cNvSpPr/>
              <p:nvPr/>
            </p:nvSpPr>
            <p:spPr>
              <a:xfrm>
                <a:off x="0" y="381000"/>
                <a:ext cx="1762200" cy="762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5" name="Google Shape;95;p15"/>
              <p:cNvSpPr/>
              <p:nvPr/>
            </p:nvSpPr>
            <p:spPr>
              <a:xfrm>
                <a:off x="633413" y="133350"/>
                <a:ext cx="495300" cy="495300"/>
              </a:xfrm>
              <a:prstGeom prst="ellipse">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6" name="Google Shape;96;p15"/>
              <p:cNvSpPr txBox="1"/>
              <p:nvPr/>
            </p:nvSpPr>
            <p:spPr>
              <a:xfrm>
                <a:off x="633413" y="133350"/>
                <a:ext cx="495300" cy="495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500" b="0">
                    <a:solidFill>
                      <a:srgbClr val="FFFFFF"/>
                    </a:solidFill>
                    <a:latin typeface="Poppins ExtraBold"/>
                    <a:ea typeface="Poppins ExtraBold"/>
                    <a:cs typeface="Poppins ExtraBold"/>
                    <a:sym typeface="Poppins ExtraBold"/>
                  </a:rPr>
                  <a:t>2</a:t>
                </a:r>
              </a:p>
            </p:txBody>
          </p:sp>
          <p:sp>
            <p:nvSpPr>
              <p:cNvPr id="97" name="Google Shape;97;p15"/>
              <p:cNvSpPr txBox="1"/>
              <p:nvPr/>
            </p:nvSpPr>
            <p:spPr>
              <a:xfrm>
                <a:off x="142875" y="753836"/>
                <a:ext cx="1476300" cy="1524000"/>
              </a:xfrm>
              <a:prstGeom prst="rect">
                <a:avLst/>
              </a:prstGeom>
              <a:noFill/>
              <a:ln>
                <a:noFill/>
              </a:ln>
            </p:spPr>
            <p:txBody>
              <a:bodyPr spcFirstLastPara="1" wrap="square" lIns="0" tIns="0" rIns="0" bIns="0" anchor="ctr" anchorCtr="0">
                <a:noAutofit/>
              </a:bodyPr>
              <a:lstStyle/>
              <a:p>
                <a:pPr lvl="0" algn="ctr"/>
                <a:r>
                  <a:rPr lang="en-GB" sz="1350" b="1" dirty="0">
                    <a:solidFill>
                      <a:srgbClr val="0B132B"/>
                    </a:solidFill>
                    <a:latin typeface="Poppins" panose="00000800000000000000"/>
                    <a:ea typeface="Poppins" panose="00000800000000000000"/>
                    <a:cs typeface="Poppins" panose="00000800000000000000"/>
                    <a:sym typeface="Poppins" panose="00000800000000000000"/>
                  </a:rPr>
                  <a:t>Aptitude </a:t>
                </a:r>
              </a:p>
              <a:p>
                <a:pPr lvl="0" algn="ctr"/>
                <a:r>
                  <a:rPr lang="en-GB" sz="1350" b="1" dirty="0">
                    <a:solidFill>
                      <a:srgbClr val="0B132B"/>
                    </a:solidFill>
                    <a:latin typeface="Poppins" panose="00000800000000000000"/>
                    <a:ea typeface="Poppins" panose="00000800000000000000"/>
                    <a:cs typeface="Poppins" panose="00000800000000000000"/>
                    <a:sym typeface="Poppins" panose="00000800000000000000"/>
                  </a:rPr>
                  <a:t>&amp;</a:t>
                </a:r>
              </a:p>
              <a:p>
                <a:pPr lvl="0" algn="ctr"/>
                <a:r>
                  <a:rPr lang="en-GB" sz="1350" b="1" dirty="0">
                    <a:solidFill>
                      <a:srgbClr val="0B132B"/>
                    </a:solidFill>
                    <a:latin typeface="Poppins" panose="00000800000000000000"/>
                    <a:ea typeface="Poppins" panose="00000800000000000000"/>
                    <a:cs typeface="Poppins" panose="00000800000000000000"/>
                    <a:sym typeface="Poppins" panose="00000800000000000000"/>
                  </a:rPr>
                  <a:t> Coding rounds Preparation</a:t>
                </a:r>
                <a:endParaRPr sz="1350" b="1" dirty="0">
                  <a:solidFill>
                    <a:srgbClr val="0B132B"/>
                  </a:solidFill>
                  <a:latin typeface="Poppins" panose="00000800000000000000"/>
                  <a:ea typeface="Poppins" panose="00000800000000000000"/>
                  <a:cs typeface="Poppins" panose="00000800000000000000"/>
                  <a:sym typeface="Poppins" panose="00000800000000000000"/>
                </a:endParaRPr>
              </a:p>
            </p:txBody>
          </p:sp>
        </p:grpSp>
        <p:grpSp>
          <p:nvGrpSpPr>
            <p:cNvPr id="98" name="Google Shape;98;p15"/>
            <p:cNvGrpSpPr/>
            <p:nvPr/>
          </p:nvGrpSpPr>
          <p:grpSpPr>
            <a:xfrm>
              <a:off x="3905250" y="133350"/>
              <a:ext cx="2257500" cy="2657588"/>
              <a:chOff x="-247650" y="133350"/>
              <a:chExt cx="2257500" cy="2657588"/>
            </a:xfrm>
          </p:grpSpPr>
          <p:pic>
            <p:nvPicPr>
              <p:cNvPr id="99" name="Google Shape;99;p15"/>
              <p:cNvPicPr preferRelativeResize="0"/>
              <p:nvPr/>
            </p:nvPicPr>
            <p:blipFill rotWithShape="1">
              <a:blip r:embed="rId5"/>
              <a:srcRect/>
              <a:stretch>
                <a:fillRect/>
              </a:stretch>
            </p:blipFill>
            <p:spPr>
              <a:xfrm>
                <a:off x="-247650" y="223838"/>
                <a:ext cx="2257500" cy="2567100"/>
              </a:xfrm>
              <a:prstGeom prst="rect">
                <a:avLst/>
              </a:prstGeom>
              <a:noFill/>
              <a:ln>
                <a:noFill/>
              </a:ln>
            </p:spPr>
          </p:pic>
          <p:sp>
            <p:nvSpPr>
              <p:cNvPr id="100" name="Google Shape;100;p15"/>
              <p:cNvSpPr/>
              <p:nvPr/>
            </p:nvSpPr>
            <p:spPr>
              <a:xfrm>
                <a:off x="0" y="381000"/>
                <a:ext cx="1762200" cy="762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1" name="Google Shape;101;p15"/>
              <p:cNvSpPr/>
              <p:nvPr/>
            </p:nvSpPr>
            <p:spPr>
              <a:xfrm>
                <a:off x="633413" y="133350"/>
                <a:ext cx="495300" cy="495300"/>
              </a:xfrm>
              <a:prstGeom prst="ellipse">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2" name="Google Shape;102;p15"/>
              <p:cNvSpPr txBox="1"/>
              <p:nvPr/>
            </p:nvSpPr>
            <p:spPr>
              <a:xfrm>
                <a:off x="633413" y="133350"/>
                <a:ext cx="495300" cy="495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500" b="0">
                    <a:solidFill>
                      <a:srgbClr val="0B132B"/>
                    </a:solidFill>
                    <a:latin typeface="Poppins ExtraBold"/>
                    <a:ea typeface="Poppins ExtraBold"/>
                    <a:cs typeface="Poppins ExtraBold"/>
                    <a:sym typeface="Poppins ExtraBold"/>
                  </a:rPr>
                  <a:t>3</a:t>
                </a:r>
              </a:p>
            </p:txBody>
          </p:sp>
          <p:sp>
            <p:nvSpPr>
              <p:cNvPr id="103" name="Google Shape;103;p15"/>
              <p:cNvSpPr txBox="1"/>
              <p:nvPr/>
            </p:nvSpPr>
            <p:spPr>
              <a:xfrm>
                <a:off x="142875" y="762000"/>
                <a:ext cx="1476300" cy="1524000"/>
              </a:xfrm>
              <a:prstGeom prst="rect">
                <a:avLst/>
              </a:prstGeom>
              <a:noFill/>
              <a:ln>
                <a:noFill/>
              </a:ln>
            </p:spPr>
            <p:txBody>
              <a:bodyPr spcFirstLastPara="1" wrap="square" lIns="0" tIns="0" rIns="0" bIns="0" anchor="ctr" anchorCtr="0">
                <a:noAutofit/>
              </a:bodyPr>
              <a:lstStyle/>
              <a:p>
                <a:pPr algn="ctr"/>
                <a:r>
                  <a:rPr lang="en-GB" sz="1350" b="1" dirty="0">
                    <a:solidFill>
                      <a:srgbClr val="0B132B"/>
                    </a:solidFill>
                    <a:latin typeface="Poppins" panose="00000800000000000000"/>
                    <a:ea typeface="Poppins" panose="00000800000000000000"/>
                    <a:cs typeface="Poppins" panose="00000800000000000000"/>
                    <a:sym typeface="Poppins" panose="00000800000000000000"/>
                  </a:rPr>
                  <a:t>Technical Interview process </a:t>
                </a:r>
              </a:p>
              <a:p>
                <a:pPr algn="ctr"/>
                <a:r>
                  <a:rPr lang="en-GB" sz="1350" b="1" dirty="0">
                    <a:solidFill>
                      <a:srgbClr val="0B132B"/>
                    </a:solidFill>
                    <a:latin typeface="Poppins" panose="00000800000000000000"/>
                    <a:ea typeface="Poppins" panose="00000800000000000000"/>
                    <a:cs typeface="Poppins" panose="00000800000000000000"/>
                    <a:sym typeface="Poppins" panose="00000800000000000000"/>
                  </a:rPr>
                  <a:t>&amp;</a:t>
                </a:r>
              </a:p>
              <a:p>
                <a:pPr algn="ctr"/>
                <a:r>
                  <a:rPr lang="en-GB" sz="1350" b="1" dirty="0">
                    <a:solidFill>
                      <a:srgbClr val="0B132B"/>
                    </a:solidFill>
                    <a:latin typeface="Poppins" panose="00000800000000000000"/>
                    <a:ea typeface="Poppins" panose="00000800000000000000"/>
                    <a:cs typeface="Poppins" panose="00000800000000000000"/>
                    <a:sym typeface="Poppins" panose="00000800000000000000"/>
                  </a:rPr>
                  <a:t> preparation</a:t>
                </a:r>
              </a:p>
            </p:txBody>
          </p:sp>
        </p:grpSp>
        <p:grpSp>
          <p:nvGrpSpPr>
            <p:cNvPr id="104" name="Google Shape;104;p15"/>
            <p:cNvGrpSpPr/>
            <p:nvPr/>
          </p:nvGrpSpPr>
          <p:grpSpPr>
            <a:xfrm>
              <a:off x="5981700" y="133350"/>
              <a:ext cx="2257500" cy="2657588"/>
              <a:chOff x="-247650" y="133350"/>
              <a:chExt cx="2257500" cy="2657588"/>
            </a:xfrm>
          </p:grpSpPr>
          <p:pic>
            <p:nvPicPr>
              <p:cNvPr id="105" name="Google Shape;105;p15"/>
              <p:cNvPicPr preferRelativeResize="0"/>
              <p:nvPr/>
            </p:nvPicPr>
            <p:blipFill rotWithShape="1">
              <a:blip r:embed="rId5"/>
              <a:srcRect/>
              <a:stretch>
                <a:fillRect/>
              </a:stretch>
            </p:blipFill>
            <p:spPr>
              <a:xfrm>
                <a:off x="-247650" y="223838"/>
                <a:ext cx="2257500" cy="2567100"/>
              </a:xfrm>
              <a:prstGeom prst="rect">
                <a:avLst/>
              </a:prstGeom>
              <a:noFill/>
              <a:ln>
                <a:noFill/>
              </a:ln>
            </p:spPr>
          </p:pic>
          <p:sp>
            <p:nvSpPr>
              <p:cNvPr id="106" name="Google Shape;106;p15"/>
              <p:cNvSpPr/>
              <p:nvPr/>
            </p:nvSpPr>
            <p:spPr>
              <a:xfrm>
                <a:off x="0" y="381000"/>
                <a:ext cx="1762200" cy="76200"/>
              </a:xfrm>
              <a:prstGeom prst="roundRect">
                <a:avLst>
                  <a:gd name="adj" fmla="val 50000"/>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7" name="Google Shape;107;p15"/>
              <p:cNvSpPr/>
              <p:nvPr/>
            </p:nvSpPr>
            <p:spPr>
              <a:xfrm>
                <a:off x="633413" y="133350"/>
                <a:ext cx="495300" cy="495300"/>
              </a:xfrm>
              <a:prstGeom prst="ellipse">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dirty="0"/>
              </a:p>
            </p:txBody>
          </p:sp>
          <p:sp>
            <p:nvSpPr>
              <p:cNvPr id="108" name="Google Shape;108;p15"/>
              <p:cNvSpPr txBox="1"/>
              <p:nvPr/>
            </p:nvSpPr>
            <p:spPr>
              <a:xfrm>
                <a:off x="633413" y="133350"/>
                <a:ext cx="495300" cy="495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500" b="0" dirty="0">
                    <a:solidFill>
                      <a:srgbClr val="FFFFFF"/>
                    </a:solidFill>
                    <a:latin typeface="Poppins ExtraBold"/>
                    <a:ea typeface="Poppins ExtraBold"/>
                    <a:cs typeface="Poppins ExtraBold"/>
                    <a:sym typeface="Poppins ExtraBold"/>
                  </a:rPr>
                  <a:t>4</a:t>
                </a:r>
              </a:p>
            </p:txBody>
          </p:sp>
          <p:sp>
            <p:nvSpPr>
              <p:cNvPr id="109" name="Google Shape;109;p15"/>
              <p:cNvSpPr txBox="1"/>
              <p:nvPr/>
            </p:nvSpPr>
            <p:spPr>
              <a:xfrm>
                <a:off x="142875" y="762000"/>
                <a:ext cx="1476300" cy="1524000"/>
              </a:xfrm>
              <a:prstGeom prst="rect">
                <a:avLst/>
              </a:prstGeom>
              <a:noFill/>
              <a:ln>
                <a:noFill/>
              </a:ln>
            </p:spPr>
            <p:txBody>
              <a:bodyPr spcFirstLastPara="1" wrap="square" lIns="0" tIns="0" rIns="0" bIns="0" anchor="ctr" anchorCtr="0">
                <a:noAutofit/>
              </a:bodyPr>
              <a:lstStyle/>
              <a:p>
                <a:pPr algn="ctr"/>
                <a:r>
                  <a:rPr lang="en-GB" sz="1350" b="1" dirty="0">
                    <a:solidFill>
                      <a:srgbClr val="0B132B"/>
                    </a:solidFill>
                    <a:latin typeface="Poppins" panose="00000800000000000000"/>
                    <a:ea typeface="Poppins" panose="00000800000000000000"/>
                    <a:cs typeface="Poppins" panose="00000800000000000000"/>
                    <a:sym typeface="Poppins" panose="00000800000000000000"/>
                  </a:rPr>
                  <a:t>Resume Readiness </a:t>
                </a:r>
              </a:p>
              <a:p>
                <a:pPr algn="ctr"/>
                <a:r>
                  <a:rPr lang="en-GB" sz="1350" b="1" dirty="0">
                    <a:solidFill>
                      <a:srgbClr val="0B132B"/>
                    </a:solidFill>
                    <a:latin typeface="Poppins" panose="00000800000000000000"/>
                    <a:ea typeface="Poppins" panose="00000800000000000000"/>
                    <a:cs typeface="Poppins" panose="00000800000000000000"/>
                    <a:sym typeface="Poppins" panose="00000800000000000000"/>
                  </a:rPr>
                  <a:t>&amp;</a:t>
                </a:r>
              </a:p>
              <a:p>
                <a:pPr algn="ctr"/>
                <a:r>
                  <a:rPr lang="en-GB" sz="1350" b="1" dirty="0">
                    <a:solidFill>
                      <a:srgbClr val="0B132B"/>
                    </a:solidFill>
                    <a:latin typeface="Poppins" panose="00000800000000000000"/>
                    <a:ea typeface="Poppins" panose="00000800000000000000"/>
                    <a:cs typeface="Poppins" panose="00000800000000000000"/>
                    <a:sym typeface="Poppins" panose="00000800000000000000"/>
                  </a:rPr>
                  <a:t> Strategy</a:t>
                </a:r>
              </a:p>
            </p:txBody>
          </p:sp>
        </p:grpSp>
      </p:grpSp>
      <p:cxnSp>
        <p:nvCxnSpPr>
          <p:cNvPr id="2" name="Google Shape;93;p15"/>
          <p:cNvCxnSpPr/>
          <p:nvPr/>
        </p:nvCxnSpPr>
        <p:spPr>
          <a:xfrm>
            <a:off x="381000" y="125984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oogle Shape;78;p15"/>
          <p:cNvGrpSpPr/>
          <p:nvPr/>
        </p:nvGrpSpPr>
        <p:grpSpPr>
          <a:xfrm>
            <a:off x="0" y="0"/>
            <a:ext cx="9144150" cy="5143650"/>
            <a:chOff x="0" y="0"/>
            <a:chExt cx="9144150" cy="5143650"/>
          </a:xfrm>
        </p:grpSpPr>
        <p:sp>
          <p:nvSpPr>
            <p:cNvPr id="79" name="Google Shape;79;p15"/>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p:cNvPicPr preferRelativeResize="0"/>
            <p:nvPr/>
          </p:nvPicPr>
          <p:blipFill rotWithShape="1">
            <a:blip r:embed="rId2"/>
            <a:srcRect/>
            <a:stretch>
              <a:fillRect/>
            </a:stretch>
          </p:blipFill>
          <p:spPr>
            <a:xfrm>
              <a:off x="4763" y="4763"/>
              <a:ext cx="8982000" cy="4981500"/>
            </a:xfrm>
            <a:prstGeom prst="rect">
              <a:avLst/>
            </a:prstGeom>
            <a:noFill/>
            <a:ln>
              <a:noFill/>
            </a:ln>
          </p:spPr>
        </p:pic>
        <p:sp>
          <p:nvSpPr>
            <p:cNvPr id="81" name="Google Shape;81;p15"/>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pic>
        <p:nvPicPr>
          <p:cNvPr id="6" name="Picture 5"/>
          <p:cNvPicPr>
            <a:picLocks noChangeAspect="1"/>
          </p:cNvPicPr>
          <p:nvPr/>
        </p:nvPicPr>
        <p:blipFill>
          <a:blip r:embed="rId3"/>
          <a:stretch>
            <a:fillRect/>
          </a:stretch>
        </p:blipFill>
        <p:spPr>
          <a:xfrm>
            <a:off x="562531" y="1551094"/>
            <a:ext cx="1781424" cy="1714739"/>
          </a:xfrm>
          <a:prstGeom prst="rect">
            <a:avLst/>
          </a:prstGeom>
        </p:spPr>
      </p:pic>
      <p:pic>
        <p:nvPicPr>
          <p:cNvPr id="8" name="Picture 7"/>
          <p:cNvPicPr>
            <a:picLocks noChangeAspect="1"/>
          </p:cNvPicPr>
          <p:nvPr/>
        </p:nvPicPr>
        <p:blipFill>
          <a:blip r:embed="rId4"/>
          <a:stretch>
            <a:fillRect/>
          </a:stretch>
        </p:blipFill>
        <p:spPr>
          <a:xfrm>
            <a:off x="2629457" y="1512988"/>
            <a:ext cx="1762371" cy="1752845"/>
          </a:xfrm>
          <a:prstGeom prst="rect">
            <a:avLst/>
          </a:prstGeom>
        </p:spPr>
      </p:pic>
      <p:pic>
        <p:nvPicPr>
          <p:cNvPr id="12" name="Picture 11"/>
          <p:cNvPicPr>
            <a:picLocks noChangeAspect="1"/>
          </p:cNvPicPr>
          <p:nvPr/>
        </p:nvPicPr>
        <p:blipFill>
          <a:blip r:embed="rId5"/>
          <a:stretch>
            <a:fillRect/>
          </a:stretch>
        </p:blipFill>
        <p:spPr>
          <a:xfrm>
            <a:off x="6619873" y="1484408"/>
            <a:ext cx="1771897" cy="1810003"/>
          </a:xfrm>
          <a:prstGeom prst="rect">
            <a:avLst/>
          </a:prstGeom>
        </p:spPr>
      </p:pic>
      <p:sp>
        <p:nvSpPr>
          <p:cNvPr id="118" name="Google Shape;118;p16"/>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600"/>
              </a:spcBef>
              <a:spcAft>
                <a:spcPts val="600"/>
              </a:spcAft>
              <a:buNone/>
            </a:pPr>
            <a:r>
              <a:rPr lang="en-US" sz="1800" b="1" i="0" u="none" strike="noStrike" dirty="0">
                <a:solidFill>
                  <a:srgbClr val="FF5733"/>
                </a:solidFill>
                <a:latin typeface="Poppins" panose="00000800000000000000"/>
                <a:ea typeface="Poppins" panose="00000800000000000000"/>
                <a:cs typeface="Poppins" panose="00000800000000000000"/>
                <a:sym typeface="Poppins" panose="00000800000000000000"/>
              </a:rPr>
              <a:t>LET’S GET STARTED</a:t>
            </a:r>
          </a:p>
          <a:p>
            <a:pPr marL="0" lvl="0" indent="0" algn="l" rtl="0">
              <a:spcBef>
                <a:spcPts val="600"/>
              </a:spcBef>
              <a:spcAft>
                <a:spcPts val="600"/>
              </a:spcAft>
              <a:buNone/>
            </a:pPr>
            <a:r>
              <a:rPr lang="en-US" altLang="en-GB" sz="2700" b="0" i="0" u="none" strike="noStrike" dirty="0">
                <a:solidFill>
                  <a:srgbClr val="0B132B"/>
                </a:solidFill>
                <a:latin typeface="Poppins SemiBold"/>
                <a:ea typeface="Poppins SemiBold"/>
                <a:cs typeface="Poppins SemiBold"/>
                <a:sym typeface="Poppins SemiBold"/>
              </a:rPr>
              <a:t>Quick Question</a:t>
            </a:r>
          </a:p>
        </p:txBody>
      </p:sp>
      <p:cxnSp>
        <p:nvCxnSpPr>
          <p:cNvPr id="93" name="Google Shape;93;p15"/>
          <p:cNvCxnSpPr/>
          <p:nvPr/>
        </p:nvCxnSpPr>
        <p:spPr>
          <a:xfrm>
            <a:off x="381000"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pic>
        <p:nvPicPr>
          <p:cNvPr id="3" name="Picture 2"/>
          <p:cNvPicPr>
            <a:picLocks noChangeAspect="1"/>
          </p:cNvPicPr>
          <p:nvPr/>
        </p:nvPicPr>
        <p:blipFill>
          <a:blip r:embed="rId6"/>
          <a:stretch>
            <a:fillRect/>
          </a:stretch>
        </p:blipFill>
        <p:spPr>
          <a:xfrm>
            <a:off x="1877695" y="3637280"/>
            <a:ext cx="4742180" cy="1042035"/>
          </a:xfrm>
          <a:prstGeom prst="rect">
            <a:avLst/>
          </a:prstGeom>
        </p:spPr>
      </p:pic>
      <p:pic>
        <p:nvPicPr>
          <p:cNvPr id="5" name="Picture 4"/>
          <p:cNvPicPr>
            <a:picLocks noChangeAspect="1"/>
          </p:cNvPicPr>
          <p:nvPr/>
        </p:nvPicPr>
        <p:blipFill>
          <a:blip r:embed="rId7"/>
          <a:stretch>
            <a:fillRect/>
          </a:stretch>
        </p:blipFill>
        <p:spPr>
          <a:xfrm>
            <a:off x="4677410" y="1551305"/>
            <a:ext cx="1714500" cy="1714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down)">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down)">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down)">
                                      <p:cBhvr>
                                        <p:cTn id="22" dur="5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0" presetClass="entr" presetSubtype="0" fill="hold" nodeType="clickEffect">
                                  <p:stCondLst>
                                    <p:cond delay="0"/>
                                  </p:stCondLst>
                                  <p:childTnLst>
                                    <p:set>
                                      <p:cBhvr>
                                        <p:cTn id="26" dur="1" fill="hold">
                                          <p:stCondLst>
                                            <p:cond delay="0"/>
                                          </p:stCondLst>
                                        </p:cTn>
                                        <p:tgtEl>
                                          <p:spTgt spid="3"/>
                                        </p:tgtEl>
                                        <p:attrNameLst>
                                          <p:attrName>style.visibility</p:attrName>
                                        </p:attrNameLst>
                                      </p:cBhvr>
                                      <p:to>
                                        <p:strVal val="visible"/>
                                      </p:to>
                                    </p:set>
                                    <p:animEffect transition="in" filter="wedge">
                                      <p:cBhvr>
                                        <p:cTn id="2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3" name="Google Shape;253;p21"/>
          <p:cNvPicPr preferRelativeResize="0"/>
          <p:nvPr/>
        </p:nvPicPr>
        <p:blipFill rotWithShape="1">
          <a:blip r:embed="rId2"/>
          <a:srcRect/>
          <a:stretch>
            <a:fillRect/>
          </a:stretch>
        </p:blipFill>
        <p:spPr>
          <a:xfrm>
            <a:off x="4688" y="9525"/>
            <a:ext cx="8982075" cy="5124450"/>
          </a:xfrm>
          <a:prstGeom prst="rect">
            <a:avLst/>
          </a:prstGeom>
          <a:noFill/>
          <a:ln>
            <a:noFill/>
          </a:ln>
        </p:spPr>
      </p:pic>
      <p:grpSp>
        <p:nvGrpSpPr>
          <p:cNvPr id="78" name="Google Shape;78;p15"/>
          <p:cNvGrpSpPr/>
          <p:nvPr/>
        </p:nvGrpSpPr>
        <p:grpSpPr>
          <a:xfrm>
            <a:off x="0" y="0"/>
            <a:ext cx="9144150" cy="5143650"/>
            <a:chOff x="0" y="0"/>
            <a:chExt cx="9144150" cy="5143650"/>
          </a:xfrm>
        </p:grpSpPr>
        <p:sp>
          <p:nvSpPr>
            <p:cNvPr id="79" name="Google Shape;79;p15"/>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81" name="Google Shape;81;p15"/>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4" name="Text Placeholder 3"/>
          <p:cNvSpPr>
            <a:spLocks noGrp="1"/>
          </p:cNvSpPr>
          <p:nvPr>
            <p:ph type="body" idx="1"/>
          </p:nvPr>
        </p:nvSpPr>
        <p:spPr>
          <a:xfrm>
            <a:off x="311785" y="1152526"/>
            <a:ext cx="8520430" cy="1213758"/>
          </a:xfrm>
        </p:spPr>
        <p:txBody>
          <a:bodyPr>
            <a:normAutofit/>
          </a:bodyPr>
          <a:lstStyle/>
          <a:p>
            <a:pPr marL="114300" indent="0">
              <a:buNone/>
            </a:pPr>
            <a:endParaRPr lang="en-US" altLang="en-US" dirty="0"/>
          </a:p>
          <a:p>
            <a:pPr marL="114300" indent="0">
              <a:buNone/>
            </a:pPr>
            <a:r>
              <a:rPr lang="en-US" altLang="en-US" dirty="0"/>
              <a:t>✔ Technical fundamentals</a:t>
            </a:r>
          </a:p>
          <a:p>
            <a:pPr marL="114300" indent="0">
              <a:buNone/>
            </a:pPr>
            <a:r>
              <a:rPr lang="en-US" altLang="en-US" dirty="0"/>
              <a:t>✔ Problem solving</a:t>
            </a:r>
          </a:p>
          <a:p>
            <a:pPr marL="114300" indent="0">
              <a:buNone/>
            </a:pPr>
            <a:endParaRPr lang="en-US" altLang="en-US" dirty="0"/>
          </a:p>
        </p:txBody>
      </p:sp>
      <p:sp>
        <p:nvSpPr>
          <p:cNvPr id="118" name="Google Shape;118;p16"/>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600"/>
              </a:spcBef>
              <a:spcAft>
                <a:spcPts val="600"/>
              </a:spcAft>
              <a:buNone/>
            </a:pPr>
            <a:r>
              <a:rPr lang="en-US" sz="1800" b="1" dirty="0">
                <a:solidFill>
                  <a:srgbClr val="FF5733"/>
                </a:solidFill>
                <a:latin typeface="Poppins" panose="00000800000000000000"/>
                <a:ea typeface="Poppins" panose="00000800000000000000"/>
                <a:cs typeface="Poppins" panose="00000800000000000000"/>
                <a:sym typeface="Poppins" panose="00000800000000000000"/>
              </a:rPr>
              <a:t>LET’S GET STARTED</a:t>
            </a:r>
            <a:endParaRPr lang="en-US"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US" sz="2700" dirty="0">
                <a:sym typeface="+mn-ea"/>
              </a:rPr>
              <a:t>What Companies Actually Look For</a:t>
            </a:r>
            <a:endParaRPr lang="en-US" altLang="en-GB" sz="2700" b="0" i="0" u="none" strike="noStrike" dirty="0">
              <a:solidFill>
                <a:srgbClr val="0B132B"/>
              </a:solidFill>
              <a:latin typeface="Poppins SemiBold"/>
              <a:ea typeface="Poppins SemiBold"/>
              <a:cs typeface="Poppins SemiBold"/>
              <a:sym typeface="Poppins SemiBold"/>
            </a:endParaRPr>
          </a:p>
        </p:txBody>
      </p:sp>
      <p:cxnSp>
        <p:nvCxnSpPr>
          <p:cNvPr id="93" name="Google Shape;93;p15"/>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 name="Text Placeholder 3">
            <a:extLst>
              <a:ext uri="{FF2B5EF4-FFF2-40B4-BE49-F238E27FC236}">
                <a16:creationId xmlns:a16="http://schemas.microsoft.com/office/drawing/2014/main" id="{B31CF35A-DB7C-AE75-8B1F-BB0BBEA63A04}"/>
              </a:ext>
            </a:extLst>
          </p:cNvPr>
          <p:cNvSpPr txBox="1">
            <a:spLocks/>
          </p:cNvSpPr>
          <p:nvPr/>
        </p:nvSpPr>
        <p:spPr>
          <a:xfrm>
            <a:off x="620349" y="3430438"/>
            <a:ext cx="7763193" cy="1379762"/>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panose="020B0604020202090204"/>
              <a:buChar char="●"/>
              <a:defRPr sz="1800" b="0" i="0" u="none" strike="noStrike" cap="none">
                <a:solidFill>
                  <a:schemeClr val="dk2"/>
                </a:solidFill>
                <a:latin typeface="Arial" panose="020B0604020202090204"/>
                <a:ea typeface="Arial" panose="020B0604020202090204"/>
                <a:cs typeface="Arial" panose="020B0604020202090204"/>
                <a:sym typeface="Arial" panose="020B0604020202090204"/>
              </a:defRPr>
            </a:lvl1pPr>
            <a:lvl2pPr marL="914400" marR="0" lvl="1"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2pPr>
            <a:lvl3pPr marL="1371600" marR="0" lvl="2"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9pPr>
          </a:lstStyle>
          <a:p>
            <a:endParaRPr lang="en-US" altLang="en-US" dirty="0"/>
          </a:p>
          <a:p>
            <a:pPr marL="114300" indent="0">
              <a:buFont typeface="Arial" panose="020B0604020202090204"/>
              <a:buNone/>
            </a:pPr>
            <a:r>
              <a:rPr lang="en-US" altLang="en-US" sz="3200" dirty="0"/>
              <a:t>Knowledge + Skills + Attitude = Selection</a:t>
            </a:r>
          </a:p>
        </p:txBody>
      </p:sp>
      <p:sp>
        <p:nvSpPr>
          <p:cNvPr id="3" name="Text Placeholder 3">
            <a:extLst>
              <a:ext uri="{FF2B5EF4-FFF2-40B4-BE49-F238E27FC236}">
                <a16:creationId xmlns:a16="http://schemas.microsoft.com/office/drawing/2014/main" id="{B118C869-708A-AB73-99BC-510E42B3B0D2}"/>
              </a:ext>
            </a:extLst>
          </p:cNvPr>
          <p:cNvSpPr txBox="1">
            <a:spLocks/>
          </p:cNvSpPr>
          <p:nvPr/>
        </p:nvSpPr>
        <p:spPr>
          <a:xfrm>
            <a:off x="311785" y="2141729"/>
            <a:ext cx="8520430" cy="1985283"/>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114300" indent="0">
              <a:lnSpc>
                <a:spcPct val="115000"/>
              </a:lnSpc>
              <a:buClr>
                <a:schemeClr val="dk2"/>
              </a:buClr>
              <a:buSzPts val="1800"/>
              <a:buNone/>
              <a:defRPr sz="1800">
                <a:solidFill>
                  <a:schemeClr val="dk2"/>
                </a:solidFill>
              </a:defRPr>
            </a:lvl1pPr>
            <a:lvl2pPr marL="914400" indent="-317500">
              <a:lnSpc>
                <a:spcPct val="115000"/>
              </a:lnSpc>
              <a:buClr>
                <a:schemeClr val="dk2"/>
              </a:buClr>
              <a:buSzPts val="1400"/>
              <a:buChar char="○"/>
              <a:defRPr>
                <a:solidFill>
                  <a:schemeClr val="dk2"/>
                </a:solidFill>
              </a:defRPr>
            </a:lvl2pPr>
            <a:lvl3pPr marL="1371600" indent="-317500">
              <a:lnSpc>
                <a:spcPct val="115000"/>
              </a:lnSpc>
              <a:buClr>
                <a:schemeClr val="dk2"/>
              </a:buClr>
              <a:buSzPts val="1400"/>
              <a:buChar char="■"/>
              <a:defRPr>
                <a:solidFill>
                  <a:schemeClr val="dk2"/>
                </a:solidFill>
              </a:defRPr>
            </a:lvl3pPr>
            <a:lvl4pPr marL="1828800" indent="-317500">
              <a:lnSpc>
                <a:spcPct val="115000"/>
              </a:lnSpc>
              <a:buClr>
                <a:schemeClr val="dk2"/>
              </a:buClr>
              <a:buSzPts val="1400"/>
              <a:buChar char="●"/>
              <a:defRPr>
                <a:solidFill>
                  <a:schemeClr val="dk2"/>
                </a:solidFill>
              </a:defRPr>
            </a:lvl4pPr>
            <a:lvl5pPr marL="2286000" indent="-317500">
              <a:lnSpc>
                <a:spcPct val="115000"/>
              </a:lnSpc>
              <a:buClr>
                <a:schemeClr val="dk2"/>
              </a:buClr>
              <a:buSzPts val="1400"/>
              <a:buChar char="○"/>
              <a:defRPr>
                <a:solidFill>
                  <a:schemeClr val="dk2"/>
                </a:solidFill>
              </a:defRPr>
            </a:lvl5pPr>
            <a:lvl6pPr marL="2743200" indent="-317500">
              <a:lnSpc>
                <a:spcPct val="115000"/>
              </a:lnSpc>
              <a:buClr>
                <a:schemeClr val="dk2"/>
              </a:buClr>
              <a:buSzPts val="1400"/>
              <a:buChar char="■"/>
              <a:defRPr>
                <a:solidFill>
                  <a:schemeClr val="dk2"/>
                </a:solidFill>
              </a:defRPr>
            </a:lvl6pPr>
            <a:lvl7pPr marL="3200400" indent="-317500">
              <a:lnSpc>
                <a:spcPct val="115000"/>
              </a:lnSpc>
              <a:buClr>
                <a:schemeClr val="dk2"/>
              </a:buClr>
              <a:buSzPts val="1400"/>
              <a:buChar char="●"/>
              <a:defRPr>
                <a:solidFill>
                  <a:schemeClr val="dk2"/>
                </a:solidFill>
              </a:defRPr>
            </a:lvl7pPr>
            <a:lvl8pPr marL="3657600" indent="-317500">
              <a:lnSpc>
                <a:spcPct val="115000"/>
              </a:lnSpc>
              <a:buClr>
                <a:schemeClr val="dk2"/>
              </a:buClr>
              <a:buSzPts val="1400"/>
              <a:buChar char="○"/>
              <a:defRPr>
                <a:solidFill>
                  <a:schemeClr val="dk2"/>
                </a:solidFill>
              </a:defRPr>
            </a:lvl8pPr>
            <a:lvl9pPr marL="4114800" indent="-317500">
              <a:lnSpc>
                <a:spcPct val="115000"/>
              </a:lnSpc>
              <a:buClr>
                <a:schemeClr val="dk2"/>
              </a:buClr>
              <a:buSzPts val="1400"/>
              <a:buChar char="■"/>
              <a:defRPr>
                <a:solidFill>
                  <a:schemeClr val="dk2"/>
                </a:solidFill>
              </a:defRPr>
            </a:lvl9pPr>
          </a:lstStyle>
          <a:p>
            <a:r>
              <a:rPr lang="en-US" altLang="en-US" dirty="0"/>
              <a:t>✔ Communication</a:t>
            </a:r>
          </a:p>
          <a:p>
            <a:r>
              <a:rPr lang="en-US" altLang="en-US" dirty="0"/>
              <a:t>✔ Confidence</a:t>
            </a:r>
          </a:p>
          <a:p>
            <a:r>
              <a:rPr lang="en-US" altLang="en-US" dirty="0"/>
              <a:t>✔ Learning attitude</a:t>
            </a:r>
          </a:p>
          <a:p>
            <a:r>
              <a:rPr lang="en-US" altLang="en-US" dirty="0"/>
              <a:t>✔ Cultural fit / Collaboration</a:t>
            </a:r>
          </a:p>
          <a:p>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 grpId="0"/>
      <p:bldP spid="3" grpId="0"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1"/>
          <p:cNvSpPr/>
          <p:nvPr/>
        </p:nvSpPr>
        <p:spPr>
          <a:xfrm>
            <a:off x="0" y="0"/>
            <a:ext cx="9144000" cy="51435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53" name="Google Shape;253;p21"/>
          <p:cNvPicPr preferRelativeResize="0"/>
          <p:nvPr/>
        </p:nvPicPr>
        <p:blipFill rotWithShape="1">
          <a:blip r:embed="rId3"/>
          <a:srcRect/>
          <a:stretch>
            <a:fillRect/>
          </a:stretch>
        </p:blipFill>
        <p:spPr>
          <a:xfrm>
            <a:off x="5080" y="5080"/>
            <a:ext cx="8982075" cy="5124450"/>
          </a:xfrm>
          <a:prstGeom prst="rect">
            <a:avLst/>
          </a:prstGeom>
          <a:noFill/>
          <a:ln>
            <a:noFill/>
          </a:ln>
        </p:spPr>
      </p:pic>
      <p:sp>
        <p:nvSpPr>
          <p:cNvPr id="254" name="Google Shape;254;p21"/>
          <p:cNvSpPr/>
          <p:nvPr/>
        </p:nvSpPr>
        <p:spPr>
          <a:xfrm>
            <a:off x="5334000" y="-1238250"/>
            <a:ext cx="7620000" cy="7620000"/>
          </a:xfrm>
          <a:prstGeom prst="ellipse">
            <a:avLst/>
          </a:prstGeom>
          <a:solidFill>
            <a:srgbClr val="FF5733">
              <a:alpha val="1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5" name="Google Shape;255;p21"/>
          <p:cNvSpPr/>
          <p:nvPr/>
        </p:nvSpPr>
        <p:spPr>
          <a:xfrm>
            <a:off x="-1905000" y="3238500"/>
            <a:ext cx="3810000" cy="3810000"/>
          </a:xfrm>
          <a:prstGeom prst="ellipse">
            <a:avLst/>
          </a:prstGeom>
          <a:solidFill>
            <a:srgbClr val="0B132B">
              <a:alpha val="1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56" name="Google Shape;256;p21"/>
          <p:cNvPicPr preferRelativeResize="0"/>
          <p:nvPr/>
        </p:nvPicPr>
        <p:blipFill rotWithShape="1">
          <a:blip r:embed="rId4"/>
          <a:srcRect/>
          <a:stretch>
            <a:fillRect/>
          </a:stretch>
        </p:blipFill>
        <p:spPr>
          <a:xfrm>
            <a:off x="7086600" y="-723900"/>
            <a:ext cx="2057400" cy="2971800"/>
          </a:xfrm>
          <a:prstGeom prst="rect">
            <a:avLst/>
          </a:prstGeom>
          <a:noFill/>
          <a:ln>
            <a:noFill/>
          </a:ln>
        </p:spPr>
      </p:pic>
      <p:pic>
        <p:nvPicPr>
          <p:cNvPr id="257" name="Google Shape;257;p21"/>
          <p:cNvPicPr preferRelativeResize="0"/>
          <p:nvPr/>
        </p:nvPicPr>
        <p:blipFill rotWithShape="1">
          <a:blip r:embed="rId5"/>
          <a:srcRect/>
          <a:stretch>
            <a:fillRect/>
          </a:stretch>
        </p:blipFill>
        <p:spPr>
          <a:xfrm>
            <a:off x="-209550" y="3409950"/>
            <a:ext cx="2324100" cy="1719300"/>
          </a:xfrm>
          <a:prstGeom prst="rect">
            <a:avLst/>
          </a:prstGeom>
          <a:noFill/>
          <a:ln>
            <a:noFill/>
          </a:ln>
        </p:spPr>
      </p:pic>
      <p:grpSp>
        <p:nvGrpSpPr>
          <p:cNvPr id="258" name="Google Shape;258;p21"/>
          <p:cNvGrpSpPr/>
          <p:nvPr/>
        </p:nvGrpSpPr>
        <p:grpSpPr>
          <a:xfrm>
            <a:off x="533400" y="1428750"/>
            <a:ext cx="3657600" cy="2667000"/>
            <a:chOff x="-228600" y="0"/>
            <a:chExt cx="3657600" cy="2667000"/>
          </a:xfrm>
        </p:grpSpPr>
        <p:sp>
          <p:nvSpPr>
            <p:cNvPr id="259" name="Google Shape;259;p21"/>
            <p:cNvSpPr/>
            <p:nvPr/>
          </p:nvSpPr>
          <p:spPr>
            <a:xfrm>
              <a:off x="-228600" y="76200"/>
              <a:ext cx="57300" cy="16191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0" name="Google Shape;260;p21"/>
            <p:cNvSpPr txBox="1"/>
            <p:nvPr/>
          </p:nvSpPr>
          <p:spPr>
            <a:xfrm>
              <a:off x="0" y="0"/>
              <a:ext cx="3429000" cy="2667000"/>
            </a:xfrm>
            <a:prstGeom prst="rect">
              <a:avLst/>
            </a:prstGeom>
            <a:noFill/>
            <a:ln>
              <a:noFill/>
            </a:ln>
          </p:spPr>
          <p:txBody>
            <a:bodyPr spcFirstLastPara="1" wrap="square" lIns="0" tIns="0" rIns="0" bIns="0" anchor="t" anchorCtr="0">
              <a:noAutofit/>
            </a:bodyPr>
            <a:lstStyle/>
            <a:p>
              <a:pPr marL="0" lvl="0" indent="0" algn="l" rtl="0">
                <a:spcBef>
                  <a:spcPts val="1125"/>
                </a:spcBef>
                <a:spcAft>
                  <a:spcPts val="0"/>
                </a:spcAft>
                <a:buNone/>
              </a:pPr>
              <a:r>
                <a:rPr lang="en-US" sz="3450" b="0">
                  <a:solidFill>
                    <a:srgbClr val="FFFFFF"/>
                  </a:solidFill>
                  <a:latin typeface="Poppins ExtraBold"/>
                  <a:ea typeface="Poppins ExtraBold"/>
                  <a:cs typeface="Poppins ExtraBold"/>
                  <a:sym typeface="Poppins ExtraBold"/>
                </a:rPr>
                <a:t>Recruitment Process</a:t>
              </a:r>
            </a:p>
            <a:p>
              <a:pPr marL="0" lvl="0" indent="0" algn="l" rtl="0">
                <a:spcBef>
                  <a:spcPts val="1125"/>
                </a:spcBef>
                <a:spcAft>
                  <a:spcPts val="0"/>
                </a:spcAft>
                <a:buNone/>
              </a:pPr>
              <a:r>
                <a:rPr lang="en-US" sz="1950" b="0">
                  <a:solidFill>
                    <a:srgbClr val="FFC300"/>
                  </a:solidFill>
                  <a:latin typeface="Poppins SemiBold"/>
                  <a:ea typeface="Poppins SemiBold"/>
                  <a:cs typeface="Poppins SemiBold"/>
                  <a:sym typeface="Poppins SemiBold"/>
                </a:rPr>
                <a:t>The Journey</a:t>
              </a:r>
            </a:p>
          </p:txBody>
        </p:sp>
      </p:grpSp>
      <p:grpSp>
        <p:nvGrpSpPr>
          <p:cNvPr id="261" name="Google Shape;261;p21"/>
          <p:cNvGrpSpPr/>
          <p:nvPr/>
        </p:nvGrpSpPr>
        <p:grpSpPr>
          <a:xfrm>
            <a:off x="4572000" y="952500"/>
            <a:ext cx="3810000" cy="857400"/>
            <a:chOff x="0" y="0"/>
            <a:chExt cx="3810000" cy="857400"/>
          </a:xfrm>
        </p:grpSpPr>
        <p:sp>
          <p:nvSpPr>
            <p:cNvPr id="262" name="Google Shape;262;p21"/>
            <p:cNvSpPr/>
            <p:nvPr/>
          </p:nvSpPr>
          <p:spPr>
            <a:xfrm>
              <a:off x="0" y="0"/>
              <a:ext cx="3810000" cy="857400"/>
            </a:xfrm>
            <a:prstGeom prst="roundRect">
              <a:avLst>
                <a:gd name="adj" fmla="val 13333"/>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3" name="Google Shape;263;p21"/>
            <p:cNvSpPr/>
            <p:nvPr/>
          </p:nvSpPr>
          <p:spPr>
            <a:xfrm>
              <a:off x="0" y="0"/>
              <a:ext cx="95400" cy="8574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4" name="Google Shape;264;p21"/>
            <p:cNvSpPr/>
            <p:nvPr/>
          </p:nvSpPr>
          <p:spPr>
            <a:xfrm>
              <a:off x="238125" y="238125"/>
              <a:ext cx="381000" cy="381000"/>
            </a:xfrm>
            <a:prstGeom prst="ellipse">
              <a:avLst/>
            </a:prstGeom>
            <a:solidFill>
              <a:srgbClr val="FF5733">
                <a:alpha val="11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5" name="Google Shape;265;p21"/>
            <p:cNvSpPr txBox="1"/>
            <p:nvPr/>
          </p:nvSpPr>
          <p:spPr>
            <a:xfrm>
              <a:off x="333375" y="285750"/>
              <a:ext cx="190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200" b="1">
                  <a:solidFill>
                    <a:srgbClr val="FF5733"/>
                  </a:solidFill>
                  <a:latin typeface="Poppins" panose="00000800000000000000"/>
                  <a:ea typeface="Poppins" panose="00000800000000000000"/>
                  <a:cs typeface="Poppins" panose="00000800000000000000"/>
                  <a:sym typeface="Poppins" panose="00000800000000000000"/>
                </a:rPr>
                <a:t>1</a:t>
              </a:r>
            </a:p>
          </p:txBody>
        </p:sp>
        <p:sp>
          <p:nvSpPr>
            <p:cNvPr id="266" name="Google Shape;266;p21"/>
            <p:cNvSpPr txBox="1"/>
            <p:nvPr/>
          </p:nvSpPr>
          <p:spPr>
            <a:xfrm>
              <a:off x="762000" y="142875"/>
              <a:ext cx="28575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altLang="en-GB" sz="1200" b="1">
                  <a:solidFill>
                    <a:srgbClr val="0B132B"/>
                  </a:solidFill>
                  <a:latin typeface="Inter" panose="02000503000000020004"/>
                  <a:ea typeface="Inter" panose="02000503000000020004"/>
                  <a:cs typeface="Inter" panose="02000503000000020004"/>
                  <a:sym typeface="Inter" panose="02000503000000020004"/>
                </a:rPr>
                <a:t>Aptitude Tests</a:t>
              </a:r>
            </a:p>
          </p:txBody>
        </p:sp>
      </p:grpSp>
      <p:grpSp>
        <p:nvGrpSpPr>
          <p:cNvPr id="267" name="Google Shape;267;p21"/>
          <p:cNvGrpSpPr/>
          <p:nvPr/>
        </p:nvGrpSpPr>
        <p:grpSpPr>
          <a:xfrm>
            <a:off x="4572000" y="2000250"/>
            <a:ext cx="3810000" cy="857400"/>
            <a:chOff x="0" y="0"/>
            <a:chExt cx="3810000" cy="857400"/>
          </a:xfrm>
        </p:grpSpPr>
        <p:sp>
          <p:nvSpPr>
            <p:cNvPr id="268" name="Google Shape;268;p21"/>
            <p:cNvSpPr/>
            <p:nvPr/>
          </p:nvSpPr>
          <p:spPr>
            <a:xfrm>
              <a:off x="0" y="0"/>
              <a:ext cx="3810000" cy="857400"/>
            </a:xfrm>
            <a:prstGeom prst="roundRect">
              <a:avLst>
                <a:gd name="adj" fmla="val 13333"/>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9" name="Google Shape;269;p21"/>
            <p:cNvSpPr/>
            <p:nvPr/>
          </p:nvSpPr>
          <p:spPr>
            <a:xfrm>
              <a:off x="0" y="0"/>
              <a:ext cx="95400" cy="8574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0" name="Google Shape;270;p21"/>
            <p:cNvSpPr/>
            <p:nvPr/>
          </p:nvSpPr>
          <p:spPr>
            <a:xfrm>
              <a:off x="238125" y="238125"/>
              <a:ext cx="381000" cy="381000"/>
            </a:xfrm>
            <a:prstGeom prst="ellipse">
              <a:avLst/>
            </a:prstGeom>
            <a:solidFill>
              <a:srgbClr val="FFC300">
                <a:alpha val="2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1" name="Google Shape;271;p21"/>
            <p:cNvSpPr txBox="1"/>
            <p:nvPr/>
          </p:nvSpPr>
          <p:spPr>
            <a:xfrm>
              <a:off x="333375" y="285750"/>
              <a:ext cx="190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200" b="1">
                  <a:solidFill>
                    <a:srgbClr val="0B132B"/>
                  </a:solidFill>
                  <a:latin typeface="Poppins" panose="00000800000000000000"/>
                  <a:ea typeface="Poppins" panose="00000800000000000000"/>
                  <a:cs typeface="Poppins" panose="00000800000000000000"/>
                  <a:sym typeface="Poppins" panose="00000800000000000000"/>
                </a:rPr>
                <a:t>2</a:t>
              </a:r>
            </a:p>
          </p:txBody>
        </p:sp>
        <p:sp>
          <p:nvSpPr>
            <p:cNvPr id="272" name="Google Shape;272;p21"/>
            <p:cNvSpPr txBox="1"/>
            <p:nvPr/>
          </p:nvSpPr>
          <p:spPr>
            <a:xfrm>
              <a:off x="762000" y="142875"/>
              <a:ext cx="28575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1200" b="1">
                  <a:solidFill>
                    <a:srgbClr val="0B132B"/>
                  </a:solidFill>
                  <a:latin typeface="Inter" panose="02000503000000020004"/>
                  <a:ea typeface="Inter" panose="02000503000000020004"/>
                  <a:cs typeface="Inter" panose="02000503000000020004"/>
                  <a:sym typeface="Inter" panose="02000503000000020004"/>
                </a:rPr>
                <a:t>Coding Interviews</a:t>
              </a:r>
            </a:p>
          </p:txBody>
        </p:sp>
      </p:grpSp>
      <p:grpSp>
        <p:nvGrpSpPr>
          <p:cNvPr id="273" name="Google Shape;273;p21"/>
          <p:cNvGrpSpPr/>
          <p:nvPr/>
        </p:nvGrpSpPr>
        <p:grpSpPr>
          <a:xfrm>
            <a:off x="4572000" y="3048000"/>
            <a:ext cx="3810000" cy="857400"/>
            <a:chOff x="0" y="0"/>
            <a:chExt cx="3810000" cy="857400"/>
          </a:xfrm>
        </p:grpSpPr>
        <p:sp>
          <p:nvSpPr>
            <p:cNvPr id="274" name="Google Shape;274;p21"/>
            <p:cNvSpPr/>
            <p:nvPr/>
          </p:nvSpPr>
          <p:spPr>
            <a:xfrm>
              <a:off x="0" y="0"/>
              <a:ext cx="3810000" cy="857400"/>
            </a:xfrm>
            <a:prstGeom prst="roundRect">
              <a:avLst>
                <a:gd name="adj" fmla="val 13333"/>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5" name="Google Shape;275;p21"/>
            <p:cNvSpPr/>
            <p:nvPr/>
          </p:nvSpPr>
          <p:spPr>
            <a:xfrm>
              <a:off x="0" y="0"/>
              <a:ext cx="95400" cy="857400"/>
            </a:xfrm>
            <a:prstGeom prst="roundRect">
              <a:avLst>
                <a:gd name="adj" fmla="val 50000"/>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6" name="Google Shape;276;p21"/>
            <p:cNvSpPr/>
            <p:nvPr/>
          </p:nvSpPr>
          <p:spPr>
            <a:xfrm>
              <a:off x="238125" y="238125"/>
              <a:ext cx="381000" cy="381000"/>
            </a:xfrm>
            <a:prstGeom prst="ellipse">
              <a:avLst/>
            </a:prstGeom>
            <a:solidFill>
              <a:srgbClr val="0B132B">
                <a:alpha val="11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7" name="Google Shape;277;p21"/>
            <p:cNvSpPr txBox="1"/>
            <p:nvPr/>
          </p:nvSpPr>
          <p:spPr>
            <a:xfrm>
              <a:off x="333375" y="285750"/>
              <a:ext cx="190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200" b="1">
                  <a:solidFill>
                    <a:srgbClr val="0B132B"/>
                  </a:solidFill>
                  <a:latin typeface="Poppins" panose="00000800000000000000"/>
                  <a:ea typeface="Poppins" panose="00000800000000000000"/>
                  <a:cs typeface="Poppins" panose="00000800000000000000"/>
                  <a:sym typeface="Poppins" panose="00000800000000000000"/>
                </a:rPr>
                <a:t>3</a:t>
              </a:r>
            </a:p>
          </p:txBody>
        </p:sp>
        <p:sp>
          <p:nvSpPr>
            <p:cNvPr id="278" name="Google Shape;278;p21"/>
            <p:cNvSpPr txBox="1"/>
            <p:nvPr/>
          </p:nvSpPr>
          <p:spPr>
            <a:xfrm>
              <a:off x="762000" y="95250"/>
              <a:ext cx="2857500" cy="666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altLang="en-GB" sz="1125" b="1">
                  <a:solidFill>
                    <a:srgbClr val="0B132B"/>
                  </a:solidFill>
                  <a:latin typeface="Inter" panose="02000503000000020004"/>
                  <a:ea typeface="Inter" panose="02000503000000020004"/>
                  <a:cs typeface="Inter" panose="02000503000000020004"/>
                  <a:sym typeface="Inter" panose="02000503000000020004"/>
                </a:rPr>
                <a:t>Technical Interviews</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grpSp>
        <p:nvGrpSpPr>
          <p:cNvPr id="78" name="Google Shape;78;p15"/>
          <p:cNvGrpSpPr/>
          <p:nvPr/>
        </p:nvGrpSpPr>
        <p:grpSpPr>
          <a:xfrm>
            <a:off x="5080" y="5080"/>
            <a:ext cx="9144150" cy="5143650"/>
            <a:chOff x="0" y="0"/>
            <a:chExt cx="9144150" cy="5143650"/>
          </a:xfrm>
        </p:grpSpPr>
        <p:sp>
          <p:nvSpPr>
            <p:cNvPr id="79" name="Google Shape;79;p15"/>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81" name="Google Shape;81;p15"/>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118" name="Google Shape;118;p16"/>
          <p:cNvSpPr txBox="1"/>
          <p:nvPr/>
        </p:nvSpPr>
        <p:spPr>
          <a:xfrm>
            <a:off x="476250" y="20955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300"/>
              </a:spcBef>
              <a:spcAft>
                <a:spcPts val="300"/>
              </a:spcAft>
              <a:buNone/>
            </a:pPr>
            <a:r>
              <a:rPr lang="en-GB" sz="1800" b="1">
                <a:solidFill>
                  <a:srgbClr val="FF5733"/>
                </a:solidFill>
                <a:latin typeface="Poppins" panose="00000800000000000000"/>
                <a:ea typeface="Poppins" panose="00000800000000000000"/>
                <a:cs typeface="Poppins" panose="00000800000000000000"/>
                <a:sym typeface="Poppins" panose="00000800000000000000"/>
              </a:rPr>
              <a:t>OVERVIEW OF SELECTION ROUNDS</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300"/>
              </a:spcBef>
              <a:spcAft>
                <a:spcPts val="300"/>
              </a:spcAft>
              <a:buNone/>
            </a:pPr>
            <a:r>
              <a:rPr lang="en-US" altLang="en-GB" sz="2700">
                <a:solidFill>
                  <a:srgbClr val="0B132B"/>
                </a:solidFill>
                <a:latin typeface="+mj-lt"/>
                <a:ea typeface="Poppins SemiBold"/>
                <a:cs typeface="+mj-lt"/>
                <a:sym typeface="Poppins SemiBold"/>
              </a:rPr>
              <a:t>The Selection Funnel</a:t>
            </a:r>
            <a:endParaRPr lang="en-US" altLang="en-GB" sz="2700" b="0" i="0" u="none" strike="noStrike" dirty="0">
              <a:solidFill>
                <a:srgbClr val="0B132B"/>
              </a:solidFill>
              <a:latin typeface="+mj-lt"/>
              <a:ea typeface="Poppins SemiBold"/>
              <a:cs typeface="+mj-lt"/>
              <a:sym typeface="Poppins SemiBold"/>
            </a:endParaRPr>
          </a:p>
        </p:txBody>
      </p:sp>
      <p:grpSp>
        <p:nvGrpSpPr>
          <p:cNvPr id="95" name="Google Shape;95;p15"/>
          <p:cNvGrpSpPr/>
          <p:nvPr/>
        </p:nvGrpSpPr>
        <p:grpSpPr>
          <a:xfrm>
            <a:off x="381000" y="1407160"/>
            <a:ext cx="4153050" cy="3486150"/>
            <a:chOff x="0" y="0"/>
            <a:chExt cx="4153050" cy="3486150"/>
          </a:xfrm>
        </p:grpSpPr>
        <p:sp>
          <p:nvSpPr>
            <p:cNvPr id="96" name="Google Shape;96;p15"/>
            <p:cNvSpPr/>
            <p:nvPr/>
          </p:nvSpPr>
          <p:spPr>
            <a:xfrm>
              <a:off x="5715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7" name="Google Shape;97;p15"/>
            <p:cNvSpPr/>
            <p:nvPr/>
          </p:nvSpPr>
          <p:spPr>
            <a:xfrm>
              <a:off x="0" y="0"/>
              <a:ext cx="4095900" cy="34290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8" name="Google Shape;98;p15"/>
            <p:cNvSpPr txBox="1"/>
            <p:nvPr/>
          </p:nvSpPr>
          <p:spPr>
            <a:xfrm>
              <a:off x="238125" y="122555"/>
              <a:ext cx="3619500" cy="30683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500" b="1" dirty="0">
                  <a:solidFill>
                    <a:srgbClr val="111827"/>
                  </a:solidFill>
                  <a:latin typeface="Outfit"/>
                  <a:ea typeface="Outfit"/>
                  <a:cs typeface="Outfit"/>
                  <a:sym typeface="Outfit"/>
                </a:rPr>
                <a:t>Recruitment stages</a:t>
              </a:r>
              <a:endParaRPr sz="1500" b="1" dirty="0">
                <a:solidFill>
                  <a:srgbClr val="111827"/>
                </a:solidFill>
                <a:latin typeface="Outfit"/>
                <a:ea typeface="Outfit"/>
                <a:cs typeface="Outfit"/>
                <a:sym typeface="Outfit"/>
              </a:endParaRPr>
            </a:p>
            <a:p>
              <a:pPr marL="0" lvl="0" indent="0" algn="l" rtl="0">
                <a:spcBef>
                  <a:spcPts val="1125"/>
                </a:spcBef>
                <a:spcAft>
                  <a:spcPts val="0"/>
                </a:spcAft>
                <a:buNone/>
              </a:pPr>
              <a:r>
                <a:rPr lang="en-GB" sz="975" b="1" dirty="0">
                  <a:solidFill>
                    <a:srgbClr val="111827"/>
                  </a:solidFill>
                  <a:latin typeface="DM Sans"/>
                  <a:ea typeface="DM Sans"/>
                  <a:cs typeface="DM Sans"/>
                  <a:sym typeface="DM Sans"/>
                </a:rPr>
                <a:t>Resume Screening:</a:t>
              </a:r>
              <a:r>
                <a:rPr lang="en-GB" sz="975" b="0" dirty="0">
                  <a:solidFill>
                    <a:srgbClr val="4B5563"/>
                  </a:solidFill>
                  <a:latin typeface="DM Sans Medium"/>
                  <a:ea typeface="DM Sans Medium"/>
                  <a:cs typeface="DM Sans Medium"/>
                  <a:sym typeface="DM Sans Medium"/>
                </a:rPr>
                <a:t> Applicant Tracking Systems (ATS) to match keywords and basic qualifications.</a:t>
              </a:r>
              <a:endParaRPr sz="975" b="0" dirty="0">
                <a:solidFill>
                  <a:srgbClr val="4B5563"/>
                </a:solidFill>
                <a:latin typeface="DM Sans Medium"/>
                <a:ea typeface="DM Sans Medium"/>
                <a:cs typeface="DM Sans Medium"/>
                <a:sym typeface="DM Sans Medium"/>
              </a:endParaRPr>
            </a:p>
            <a:p>
              <a:pPr marL="0" lvl="0" indent="0" algn="l" rtl="0">
                <a:spcBef>
                  <a:spcPts val="750"/>
                </a:spcBef>
                <a:spcAft>
                  <a:spcPts val="0"/>
                </a:spcAft>
                <a:buNone/>
              </a:pPr>
              <a:r>
                <a:rPr lang="en-GB" sz="975" b="1" dirty="0">
                  <a:solidFill>
                    <a:srgbClr val="111827"/>
                  </a:solidFill>
                  <a:latin typeface="DM Sans"/>
                  <a:ea typeface="DM Sans"/>
                  <a:cs typeface="DM Sans"/>
                  <a:sym typeface="DM Sans"/>
                </a:rPr>
                <a:t>Aptitude Tests:</a:t>
              </a:r>
              <a:r>
                <a:rPr lang="en-GB" sz="975" b="0" dirty="0">
                  <a:solidFill>
                    <a:srgbClr val="4B5563"/>
                  </a:solidFill>
                  <a:latin typeface="DM Sans Medium"/>
                  <a:ea typeface="DM Sans Medium"/>
                  <a:cs typeface="DM Sans Medium"/>
                  <a:sym typeface="DM Sans Medium"/>
                </a:rPr>
                <a:t> Evaluates quantitative, logical, and verbal reasoning skills under strict time limits.</a:t>
              </a:r>
              <a:endParaRPr sz="975" b="0" dirty="0">
                <a:solidFill>
                  <a:srgbClr val="4B5563"/>
                </a:solidFill>
                <a:latin typeface="DM Sans Medium"/>
                <a:ea typeface="DM Sans Medium"/>
                <a:cs typeface="DM Sans Medium"/>
                <a:sym typeface="DM Sans Medium"/>
              </a:endParaRPr>
            </a:p>
            <a:p>
              <a:pPr marL="0" lvl="0" indent="0" algn="l" rtl="0">
                <a:spcBef>
                  <a:spcPts val="750"/>
                </a:spcBef>
                <a:spcAft>
                  <a:spcPts val="0"/>
                </a:spcAft>
                <a:buNone/>
              </a:pPr>
              <a:r>
                <a:rPr lang="en-GB" sz="975" b="1" dirty="0">
                  <a:solidFill>
                    <a:srgbClr val="111827"/>
                  </a:solidFill>
                  <a:latin typeface="DM Sans"/>
                  <a:ea typeface="DM Sans"/>
                  <a:cs typeface="DM Sans"/>
                  <a:sym typeface="DM Sans"/>
                </a:rPr>
                <a:t>Coding Assessment:</a:t>
              </a:r>
              <a:r>
                <a:rPr lang="en-GB" sz="975" b="0" dirty="0">
                  <a:solidFill>
                    <a:srgbClr val="4B5563"/>
                  </a:solidFill>
                  <a:latin typeface="DM Sans Medium"/>
                  <a:ea typeface="DM Sans Medium"/>
                  <a:cs typeface="DM Sans Medium"/>
                  <a:sym typeface="DM Sans Medium"/>
                </a:rPr>
                <a:t> Tests core domain knowledge and coding proficiency through automated platforms</a:t>
              </a:r>
              <a:r>
                <a:rPr lang="en-US" altLang="en-GB" sz="975" b="0" dirty="0">
                  <a:solidFill>
                    <a:srgbClr val="4B5563"/>
                  </a:solidFill>
                  <a:latin typeface="DM Sans Medium"/>
                  <a:ea typeface="DM Sans Medium"/>
                  <a:cs typeface="DM Sans Medium"/>
                  <a:sym typeface="DM Sans Medium"/>
                </a:rPr>
                <a:t> like </a:t>
              </a:r>
              <a:r>
                <a:rPr lang="en-US" altLang="en-GB" sz="975" b="1" dirty="0">
                  <a:solidFill>
                    <a:srgbClr val="4B5563"/>
                  </a:solidFill>
                  <a:latin typeface="DM Sans Medium"/>
                  <a:ea typeface="DM Sans Medium"/>
                  <a:cs typeface="DM Sans Medium"/>
                  <a:sym typeface="DM Sans Medium"/>
                </a:rPr>
                <a:t>Hackeranck.</a:t>
              </a:r>
              <a:endParaRPr sz="975" b="0" dirty="0">
                <a:solidFill>
                  <a:srgbClr val="4B5563"/>
                </a:solidFill>
                <a:latin typeface="DM Sans Medium"/>
                <a:ea typeface="DM Sans Medium"/>
                <a:cs typeface="DM Sans Medium"/>
                <a:sym typeface="DM Sans Medium"/>
              </a:endParaRPr>
            </a:p>
            <a:p>
              <a:pPr marL="0" lvl="0" indent="0" algn="l" rtl="0">
                <a:spcBef>
                  <a:spcPts val="750"/>
                </a:spcBef>
                <a:spcAft>
                  <a:spcPts val="0"/>
                </a:spcAft>
                <a:buNone/>
              </a:pPr>
              <a:r>
                <a:rPr lang="en-GB" sz="975" b="1" dirty="0">
                  <a:solidFill>
                    <a:srgbClr val="111827"/>
                  </a:solidFill>
                  <a:latin typeface="DM Sans"/>
                  <a:ea typeface="DM Sans"/>
                  <a:cs typeface="DM Sans"/>
                  <a:sym typeface="DM Sans"/>
                </a:rPr>
                <a:t>Technical Interviews:</a:t>
              </a:r>
              <a:r>
                <a:rPr lang="en-GB" sz="975" b="0" dirty="0">
                  <a:solidFill>
                    <a:srgbClr val="4B5563"/>
                  </a:solidFill>
                  <a:latin typeface="DM Sans Medium"/>
                  <a:ea typeface="DM Sans Medium"/>
                  <a:cs typeface="DM Sans Medium"/>
                  <a:sym typeface="DM Sans Medium"/>
                </a:rPr>
                <a:t> Includes technical deep-dives </a:t>
              </a:r>
              <a:r>
                <a:rPr lang="en-US" altLang="en-GB" sz="975" b="0" dirty="0">
                  <a:solidFill>
                    <a:srgbClr val="4B5563"/>
                  </a:solidFill>
                  <a:latin typeface="DM Sans Medium"/>
                  <a:ea typeface="DM Sans Medium"/>
                  <a:cs typeface="DM Sans Medium"/>
                  <a:sym typeface="DM Sans Medium"/>
                </a:rPr>
                <a:t>to evaluate concept understanding and knowledge</a:t>
              </a:r>
              <a:endParaRPr lang="en-GB" sz="975" b="0" dirty="0">
                <a:solidFill>
                  <a:srgbClr val="4B5563"/>
                </a:solidFill>
                <a:latin typeface="DM Sans Medium"/>
                <a:ea typeface="DM Sans Medium"/>
                <a:cs typeface="DM Sans Medium"/>
                <a:sym typeface="DM Sans Medium"/>
              </a:endParaRPr>
            </a:p>
            <a:p>
              <a:pPr marL="0" lvl="0" indent="0" algn="l" rtl="0">
                <a:spcBef>
                  <a:spcPts val="750"/>
                </a:spcBef>
                <a:spcAft>
                  <a:spcPts val="0"/>
                </a:spcAft>
                <a:buNone/>
              </a:pPr>
              <a:endParaRPr lang="en-GB" sz="975" b="0" dirty="0">
                <a:solidFill>
                  <a:srgbClr val="4B5563"/>
                </a:solidFill>
                <a:latin typeface="DM Sans Medium"/>
                <a:ea typeface="DM Sans Medium"/>
                <a:cs typeface="DM Sans Medium"/>
                <a:sym typeface="DM Sans Medium"/>
              </a:endParaRPr>
            </a:p>
            <a:p>
              <a:pPr marL="0" lvl="0" algn="l" rtl="0">
                <a:spcBef>
                  <a:spcPts val="750"/>
                </a:spcBef>
                <a:spcAft>
                  <a:spcPts val="0"/>
                </a:spcAft>
                <a:buSzTx/>
                <a:buNone/>
              </a:pPr>
              <a:r>
                <a:rPr lang="en-GB" sz="975" b="1" dirty="0">
                  <a:solidFill>
                    <a:srgbClr val="111827"/>
                  </a:solidFill>
                  <a:latin typeface="DM Sans"/>
                  <a:ea typeface="DM Sans"/>
                  <a:cs typeface="DM Sans"/>
                  <a:sym typeface="DM Sans Medium"/>
                </a:rPr>
                <a:t>Other rounds include </a:t>
              </a:r>
            </a:p>
            <a:p>
              <a:pPr marL="171450" lvl="0" indent="-171450" algn="l" rtl="0">
                <a:spcBef>
                  <a:spcPts val="750"/>
                </a:spcBef>
                <a:spcAft>
                  <a:spcPts val="0"/>
                </a:spcAft>
                <a:buFont typeface="Arial" panose="020B0604020202090204" pitchFamily="34" charset="0"/>
                <a:buChar char="•"/>
              </a:pPr>
              <a:r>
                <a:rPr lang="en-US" sz="975" b="0" dirty="0">
                  <a:solidFill>
                    <a:srgbClr val="4B5563"/>
                  </a:solidFill>
                  <a:latin typeface="DM Sans Medium"/>
                  <a:ea typeface="DM Sans Medium"/>
                  <a:cs typeface="DM Sans Medium"/>
                  <a:sym typeface="DM Sans Medium"/>
                </a:rPr>
                <a:t>Group Discussions</a:t>
              </a:r>
            </a:p>
            <a:p>
              <a:pPr marL="171450" lvl="0" indent="-171450" algn="l" rtl="0">
                <a:spcBef>
                  <a:spcPts val="750"/>
                </a:spcBef>
                <a:spcAft>
                  <a:spcPts val="0"/>
                </a:spcAft>
                <a:buFont typeface="Arial" panose="020B0604020202090204" pitchFamily="34" charset="0"/>
                <a:buChar char="•"/>
              </a:pPr>
              <a:r>
                <a:rPr lang="en-US" sz="975" b="0" dirty="0">
                  <a:solidFill>
                    <a:srgbClr val="4B5563"/>
                  </a:solidFill>
                  <a:latin typeface="DM Sans Medium"/>
                  <a:ea typeface="DM Sans Medium"/>
                  <a:cs typeface="DM Sans Medium"/>
                  <a:sym typeface="DM Sans Medium"/>
                </a:rPr>
                <a:t>HR Interviews</a:t>
              </a:r>
            </a:p>
          </p:txBody>
        </p:sp>
      </p:grpSp>
      <p:grpSp>
        <p:nvGrpSpPr>
          <p:cNvPr id="99" name="Google Shape;99;p15"/>
          <p:cNvGrpSpPr/>
          <p:nvPr/>
        </p:nvGrpSpPr>
        <p:grpSpPr>
          <a:xfrm>
            <a:off x="4667250" y="1380490"/>
            <a:ext cx="4153050" cy="3486150"/>
            <a:chOff x="0" y="0"/>
            <a:chExt cx="4153050" cy="3486150"/>
          </a:xfrm>
        </p:grpSpPr>
        <p:sp>
          <p:nvSpPr>
            <p:cNvPr id="100" name="Google Shape;100;p15"/>
            <p:cNvSpPr/>
            <p:nvPr/>
          </p:nvSpPr>
          <p:spPr>
            <a:xfrm>
              <a:off x="57150" y="57150"/>
              <a:ext cx="4095900" cy="3429000"/>
            </a:xfrm>
            <a:prstGeom prst="roundRect">
              <a:avLst>
                <a:gd name="adj" fmla="val 4444"/>
              </a:avLst>
            </a:prstGeom>
            <a:solidFill>
              <a:srgbClr val="11182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1" name="Google Shape;101;p15"/>
            <p:cNvSpPr/>
            <p:nvPr/>
          </p:nvSpPr>
          <p:spPr>
            <a:xfrm>
              <a:off x="0" y="0"/>
              <a:ext cx="4095900" cy="3429000"/>
            </a:xfrm>
            <a:prstGeom prst="roundRect">
              <a:avLst>
                <a:gd name="adj" fmla="val 4444"/>
              </a:avLst>
            </a:prstGeom>
            <a:solidFill>
              <a:srgbClr val="FFFFFF"/>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2" name="Google Shape;102;p15"/>
            <p:cNvSpPr/>
            <p:nvPr/>
          </p:nvSpPr>
          <p:spPr>
            <a:xfrm>
              <a:off x="476250" y="428625"/>
              <a:ext cx="3143400" cy="571500"/>
            </a:xfrm>
            <a:custGeom>
              <a:avLst/>
              <a:gdLst/>
              <a:ahLst/>
              <a:cxnLst/>
              <a:rect l="l" t="t" r="r" b="b"/>
              <a:pathLst>
                <a:path w="120000" h="120000" extrusionOk="0">
                  <a:moveTo>
                    <a:pt x="0" y="0"/>
                  </a:moveTo>
                  <a:lnTo>
                    <a:pt x="120000" y="0"/>
                  </a:lnTo>
                  <a:lnTo>
                    <a:pt x="109091" y="120000"/>
                  </a:lnTo>
                  <a:lnTo>
                    <a:pt x="10909" y="120000"/>
                  </a:lnTo>
                  <a:close/>
                </a:path>
              </a:pathLst>
            </a:custGeom>
            <a:solidFill>
              <a:srgbClr val="4338CA"/>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3" name="Google Shape;103;p15"/>
            <p:cNvSpPr txBox="1"/>
            <p:nvPr/>
          </p:nvSpPr>
          <p:spPr>
            <a:xfrm>
              <a:off x="762000" y="590550"/>
              <a:ext cx="25719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200" b="1" dirty="0">
                  <a:solidFill>
                    <a:srgbClr val="FFFFFF"/>
                  </a:solidFill>
                  <a:latin typeface="Outfit"/>
                  <a:ea typeface="Outfit"/>
                  <a:cs typeface="Outfit"/>
                  <a:sym typeface="Outfit"/>
                </a:rPr>
                <a:t>Resume Screening</a:t>
              </a:r>
            </a:p>
          </p:txBody>
        </p:sp>
        <p:sp>
          <p:nvSpPr>
            <p:cNvPr id="104" name="Google Shape;104;p15"/>
            <p:cNvSpPr/>
            <p:nvPr/>
          </p:nvSpPr>
          <p:spPr>
            <a:xfrm>
              <a:off x="809625" y="1095375"/>
              <a:ext cx="2476500" cy="571500"/>
            </a:xfrm>
            <a:custGeom>
              <a:avLst/>
              <a:gdLst/>
              <a:ahLst/>
              <a:cxnLst/>
              <a:rect l="l" t="t" r="r" b="b"/>
              <a:pathLst>
                <a:path w="120000" h="120000" extrusionOk="0">
                  <a:moveTo>
                    <a:pt x="0" y="0"/>
                  </a:moveTo>
                  <a:lnTo>
                    <a:pt x="120000" y="0"/>
                  </a:lnTo>
                  <a:lnTo>
                    <a:pt x="106154" y="120000"/>
                  </a:lnTo>
                  <a:lnTo>
                    <a:pt x="13846" y="120000"/>
                  </a:lnTo>
                  <a:close/>
                </a:path>
              </a:pathLst>
            </a:custGeom>
            <a:solidFill>
              <a:srgbClr val="FF6B6B"/>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5" name="Google Shape;105;p15"/>
            <p:cNvSpPr txBox="1"/>
            <p:nvPr/>
          </p:nvSpPr>
          <p:spPr>
            <a:xfrm>
              <a:off x="1095375" y="1257300"/>
              <a:ext cx="19050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200" b="1" dirty="0">
                  <a:solidFill>
                    <a:srgbClr val="FFFFFF"/>
                  </a:solidFill>
                  <a:latin typeface="Outfit"/>
                  <a:ea typeface="Outfit"/>
                  <a:cs typeface="Outfit"/>
                  <a:sym typeface="Outfit"/>
                </a:rPr>
                <a:t>Aptitude Tests</a:t>
              </a:r>
            </a:p>
          </p:txBody>
        </p:sp>
        <p:sp>
          <p:nvSpPr>
            <p:cNvPr id="106" name="Google Shape;106;p15"/>
            <p:cNvSpPr/>
            <p:nvPr/>
          </p:nvSpPr>
          <p:spPr>
            <a:xfrm>
              <a:off x="1143000" y="1762125"/>
              <a:ext cx="1809600" cy="571500"/>
            </a:xfrm>
            <a:custGeom>
              <a:avLst/>
              <a:gdLst/>
              <a:ahLst/>
              <a:cxnLst/>
              <a:rect l="l" t="t" r="r" b="b"/>
              <a:pathLst>
                <a:path w="120000" h="120000" extrusionOk="0">
                  <a:moveTo>
                    <a:pt x="0" y="0"/>
                  </a:moveTo>
                  <a:lnTo>
                    <a:pt x="120000" y="0"/>
                  </a:lnTo>
                  <a:lnTo>
                    <a:pt x="97895" y="120000"/>
                  </a:lnTo>
                  <a:lnTo>
                    <a:pt x="22105" y="120000"/>
                  </a:lnTo>
                  <a:close/>
                </a:path>
              </a:pathLst>
            </a:custGeom>
            <a:solidFill>
              <a:srgbClr val="FBBF24"/>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7" name="Google Shape;107;p15"/>
            <p:cNvSpPr txBox="1"/>
            <p:nvPr/>
          </p:nvSpPr>
          <p:spPr>
            <a:xfrm>
              <a:off x="1476375" y="1924050"/>
              <a:ext cx="11430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100" b="1" dirty="0">
                  <a:solidFill>
                    <a:srgbClr val="111827"/>
                  </a:solidFill>
                  <a:latin typeface="Outfit"/>
                  <a:ea typeface="Outfit"/>
                  <a:cs typeface="Outfit"/>
                  <a:sym typeface="Outfit"/>
                </a:rPr>
                <a:t>Coding Assessments</a:t>
              </a:r>
              <a:endParaRPr sz="2400" dirty="0"/>
            </a:p>
          </p:txBody>
        </p:sp>
        <p:sp>
          <p:nvSpPr>
            <p:cNvPr id="108" name="Google Shape;108;p15"/>
            <p:cNvSpPr/>
            <p:nvPr/>
          </p:nvSpPr>
          <p:spPr>
            <a:xfrm>
              <a:off x="1524000" y="2428875"/>
              <a:ext cx="1047900" cy="571500"/>
            </a:xfrm>
            <a:custGeom>
              <a:avLst/>
              <a:gdLst/>
              <a:ahLst/>
              <a:cxnLst/>
              <a:rect l="l" t="t" r="r" b="b"/>
              <a:pathLst>
                <a:path w="120000" h="120000" extrusionOk="0">
                  <a:moveTo>
                    <a:pt x="0" y="0"/>
                  </a:moveTo>
                  <a:lnTo>
                    <a:pt x="120000" y="0"/>
                  </a:lnTo>
                  <a:lnTo>
                    <a:pt x="81818" y="120000"/>
                  </a:lnTo>
                  <a:lnTo>
                    <a:pt x="38182" y="120000"/>
                  </a:lnTo>
                  <a:close/>
                </a:path>
              </a:pathLst>
            </a:cu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9" name="Google Shape;109;p15"/>
            <p:cNvSpPr txBox="1"/>
            <p:nvPr/>
          </p:nvSpPr>
          <p:spPr>
            <a:xfrm>
              <a:off x="1714500" y="2533652"/>
              <a:ext cx="6669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900" b="1" dirty="0">
                  <a:solidFill>
                    <a:srgbClr val="111827"/>
                  </a:solidFill>
                  <a:latin typeface="Outfit"/>
                  <a:ea typeface="Outfit"/>
                  <a:cs typeface="Outfit"/>
                  <a:sym typeface="Outfit"/>
                </a:rPr>
                <a:t>Technical Interviews</a:t>
              </a:r>
              <a:endParaRPr sz="1600" dirty="0"/>
            </a:p>
          </p:txBody>
        </p:sp>
      </p:grpSp>
      <p:cxnSp>
        <p:nvCxnSpPr>
          <p:cNvPr id="2" name="Google Shape;93;p15"/>
          <p:cNvCxnSpPr/>
          <p:nvPr/>
        </p:nvCxnSpPr>
        <p:spPr>
          <a:xfrm>
            <a:off x="381000" y="116205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grpSp>
        <p:nvGrpSpPr>
          <p:cNvPr id="142" name="Google Shape;142;p17"/>
          <p:cNvGrpSpPr/>
          <p:nvPr/>
        </p:nvGrpSpPr>
        <p:grpSpPr>
          <a:xfrm>
            <a:off x="0" y="0"/>
            <a:ext cx="9144150" cy="5143650"/>
            <a:chOff x="0" y="0"/>
            <a:chExt cx="9144150" cy="5143650"/>
          </a:xfrm>
        </p:grpSpPr>
        <p:sp>
          <p:nvSpPr>
            <p:cNvPr id="143" name="Google Shape;143;p17"/>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144" name="Google Shape;144;p17"/>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145" name="Google Shape;145;p17"/>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46" name="Google Shape;146;p17"/>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147" name="Google Shape;147;p17"/>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OVERVIEW OF SELECTION ROUNDS</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300"/>
              </a:spcBef>
              <a:spcAft>
                <a:spcPts val="300"/>
              </a:spcAft>
              <a:buNone/>
            </a:pPr>
            <a:r>
              <a:rPr lang="en-US" altLang="en-GB" sz="2700" b="0" i="0" u="none" strike="noStrike">
                <a:solidFill>
                  <a:srgbClr val="0B132B"/>
                </a:solidFill>
                <a:latin typeface="Poppins SemiBold"/>
                <a:ea typeface="Poppins SemiBold"/>
                <a:cs typeface="Poppins SemiBold"/>
                <a:sym typeface="Poppins SemiBold"/>
              </a:rPr>
              <a:t>Interview Process</a:t>
            </a:r>
          </a:p>
        </p:txBody>
      </p:sp>
      <p:grpSp>
        <p:nvGrpSpPr>
          <p:cNvPr id="148" name="Google Shape;148;p17"/>
          <p:cNvGrpSpPr/>
          <p:nvPr/>
        </p:nvGrpSpPr>
        <p:grpSpPr>
          <a:xfrm>
            <a:off x="628650" y="1581150"/>
            <a:ext cx="8001000" cy="2857500"/>
            <a:chOff x="628650" y="1581150"/>
            <a:chExt cx="8001000" cy="2857500"/>
          </a:xfrm>
        </p:grpSpPr>
        <p:sp>
          <p:nvSpPr>
            <p:cNvPr id="149" name="Google Shape;149;p17"/>
            <p:cNvSpPr/>
            <p:nvPr/>
          </p:nvSpPr>
          <p:spPr>
            <a:xfrm>
              <a:off x="628650" y="1581150"/>
              <a:ext cx="2476500" cy="2857500"/>
            </a:xfrm>
            <a:custGeom>
              <a:avLst/>
              <a:gdLst/>
              <a:ahLst/>
              <a:cxnLst/>
              <a:rect l="l" t="t" r="r" b="b"/>
              <a:pathLst>
                <a:path w="120000" h="120000" extrusionOk="0">
                  <a:moveTo>
                    <a:pt x="0" y="0"/>
                  </a:moveTo>
                  <a:lnTo>
                    <a:pt x="120000" y="16000"/>
                  </a:lnTo>
                  <a:lnTo>
                    <a:pt x="120000" y="104000"/>
                  </a:lnTo>
                  <a:lnTo>
                    <a:pt x="0" y="120000"/>
                  </a:lnTo>
                  <a:close/>
                </a:path>
              </a:pathLst>
            </a:custGeom>
            <a:solidFill>
              <a:srgbClr val="0B132B">
                <a:alpha val="1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0" name="Google Shape;150;p17"/>
            <p:cNvSpPr/>
            <p:nvPr/>
          </p:nvSpPr>
          <p:spPr>
            <a:xfrm>
              <a:off x="3390900" y="1962150"/>
              <a:ext cx="2476500" cy="2095500"/>
            </a:xfrm>
            <a:custGeom>
              <a:avLst/>
              <a:gdLst/>
              <a:ahLst/>
              <a:cxnLst/>
              <a:rect l="l" t="t" r="r" b="b"/>
              <a:pathLst>
                <a:path w="120000" h="120000" extrusionOk="0">
                  <a:moveTo>
                    <a:pt x="0" y="0"/>
                  </a:moveTo>
                  <a:lnTo>
                    <a:pt x="120000" y="21818"/>
                  </a:lnTo>
                  <a:lnTo>
                    <a:pt x="120000" y="98182"/>
                  </a:lnTo>
                  <a:lnTo>
                    <a:pt x="0" y="120000"/>
                  </a:lnTo>
                  <a:close/>
                </a:path>
              </a:pathLst>
            </a:custGeom>
            <a:solidFill>
              <a:srgbClr val="0B132B">
                <a:alpha val="1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1" name="Google Shape;151;p17"/>
            <p:cNvSpPr/>
            <p:nvPr/>
          </p:nvSpPr>
          <p:spPr>
            <a:xfrm>
              <a:off x="6153150" y="2343150"/>
              <a:ext cx="2476500" cy="1333500"/>
            </a:xfrm>
            <a:custGeom>
              <a:avLst/>
              <a:gdLst/>
              <a:ahLst/>
              <a:cxnLst/>
              <a:rect l="l" t="t" r="r" b="b"/>
              <a:pathLst>
                <a:path w="120000" h="120000" extrusionOk="0">
                  <a:moveTo>
                    <a:pt x="0" y="0"/>
                  </a:moveTo>
                  <a:lnTo>
                    <a:pt x="120000" y="34286"/>
                  </a:lnTo>
                  <a:lnTo>
                    <a:pt x="120000" y="85714"/>
                  </a:lnTo>
                  <a:lnTo>
                    <a:pt x="0" y="120000"/>
                  </a:lnTo>
                  <a:close/>
                </a:path>
              </a:pathLst>
            </a:custGeom>
            <a:solidFill>
              <a:srgbClr val="0B132B">
                <a:alpha val="1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152" name="Google Shape;152;p17"/>
          <p:cNvGrpSpPr/>
          <p:nvPr/>
        </p:nvGrpSpPr>
        <p:grpSpPr>
          <a:xfrm>
            <a:off x="571500" y="1524000"/>
            <a:ext cx="8001000" cy="2857500"/>
            <a:chOff x="571500" y="1524000"/>
            <a:chExt cx="8001000" cy="2857500"/>
          </a:xfrm>
        </p:grpSpPr>
        <p:sp>
          <p:nvSpPr>
            <p:cNvPr id="153" name="Google Shape;153;p17"/>
            <p:cNvSpPr/>
            <p:nvPr/>
          </p:nvSpPr>
          <p:spPr>
            <a:xfrm>
              <a:off x="571500" y="1524000"/>
              <a:ext cx="2476500" cy="2857500"/>
            </a:xfrm>
            <a:custGeom>
              <a:avLst/>
              <a:gdLst/>
              <a:ahLst/>
              <a:cxnLst/>
              <a:rect l="l" t="t" r="r" b="b"/>
              <a:pathLst>
                <a:path w="120000" h="120000" extrusionOk="0">
                  <a:moveTo>
                    <a:pt x="0" y="0"/>
                  </a:moveTo>
                  <a:lnTo>
                    <a:pt x="120000" y="16000"/>
                  </a:lnTo>
                  <a:lnTo>
                    <a:pt x="120000" y="104000"/>
                  </a:lnTo>
                  <a:lnTo>
                    <a:pt x="0" y="120000"/>
                  </a:lnTo>
                  <a:close/>
                </a:path>
              </a:pathLst>
            </a:cu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4" name="Google Shape;154;p17"/>
            <p:cNvSpPr/>
            <p:nvPr/>
          </p:nvSpPr>
          <p:spPr>
            <a:xfrm>
              <a:off x="3333750" y="1905000"/>
              <a:ext cx="2476500" cy="2095500"/>
            </a:xfrm>
            <a:custGeom>
              <a:avLst/>
              <a:gdLst/>
              <a:ahLst/>
              <a:cxnLst/>
              <a:rect l="l" t="t" r="r" b="b"/>
              <a:pathLst>
                <a:path w="120000" h="120000" extrusionOk="0">
                  <a:moveTo>
                    <a:pt x="0" y="0"/>
                  </a:moveTo>
                  <a:lnTo>
                    <a:pt x="120000" y="21818"/>
                  </a:lnTo>
                  <a:lnTo>
                    <a:pt x="120000" y="98182"/>
                  </a:lnTo>
                  <a:lnTo>
                    <a:pt x="0" y="120000"/>
                  </a:lnTo>
                  <a:close/>
                </a:path>
              </a:pathLst>
            </a:cu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5" name="Google Shape;155;p17"/>
            <p:cNvSpPr/>
            <p:nvPr/>
          </p:nvSpPr>
          <p:spPr>
            <a:xfrm>
              <a:off x="6096000" y="2286000"/>
              <a:ext cx="2476500" cy="1333500"/>
            </a:xfrm>
            <a:custGeom>
              <a:avLst/>
              <a:gdLst/>
              <a:ahLst/>
              <a:cxnLst/>
              <a:rect l="l" t="t" r="r" b="b"/>
              <a:pathLst>
                <a:path w="120000" h="120000" extrusionOk="0">
                  <a:moveTo>
                    <a:pt x="0" y="0"/>
                  </a:moveTo>
                  <a:lnTo>
                    <a:pt x="120000" y="34286"/>
                  </a:lnTo>
                  <a:lnTo>
                    <a:pt x="120000" y="85714"/>
                  </a:lnTo>
                  <a:lnTo>
                    <a:pt x="0" y="120000"/>
                  </a:lnTo>
                  <a:close/>
                </a:path>
              </a:pathLst>
            </a:cu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156" name="Google Shape;156;p17"/>
          <p:cNvGrpSpPr/>
          <p:nvPr/>
        </p:nvGrpSpPr>
        <p:grpSpPr>
          <a:xfrm>
            <a:off x="3143250" y="2876550"/>
            <a:ext cx="2876550" cy="152400"/>
            <a:chOff x="3143250" y="2876550"/>
            <a:chExt cx="2876550" cy="152400"/>
          </a:xfrm>
        </p:grpSpPr>
        <p:sp>
          <p:nvSpPr>
            <p:cNvPr id="157" name="Google Shape;157;p17"/>
            <p:cNvSpPr/>
            <p:nvPr/>
          </p:nvSpPr>
          <p:spPr>
            <a:xfrm>
              <a:off x="3143250" y="2876550"/>
              <a:ext cx="114300" cy="152400"/>
            </a:xfrm>
            <a:custGeom>
              <a:avLst/>
              <a:gdLst/>
              <a:ahLst/>
              <a:cxnLst/>
              <a:rect l="l" t="t" r="r" b="b"/>
              <a:pathLst>
                <a:path w="120000" h="120000" extrusionOk="0">
                  <a:moveTo>
                    <a:pt x="0" y="0"/>
                  </a:moveTo>
                  <a:lnTo>
                    <a:pt x="120000" y="60000"/>
                  </a:lnTo>
                  <a:lnTo>
                    <a:pt x="0" y="120000"/>
                  </a:lnTo>
                  <a:close/>
                </a:path>
              </a:pathLst>
            </a:custGeom>
            <a:solidFill>
              <a:srgbClr val="0B132B">
                <a:alpha val="8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58" name="Google Shape;158;p17"/>
            <p:cNvSpPr/>
            <p:nvPr/>
          </p:nvSpPr>
          <p:spPr>
            <a:xfrm>
              <a:off x="5905500" y="2876550"/>
              <a:ext cx="114300" cy="152400"/>
            </a:xfrm>
            <a:custGeom>
              <a:avLst/>
              <a:gdLst/>
              <a:ahLst/>
              <a:cxnLst/>
              <a:rect l="l" t="t" r="r" b="b"/>
              <a:pathLst>
                <a:path w="120000" h="120000" extrusionOk="0">
                  <a:moveTo>
                    <a:pt x="0" y="0"/>
                  </a:moveTo>
                  <a:lnTo>
                    <a:pt x="120000" y="60000"/>
                  </a:lnTo>
                  <a:lnTo>
                    <a:pt x="0" y="120000"/>
                  </a:lnTo>
                  <a:close/>
                </a:path>
              </a:pathLst>
            </a:custGeom>
            <a:solidFill>
              <a:srgbClr val="0B132B">
                <a:alpha val="8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159" name="Google Shape;159;p17"/>
          <p:cNvGrpSpPr/>
          <p:nvPr/>
        </p:nvGrpSpPr>
        <p:grpSpPr>
          <a:xfrm>
            <a:off x="714225" y="1702557"/>
            <a:ext cx="7715550" cy="2476500"/>
            <a:chOff x="714225" y="1702557"/>
            <a:chExt cx="7715550" cy="2476500"/>
          </a:xfrm>
        </p:grpSpPr>
        <p:sp>
          <p:nvSpPr>
            <p:cNvPr id="160" name="Google Shape;160;p17"/>
            <p:cNvSpPr txBox="1"/>
            <p:nvPr/>
          </p:nvSpPr>
          <p:spPr>
            <a:xfrm>
              <a:off x="714225" y="1702557"/>
              <a:ext cx="2190900" cy="2476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050" b="0" dirty="0">
                  <a:solidFill>
                    <a:srgbClr val="FFC300"/>
                  </a:solidFill>
                  <a:highlight>
                    <a:srgbClr val="000080"/>
                  </a:highlight>
                  <a:latin typeface="Poppins ExtraBold"/>
                  <a:ea typeface="Poppins ExtraBold"/>
                  <a:cs typeface="Poppins ExtraBold"/>
                  <a:sym typeface="Poppins ExtraBold"/>
                </a:rPr>
                <a:t>Round 1</a:t>
              </a:r>
            </a:p>
            <a:p>
              <a:pPr marL="0" lvl="0" indent="0" algn="ctr" rtl="0">
                <a:spcBef>
                  <a:spcPts val="900"/>
                </a:spcBef>
                <a:spcAft>
                  <a:spcPts val="0"/>
                </a:spcAft>
                <a:buNone/>
              </a:pPr>
              <a:r>
                <a:rPr lang="en-GB" sz="1650" b="1" dirty="0">
                  <a:solidFill>
                    <a:srgbClr val="FFFFFF"/>
                  </a:solidFill>
                  <a:latin typeface="Poppins" panose="00000800000000000000"/>
                  <a:ea typeface="Poppins" panose="00000800000000000000"/>
                  <a:cs typeface="Poppins" panose="00000800000000000000"/>
                  <a:sym typeface="Poppins" panose="00000800000000000000"/>
                </a:rPr>
                <a:t>Aptitude Tests</a:t>
              </a:r>
              <a:endParaRPr sz="1650" b="1" dirty="0">
                <a:solidFill>
                  <a:srgbClr val="FFFFFF"/>
                </a:solidFill>
                <a:latin typeface="Poppins" panose="00000800000000000000"/>
                <a:ea typeface="Poppins" panose="00000800000000000000"/>
                <a:cs typeface="Poppins" panose="00000800000000000000"/>
                <a:sym typeface="Poppins" panose="00000800000000000000"/>
              </a:endParaRPr>
            </a:p>
          </p:txBody>
        </p:sp>
        <p:sp>
          <p:nvSpPr>
            <p:cNvPr id="161" name="Google Shape;161;p17"/>
            <p:cNvSpPr txBox="1"/>
            <p:nvPr/>
          </p:nvSpPr>
          <p:spPr>
            <a:xfrm>
              <a:off x="3476625" y="2047875"/>
              <a:ext cx="2190900" cy="18096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050" b="0" dirty="0">
                  <a:solidFill>
                    <a:srgbClr val="FFFFFF"/>
                  </a:solidFill>
                  <a:highlight>
                    <a:srgbClr val="000080"/>
                  </a:highlight>
                  <a:latin typeface="Poppins ExtraBold"/>
                  <a:ea typeface="Poppins ExtraBold"/>
                  <a:cs typeface="Poppins ExtraBold"/>
                  <a:sym typeface="Poppins ExtraBold"/>
                </a:rPr>
                <a:t>Round 2</a:t>
              </a:r>
            </a:p>
            <a:p>
              <a:pPr marL="0" lvl="0" indent="0" algn="ctr" rtl="0">
                <a:spcBef>
                  <a:spcPts val="900"/>
                </a:spcBef>
                <a:spcAft>
                  <a:spcPts val="0"/>
                </a:spcAft>
                <a:buNone/>
              </a:pPr>
              <a:r>
                <a:rPr lang="en-GB" sz="1500" b="1" dirty="0">
                  <a:solidFill>
                    <a:srgbClr val="FFFFFF"/>
                  </a:solidFill>
                  <a:latin typeface="Poppins" panose="00000800000000000000"/>
                  <a:ea typeface="Poppins" panose="00000800000000000000"/>
                  <a:cs typeface="Poppins" panose="00000800000000000000"/>
                  <a:sym typeface="Poppins" panose="00000800000000000000"/>
                </a:rPr>
                <a:t>Coding Assessments</a:t>
              </a:r>
              <a:endParaRPr sz="1500" b="1" dirty="0">
                <a:solidFill>
                  <a:srgbClr val="FFFFFF"/>
                </a:solidFill>
                <a:latin typeface="Poppins" panose="00000800000000000000"/>
                <a:ea typeface="Poppins" panose="00000800000000000000"/>
                <a:cs typeface="Poppins" panose="00000800000000000000"/>
                <a:sym typeface="Poppins" panose="00000800000000000000"/>
              </a:endParaRPr>
            </a:p>
            <a:p>
              <a:pPr marL="0" lvl="0" indent="0" algn="ctr" rtl="0">
                <a:spcBef>
                  <a:spcPts val="300"/>
                </a:spcBef>
                <a:spcAft>
                  <a:spcPts val="0"/>
                </a:spcAft>
                <a:buNone/>
              </a:pPr>
              <a:r>
                <a:rPr lang="en-GB" sz="1050" b="0" dirty="0">
                  <a:solidFill>
                    <a:srgbClr val="F8F9FA"/>
                  </a:solidFill>
                  <a:latin typeface="Inter" panose="02000503000000020004"/>
                  <a:ea typeface="Inter" panose="02000503000000020004"/>
                  <a:cs typeface="Inter" panose="02000503000000020004"/>
                  <a:sym typeface="Inter" panose="02000503000000020004"/>
                </a:rPr>
                <a:t>(e.g., </a:t>
              </a:r>
              <a:r>
                <a:rPr lang="en-GB" sz="1050" b="0" dirty="0" err="1">
                  <a:solidFill>
                    <a:srgbClr val="F8F9FA"/>
                  </a:solidFill>
                  <a:latin typeface="Inter" panose="02000503000000020004"/>
                  <a:ea typeface="Inter" panose="02000503000000020004"/>
                  <a:cs typeface="Inter" panose="02000503000000020004"/>
                  <a:sym typeface="Inter" panose="02000503000000020004"/>
                </a:rPr>
                <a:t>HackerRank</a:t>
              </a:r>
              <a:r>
                <a:rPr lang="en-GB" sz="1050" b="0" dirty="0">
                  <a:solidFill>
                    <a:srgbClr val="F8F9FA"/>
                  </a:solidFill>
                  <a:latin typeface="Inter" panose="02000503000000020004"/>
                  <a:ea typeface="Inter" panose="02000503000000020004"/>
                  <a:cs typeface="Inter" panose="02000503000000020004"/>
                  <a:sym typeface="Inter" panose="02000503000000020004"/>
                </a:rPr>
                <a:t>)</a:t>
              </a:r>
              <a:endParaRPr sz="1050" b="0" dirty="0">
                <a:solidFill>
                  <a:srgbClr val="F8F9FA"/>
                </a:solidFill>
                <a:latin typeface="Inter" panose="02000503000000020004"/>
                <a:ea typeface="Inter" panose="02000503000000020004"/>
                <a:cs typeface="Inter" panose="02000503000000020004"/>
                <a:sym typeface="Inter" panose="02000503000000020004"/>
              </a:endParaRPr>
            </a:p>
          </p:txBody>
        </p:sp>
        <p:sp>
          <p:nvSpPr>
            <p:cNvPr id="162" name="Google Shape;162;p17"/>
            <p:cNvSpPr txBox="1"/>
            <p:nvPr/>
          </p:nvSpPr>
          <p:spPr>
            <a:xfrm>
              <a:off x="6238875" y="2381250"/>
              <a:ext cx="2190900" cy="11430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975" b="0" dirty="0">
                  <a:solidFill>
                    <a:srgbClr val="FFFFFF"/>
                  </a:solidFill>
                  <a:highlight>
                    <a:srgbClr val="000080"/>
                  </a:highlight>
                  <a:latin typeface="Poppins ExtraBold"/>
                  <a:ea typeface="Poppins ExtraBold"/>
                  <a:cs typeface="Poppins ExtraBold"/>
                  <a:sym typeface="Poppins ExtraBold"/>
                </a:rPr>
                <a:t>Round 3</a:t>
              </a:r>
            </a:p>
            <a:p>
              <a:pPr marL="0" lvl="0" indent="0" algn="ctr" rtl="0">
                <a:spcBef>
                  <a:spcPts val="600"/>
                </a:spcBef>
                <a:spcAft>
                  <a:spcPts val="0"/>
                </a:spcAft>
                <a:buNone/>
              </a:pPr>
              <a:r>
                <a:rPr lang="en-US" altLang="en-GB" sz="1200" b="1" dirty="0">
                  <a:solidFill>
                    <a:srgbClr val="0B132B"/>
                  </a:solidFill>
                  <a:latin typeface="Poppins" panose="00000800000000000000"/>
                  <a:ea typeface="Poppins" panose="00000800000000000000"/>
                  <a:cs typeface="Poppins" panose="00000800000000000000"/>
                  <a:sym typeface="Poppins" panose="00000800000000000000"/>
                </a:rPr>
                <a:t>Technical </a:t>
              </a:r>
              <a:r>
                <a:rPr lang="en-GB" sz="1200" b="1" dirty="0">
                  <a:solidFill>
                    <a:srgbClr val="0B132B"/>
                  </a:solidFill>
                  <a:latin typeface="Poppins" panose="00000800000000000000"/>
                  <a:ea typeface="Poppins" panose="00000800000000000000"/>
                  <a:cs typeface="Poppins" panose="00000800000000000000"/>
                  <a:sym typeface="Poppins" panose="00000800000000000000"/>
                </a:rPr>
                <a:t>Interviews</a:t>
              </a:r>
              <a:endParaRPr sz="1200" b="1" dirty="0">
                <a:solidFill>
                  <a:srgbClr val="0B132B"/>
                </a:solidFill>
                <a:latin typeface="Poppins" panose="00000800000000000000"/>
                <a:ea typeface="Poppins" panose="00000800000000000000"/>
                <a:cs typeface="Poppins" panose="00000800000000000000"/>
                <a:sym typeface="Poppins" panose="00000800000000000000"/>
              </a:endParaRPr>
            </a:p>
          </p:txBody>
        </p:sp>
      </p:grpSp>
      <p:cxnSp>
        <p:nvCxnSpPr>
          <p:cNvPr id="93" name="Google Shape;93;p15"/>
          <p:cNvCxnSpPr/>
          <p:nvPr/>
        </p:nvCxnSpPr>
        <p:spPr>
          <a:xfrm>
            <a:off x="381000" y="11811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3" name="Google Shape;554;p30"/>
          <p:cNvGrpSpPr/>
          <p:nvPr/>
        </p:nvGrpSpPr>
        <p:grpSpPr>
          <a:xfrm>
            <a:off x="2400300" y="4344670"/>
            <a:ext cx="5251784" cy="604520"/>
            <a:chOff x="-4343400" y="-187842"/>
            <a:chExt cx="9312910" cy="666810"/>
          </a:xfrm>
        </p:grpSpPr>
        <p:sp>
          <p:nvSpPr>
            <p:cNvPr id="4" name="Google Shape;556;p30"/>
            <p:cNvSpPr/>
            <p:nvPr/>
          </p:nvSpPr>
          <p:spPr>
            <a:xfrm>
              <a:off x="-4343400" y="-187842"/>
              <a:ext cx="9312910" cy="666810"/>
            </a:xfrm>
            <a:prstGeom prst="roundRect">
              <a:avLst>
                <a:gd name="adj" fmla="val 16000"/>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5" name="Google Shape;558;p30"/>
            <p:cNvSpPr txBox="1"/>
            <p:nvPr/>
          </p:nvSpPr>
          <p:spPr>
            <a:xfrm>
              <a:off x="-3872229" y="11036"/>
              <a:ext cx="8192770" cy="400448"/>
            </a:xfrm>
            <a:prstGeom prst="rect">
              <a:avLst/>
            </a:prstGeom>
            <a:noFill/>
            <a:ln>
              <a:noFill/>
            </a:ln>
          </p:spPr>
          <p:txBody>
            <a:bodyPr spcFirstLastPara="1" wrap="square" lIns="0" tIns="0" rIns="0" bIns="0" anchor="t" anchorCtr="0">
              <a:noAutofit/>
            </a:bodyPr>
            <a:lstStyle/>
            <a:p>
              <a:pPr marL="0" lvl="0" algn="ctr" rtl="0">
                <a:spcBef>
                  <a:spcPts val="0"/>
                </a:spcBef>
                <a:spcAft>
                  <a:spcPts val="0"/>
                </a:spcAft>
                <a:buSzTx/>
                <a:buNone/>
              </a:pPr>
              <a:r>
                <a:rPr lang="en-US" altLang="zh-CN" sz="1600" b="1" dirty="0">
                  <a:latin typeface="Arial Bold" panose="020B0604020202090204" charset="0"/>
                  <a:cs typeface="Arial Bold" panose="020B0604020202090204" charset="0"/>
                  <a:sym typeface="+mn-ea"/>
                </a:rPr>
                <a:t>Remember</a:t>
              </a:r>
              <a:r>
                <a:rPr lang="en-US" altLang="zh-CN" sz="1600" dirty="0">
                  <a:latin typeface="Arial" panose="020B0604020202090204" pitchFamily="34" charset="0"/>
                  <a:cs typeface="Arial" panose="020B0604020202090204" pitchFamily="34" charset="0"/>
                  <a:sym typeface="+mn-ea"/>
                </a:rPr>
                <a:t>: Every round is an elimination round</a:t>
              </a:r>
              <a:endParaRPr lang="en-US" altLang="en-GB" sz="1600" dirty="0">
                <a:solidFill>
                  <a:srgbClr val="111827"/>
                </a:solidFill>
                <a:latin typeface="Outfit"/>
                <a:ea typeface="Outfit"/>
                <a:cs typeface="Outfit"/>
                <a:sym typeface="DM Sans Medium"/>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8"/>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168" name="Google Shape;168;p18"/>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169" name="Google Shape;169;p18"/>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0" name="Google Shape;170;p18"/>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1" name="Google Shape;171;p18"/>
          <p:cNvSpPr txBox="1"/>
          <p:nvPr/>
        </p:nvSpPr>
        <p:spPr>
          <a:xfrm>
            <a:off x="571500" y="381000"/>
            <a:ext cx="8001000"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ROUND 1</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900"/>
              </a:spcBef>
              <a:spcAft>
                <a:spcPts val="900"/>
              </a:spcAft>
              <a:buNone/>
            </a:pPr>
            <a:r>
              <a:rPr lang="en-GB" sz="2700" b="0" i="0" u="none" strike="noStrike">
                <a:solidFill>
                  <a:srgbClr val="0B132B"/>
                </a:solidFill>
                <a:latin typeface="Poppins SemiBold"/>
                <a:ea typeface="Poppins SemiBold"/>
                <a:cs typeface="Poppins SemiBold"/>
                <a:sym typeface="Poppins SemiBold"/>
              </a:rPr>
              <a:t>Aptitude Tests - </a:t>
            </a:r>
            <a:r>
              <a:rPr lang="en-US" altLang="en-GB" sz="2700" b="0" i="0" u="none" strike="noStrike">
                <a:solidFill>
                  <a:srgbClr val="0B132B"/>
                </a:solidFill>
                <a:latin typeface="Poppins SemiBold"/>
                <a:ea typeface="Poppins SemiBold"/>
                <a:cs typeface="Poppins SemiBold"/>
                <a:sym typeface="Poppins SemiBold"/>
              </a:rPr>
              <a:t>T</a:t>
            </a:r>
            <a:r>
              <a:rPr lang="en-GB" sz="2700" b="0" i="0" u="none" strike="noStrike">
                <a:solidFill>
                  <a:srgbClr val="0B132B"/>
                </a:solidFill>
                <a:latin typeface="Poppins SemiBold"/>
                <a:ea typeface="Poppins SemiBold"/>
                <a:cs typeface="Poppins SemiBold"/>
                <a:sym typeface="Poppins SemiBold"/>
              </a:rPr>
              <a:t>he First Hurdle</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172" name="Google Shape;172;p18"/>
          <p:cNvGrpSpPr/>
          <p:nvPr/>
        </p:nvGrpSpPr>
        <p:grpSpPr>
          <a:xfrm>
            <a:off x="571500" y="2440940"/>
            <a:ext cx="8001000" cy="589915"/>
            <a:chOff x="0" y="0"/>
            <a:chExt cx="8001150" cy="563633"/>
          </a:xfrm>
        </p:grpSpPr>
        <p:grpSp>
          <p:nvGrpSpPr>
            <p:cNvPr id="173" name="Google Shape;173;p18"/>
            <p:cNvGrpSpPr/>
            <p:nvPr/>
          </p:nvGrpSpPr>
          <p:grpSpPr>
            <a:xfrm>
              <a:off x="0" y="133350"/>
              <a:ext cx="304800" cy="304800"/>
              <a:chOff x="0" y="0"/>
              <a:chExt cx="304800" cy="304800"/>
            </a:xfrm>
          </p:grpSpPr>
          <p:sp>
            <p:nvSpPr>
              <p:cNvPr id="174" name="Google Shape;174;p18"/>
              <p:cNvSpPr/>
              <p:nvPr/>
            </p:nvSpPr>
            <p:spPr>
              <a:xfrm>
                <a:off x="0" y="0"/>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5" name="Google Shape;175;p18"/>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176" name="Google Shape;176;p18"/>
            <p:cNvSpPr txBox="1"/>
            <p:nvPr/>
          </p:nvSpPr>
          <p:spPr>
            <a:xfrm>
              <a:off x="476259" y="0"/>
              <a:ext cx="7524891" cy="563633"/>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altLang="en-GB" sz="1350" b="0">
                  <a:solidFill>
                    <a:srgbClr val="4A5568"/>
                  </a:solidFill>
                  <a:latin typeface="Inter" panose="02000503000000020004"/>
                  <a:ea typeface="Inter" panose="02000503000000020004"/>
                  <a:cs typeface="Inter" panose="02000503000000020004"/>
                  <a:sym typeface="Inter" panose="02000503000000020004"/>
                </a:rPr>
                <a:t>Tests Quantitative and Logical reasoning skills</a:t>
              </a:r>
              <a:endParaRPr lang="en-US" sz="1350" b="0">
                <a:solidFill>
                  <a:srgbClr val="4A5568"/>
                </a:solidFill>
                <a:latin typeface="Inter" panose="02000503000000020004"/>
                <a:ea typeface="Inter" panose="02000503000000020004"/>
                <a:cs typeface="Inter" panose="02000503000000020004"/>
                <a:sym typeface="Inter" panose="02000503000000020004"/>
              </a:endParaRPr>
            </a:p>
          </p:txBody>
        </p:sp>
      </p:grpSp>
      <p:grpSp>
        <p:nvGrpSpPr>
          <p:cNvPr id="177" name="Google Shape;177;p18"/>
          <p:cNvGrpSpPr/>
          <p:nvPr/>
        </p:nvGrpSpPr>
        <p:grpSpPr>
          <a:xfrm>
            <a:off x="571500" y="3142615"/>
            <a:ext cx="8001000" cy="589280"/>
            <a:chOff x="0" y="0"/>
            <a:chExt cx="8001150" cy="571500"/>
          </a:xfrm>
        </p:grpSpPr>
        <p:grpSp>
          <p:nvGrpSpPr>
            <p:cNvPr id="178" name="Google Shape;178;p18"/>
            <p:cNvGrpSpPr/>
            <p:nvPr/>
          </p:nvGrpSpPr>
          <p:grpSpPr>
            <a:xfrm>
              <a:off x="0" y="133350"/>
              <a:ext cx="304800" cy="304800"/>
              <a:chOff x="0" y="0"/>
              <a:chExt cx="304800" cy="304800"/>
            </a:xfrm>
          </p:grpSpPr>
          <p:sp>
            <p:nvSpPr>
              <p:cNvPr id="179" name="Google Shape;179;p18"/>
              <p:cNvSpPr/>
              <p:nvPr/>
            </p:nvSpPr>
            <p:spPr>
              <a:xfrm>
                <a:off x="0" y="0"/>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80" name="Google Shape;180;p18"/>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181" name="Google Shape;181;p18"/>
            <p:cNvSpPr txBox="1"/>
            <p:nvPr/>
          </p:nvSpPr>
          <p:spPr>
            <a:xfrm>
              <a:off x="476250" y="0"/>
              <a:ext cx="75249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350" b="0">
                  <a:solidFill>
                    <a:srgbClr val="4A5568"/>
                  </a:solidFill>
                  <a:latin typeface="Inter" panose="02000503000000020004"/>
                  <a:ea typeface="Inter" panose="02000503000000020004"/>
                  <a:cs typeface="Inter" panose="02000503000000020004"/>
                  <a:sym typeface="Inter" panose="02000503000000020004"/>
                </a:rPr>
                <a:t>Requires a balance of speed and accuracy.</a:t>
              </a:r>
              <a:endParaRPr sz="1350" b="0">
                <a:solidFill>
                  <a:srgbClr val="4A5568"/>
                </a:solidFill>
                <a:latin typeface="Inter" panose="02000503000000020004"/>
                <a:ea typeface="Inter" panose="02000503000000020004"/>
                <a:cs typeface="Inter" panose="02000503000000020004"/>
                <a:sym typeface="Inter" panose="02000503000000020004"/>
              </a:endParaRPr>
            </a:p>
          </p:txBody>
        </p:sp>
      </p:grpSp>
      <p:grpSp>
        <p:nvGrpSpPr>
          <p:cNvPr id="182" name="Google Shape;182;p18"/>
          <p:cNvGrpSpPr/>
          <p:nvPr/>
        </p:nvGrpSpPr>
        <p:grpSpPr>
          <a:xfrm>
            <a:off x="571500" y="1784985"/>
            <a:ext cx="8001000" cy="590550"/>
            <a:chOff x="0" y="0"/>
            <a:chExt cx="8001150" cy="571500"/>
          </a:xfrm>
        </p:grpSpPr>
        <p:grpSp>
          <p:nvGrpSpPr>
            <p:cNvPr id="183" name="Google Shape;183;p18"/>
            <p:cNvGrpSpPr/>
            <p:nvPr/>
          </p:nvGrpSpPr>
          <p:grpSpPr>
            <a:xfrm>
              <a:off x="0" y="133350"/>
              <a:ext cx="304800" cy="304800"/>
              <a:chOff x="0" y="0"/>
              <a:chExt cx="304800" cy="304800"/>
            </a:xfrm>
          </p:grpSpPr>
          <p:sp>
            <p:nvSpPr>
              <p:cNvPr id="184" name="Google Shape;184;p18"/>
              <p:cNvSpPr/>
              <p:nvPr/>
            </p:nvSpPr>
            <p:spPr>
              <a:xfrm>
                <a:off x="0" y="0"/>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85" name="Google Shape;185;p18"/>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186" name="Google Shape;186;p18"/>
            <p:cNvSpPr txBox="1"/>
            <p:nvPr/>
          </p:nvSpPr>
          <p:spPr>
            <a:xfrm>
              <a:off x="476250" y="0"/>
              <a:ext cx="75249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350" b="0">
                  <a:solidFill>
                    <a:srgbClr val="4A5568"/>
                  </a:solidFill>
                  <a:latin typeface="Inter" panose="02000503000000020004"/>
                  <a:ea typeface="Inter" panose="02000503000000020004"/>
                  <a:cs typeface="Inter" panose="02000503000000020004"/>
                  <a:sym typeface="Inter" panose="02000503000000020004"/>
                </a:rPr>
                <a:t>Acts as the primary elimination round.</a:t>
              </a:r>
              <a:endParaRPr sz="1350" b="0">
                <a:solidFill>
                  <a:srgbClr val="4A5568"/>
                </a:solidFill>
                <a:latin typeface="Inter" panose="02000503000000020004"/>
                <a:ea typeface="Inter" panose="02000503000000020004"/>
                <a:cs typeface="Inter" panose="02000503000000020004"/>
                <a:sym typeface="Inter" panose="02000503000000020004"/>
              </a:endParaRPr>
            </a:p>
          </p:txBody>
        </p:sp>
      </p:grpSp>
      <p:cxnSp>
        <p:nvCxnSpPr>
          <p:cNvPr id="93" name="Google Shape;93;p15"/>
          <p:cNvCxnSpPr/>
          <p:nvPr/>
        </p:nvCxnSpPr>
        <p:spPr>
          <a:xfrm>
            <a:off x="381000" y="13716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8"/>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168" name="Google Shape;168;p18"/>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169" name="Google Shape;169;p18"/>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0" name="Google Shape;170;p18"/>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1" name="Google Shape;171;p18"/>
          <p:cNvSpPr txBox="1"/>
          <p:nvPr/>
        </p:nvSpPr>
        <p:spPr>
          <a:xfrm>
            <a:off x="571500" y="381000"/>
            <a:ext cx="8001000"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dirty="0">
                <a:solidFill>
                  <a:srgbClr val="FF5733"/>
                </a:solidFill>
                <a:latin typeface="Poppins" panose="00000800000000000000"/>
                <a:ea typeface="Poppins" panose="00000800000000000000"/>
                <a:cs typeface="Poppins" panose="00000800000000000000"/>
                <a:sym typeface="Poppins" panose="00000800000000000000"/>
              </a:rPr>
              <a:t>ROUND 1</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900"/>
              </a:spcBef>
              <a:spcAft>
                <a:spcPts val="900"/>
              </a:spcAft>
              <a:buNone/>
            </a:pPr>
            <a:r>
              <a:rPr lang="en-GB" sz="2700" b="0" i="0" u="none" strike="noStrike" dirty="0">
                <a:solidFill>
                  <a:srgbClr val="0B132B"/>
                </a:solidFill>
                <a:latin typeface="Poppins SemiBold"/>
                <a:ea typeface="Poppins SemiBold"/>
                <a:cs typeface="Poppins SemiBold"/>
                <a:sym typeface="Poppins SemiBold"/>
              </a:rPr>
              <a:t>Aptitude Tests - </a:t>
            </a:r>
            <a:r>
              <a:rPr lang="en-US" sz="2700" b="0" i="0" u="none" strike="noStrike" dirty="0">
                <a:solidFill>
                  <a:srgbClr val="0B132B"/>
                </a:solidFill>
                <a:latin typeface="Poppins SemiBold"/>
                <a:ea typeface="Poppins SemiBold"/>
                <a:cs typeface="Poppins SemiBold"/>
                <a:sym typeface="Poppins SemiBold"/>
              </a:rPr>
              <a:t>Keys Assessment topics</a:t>
            </a:r>
            <a:endParaRPr lang="en-US"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p:cNvCxnSpPr/>
          <p:nvPr/>
        </p:nvCxnSpPr>
        <p:spPr>
          <a:xfrm>
            <a:off x="381000" y="13716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123" name="Google Shape;123;p16"/>
          <p:cNvGrpSpPr/>
          <p:nvPr/>
        </p:nvGrpSpPr>
        <p:grpSpPr>
          <a:xfrm>
            <a:off x="250190" y="1656715"/>
            <a:ext cx="3255799" cy="3054985"/>
            <a:chOff x="-4000500" y="1361440"/>
            <a:chExt cx="3277420" cy="1645197"/>
          </a:xfrm>
        </p:grpSpPr>
        <p:sp>
          <p:nvSpPr>
            <p:cNvPr id="2" name="Google Shape;125;p16"/>
            <p:cNvSpPr/>
            <p:nvPr/>
          </p:nvSpPr>
          <p:spPr>
            <a:xfrm>
              <a:off x="-4000500" y="1361440"/>
              <a:ext cx="2917398" cy="1645197"/>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27" name="Google Shape;127;p16"/>
            <p:cNvGrpSpPr/>
            <p:nvPr/>
          </p:nvGrpSpPr>
          <p:grpSpPr>
            <a:xfrm>
              <a:off x="-3916776" y="1455658"/>
              <a:ext cx="3193696" cy="1505675"/>
              <a:chOff x="-3916776" y="1455658"/>
              <a:chExt cx="3193696" cy="1505675"/>
            </a:xfrm>
          </p:grpSpPr>
          <p:sp>
            <p:nvSpPr>
              <p:cNvPr id="128" name="Google Shape;128;p16"/>
              <p:cNvSpPr/>
              <p:nvPr/>
            </p:nvSpPr>
            <p:spPr>
              <a:xfrm>
                <a:off x="-3916776" y="1455658"/>
                <a:ext cx="342620" cy="170641"/>
              </a:xfrm>
              <a:prstGeom prst="ellipse">
                <a:avLst/>
              </a:prstGeom>
              <a:solidFill>
                <a:srgbClr val="FF6B6B"/>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9" name="Google Shape;129;p16"/>
              <p:cNvSpPr txBox="1"/>
              <p:nvPr/>
            </p:nvSpPr>
            <p:spPr>
              <a:xfrm>
                <a:off x="-3859613" y="1458715"/>
                <a:ext cx="211581" cy="170641"/>
              </a:xfrm>
              <a:prstGeom prst="rect">
                <a:avLst/>
              </a:prstGeom>
              <a:noFill/>
              <a:ln>
                <a:noFill/>
              </a:ln>
            </p:spPr>
            <p:txBody>
              <a:bodyPr spcFirstLastPara="1" wrap="square" lIns="0" tIns="0" rIns="0" bIns="0" anchor="ctr" anchorCtr="0">
                <a:noAutofit/>
              </a:bodyPr>
              <a:lstStyle/>
              <a:p>
                <a:pPr lvl="0" algn="ctr">
                  <a:buSzTx/>
                </a:pPr>
                <a:r>
                  <a:rPr lang="en-GB" sz="1000" b="1">
                    <a:solidFill>
                      <a:srgbClr val="FFFFFF"/>
                    </a:solidFill>
                    <a:uFillTx/>
                    <a:latin typeface="Outfit" charset="0"/>
                    <a:ea typeface="Outfit"/>
                    <a:cs typeface="Outfit"/>
                    <a:sym typeface="Outfit"/>
                  </a:rPr>
                  <a:t>1</a:t>
                </a:r>
              </a:p>
            </p:txBody>
          </p:sp>
          <p:sp>
            <p:nvSpPr>
              <p:cNvPr id="130" name="Google Shape;130;p16"/>
              <p:cNvSpPr txBox="1"/>
              <p:nvPr/>
            </p:nvSpPr>
            <p:spPr>
              <a:xfrm>
                <a:off x="-3441669" y="1468653"/>
                <a:ext cx="2718589" cy="149268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600" b="1" dirty="0">
                    <a:solidFill>
                      <a:srgbClr val="111827"/>
                    </a:solidFill>
                    <a:latin typeface="DM Sans"/>
                    <a:ea typeface="DM Sans"/>
                    <a:cs typeface="DM Sans"/>
                    <a:sym typeface="DM Sans"/>
                  </a:rPr>
                  <a:t>Quantitative Aptitude</a:t>
                </a:r>
                <a:endParaRPr sz="1600" b="1" dirty="0">
                  <a:solidFill>
                    <a:srgbClr val="111827"/>
                  </a:solidFill>
                  <a:latin typeface="DM Sans"/>
                  <a:ea typeface="DM Sans"/>
                  <a:cs typeface="DM Sans"/>
                  <a:sym typeface="DM Sans"/>
                </a:endParaRPr>
              </a:p>
              <a:p>
                <a:pPr marL="0" lvl="0" indent="0" algn="l" rtl="0">
                  <a:spcBef>
                    <a:spcPts val="300"/>
                  </a:spcBef>
                  <a:spcAft>
                    <a:spcPts val="0"/>
                  </a:spcAft>
                  <a:buNone/>
                </a:pPr>
                <a:endParaRPr lang="en-US" altLang="en-GB" b="0" dirty="0">
                  <a:solidFill>
                    <a:srgbClr val="4B5563"/>
                  </a:solidFill>
                  <a:latin typeface="DM Sans Medium"/>
                  <a:ea typeface="DM Sans Medium"/>
                  <a:cs typeface="DM Sans Medium"/>
                  <a:sym typeface="DM Sans Medium"/>
                </a:endParaRPr>
              </a:p>
              <a:p>
                <a:pPr marL="0" lvl="0" indent="0" algn="l" rtl="0">
                  <a:spcBef>
                    <a:spcPts val="300"/>
                  </a:spcBef>
                  <a:spcAft>
                    <a:spcPts val="0"/>
                  </a:spcAft>
                  <a:buNone/>
                </a:pPr>
                <a:r>
                  <a:rPr lang="en-US" altLang="en-GB" b="0" dirty="0">
                    <a:solidFill>
                      <a:srgbClr val="4B5563"/>
                    </a:solidFill>
                    <a:latin typeface="DM Sans Medium"/>
                    <a:ea typeface="DM Sans Medium"/>
                    <a:cs typeface="DM Sans Medium"/>
                    <a:sym typeface="DM Sans Medium"/>
                  </a:rPr>
                  <a:t>M</a:t>
                </a:r>
                <a:r>
                  <a:rPr lang="en-GB" b="0" dirty="0" err="1">
                    <a:solidFill>
                      <a:srgbClr val="4B5563"/>
                    </a:solidFill>
                    <a:latin typeface="DM Sans Medium"/>
                    <a:ea typeface="DM Sans Medium"/>
                    <a:cs typeface="DM Sans Medium"/>
                    <a:sym typeface="DM Sans Medium"/>
                  </a:rPr>
                  <a:t>athematical</a:t>
                </a:r>
                <a:r>
                  <a:rPr lang="en-GB" b="0" dirty="0">
                    <a:solidFill>
                      <a:srgbClr val="4B5563"/>
                    </a:solidFill>
                    <a:latin typeface="DM Sans Medium"/>
                    <a:ea typeface="DM Sans Medium"/>
                    <a:cs typeface="DM Sans Medium"/>
                    <a:sym typeface="DM Sans Medium"/>
                  </a:rPr>
                  <a:t> foundations </a:t>
                </a:r>
              </a:p>
              <a:p>
                <a:pPr marL="0" lvl="0" indent="0" algn="l" rtl="0">
                  <a:spcBef>
                    <a:spcPts val="300"/>
                  </a:spcBef>
                  <a:spcAft>
                    <a:spcPts val="0"/>
                  </a:spcAft>
                  <a:buNone/>
                </a:pPr>
                <a:endParaRPr lang="en-GB" b="0" dirty="0">
                  <a:solidFill>
                    <a:srgbClr val="4B5563"/>
                  </a:solidFill>
                  <a:latin typeface="DM Sans Medium"/>
                  <a:ea typeface="DM Sans Medium"/>
                  <a:cs typeface="DM Sans Medium"/>
                  <a:sym typeface="DM Sans Medium"/>
                </a:endParaRPr>
              </a:p>
              <a:p>
                <a:pPr marL="171450" lvl="0" indent="-171450" algn="l" rtl="0">
                  <a:spcBef>
                    <a:spcPts val="300"/>
                  </a:spcBef>
                  <a:spcAft>
                    <a:spcPts val="0"/>
                  </a:spcAft>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P</a:t>
                </a:r>
                <a:r>
                  <a:rPr lang="en-GB" sz="1200" b="0" dirty="0" err="1">
                    <a:solidFill>
                      <a:srgbClr val="4B5563"/>
                    </a:solidFill>
                    <a:latin typeface="DM Sans Medium"/>
                    <a:ea typeface="DM Sans Medium"/>
                    <a:cs typeface="DM Sans Medium"/>
                    <a:sym typeface="DM Sans Medium"/>
                  </a:rPr>
                  <a:t>ercentages</a:t>
                </a:r>
                <a:endParaRPr lang="en-GB" sz="1200" b="0" dirty="0">
                  <a:solidFill>
                    <a:srgbClr val="4B5563"/>
                  </a:solidFill>
                  <a:latin typeface="DM Sans Medium"/>
                  <a:ea typeface="DM Sans Medium"/>
                  <a:cs typeface="DM Sans Medium"/>
                  <a:sym typeface="DM Sans Medium"/>
                </a:endParaRPr>
              </a:p>
              <a:p>
                <a:pPr marL="171450" lvl="0" indent="-171450" algn="l" rtl="0">
                  <a:spcBef>
                    <a:spcPts val="300"/>
                  </a:spcBef>
                  <a:spcAft>
                    <a:spcPts val="0"/>
                  </a:spcAft>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R</a:t>
                </a:r>
                <a:r>
                  <a:rPr lang="en-GB" sz="1200" b="0" dirty="0" err="1">
                    <a:solidFill>
                      <a:srgbClr val="4B5563"/>
                    </a:solidFill>
                    <a:latin typeface="DM Sans Medium"/>
                    <a:ea typeface="DM Sans Medium"/>
                    <a:cs typeface="DM Sans Medium"/>
                    <a:sym typeface="DM Sans Medium"/>
                  </a:rPr>
                  <a:t>atios</a:t>
                </a:r>
                <a:r>
                  <a:rPr lang="en-US" altLang="en-GB" sz="1200" b="0" dirty="0">
                    <a:solidFill>
                      <a:srgbClr val="4B5563"/>
                    </a:solidFill>
                    <a:latin typeface="DM Sans Medium"/>
                    <a:ea typeface="DM Sans Medium"/>
                    <a:cs typeface="DM Sans Medium"/>
                    <a:sym typeface="DM Sans Medium"/>
                  </a:rPr>
                  <a:t> &amp; Proportion</a:t>
                </a:r>
              </a:p>
              <a:p>
                <a:pPr marL="171450" lvl="0" indent="-171450" algn="l" rtl="0">
                  <a:spcBef>
                    <a:spcPts val="300"/>
                  </a:spcBef>
                  <a:spcAft>
                    <a:spcPts val="0"/>
                  </a:spcAft>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T</a:t>
                </a:r>
                <a:r>
                  <a:rPr lang="en-GB" sz="1200" b="0" dirty="0" err="1">
                    <a:solidFill>
                      <a:srgbClr val="4B5563"/>
                    </a:solidFill>
                    <a:latin typeface="DM Sans Medium"/>
                    <a:ea typeface="DM Sans Medium"/>
                    <a:cs typeface="DM Sans Medium"/>
                    <a:sym typeface="DM Sans Medium"/>
                  </a:rPr>
                  <a:t>ime</a:t>
                </a:r>
                <a:r>
                  <a:rPr lang="en-GB" sz="1200" b="0" dirty="0">
                    <a:solidFill>
                      <a:srgbClr val="4B5563"/>
                    </a:solidFill>
                    <a:latin typeface="DM Sans Medium"/>
                    <a:ea typeface="DM Sans Medium"/>
                    <a:cs typeface="DM Sans Medium"/>
                    <a:sym typeface="DM Sans Medium"/>
                  </a:rPr>
                  <a:t> </a:t>
                </a:r>
                <a:r>
                  <a:rPr lang="en-US" altLang="en-GB" sz="1200" b="0" dirty="0">
                    <a:solidFill>
                      <a:srgbClr val="4B5563"/>
                    </a:solidFill>
                    <a:latin typeface="DM Sans Medium"/>
                    <a:ea typeface="DM Sans Medium"/>
                    <a:cs typeface="DM Sans Medium"/>
                    <a:sym typeface="DM Sans Medium"/>
                  </a:rPr>
                  <a:t>&amp;</a:t>
                </a:r>
                <a:r>
                  <a:rPr lang="en-GB" sz="1200" b="0" dirty="0">
                    <a:solidFill>
                      <a:srgbClr val="4B5563"/>
                    </a:solidFill>
                    <a:latin typeface="DM Sans Medium"/>
                    <a:ea typeface="DM Sans Medium"/>
                    <a:cs typeface="DM Sans Medium"/>
                    <a:sym typeface="DM Sans Medium"/>
                  </a:rPr>
                  <a:t> work</a:t>
                </a:r>
              </a:p>
              <a:p>
                <a:pPr marL="171450" lvl="0" indent="-171450" algn="l" rtl="0">
                  <a:spcBef>
                    <a:spcPts val="300"/>
                  </a:spcBef>
                  <a:spcAft>
                    <a:spcPts val="0"/>
                  </a:spcAft>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Time &amp; Distance</a:t>
                </a:r>
              </a:p>
              <a:p>
                <a:pPr marL="171450" lvl="0" indent="-171450" algn="l" rtl="0">
                  <a:spcBef>
                    <a:spcPts val="300"/>
                  </a:spcBef>
                  <a:spcAft>
                    <a:spcPts val="0"/>
                  </a:spcAft>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P</a:t>
                </a:r>
                <a:r>
                  <a:rPr lang="en-GB" sz="1200" b="0" dirty="0" err="1">
                    <a:solidFill>
                      <a:srgbClr val="4B5563"/>
                    </a:solidFill>
                    <a:latin typeface="DM Sans Medium"/>
                    <a:ea typeface="DM Sans Medium"/>
                    <a:cs typeface="DM Sans Medium"/>
                    <a:sym typeface="DM Sans Medium"/>
                  </a:rPr>
                  <a:t>robability</a:t>
                </a:r>
                <a:endParaRPr lang="en-GB" sz="1200" b="0" dirty="0">
                  <a:solidFill>
                    <a:srgbClr val="4B5563"/>
                  </a:solidFill>
                  <a:latin typeface="DM Sans Medium"/>
                  <a:ea typeface="DM Sans Medium"/>
                  <a:cs typeface="DM Sans Medium"/>
                  <a:sym typeface="DM Sans Medium"/>
                </a:endParaRPr>
              </a:p>
              <a:p>
                <a:pPr marL="171450" lvl="0" indent="-171450" algn="l" rtl="0">
                  <a:spcBef>
                    <a:spcPts val="300"/>
                  </a:spcBef>
                  <a:spcAft>
                    <a:spcPts val="0"/>
                  </a:spcAft>
                  <a:buFont typeface="Wingdings" panose="05000000000000000000" charset="0"/>
                  <a:buChar char=""/>
                </a:pPr>
                <a:r>
                  <a:rPr lang="en-US" sz="1200" b="0" dirty="0">
                    <a:solidFill>
                      <a:srgbClr val="4B5563"/>
                    </a:solidFill>
                    <a:latin typeface="DM Sans Medium"/>
                    <a:ea typeface="DM Sans Medium"/>
                    <a:cs typeface="DM Sans Medium"/>
                    <a:sym typeface="DM Sans Medium"/>
                  </a:rPr>
                  <a:t>Wage Problems</a:t>
                </a:r>
              </a:p>
            </p:txBody>
          </p:sp>
        </p:grpSp>
      </p:grpSp>
      <p:grpSp>
        <p:nvGrpSpPr>
          <p:cNvPr id="3" name="Google Shape;123;p16">
            <a:extLst>
              <a:ext uri="{FF2B5EF4-FFF2-40B4-BE49-F238E27FC236}">
                <a16:creationId xmlns:a16="http://schemas.microsoft.com/office/drawing/2014/main" id="{EA6679E2-370B-E66A-DEEF-FD69FDC7A549}"/>
              </a:ext>
            </a:extLst>
          </p:cNvPr>
          <p:cNvGrpSpPr/>
          <p:nvPr/>
        </p:nvGrpSpPr>
        <p:grpSpPr>
          <a:xfrm>
            <a:off x="3183833" y="1628230"/>
            <a:ext cx="2872208" cy="3054985"/>
            <a:chOff x="-4000500" y="1361440"/>
            <a:chExt cx="3140806" cy="1645197"/>
          </a:xfrm>
        </p:grpSpPr>
        <p:sp>
          <p:nvSpPr>
            <p:cNvPr id="4" name="Google Shape;125;p16">
              <a:extLst>
                <a:ext uri="{FF2B5EF4-FFF2-40B4-BE49-F238E27FC236}">
                  <a16:creationId xmlns:a16="http://schemas.microsoft.com/office/drawing/2014/main" id="{DDA92354-D5C3-DB70-135B-363CADF24A62}"/>
                </a:ext>
              </a:extLst>
            </p:cNvPr>
            <p:cNvSpPr/>
            <p:nvPr/>
          </p:nvSpPr>
          <p:spPr>
            <a:xfrm>
              <a:off x="-4000500" y="1361440"/>
              <a:ext cx="3140806" cy="1645197"/>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6" name="Google Shape;131;p16">
              <a:extLst>
                <a:ext uri="{FF2B5EF4-FFF2-40B4-BE49-F238E27FC236}">
                  <a16:creationId xmlns:a16="http://schemas.microsoft.com/office/drawing/2014/main" id="{9B71D4FD-B999-4260-A7E8-73BED0F9AE80}"/>
                </a:ext>
              </a:extLst>
            </p:cNvPr>
            <p:cNvGrpSpPr/>
            <p:nvPr/>
          </p:nvGrpSpPr>
          <p:grpSpPr>
            <a:xfrm>
              <a:off x="-3800189" y="1422696"/>
              <a:ext cx="2717068" cy="1434209"/>
              <a:chOff x="-3800189" y="1422696"/>
              <a:chExt cx="2717068" cy="1434209"/>
            </a:xfrm>
          </p:grpSpPr>
          <p:sp>
            <p:nvSpPr>
              <p:cNvPr id="11" name="Google Shape;132;p16">
                <a:extLst>
                  <a:ext uri="{FF2B5EF4-FFF2-40B4-BE49-F238E27FC236}">
                    <a16:creationId xmlns:a16="http://schemas.microsoft.com/office/drawing/2014/main" id="{710AD268-AB0C-85A0-45FE-07E439C01718}"/>
                  </a:ext>
                </a:extLst>
              </p:cNvPr>
              <p:cNvSpPr/>
              <p:nvPr/>
            </p:nvSpPr>
            <p:spPr>
              <a:xfrm>
                <a:off x="-3800189" y="1422696"/>
                <a:ext cx="357322" cy="193211"/>
              </a:xfrm>
              <a:prstGeom prst="ellipse">
                <a:avLst/>
              </a:pr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2" name="Google Shape;133;p16">
                <a:extLst>
                  <a:ext uri="{FF2B5EF4-FFF2-40B4-BE49-F238E27FC236}">
                    <a16:creationId xmlns:a16="http://schemas.microsoft.com/office/drawing/2014/main" id="{BDDF39C9-1BE3-E6BF-A62D-7006B6CB10AE}"/>
                  </a:ext>
                </a:extLst>
              </p:cNvPr>
              <p:cNvSpPr txBox="1"/>
              <p:nvPr/>
            </p:nvSpPr>
            <p:spPr>
              <a:xfrm>
                <a:off x="-3775556" y="1453326"/>
                <a:ext cx="315673" cy="132687"/>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000" b="1" dirty="0">
                    <a:solidFill>
                      <a:srgbClr val="FFFFFF"/>
                    </a:solidFill>
                    <a:uFillTx/>
                    <a:latin typeface="Outfit" charset="0"/>
                    <a:ea typeface="Outfit"/>
                    <a:cs typeface="Outfit"/>
                    <a:sym typeface="Outfit"/>
                  </a:rPr>
                  <a:t>2</a:t>
                </a:r>
              </a:p>
            </p:txBody>
          </p:sp>
          <p:sp>
            <p:nvSpPr>
              <p:cNvPr id="13" name="Google Shape;134;p16">
                <a:extLst>
                  <a:ext uri="{FF2B5EF4-FFF2-40B4-BE49-F238E27FC236}">
                    <a16:creationId xmlns:a16="http://schemas.microsoft.com/office/drawing/2014/main" id="{69C8802B-F530-74DE-6ABE-E19D7F2D043C}"/>
                  </a:ext>
                </a:extLst>
              </p:cNvPr>
              <p:cNvSpPr txBox="1"/>
              <p:nvPr/>
            </p:nvSpPr>
            <p:spPr>
              <a:xfrm>
                <a:off x="-3351976" y="1468245"/>
                <a:ext cx="2268855" cy="138866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600" b="1" dirty="0">
                    <a:solidFill>
                      <a:srgbClr val="111827"/>
                    </a:solidFill>
                    <a:latin typeface="DM Sans"/>
                    <a:ea typeface="DM Sans"/>
                    <a:cs typeface="DM Sans"/>
                    <a:sym typeface="DM Sans"/>
                  </a:rPr>
                  <a:t>Logical Reasoning</a:t>
                </a:r>
                <a:endParaRPr sz="1600" b="1" dirty="0">
                  <a:solidFill>
                    <a:srgbClr val="111827"/>
                  </a:solidFill>
                  <a:latin typeface="DM Sans"/>
                  <a:ea typeface="DM Sans"/>
                  <a:cs typeface="DM Sans"/>
                  <a:sym typeface="DM Sans"/>
                </a:endParaRPr>
              </a:p>
              <a:p>
                <a:pPr marL="0" lvl="0" indent="0" algn="l" rtl="0">
                  <a:spcBef>
                    <a:spcPts val="300"/>
                  </a:spcBef>
                  <a:spcAft>
                    <a:spcPts val="0"/>
                  </a:spcAft>
                  <a:buNone/>
                </a:pPr>
                <a:endParaRPr lang="en-US" altLang="en-GB" b="0" dirty="0">
                  <a:solidFill>
                    <a:srgbClr val="4B5563"/>
                  </a:solidFill>
                  <a:latin typeface="DM Sans Medium"/>
                  <a:ea typeface="DM Sans Medium"/>
                  <a:cs typeface="DM Sans Medium"/>
                  <a:sym typeface="DM Sans Medium"/>
                </a:endParaRPr>
              </a:p>
              <a:p>
                <a:pPr marL="0" lvl="0" indent="0" algn="l" rtl="0">
                  <a:spcBef>
                    <a:spcPts val="300"/>
                  </a:spcBef>
                  <a:spcAft>
                    <a:spcPts val="0"/>
                  </a:spcAft>
                  <a:buNone/>
                </a:pPr>
                <a:r>
                  <a:rPr lang="en-US" altLang="en-GB" b="0" dirty="0">
                    <a:solidFill>
                      <a:srgbClr val="4B5563"/>
                    </a:solidFill>
                    <a:latin typeface="DM Sans Medium"/>
                    <a:ea typeface="DM Sans Medium"/>
                    <a:cs typeface="DM Sans Medium"/>
                    <a:sym typeface="DM Sans Medium"/>
                  </a:rPr>
                  <a:t>P</a:t>
                </a:r>
                <a:r>
                  <a:rPr lang="en-GB" b="0" dirty="0" err="1">
                    <a:solidFill>
                      <a:srgbClr val="4B5563"/>
                    </a:solidFill>
                    <a:latin typeface="DM Sans Medium"/>
                    <a:ea typeface="DM Sans Medium"/>
                    <a:cs typeface="DM Sans Medium"/>
                    <a:sym typeface="DM Sans Medium"/>
                  </a:rPr>
                  <a:t>attern</a:t>
                </a:r>
                <a:r>
                  <a:rPr lang="en-GB" b="0" dirty="0">
                    <a:solidFill>
                      <a:srgbClr val="4B5563"/>
                    </a:solidFill>
                    <a:latin typeface="DM Sans Medium"/>
                    <a:ea typeface="DM Sans Medium"/>
                    <a:cs typeface="DM Sans Medium"/>
                    <a:sym typeface="DM Sans Medium"/>
                  </a:rPr>
                  <a:t> recognition</a:t>
                </a:r>
              </a:p>
              <a:p>
                <a:pPr marL="0" lvl="0" indent="0" algn="l" rtl="0">
                  <a:spcBef>
                    <a:spcPts val="300"/>
                  </a:spcBef>
                  <a:spcAft>
                    <a:spcPts val="0"/>
                  </a:spcAft>
                  <a:buNone/>
                </a:pPr>
                <a:endParaRPr lang="en-GB" b="0" dirty="0">
                  <a:solidFill>
                    <a:srgbClr val="4B5563"/>
                  </a:solidFill>
                  <a:latin typeface="DM Sans Medium"/>
                  <a:ea typeface="DM Sans Medium"/>
                  <a:cs typeface="DM Sans Medium"/>
                  <a:sym typeface="DM Sans Medium"/>
                </a:endParaRPr>
              </a:p>
              <a:p>
                <a:pPr marL="171450" lvl="0" indent="-171450" algn="l" rtl="0">
                  <a:spcBef>
                    <a:spcPts val="300"/>
                  </a:spcBef>
                  <a:spcAft>
                    <a:spcPts val="0"/>
                  </a:spcAft>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P</a:t>
                </a:r>
                <a:r>
                  <a:rPr lang="en-GB" sz="1200" b="0" dirty="0" err="1">
                    <a:solidFill>
                      <a:srgbClr val="4B5563"/>
                    </a:solidFill>
                    <a:latin typeface="DM Sans Medium"/>
                    <a:ea typeface="DM Sans Medium"/>
                    <a:cs typeface="DM Sans Medium"/>
                    <a:sym typeface="DM Sans Medium"/>
                  </a:rPr>
                  <a:t>uzzles</a:t>
                </a:r>
                <a:endParaRPr lang="en-GB" sz="1200" b="0" dirty="0">
                  <a:solidFill>
                    <a:srgbClr val="4B5563"/>
                  </a:solidFill>
                  <a:latin typeface="DM Sans Medium"/>
                  <a:ea typeface="DM Sans Medium"/>
                  <a:cs typeface="DM Sans Medium"/>
                  <a:sym typeface="DM Sans Medium"/>
                </a:endParaRPr>
              </a:p>
              <a:p>
                <a:pPr marL="171450" lvl="0" indent="-171450" algn="l" rtl="0">
                  <a:spcBef>
                    <a:spcPts val="300"/>
                  </a:spcBef>
                  <a:spcAft>
                    <a:spcPts val="0"/>
                  </a:spcAft>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S</a:t>
                </a:r>
                <a:r>
                  <a:rPr lang="en-GB" sz="1200" b="0" dirty="0">
                    <a:solidFill>
                      <a:srgbClr val="4B5563"/>
                    </a:solidFill>
                    <a:latin typeface="DM Sans Medium"/>
                    <a:ea typeface="DM Sans Medium"/>
                    <a:cs typeface="DM Sans Medium"/>
                    <a:sym typeface="DM Sans Medium"/>
                  </a:rPr>
                  <a:t>eating arrangements</a:t>
                </a:r>
              </a:p>
              <a:p>
                <a:pPr marL="171450" lvl="0" indent="-171450" algn="l" rtl="0">
                  <a:spcBef>
                    <a:spcPts val="300"/>
                  </a:spcBef>
                  <a:spcAft>
                    <a:spcPts val="0"/>
                  </a:spcAft>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S</a:t>
                </a:r>
                <a:r>
                  <a:rPr lang="en-GB" sz="1200" b="0" dirty="0" err="1">
                    <a:solidFill>
                      <a:srgbClr val="4B5563"/>
                    </a:solidFill>
                    <a:latin typeface="DM Sans Medium"/>
                    <a:ea typeface="DM Sans Medium"/>
                    <a:cs typeface="DM Sans Medium"/>
                    <a:sym typeface="DM Sans Medium"/>
                  </a:rPr>
                  <a:t>yllogisms</a:t>
                </a:r>
                <a:endParaRPr lang="en-GB" sz="1200" b="0" dirty="0">
                  <a:solidFill>
                    <a:srgbClr val="4B5563"/>
                  </a:solidFill>
                  <a:latin typeface="DM Sans Medium"/>
                  <a:ea typeface="DM Sans Medium"/>
                  <a:cs typeface="DM Sans Medium"/>
                  <a:sym typeface="DM Sans Medium"/>
                </a:endParaRPr>
              </a:p>
              <a:p>
                <a:pPr marL="171450" lvl="0" indent="-171450" algn="l" rtl="0">
                  <a:spcBef>
                    <a:spcPts val="300"/>
                  </a:spcBef>
                  <a:spcAft>
                    <a:spcPts val="0"/>
                  </a:spcAft>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B</a:t>
                </a:r>
                <a:r>
                  <a:rPr lang="en-GB" sz="1200" b="0" dirty="0" err="1">
                    <a:solidFill>
                      <a:srgbClr val="4B5563"/>
                    </a:solidFill>
                    <a:latin typeface="DM Sans Medium"/>
                    <a:ea typeface="DM Sans Medium"/>
                    <a:cs typeface="DM Sans Medium"/>
                    <a:sym typeface="DM Sans Medium"/>
                  </a:rPr>
                  <a:t>lood</a:t>
                </a:r>
                <a:r>
                  <a:rPr lang="en-GB" sz="1200" b="0" dirty="0">
                    <a:solidFill>
                      <a:srgbClr val="4B5563"/>
                    </a:solidFill>
                    <a:latin typeface="DM Sans Medium"/>
                    <a:ea typeface="DM Sans Medium"/>
                    <a:cs typeface="DM Sans Medium"/>
                    <a:sym typeface="DM Sans Medium"/>
                  </a:rPr>
                  <a:t> relations</a:t>
                </a:r>
              </a:p>
              <a:p>
                <a:pPr marL="171450" lvl="0" indent="-171450" algn="l" rtl="0">
                  <a:spcBef>
                    <a:spcPts val="300"/>
                  </a:spcBef>
                  <a:spcAft>
                    <a:spcPts val="0"/>
                  </a:spcAft>
                  <a:buFont typeface="Wingdings" panose="05000000000000000000" charset="0"/>
                  <a:buChar char=""/>
                </a:pPr>
                <a:r>
                  <a:rPr lang="en-US" sz="1200" b="0" dirty="0">
                    <a:solidFill>
                      <a:srgbClr val="4B5563"/>
                    </a:solidFill>
                    <a:latin typeface="DM Sans Medium"/>
                    <a:ea typeface="DM Sans Medium"/>
                    <a:cs typeface="DM Sans Medium"/>
                    <a:sym typeface="DM Sans Medium"/>
                  </a:rPr>
                  <a:t>Patterns &amp; Series</a:t>
                </a:r>
              </a:p>
            </p:txBody>
          </p:sp>
        </p:grpSp>
      </p:grpSp>
      <p:grpSp>
        <p:nvGrpSpPr>
          <p:cNvPr id="17" name="Google Shape;123;p16">
            <a:extLst>
              <a:ext uri="{FF2B5EF4-FFF2-40B4-BE49-F238E27FC236}">
                <a16:creationId xmlns:a16="http://schemas.microsoft.com/office/drawing/2014/main" id="{F5713F29-F109-5292-4F79-C364D438924A}"/>
              </a:ext>
            </a:extLst>
          </p:cNvPr>
          <p:cNvGrpSpPr/>
          <p:nvPr/>
        </p:nvGrpSpPr>
        <p:grpSpPr>
          <a:xfrm>
            <a:off x="6078567" y="1628230"/>
            <a:ext cx="2872208" cy="3054985"/>
            <a:chOff x="-4027141" y="1361440"/>
            <a:chExt cx="3124125" cy="1645197"/>
          </a:xfrm>
        </p:grpSpPr>
        <p:sp>
          <p:nvSpPr>
            <p:cNvPr id="18" name="Google Shape;125;p16">
              <a:extLst>
                <a:ext uri="{FF2B5EF4-FFF2-40B4-BE49-F238E27FC236}">
                  <a16:creationId xmlns:a16="http://schemas.microsoft.com/office/drawing/2014/main" id="{001F01C5-7A3A-3EB8-6CFA-711F8434122A}"/>
                </a:ext>
              </a:extLst>
            </p:cNvPr>
            <p:cNvSpPr/>
            <p:nvPr/>
          </p:nvSpPr>
          <p:spPr>
            <a:xfrm>
              <a:off x="-4027141" y="1361440"/>
              <a:ext cx="3124125" cy="1645197"/>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21" name="Google Shape;135;p16">
              <a:extLst>
                <a:ext uri="{FF2B5EF4-FFF2-40B4-BE49-F238E27FC236}">
                  <a16:creationId xmlns:a16="http://schemas.microsoft.com/office/drawing/2014/main" id="{5E35EE06-1D8C-4636-9F2E-182E6B569083}"/>
                </a:ext>
              </a:extLst>
            </p:cNvPr>
            <p:cNvGrpSpPr/>
            <p:nvPr/>
          </p:nvGrpSpPr>
          <p:grpSpPr>
            <a:xfrm>
              <a:off x="-3828755" y="1420851"/>
              <a:ext cx="2889717" cy="1435865"/>
              <a:chOff x="-3828755" y="1420851"/>
              <a:chExt cx="2889717" cy="1435865"/>
            </a:xfrm>
          </p:grpSpPr>
          <p:sp>
            <p:nvSpPr>
              <p:cNvPr id="22" name="Google Shape;136;p16">
                <a:extLst>
                  <a:ext uri="{FF2B5EF4-FFF2-40B4-BE49-F238E27FC236}">
                    <a16:creationId xmlns:a16="http://schemas.microsoft.com/office/drawing/2014/main" id="{D38384ED-A6ED-5570-8E9C-4A4C26E8525F}"/>
                  </a:ext>
                </a:extLst>
              </p:cNvPr>
              <p:cNvSpPr/>
              <p:nvPr/>
            </p:nvSpPr>
            <p:spPr>
              <a:xfrm>
                <a:off x="-3820556" y="1420851"/>
                <a:ext cx="342620" cy="182610"/>
              </a:xfrm>
              <a:prstGeom prst="ellipse">
                <a:avLst/>
              </a:prstGeom>
              <a:solidFill>
                <a:srgbClr val="34D399"/>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 name="Google Shape;137;p16">
                <a:extLst>
                  <a:ext uri="{FF2B5EF4-FFF2-40B4-BE49-F238E27FC236}">
                    <a16:creationId xmlns:a16="http://schemas.microsoft.com/office/drawing/2014/main" id="{FE279CDC-49DC-24E9-4A4C-28A953CF56AC}"/>
                  </a:ext>
                </a:extLst>
              </p:cNvPr>
              <p:cNvSpPr txBox="1"/>
              <p:nvPr/>
            </p:nvSpPr>
            <p:spPr>
              <a:xfrm>
                <a:off x="-3828755" y="1424699"/>
                <a:ext cx="342621" cy="170641"/>
              </a:xfrm>
              <a:prstGeom prst="rect">
                <a:avLst/>
              </a:prstGeom>
              <a:noFill/>
              <a:ln>
                <a:noFill/>
              </a:ln>
            </p:spPr>
            <p:txBody>
              <a:bodyPr spcFirstLastPara="1" wrap="square" lIns="0" tIns="0" rIns="0" bIns="0" anchor="ctr" anchorCtr="0">
                <a:noAutofit/>
              </a:bodyPr>
              <a:lstStyle/>
              <a:p>
                <a:pPr lvl="0" algn="ctr">
                  <a:buSzTx/>
                </a:pPr>
                <a:r>
                  <a:rPr lang="en-GB" sz="1000" b="1" dirty="0">
                    <a:solidFill>
                      <a:srgbClr val="FFFFFF"/>
                    </a:solidFill>
                    <a:uFillTx/>
                    <a:latin typeface="Outfit" charset="0"/>
                    <a:ea typeface="Outfit"/>
                    <a:cs typeface="Outfit"/>
                    <a:sym typeface="Outfit"/>
                  </a:rPr>
                  <a:t>3</a:t>
                </a:r>
              </a:p>
            </p:txBody>
          </p:sp>
          <p:sp>
            <p:nvSpPr>
              <p:cNvPr id="24" name="Google Shape;138;p16">
                <a:extLst>
                  <a:ext uri="{FF2B5EF4-FFF2-40B4-BE49-F238E27FC236}">
                    <a16:creationId xmlns:a16="http://schemas.microsoft.com/office/drawing/2014/main" id="{9B9903D4-266E-7AC6-1ADD-8522A05A9049}"/>
                  </a:ext>
                </a:extLst>
              </p:cNvPr>
              <p:cNvSpPr txBox="1"/>
              <p:nvPr/>
            </p:nvSpPr>
            <p:spPr>
              <a:xfrm>
                <a:off x="-3356556" y="1468335"/>
                <a:ext cx="2417518" cy="1388381"/>
              </a:xfrm>
              <a:prstGeom prst="rect">
                <a:avLst/>
              </a:prstGeom>
              <a:noFill/>
              <a:ln>
                <a:noFill/>
              </a:ln>
            </p:spPr>
            <p:txBody>
              <a:bodyPr spcFirstLastPara="1" wrap="square" lIns="0" tIns="0" rIns="0" bIns="0" anchor="t" anchorCtr="0">
                <a:noAutofit/>
              </a:bodyPr>
              <a:lstStyle/>
              <a:p>
                <a:pPr marL="0" lvl="0" algn="l" rtl="0">
                  <a:spcBef>
                    <a:spcPts val="0"/>
                  </a:spcBef>
                  <a:spcAft>
                    <a:spcPts val="0"/>
                  </a:spcAft>
                  <a:buSzTx/>
                  <a:buNone/>
                </a:pPr>
                <a:r>
                  <a:rPr lang="en-GB" sz="1600" b="1" dirty="0">
                    <a:solidFill>
                      <a:srgbClr val="111827"/>
                    </a:solidFill>
                    <a:latin typeface="DM Sans"/>
                    <a:ea typeface="DM Sans"/>
                    <a:cs typeface="DM Sans"/>
                    <a:sym typeface="DM Sans"/>
                  </a:rPr>
                  <a:t>Verbal Ability</a:t>
                </a:r>
              </a:p>
              <a:p>
                <a:pPr marL="0" lvl="0" algn="l" rtl="0">
                  <a:spcBef>
                    <a:spcPts val="300"/>
                  </a:spcBef>
                  <a:spcAft>
                    <a:spcPts val="0"/>
                  </a:spcAft>
                  <a:buSzTx/>
                  <a:buNone/>
                </a:pPr>
                <a:endParaRPr lang="en-GB" b="0" dirty="0">
                  <a:solidFill>
                    <a:srgbClr val="4B5563"/>
                  </a:solidFill>
                  <a:latin typeface="DM Sans Medium"/>
                  <a:ea typeface="DM Sans Medium"/>
                  <a:cs typeface="DM Sans Medium"/>
                  <a:sym typeface="DM Sans Medium"/>
                </a:endParaRPr>
              </a:p>
              <a:p>
                <a:pPr marL="0" lvl="0" algn="l" rtl="0">
                  <a:spcBef>
                    <a:spcPts val="300"/>
                  </a:spcBef>
                  <a:spcAft>
                    <a:spcPts val="0"/>
                  </a:spcAft>
                  <a:buSzTx/>
                  <a:buNone/>
                </a:pPr>
                <a:r>
                  <a:rPr lang="en-GB" b="0" dirty="0">
                    <a:solidFill>
                      <a:srgbClr val="4B5563"/>
                    </a:solidFill>
                    <a:latin typeface="DM Sans Medium"/>
                    <a:ea typeface="DM Sans Medium"/>
                    <a:cs typeface="DM Sans Medium"/>
                    <a:sym typeface="DM Sans Medium"/>
                  </a:rPr>
                  <a:t>English proficiency</a:t>
                </a:r>
              </a:p>
              <a:p>
                <a:pPr marL="171450" lvl="0" indent="-171450" algn="l" rtl="0">
                  <a:spcBef>
                    <a:spcPts val="300"/>
                  </a:spcBef>
                  <a:spcAft>
                    <a:spcPts val="0"/>
                  </a:spcAft>
                  <a:buSzTx/>
                  <a:buFont typeface="Wingdings" panose="05000000000000000000" charset="0"/>
                  <a:buChar char=""/>
                </a:pPr>
                <a:endParaRPr lang="en-US" altLang="en-GB" b="0" dirty="0">
                  <a:solidFill>
                    <a:srgbClr val="4B5563"/>
                  </a:solidFill>
                  <a:latin typeface="DM Sans Medium"/>
                  <a:ea typeface="DM Sans Medium"/>
                  <a:cs typeface="DM Sans Medium"/>
                  <a:sym typeface="DM Sans Medium"/>
                </a:endParaRPr>
              </a:p>
              <a:p>
                <a:pPr marL="171450" lvl="0" indent="-171450" algn="l" rtl="0">
                  <a:spcBef>
                    <a:spcPts val="300"/>
                  </a:spcBef>
                  <a:spcAft>
                    <a:spcPts val="0"/>
                  </a:spcAft>
                  <a:buSzTx/>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R</a:t>
                </a:r>
                <a:r>
                  <a:rPr lang="en-GB" sz="1200" b="0" dirty="0" err="1">
                    <a:solidFill>
                      <a:srgbClr val="4B5563"/>
                    </a:solidFill>
                    <a:latin typeface="DM Sans Medium"/>
                    <a:ea typeface="DM Sans Medium"/>
                    <a:cs typeface="DM Sans Medium"/>
                    <a:sym typeface="DM Sans Medium"/>
                  </a:rPr>
                  <a:t>eading</a:t>
                </a:r>
                <a:r>
                  <a:rPr lang="en-GB" sz="1200" b="0" dirty="0">
                    <a:solidFill>
                      <a:srgbClr val="4B5563"/>
                    </a:solidFill>
                    <a:latin typeface="DM Sans Medium"/>
                    <a:ea typeface="DM Sans Medium"/>
                    <a:cs typeface="DM Sans Medium"/>
                    <a:sym typeface="DM Sans Medium"/>
                  </a:rPr>
                  <a:t> comprehension</a:t>
                </a:r>
              </a:p>
              <a:p>
                <a:pPr marL="171450" lvl="0" indent="-171450" algn="l" rtl="0">
                  <a:spcBef>
                    <a:spcPts val="300"/>
                  </a:spcBef>
                  <a:spcAft>
                    <a:spcPts val="0"/>
                  </a:spcAft>
                  <a:buSzTx/>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G</a:t>
                </a:r>
                <a:r>
                  <a:rPr lang="en-GB" sz="1200" b="0" dirty="0" err="1">
                    <a:solidFill>
                      <a:srgbClr val="4B5563"/>
                    </a:solidFill>
                    <a:latin typeface="DM Sans Medium"/>
                    <a:ea typeface="DM Sans Medium"/>
                    <a:cs typeface="DM Sans Medium"/>
                    <a:sym typeface="DM Sans Medium"/>
                  </a:rPr>
                  <a:t>rammar</a:t>
                </a:r>
                <a:r>
                  <a:rPr lang="en-GB" sz="1200" b="0" dirty="0">
                    <a:solidFill>
                      <a:srgbClr val="4B5563"/>
                    </a:solidFill>
                    <a:latin typeface="DM Sans Medium"/>
                    <a:ea typeface="DM Sans Medium"/>
                    <a:cs typeface="DM Sans Medium"/>
                    <a:sym typeface="DM Sans Medium"/>
                  </a:rPr>
                  <a:t> correctio</a:t>
                </a:r>
                <a:r>
                  <a:rPr lang="en-US" altLang="en-GB" sz="1200" b="0" dirty="0">
                    <a:solidFill>
                      <a:srgbClr val="4B5563"/>
                    </a:solidFill>
                    <a:latin typeface="DM Sans Medium"/>
                    <a:ea typeface="DM Sans Medium"/>
                    <a:cs typeface="DM Sans Medium"/>
                    <a:sym typeface="DM Sans Medium"/>
                  </a:rPr>
                  <a:t>n</a:t>
                </a:r>
              </a:p>
              <a:p>
                <a:pPr marL="171450" lvl="0" indent="-171450" algn="l" rtl="0">
                  <a:spcBef>
                    <a:spcPts val="300"/>
                  </a:spcBef>
                  <a:spcAft>
                    <a:spcPts val="0"/>
                  </a:spcAft>
                  <a:buSzTx/>
                  <a:buFont typeface="Wingdings" panose="05000000000000000000" charset="0"/>
                  <a:buChar char=""/>
                </a:pPr>
                <a:r>
                  <a:rPr lang="en-US" altLang="en-GB" sz="1200" b="0" dirty="0">
                    <a:solidFill>
                      <a:srgbClr val="4B5563"/>
                    </a:solidFill>
                    <a:latin typeface="DM Sans Medium"/>
                    <a:ea typeface="DM Sans Medium"/>
                    <a:cs typeface="DM Sans Medium"/>
                    <a:sym typeface="DM Sans Medium"/>
                  </a:rPr>
                  <a:t>Vo</a:t>
                </a:r>
                <a:r>
                  <a:rPr lang="en-GB" sz="1200" b="0" dirty="0" err="1">
                    <a:solidFill>
                      <a:srgbClr val="4B5563"/>
                    </a:solidFill>
                    <a:latin typeface="DM Sans Medium"/>
                    <a:ea typeface="DM Sans Medium"/>
                    <a:cs typeface="DM Sans Medium"/>
                    <a:sym typeface="DM Sans Medium"/>
                  </a:rPr>
                  <a:t>cabulary</a:t>
                </a:r>
                <a:r>
                  <a:rPr lang="en-GB" sz="1200" b="0" dirty="0">
                    <a:solidFill>
                      <a:srgbClr val="4B5563"/>
                    </a:solidFill>
                    <a:latin typeface="DM Sans Medium"/>
                    <a:ea typeface="DM Sans Medium"/>
                    <a:cs typeface="DM Sans Medium"/>
                    <a:sym typeface="DM Sans Medium"/>
                  </a:rPr>
                  <a:t> tests.</a:t>
                </a: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oogle Shape;78;p15"/>
          <p:cNvGrpSpPr/>
          <p:nvPr/>
        </p:nvGrpSpPr>
        <p:grpSpPr>
          <a:xfrm>
            <a:off x="0" y="0"/>
            <a:ext cx="9144150" cy="5143650"/>
            <a:chOff x="0" y="0"/>
            <a:chExt cx="9144150" cy="5143650"/>
          </a:xfrm>
        </p:grpSpPr>
        <p:sp>
          <p:nvSpPr>
            <p:cNvPr id="79" name="Google Shape;79;p15"/>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p:cNvPicPr preferRelativeResize="0"/>
            <p:nvPr/>
          </p:nvPicPr>
          <p:blipFill rotWithShape="1">
            <a:blip r:embed="rId2"/>
            <a:srcRect/>
            <a:stretch>
              <a:fillRect/>
            </a:stretch>
          </p:blipFill>
          <p:spPr>
            <a:xfrm>
              <a:off x="4763" y="4763"/>
              <a:ext cx="8982000" cy="4981500"/>
            </a:xfrm>
            <a:prstGeom prst="rect">
              <a:avLst/>
            </a:prstGeom>
            <a:noFill/>
            <a:ln>
              <a:noFill/>
            </a:ln>
          </p:spPr>
        </p:pic>
        <p:sp>
          <p:nvSpPr>
            <p:cNvPr id="81" name="Google Shape;81;p15"/>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4" name="Text Placeholder 3"/>
          <p:cNvSpPr>
            <a:spLocks noGrp="1"/>
          </p:cNvSpPr>
          <p:nvPr>
            <p:ph type="body" idx="1"/>
          </p:nvPr>
        </p:nvSpPr>
        <p:spPr>
          <a:xfrm>
            <a:off x="311785" y="1466215"/>
            <a:ext cx="8520430" cy="2414270"/>
          </a:xfrm>
        </p:spPr>
        <p:txBody>
          <a:bodyPr>
            <a:noAutofit/>
          </a:bodyPr>
          <a:lstStyle/>
          <a:p>
            <a:pPr marL="114300" indent="0" eaLnBrk="1" fontAlgn="auto" latinLnBrk="0" hangingPunct="1">
              <a:spcBef>
                <a:spcPts val="200"/>
              </a:spcBef>
              <a:spcAft>
                <a:spcPts val="200"/>
              </a:spcAft>
              <a:buNone/>
            </a:pPr>
            <a:r>
              <a:rPr lang="en-US" altLang="en-US" sz="2000" dirty="0"/>
              <a:t>✔ Practice daily (30–45 mins)</a:t>
            </a:r>
          </a:p>
          <a:p>
            <a:pPr marL="114300" indent="0" eaLnBrk="1" fontAlgn="auto" latinLnBrk="0" hangingPunct="1">
              <a:spcBef>
                <a:spcPts val="200"/>
              </a:spcBef>
              <a:spcAft>
                <a:spcPts val="200"/>
              </a:spcAft>
              <a:buNone/>
            </a:pPr>
            <a:r>
              <a:rPr lang="en-US" altLang="en-US" sz="2000" dirty="0"/>
              <a:t>✔ Use timed exercises</a:t>
            </a:r>
          </a:p>
          <a:p>
            <a:pPr marL="114300" indent="0" eaLnBrk="1" fontAlgn="auto" latinLnBrk="0" hangingPunct="1">
              <a:spcBef>
                <a:spcPts val="200"/>
              </a:spcBef>
              <a:spcAft>
                <a:spcPts val="200"/>
              </a:spcAft>
              <a:buNone/>
            </a:pPr>
            <a:r>
              <a:rPr lang="en-US" altLang="en-US" sz="2000" dirty="0"/>
              <a:t>✔ Learn shortcuts &amp; formulas</a:t>
            </a:r>
          </a:p>
          <a:p>
            <a:pPr marL="114300" indent="0" eaLnBrk="1" fontAlgn="auto" latinLnBrk="0" hangingPunct="1">
              <a:spcBef>
                <a:spcPts val="200"/>
              </a:spcBef>
              <a:spcAft>
                <a:spcPts val="200"/>
              </a:spcAft>
              <a:buNone/>
            </a:pPr>
            <a:r>
              <a:rPr lang="en-US" altLang="en-US" sz="2000" dirty="0"/>
              <a:t>✔ Analyze mistakes</a:t>
            </a:r>
          </a:p>
          <a:p>
            <a:pPr marL="114300" indent="0" eaLnBrk="1" fontAlgn="auto" latinLnBrk="0" hangingPunct="1">
              <a:spcBef>
                <a:spcPts val="200"/>
              </a:spcBef>
              <a:spcAft>
                <a:spcPts val="200"/>
              </a:spcAft>
              <a:buNone/>
            </a:pPr>
            <a:r>
              <a:rPr lang="en-US" altLang="en-US" sz="2000" dirty="0"/>
              <a:t>✔ Improve speed gradually</a:t>
            </a:r>
            <a:endParaRPr lang="en-GB" sz="1600" b="1" dirty="0">
              <a:solidFill>
                <a:srgbClr val="111827"/>
              </a:solidFill>
              <a:latin typeface="Outfit"/>
              <a:ea typeface="Outfit"/>
              <a:cs typeface="Outfit"/>
            </a:endParaRPr>
          </a:p>
          <a:p>
            <a:pPr marL="114300" indent="0" eaLnBrk="1" fontAlgn="auto" latinLnBrk="0" hangingPunct="1">
              <a:spcBef>
                <a:spcPts val="200"/>
              </a:spcBef>
              <a:spcAft>
                <a:spcPts val="200"/>
              </a:spcAft>
              <a:buNone/>
            </a:pPr>
            <a:r>
              <a:rPr lang="en-US" altLang="en-US" sz="2000" dirty="0">
                <a:sym typeface="+mn-ea"/>
              </a:rPr>
              <a:t>✔ </a:t>
            </a:r>
            <a:r>
              <a:rPr lang="en-US" altLang="en-US" sz="2000" dirty="0">
                <a:sym typeface="Outfit"/>
              </a:rPr>
              <a:t>Identify Time Sinks</a:t>
            </a:r>
          </a:p>
        </p:txBody>
      </p:sp>
      <p:sp>
        <p:nvSpPr>
          <p:cNvPr id="118" name="Google Shape;118;p16"/>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600"/>
              </a:spcBef>
              <a:spcAft>
                <a:spcPts val="600"/>
              </a:spcAft>
              <a:buNone/>
            </a:pPr>
            <a:r>
              <a:rPr lang="en-GB" sz="1800" b="1" dirty="0">
                <a:solidFill>
                  <a:srgbClr val="FF5733"/>
                </a:solidFill>
                <a:latin typeface="Poppins" panose="00000800000000000000"/>
                <a:ea typeface="Poppins" panose="00000800000000000000"/>
                <a:cs typeface="Poppins" panose="00000800000000000000"/>
                <a:sym typeface="Poppins" panose="00000800000000000000"/>
              </a:rPr>
              <a:t>ROUND 1</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US" sz="2700" dirty="0">
                <a:sym typeface="+mn-ea"/>
              </a:rPr>
              <a:t>Preparation Strategy - Aptitude</a:t>
            </a:r>
          </a:p>
        </p:txBody>
      </p:sp>
      <p:cxnSp>
        <p:nvCxnSpPr>
          <p:cNvPr id="93" name="Google Shape;93;p15"/>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554" name="Google Shape;554;p30"/>
          <p:cNvGrpSpPr/>
          <p:nvPr/>
        </p:nvGrpSpPr>
        <p:grpSpPr>
          <a:xfrm>
            <a:off x="380365" y="4163695"/>
            <a:ext cx="8382635" cy="751205"/>
            <a:chOff x="-635" y="0"/>
            <a:chExt cx="8382635" cy="714525"/>
          </a:xfrm>
        </p:grpSpPr>
        <p:sp>
          <p:nvSpPr>
            <p:cNvPr id="3" name="Google Shape;556;p30"/>
            <p:cNvSpPr/>
            <p:nvPr/>
          </p:nvSpPr>
          <p:spPr>
            <a:xfrm>
              <a:off x="0" y="0"/>
              <a:ext cx="8382000" cy="666750"/>
            </a:xfrm>
            <a:prstGeom prst="roundRect">
              <a:avLst>
                <a:gd name="adj" fmla="val 16000"/>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57" name="Google Shape;557;p30"/>
            <p:cNvSpPr txBox="1"/>
            <p:nvPr/>
          </p:nvSpPr>
          <p:spPr>
            <a:xfrm>
              <a:off x="-635" y="237974"/>
              <a:ext cx="1524635" cy="476551"/>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GB" b="1" dirty="0">
                  <a:solidFill>
                    <a:srgbClr val="111827"/>
                  </a:solidFill>
                  <a:latin typeface="Outfit"/>
                  <a:ea typeface="Outfit"/>
                  <a:cs typeface="Outfit"/>
                  <a:sym typeface="Outfit"/>
                </a:rPr>
                <a:t>Shortcut Tricks:</a:t>
              </a:r>
            </a:p>
          </p:txBody>
        </p:sp>
        <p:sp>
          <p:nvSpPr>
            <p:cNvPr id="558" name="Google Shape;558;p30"/>
            <p:cNvSpPr txBox="1"/>
            <p:nvPr/>
          </p:nvSpPr>
          <p:spPr>
            <a:xfrm>
              <a:off x="1262110" y="151950"/>
              <a:ext cx="7050675" cy="476551"/>
            </a:xfrm>
            <a:prstGeom prst="rect">
              <a:avLst/>
            </a:prstGeom>
            <a:noFill/>
            <a:ln>
              <a:noFill/>
            </a:ln>
          </p:spPr>
          <p:txBody>
            <a:bodyPr spcFirstLastPara="1" wrap="square" lIns="0" tIns="0" rIns="0" bIns="0" anchor="t" anchorCtr="0">
              <a:noAutofit/>
            </a:bodyPr>
            <a:lstStyle/>
            <a:p>
              <a:pPr marL="0" lvl="0" algn="ctr" rtl="0">
                <a:spcBef>
                  <a:spcPts val="0"/>
                </a:spcBef>
                <a:spcAft>
                  <a:spcPts val="0"/>
                </a:spcAft>
                <a:buSzTx/>
                <a:buNone/>
              </a:pPr>
              <a:r>
                <a:rPr lang="en-GB" sz="1600" b="1" dirty="0">
                  <a:solidFill>
                    <a:srgbClr val="111827"/>
                  </a:solidFill>
                  <a:latin typeface="Outfit"/>
                  <a:ea typeface="Outfit"/>
                  <a:cs typeface="Outfit"/>
                  <a:sym typeface="DM Sans Medium"/>
                </a:rPr>
                <a:t>Learn mental math tricks and approximation methods to bypass long calculations.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F5C24-F8AA-6719-D49E-1B7A9F2CAEC8}"/>
            </a:ext>
          </a:extLst>
        </p:cNvPr>
        <p:cNvGrpSpPr/>
        <p:nvPr/>
      </p:nvGrpSpPr>
      <p:grpSpPr>
        <a:xfrm>
          <a:off x="0" y="0"/>
          <a:ext cx="0" cy="0"/>
          <a:chOff x="0" y="0"/>
          <a:chExt cx="0" cy="0"/>
        </a:xfrm>
      </p:grpSpPr>
      <p:grpSp>
        <p:nvGrpSpPr>
          <p:cNvPr id="78" name="Google Shape;78;p15">
            <a:extLst>
              <a:ext uri="{FF2B5EF4-FFF2-40B4-BE49-F238E27FC236}">
                <a16:creationId xmlns:a16="http://schemas.microsoft.com/office/drawing/2014/main" id="{0C371489-0755-D0AA-D18A-829DB44B24C1}"/>
              </a:ext>
            </a:extLst>
          </p:cNvPr>
          <p:cNvGrpSpPr/>
          <p:nvPr/>
        </p:nvGrpSpPr>
        <p:grpSpPr>
          <a:xfrm>
            <a:off x="-257667" y="0"/>
            <a:ext cx="9401817" cy="5143650"/>
            <a:chOff x="-257667" y="0"/>
            <a:chExt cx="9401817" cy="5143650"/>
          </a:xfrm>
        </p:grpSpPr>
        <p:sp>
          <p:nvSpPr>
            <p:cNvPr id="79" name="Google Shape;79;p15">
              <a:extLst>
                <a:ext uri="{FF2B5EF4-FFF2-40B4-BE49-F238E27FC236}">
                  <a16:creationId xmlns:a16="http://schemas.microsoft.com/office/drawing/2014/main" id="{A1C69574-8A35-7222-0D6D-6CE6436739A2}"/>
                </a:ext>
              </a:extLst>
            </p:cNvPr>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dirty="0"/>
            </a:p>
          </p:txBody>
        </p:sp>
        <p:pic>
          <p:nvPicPr>
            <p:cNvPr id="80" name="Google Shape;80;p15">
              <a:extLst>
                <a:ext uri="{FF2B5EF4-FFF2-40B4-BE49-F238E27FC236}">
                  <a16:creationId xmlns:a16="http://schemas.microsoft.com/office/drawing/2014/main" id="{9CBDDEE4-84BA-8BFB-0BFC-F455AB699D59}"/>
                </a:ext>
              </a:extLst>
            </p:cNvPr>
            <p:cNvPicPr preferRelativeResize="0"/>
            <p:nvPr/>
          </p:nvPicPr>
          <p:blipFill rotWithShape="1">
            <a:blip r:embed="rId2"/>
            <a:srcRect/>
            <a:stretch>
              <a:fillRect/>
            </a:stretch>
          </p:blipFill>
          <p:spPr>
            <a:xfrm>
              <a:off x="-257667" y="127116"/>
              <a:ext cx="8982000" cy="4981500"/>
            </a:xfrm>
            <a:prstGeom prst="rect">
              <a:avLst/>
            </a:prstGeom>
            <a:noFill/>
            <a:ln>
              <a:noFill/>
            </a:ln>
          </p:spPr>
        </p:pic>
        <p:sp>
          <p:nvSpPr>
            <p:cNvPr id="81" name="Google Shape;81;p15">
              <a:extLst>
                <a:ext uri="{FF2B5EF4-FFF2-40B4-BE49-F238E27FC236}">
                  <a16:creationId xmlns:a16="http://schemas.microsoft.com/office/drawing/2014/main" id="{06C478C3-8226-C521-3522-81D71C3AAD6D}"/>
                </a:ext>
              </a:extLst>
            </p:cNvPr>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a:extLst>
                <a:ext uri="{FF2B5EF4-FFF2-40B4-BE49-F238E27FC236}">
                  <a16:creationId xmlns:a16="http://schemas.microsoft.com/office/drawing/2014/main" id="{1B3CAB02-529F-06D6-BB7B-F64BE22EC6CD}"/>
                </a:ext>
              </a:extLst>
            </p:cNvPr>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4" name="Text Placeholder 3">
            <a:extLst>
              <a:ext uri="{FF2B5EF4-FFF2-40B4-BE49-F238E27FC236}">
                <a16:creationId xmlns:a16="http://schemas.microsoft.com/office/drawing/2014/main" id="{07697C25-3641-3B8B-0716-8D7320BE9475}"/>
              </a:ext>
            </a:extLst>
          </p:cNvPr>
          <p:cNvSpPr>
            <a:spLocks noGrp="1"/>
          </p:cNvSpPr>
          <p:nvPr>
            <p:ph type="body" idx="1"/>
          </p:nvPr>
        </p:nvSpPr>
        <p:spPr>
          <a:xfrm>
            <a:off x="311785" y="1466214"/>
            <a:ext cx="3921548" cy="3520047"/>
          </a:xfrm>
        </p:spPr>
        <p:txBody>
          <a:bodyPr>
            <a:noAutofit/>
          </a:bodyPr>
          <a:lstStyle/>
          <a:p>
            <a:pPr marL="114300" indent="0" eaLnBrk="1" fontAlgn="auto" latinLnBrk="0" hangingPunct="1">
              <a:spcBef>
                <a:spcPts val="200"/>
              </a:spcBef>
              <a:spcAft>
                <a:spcPts val="200"/>
              </a:spcAft>
              <a:buNone/>
            </a:pPr>
            <a:r>
              <a:rPr lang="en-IN" sz="2000" b="1" dirty="0">
                <a:solidFill>
                  <a:srgbClr val="1111A1"/>
                </a:solidFill>
              </a:rPr>
              <a:t>10% &amp; 1% method</a:t>
            </a:r>
          </a:p>
          <a:p>
            <a:pPr marL="114300" indent="0" eaLnBrk="1" fontAlgn="auto" latinLnBrk="0" hangingPunct="1">
              <a:spcBef>
                <a:spcPts val="200"/>
              </a:spcBef>
              <a:spcAft>
                <a:spcPts val="200"/>
              </a:spcAft>
              <a:buNone/>
            </a:pPr>
            <a:r>
              <a:rPr lang="en-IN" altLang="en-US" dirty="0">
                <a:sym typeface="Outfit"/>
              </a:rPr>
              <a:t>24% of 510</a:t>
            </a:r>
          </a:p>
          <a:p>
            <a:pPr marL="114300" indent="0" eaLnBrk="1" fontAlgn="auto" latinLnBrk="0" hangingPunct="1">
              <a:spcBef>
                <a:spcPts val="200"/>
              </a:spcBef>
              <a:spcAft>
                <a:spcPts val="200"/>
              </a:spcAft>
              <a:buNone/>
            </a:pPr>
            <a:endParaRPr lang="en-IN" altLang="en-US" dirty="0">
              <a:sym typeface="Outfit"/>
            </a:endParaRPr>
          </a:p>
        </p:txBody>
      </p:sp>
      <p:sp>
        <p:nvSpPr>
          <p:cNvPr id="118" name="Google Shape;118;p16">
            <a:extLst>
              <a:ext uri="{FF2B5EF4-FFF2-40B4-BE49-F238E27FC236}">
                <a16:creationId xmlns:a16="http://schemas.microsoft.com/office/drawing/2014/main" id="{802491EC-646E-9146-325C-919DA28BBDFE}"/>
              </a:ext>
            </a:extLst>
          </p:cNvPr>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600"/>
              </a:spcBef>
              <a:spcAft>
                <a:spcPts val="600"/>
              </a:spcAft>
              <a:buNone/>
            </a:pPr>
            <a:r>
              <a:rPr lang="en-GB" sz="1800" b="1" dirty="0">
                <a:solidFill>
                  <a:srgbClr val="FF5733"/>
                </a:solidFill>
                <a:latin typeface="Poppins" panose="00000800000000000000"/>
                <a:ea typeface="Poppins" panose="00000800000000000000"/>
                <a:cs typeface="Poppins" panose="00000800000000000000"/>
                <a:sym typeface="Poppins" panose="00000800000000000000"/>
              </a:rPr>
              <a:t>ROUND 1</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US" sz="2700" dirty="0">
                <a:sym typeface="+mn-ea"/>
              </a:rPr>
              <a:t>Preparation Strategy – Shortcut tips </a:t>
            </a:r>
            <a:r>
              <a:rPr lang="en-US" altLang="en-US" sz="1600" dirty="0">
                <a:sym typeface="+mn-ea"/>
              </a:rPr>
              <a:t>(examples)</a:t>
            </a:r>
            <a:endParaRPr lang="en-US" altLang="en-US" sz="2700" dirty="0">
              <a:sym typeface="+mn-ea"/>
            </a:endParaRPr>
          </a:p>
        </p:txBody>
      </p:sp>
      <p:cxnSp>
        <p:nvCxnSpPr>
          <p:cNvPr id="93" name="Google Shape;93;p15">
            <a:extLst>
              <a:ext uri="{FF2B5EF4-FFF2-40B4-BE49-F238E27FC236}">
                <a16:creationId xmlns:a16="http://schemas.microsoft.com/office/drawing/2014/main" id="{C5FC90D9-1680-1BE8-B482-374C30943746}"/>
              </a:ext>
            </a:extLst>
          </p:cNvPr>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 name="TextBox 1">
            <a:extLst>
              <a:ext uri="{FF2B5EF4-FFF2-40B4-BE49-F238E27FC236}">
                <a16:creationId xmlns:a16="http://schemas.microsoft.com/office/drawing/2014/main" id="{AF170C41-3CB3-46A9-E9FB-7D9222BD37E4}"/>
              </a:ext>
            </a:extLst>
          </p:cNvPr>
          <p:cNvSpPr txBox="1"/>
          <p:nvPr/>
        </p:nvSpPr>
        <p:spPr>
          <a:xfrm>
            <a:off x="311635" y="2597113"/>
            <a:ext cx="2055371" cy="636072"/>
          </a:xfrm>
          <a:prstGeom prst="rect">
            <a:avLst/>
          </a:prstGeom>
          <a:noFill/>
        </p:spPr>
        <p:txBody>
          <a:bodyPr wrap="none" rtlCol="0">
            <a:spAutoFit/>
          </a:bodyPr>
          <a:lstStyle/>
          <a:p>
            <a:pPr marL="114300" indent="0" eaLnBrk="1" fontAlgn="auto" latinLnBrk="0" hangingPunct="1">
              <a:spcBef>
                <a:spcPts val="200"/>
              </a:spcBef>
              <a:spcAft>
                <a:spcPts val="200"/>
              </a:spcAft>
              <a:buNone/>
            </a:pPr>
            <a:r>
              <a:rPr lang="en-IN" altLang="en-US" sz="1600" dirty="0">
                <a:sym typeface="Outfit"/>
              </a:rPr>
              <a:t>10% of 510 -- &gt;  51</a:t>
            </a:r>
          </a:p>
          <a:p>
            <a:pPr marL="114300" indent="0" eaLnBrk="1" fontAlgn="auto" latinLnBrk="0" hangingPunct="1">
              <a:spcBef>
                <a:spcPts val="200"/>
              </a:spcBef>
              <a:spcAft>
                <a:spcPts val="200"/>
              </a:spcAft>
              <a:buNone/>
            </a:pPr>
            <a:r>
              <a:rPr lang="en-IN" altLang="en-US" sz="1600" dirty="0">
                <a:sym typeface="Outfit"/>
              </a:rPr>
              <a:t>20% -&gt; </a:t>
            </a:r>
            <a:r>
              <a:rPr lang="en-IN" altLang="en-US" sz="1600" u="sng" dirty="0">
                <a:sym typeface="Outfit"/>
              </a:rPr>
              <a:t>102</a:t>
            </a:r>
          </a:p>
        </p:txBody>
      </p:sp>
      <p:sp>
        <p:nvSpPr>
          <p:cNvPr id="8" name="TextBox 7">
            <a:extLst>
              <a:ext uri="{FF2B5EF4-FFF2-40B4-BE49-F238E27FC236}">
                <a16:creationId xmlns:a16="http://schemas.microsoft.com/office/drawing/2014/main" id="{CEA570BD-A5F7-6954-8BAA-61A35954DFC1}"/>
              </a:ext>
            </a:extLst>
          </p:cNvPr>
          <p:cNvSpPr txBox="1"/>
          <p:nvPr/>
        </p:nvSpPr>
        <p:spPr>
          <a:xfrm>
            <a:off x="2673878" y="2617866"/>
            <a:ext cx="1300356" cy="636072"/>
          </a:xfrm>
          <a:prstGeom prst="rect">
            <a:avLst/>
          </a:prstGeom>
          <a:noFill/>
        </p:spPr>
        <p:txBody>
          <a:bodyPr wrap="none" rtlCol="0">
            <a:spAutoFit/>
          </a:bodyPr>
          <a:lstStyle/>
          <a:p>
            <a:pPr marL="114300" indent="0" eaLnBrk="1" fontAlgn="auto" latinLnBrk="0" hangingPunct="1">
              <a:spcBef>
                <a:spcPts val="200"/>
              </a:spcBef>
              <a:spcAft>
                <a:spcPts val="200"/>
              </a:spcAft>
              <a:buNone/>
            </a:pPr>
            <a:r>
              <a:rPr lang="en-IN" altLang="en-US" sz="1600" dirty="0">
                <a:sym typeface="Outfit"/>
              </a:rPr>
              <a:t>1% - 5.1</a:t>
            </a:r>
          </a:p>
          <a:p>
            <a:pPr marL="114300" indent="0" eaLnBrk="1" fontAlgn="auto" latinLnBrk="0" hangingPunct="1">
              <a:spcBef>
                <a:spcPts val="200"/>
              </a:spcBef>
              <a:spcAft>
                <a:spcPts val="200"/>
              </a:spcAft>
              <a:buNone/>
            </a:pPr>
            <a:r>
              <a:rPr lang="en-IN" altLang="en-US" sz="1600" dirty="0">
                <a:sym typeface="Outfit"/>
              </a:rPr>
              <a:t>4% -&gt; </a:t>
            </a:r>
            <a:r>
              <a:rPr lang="en-IN" altLang="en-US" sz="1600" u="sng" dirty="0">
                <a:sym typeface="Outfit"/>
              </a:rPr>
              <a:t>20.4</a:t>
            </a:r>
          </a:p>
        </p:txBody>
      </p:sp>
      <p:sp>
        <p:nvSpPr>
          <p:cNvPr id="9" name="Text Placeholder 3">
            <a:extLst>
              <a:ext uri="{FF2B5EF4-FFF2-40B4-BE49-F238E27FC236}">
                <a16:creationId xmlns:a16="http://schemas.microsoft.com/office/drawing/2014/main" id="{608C9B94-920E-69A9-0200-4E9D121A7616}"/>
              </a:ext>
            </a:extLst>
          </p:cNvPr>
          <p:cNvSpPr txBox="1">
            <a:spLocks/>
          </p:cNvSpPr>
          <p:nvPr/>
        </p:nvSpPr>
        <p:spPr>
          <a:xfrm>
            <a:off x="4841452" y="1411605"/>
            <a:ext cx="3320415" cy="352004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panose="020B0604020202090204"/>
              <a:buChar char="●"/>
              <a:defRPr sz="1800" b="0" i="0" u="none" strike="noStrike" cap="none">
                <a:solidFill>
                  <a:schemeClr val="dk2"/>
                </a:solidFill>
                <a:latin typeface="Arial" panose="020B0604020202090204"/>
                <a:ea typeface="Arial" panose="020B0604020202090204"/>
                <a:cs typeface="Arial" panose="020B0604020202090204"/>
                <a:sym typeface="Arial" panose="020B0604020202090204"/>
              </a:defRPr>
            </a:lvl1pPr>
            <a:lvl2pPr marL="914400" marR="0" lvl="1"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2pPr>
            <a:lvl3pPr marL="1371600" marR="0" lvl="2"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9pPr>
          </a:lstStyle>
          <a:p>
            <a:pPr marL="114300" indent="0">
              <a:spcBef>
                <a:spcPts val="200"/>
              </a:spcBef>
              <a:spcAft>
                <a:spcPts val="200"/>
              </a:spcAft>
              <a:buFont typeface="Arial" panose="020B0604020202090204"/>
              <a:buNone/>
            </a:pPr>
            <a:r>
              <a:rPr lang="en-IN" sz="2000" b="1" dirty="0">
                <a:solidFill>
                  <a:srgbClr val="1111A1"/>
                </a:solidFill>
              </a:rPr>
              <a:t>Squaring numbers ending in 5</a:t>
            </a:r>
          </a:p>
          <a:p>
            <a:pPr marL="114300" indent="0">
              <a:spcBef>
                <a:spcPts val="200"/>
              </a:spcBef>
              <a:spcAft>
                <a:spcPts val="200"/>
              </a:spcAft>
              <a:buFont typeface="Arial" panose="020B0604020202090204"/>
              <a:buNone/>
            </a:pPr>
            <a:r>
              <a:rPr lang="en-IN" altLang="en-US" dirty="0">
                <a:sym typeface="Outfit"/>
              </a:rPr>
              <a:t>               85 X 85</a:t>
            </a:r>
          </a:p>
          <a:p>
            <a:pPr marL="114300" indent="0">
              <a:spcBef>
                <a:spcPts val="200"/>
              </a:spcBef>
              <a:spcAft>
                <a:spcPts val="200"/>
              </a:spcAft>
              <a:buFont typeface="Arial" panose="020B0604020202090204"/>
              <a:buNone/>
            </a:pPr>
            <a:endParaRPr lang="en-IN" altLang="en-US" dirty="0">
              <a:sym typeface="Outfit"/>
            </a:endParaRPr>
          </a:p>
          <a:p>
            <a:pPr marL="114300" indent="0">
              <a:spcBef>
                <a:spcPts val="200"/>
              </a:spcBef>
              <a:spcAft>
                <a:spcPts val="200"/>
              </a:spcAft>
              <a:buFont typeface="Arial" panose="020B0604020202090204"/>
              <a:buNone/>
            </a:pPr>
            <a:endParaRPr lang="en-IN" altLang="en-US" dirty="0">
              <a:sym typeface="Outfit"/>
            </a:endParaRPr>
          </a:p>
          <a:p>
            <a:pPr marL="114300" indent="0">
              <a:spcBef>
                <a:spcPts val="200"/>
              </a:spcBef>
              <a:spcAft>
                <a:spcPts val="200"/>
              </a:spcAft>
              <a:buFont typeface="Arial" panose="020B0604020202090204"/>
              <a:buNone/>
            </a:pPr>
            <a:endParaRPr lang="en-IN" altLang="en-US" dirty="0">
              <a:sym typeface="Outfit"/>
            </a:endParaRPr>
          </a:p>
        </p:txBody>
      </p:sp>
      <p:cxnSp>
        <p:nvCxnSpPr>
          <p:cNvPr id="11" name="Straight Connector 10">
            <a:extLst>
              <a:ext uri="{FF2B5EF4-FFF2-40B4-BE49-F238E27FC236}">
                <a16:creationId xmlns:a16="http://schemas.microsoft.com/office/drawing/2014/main" id="{7CB8BAD8-1923-CACA-41E7-E6789AA36C7A}"/>
              </a:ext>
            </a:extLst>
          </p:cNvPr>
          <p:cNvCxnSpPr>
            <a:cxnSpLocks/>
          </p:cNvCxnSpPr>
          <p:nvPr/>
        </p:nvCxnSpPr>
        <p:spPr>
          <a:xfrm>
            <a:off x="1453243" y="3253938"/>
            <a:ext cx="702129" cy="7772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49442AE-E2BB-C7BE-145A-A9E1FCB32347}"/>
              </a:ext>
            </a:extLst>
          </p:cNvPr>
          <p:cNvCxnSpPr>
            <a:cxnSpLocks/>
          </p:cNvCxnSpPr>
          <p:nvPr/>
        </p:nvCxnSpPr>
        <p:spPr>
          <a:xfrm flipH="1">
            <a:off x="2922814" y="3253938"/>
            <a:ext cx="702129" cy="77726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B7AF58E-3BB5-0436-6B9C-96D507A71121}"/>
              </a:ext>
            </a:extLst>
          </p:cNvPr>
          <p:cNvSpPr txBox="1"/>
          <p:nvPr/>
        </p:nvSpPr>
        <p:spPr>
          <a:xfrm>
            <a:off x="2161067" y="4051958"/>
            <a:ext cx="761747" cy="369332"/>
          </a:xfrm>
          <a:prstGeom prst="rect">
            <a:avLst/>
          </a:prstGeom>
          <a:noFill/>
        </p:spPr>
        <p:txBody>
          <a:bodyPr wrap="none" rtlCol="0">
            <a:spAutoFit/>
          </a:bodyPr>
          <a:lstStyle/>
          <a:p>
            <a:r>
              <a:rPr lang="en-US" sz="1800" dirty="0"/>
              <a:t>122.4</a:t>
            </a:r>
            <a:endParaRPr lang="en-IN" sz="1800" dirty="0"/>
          </a:p>
        </p:txBody>
      </p:sp>
      <p:sp>
        <p:nvSpPr>
          <p:cNvPr id="21" name="TextBox 20">
            <a:extLst>
              <a:ext uri="{FF2B5EF4-FFF2-40B4-BE49-F238E27FC236}">
                <a16:creationId xmlns:a16="http://schemas.microsoft.com/office/drawing/2014/main" id="{5470C13E-180D-7153-F877-4049071DA423}"/>
              </a:ext>
            </a:extLst>
          </p:cNvPr>
          <p:cNvSpPr txBox="1"/>
          <p:nvPr/>
        </p:nvSpPr>
        <p:spPr>
          <a:xfrm>
            <a:off x="5112643" y="3692651"/>
            <a:ext cx="1242648" cy="338554"/>
          </a:xfrm>
          <a:prstGeom prst="rect">
            <a:avLst/>
          </a:prstGeom>
          <a:noFill/>
        </p:spPr>
        <p:txBody>
          <a:bodyPr wrap="none" rtlCol="0">
            <a:spAutoFit/>
          </a:bodyPr>
          <a:lstStyle/>
          <a:p>
            <a:pPr marL="114300" indent="0" eaLnBrk="1" fontAlgn="auto" latinLnBrk="0" hangingPunct="1">
              <a:spcBef>
                <a:spcPts val="200"/>
              </a:spcBef>
              <a:spcAft>
                <a:spcPts val="200"/>
              </a:spcAft>
              <a:buNone/>
            </a:pPr>
            <a:r>
              <a:rPr lang="en-US" altLang="en-US" sz="1600" dirty="0">
                <a:sym typeface="Outfit"/>
              </a:rPr>
              <a:t>8</a:t>
            </a:r>
            <a:r>
              <a:rPr lang="en-IN" altLang="en-US" sz="1600" dirty="0">
                <a:sym typeface="Outfit"/>
              </a:rPr>
              <a:t> X 9 = </a:t>
            </a:r>
            <a:r>
              <a:rPr lang="en-IN" altLang="en-US" sz="1600" u="sng" dirty="0">
                <a:sym typeface="Outfit"/>
              </a:rPr>
              <a:t>72</a:t>
            </a:r>
          </a:p>
        </p:txBody>
      </p:sp>
      <p:sp>
        <p:nvSpPr>
          <p:cNvPr id="22" name="TextBox 21">
            <a:extLst>
              <a:ext uri="{FF2B5EF4-FFF2-40B4-BE49-F238E27FC236}">
                <a16:creationId xmlns:a16="http://schemas.microsoft.com/office/drawing/2014/main" id="{B1317332-D3C7-83F3-1D01-2A25CC04D147}"/>
              </a:ext>
            </a:extLst>
          </p:cNvPr>
          <p:cNvSpPr txBox="1"/>
          <p:nvPr/>
        </p:nvSpPr>
        <p:spPr>
          <a:xfrm>
            <a:off x="5000775" y="3002351"/>
            <a:ext cx="1170513" cy="338554"/>
          </a:xfrm>
          <a:prstGeom prst="rect">
            <a:avLst/>
          </a:prstGeom>
          <a:noFill/>
        </p:spPr>
        <p:txBody>
          <a:bodyPr wrap="none" rtlCol="0">
            <a:spAutoFit/>
          </a:bodyPr>
          <a:lstStyle/>
          <a:p>
            <a:pPr marL="114300" indent="0" eaLnBrk="1" fontAlgn="auto" latinLnBrk="0" hangingPunct="1">
              <a:spcBef>
                <a:spcPts val="200"/>
              </a:spcBef>
              <a:spcAft>
                <a:spcPts val="200"/>
              </a:spcAft>
              <a:buNone/>
            </a:pPr>
            <a:r>
              <a:rPr lang="en-US" altLang="en-US" sz="1600" dirty="0">
                <a:sym typeface="Outfit"/>
              </a:rPr>
              <a:t>8</a:t>
            </a:r>
            <a:r>
              <a:rPr lang="en-IN" altLang="en-US" sz="1600" dirty="0">
                <a:sym typeface="Outfit"/>
              </a:rPr>
              <a:t> + 1 = 9 </a:t>
            </a:r>
            <a:endParaRPr lang="en-IN" altLang="en-US" sz="1600" u="sng" dirty="0">
              <a:sym typeface="Outfit"/>
            </a:endParaRPr>
          </a:p>
        </p:txBody>
      </p:sp>
      <p:cxnSp>
        <p:nvCxnSpPr>
          <p:cNvPr id="23" name="Straight Connector 22">
            <a:extLst>
              <a:ext uri="{FF2B5EF4-FFF2-40B4-BE49-F238E27FC236}">
                <a16:creationId xmlns:a16="http://schemas.microsoft.com/office/drawing/2014/main" id="{64A3E16D-8B14-4F5D-C858-A3DE637E52F9}"/>
              </a:ext>
            </a:extLst>
          </p:cNvPr>
          <p:cNvCxnSpPr>
            <a:cxnSpLocks/>
          </p:cNvCxnSpPr>
          <p:nvPr/>
        </p:nvCxnSpPr>
        <p:spPr>
          <a:xfrm flipH="1">
            <a:off x="5515276" y="2597113"/>
            <a:ext cx="482832" cy="4050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6314AB2B-9B4F-366B-811A-7AAE79781178}"/>
              </a:ext>
            </a:extLst>
          </p:cNvPr>
          <p:cNvCxnSpPr>
            <a:cxnSpLocks/>
            <a:endCxn id="21" idx="0"/>
          </p:cNvCxnSpPr>
          <p:nvPr/>
        </p:nvCxnSpPr>
        <p:spPr>
          <a:xfrm flipH="1">
            <a:off x="5733967" y="3391821"/>
            <a:ext cx="137444" cy="30083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C8E80704-C701-036F-F1E7-14813DD24CCB}"/>
              </a:ext>
            </a:extLst>
          </p:cNvPr>
          <p:cNvSpPr txBox="1"/>
          <p:nvPr/>
        </p:nvSpPr>
        <p:spPr>
          <a:xfrm>
            <a:off x="6792612" y="3084661"/>
            <a:ext cx="1242648" cy="338554"/>
          </a:xfrm>
          <a:prstGeom prst="rect">
            <a:avLst/>
          </a:prstGeom>
          <a:noFill/>
        </p:spPr>
        <p:txBody>
          <a:bodyPr wrap="none" rtlCol="0">
            <a:spAutoFit/>
          </a:bodyPr>
          <a:lstStyle/>
          <a:p>
            <a:pPr marL="114300" indent="0" eaLnBrk="1" fontAlgn="auto" latinLnBrk="0" hangingPunct="1">
              <a:spcBef>
                <a:spcPts val="200"/>
              </a:spcBef>
              <a:spcAft>
                <a:spcPts val="200"/>
              </a:spcAft>
              <a:buNone/>
            </a:pPr>
            <a:r>
              <a:rPr lang="en-US" altLang="en-US" sz="1600" dirty="0">
                <a:sym typeface="Outfit"/>
              </a:rPr>
              <a:t>5 X 5 = </a:t>
            </a:r>
            <a:r>
              <a:rPr lang="en-US" altLang="en-US" sz="1600" u="sng" dirty="0">
                <a:sym typeface="Outfit"/>
              </a:rPr>
              <a:t>25</a:t>
            </a:r>
            <a:endParaRPr lang="en-IN" altLang="en-US" sz="1600" u="sng" dirty="0">
              <a:sym typeface="Outfit"/>
            </a:endParaRPr>
          </a:p>
        </p:txBody>
      </p:sp>
      <p:cxnSp>
        <p:nvCxnSpPr>
          <p:cNvPr id="32" name="Straight Connector 31">
            <a:extLst>
              <a:ext uri="{FF2B5EF4-FFF2-40B4-BE49-F238E27FC236}">
                <a16:creationId xmlns:a16="http://schemas.microsoft.com/office/drawing/2014/main" id="{15A3862B-3475-B90F-F7F7-45B5C6F871BF}"/>
              </a:ext>
            </a:extLst>
          </p:cNvPr>
          <p:cNvCxnSpPr>
            <a:cxnSpLocks/>
          </p:cNvCxnSpPr>
          <p:nvPr/>
        </p:nvCxnSpPr>
        <p:spPr>
          <a:xfrm>
            <a:off x="6769753" y="2539884"/>
            <a:ext cx="329318" cy="46231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416BDCF-A883-2A92-A5F4-296BFDBAEA0F}"/>
              </a:ext>
            </a:extLst>
          </p:cNvPr>
          <p:cNvCxnSpPr>
            <a:cxnSpLocks/>
          </p:cNvCxnSpPr>
          <p:nvPr/>
        </p:nvCxnSpPr>
        <p:spPr>
          <a:xfrm>
            <a:off x="6203027" y="4092795"/>
            <a:ext cx="217913" cy="38395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DDB6F79B-A379-391F-DC7E-EE64DC999B61}"/>
              </a:ext>
            </a:extLst>
          </p:cNvPr>
          <p:cNvCxnSpPr>
            <a:cxnSpLocks/>
          </p:cNvCxnSpPr>
          <p:nvPr/>
        </p:nvCxnSpPr>
        <p:spPr>
          <a:xfrm flipH="1">
            <a:off x="7099071" y="3550331"/>
            <a:ext cx="665195" cy="9264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DFEBBAF2-11BE-758A-5F02-B8F70D685F8C}"/>
              </a:ext>
            </a:extLst>
          </p:cNvPr>
          <p:cNvSpPr txBox="1"/>
          <p:nvPr/>
        </p:nvSpPr>
        <p:spPr>
          <a:xfrm>
            <a:off x="6420940" y="4418884"/>
            <a:ext cx="697627" cy="369332"/>
          </a:xfrm>
          <a:prstGeom prst="rect">
            <a:avLst/>
          </a:prstGeom>
          <a:noFill/>
        </p:spPr>
        <p:txBody>
          <a:bodyPr wrap="none" rtlCol="0">
            <a:spAutoFit/>
          </a:bodyPr>
          <a:lstStyle/>
          <a:p>
            <a:r>
              <a:rPr lang="en-US" sz="1800" dirty="0"/>
              <a:t>7225</a:t>
            </a:r>
            <a:endParaRPr lang="en-IN" sz="1800" dirty="0"/>
          </a:p>
        </p:txBody>
      </p:sp>
    </p:spTree>
    <p:extLst>
      <p:ext uri="{BB962C8B-B14F-4D97-AF65-F5344CB8AC3E}">
        <p14:creationId xmlns:p14="http://schemas.microsoft.com/office/powerpoint/2010/main" val="6105840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CA313-367A-11B5-2C6D-B599596AF597}"/>
            </a:ext>
          </a:extLst>
        </p:cNvPr>
        <p:cNvGrpSpPr/>
        <p:nvPr/>
      </p:nvGrpSpPr>
      <p:grpSpPr>
        <a:xfrm>
          <a:off x="0" y="0"/>
          <a:ext cx="0" cy="0"/>
          <a:chOff x="0" y="0"/>
          <a:chExt cx="0" cy="0"/>
        </a:xfrm>
      </p:grpSpPr>
      <p:grpSp>
        <p:nvGrpSpPr>
          <p:cNvPr id="78" name="Google Shape;78;p15">
            <a:extLst>
              <a:ext uri="{FF2B5EF4-FFF2-40B4-BE49-F238E27FC236}">
                <a16:creationId xmlns:a16="http://schemas.microsoft.com/office/drawing/2014/main" id="{D1026B16-48AF-CEAD-1603-4B931165EC96}"/>
              </a:ext>
            </a:extLst>
          </p:cNvPr>
          <p:cNvGrpSpPr/>
          <p:nvPr/>
        </p:nvGrpSpPr>
        <p:grpSpPr>
          <a:xfrm>
            <a:off x="0" y="0"/>
            <a:ext cx="9144150" cy="5143650"/>
            <a:chOff x="0" y="0"/>
            <a:chExt cx="9144150" cy="5143650"/>
          </a:xfrm>
        </p:grpSpPr>
        <p:sp>
          <p:nvSpPr>
            <p:cNvPr id="79" name="Google Shape;79;p15">
              <a:extLst>
                <a:ext uri="{FF2B5EF4-FFF2-40B4-BE49-F238E27FC236}">
                  <a16:creationId xmlns:a16="http://schemas.microsoft.com/office/drawing/2014/main" id="{7BCE2F11-B4FE-9657-601A-CA4C05C85621}"/>
                </a:ext>
              </a:extLst>
            </p:cNvPr>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dirty="0"/>
            </a:p>
          </p:txBody>
        </p:sp>
        <p:pic>
          <p:nvPicPr>
            <p:cNvPr id="80" name="Google Shape;80;p15">
              <a:extLst>
                <a:ext uri="{FF2B5EF4-FFF2-40B4-BE49-F238E27FC236}">
                  <a16:creationId xmlns:a16="http://schemas.microsoft.com/office/drawing/2014/main" id="{4BD85FF6-D6A7-AB23-3AEE-0312A8A66347}"/>
                </a:ext>
              </a:extLst>
            </p:cNvPr>
            <p:cNvPicPr preferRelativeResize="0"/>
            <p:nvPr/>
          </p:nvPicPr>
          <p:blipFill rotWithShape="1">
            <a:blip r:embed="rId2"/>
            <a:srcRect/>
            <a:stretch>
              <a:fillRect/>
            </a:stretch>
          </p:blipFill>
          <p:spPr>
            <a:xfrm>
              <a:off x="4763" y="4763"/>
              <a:ext cx="8982000" cy="4981500"/>
            </a:xfrm>
            <a:prstGeom prst="rect">
              <a:avLst/>
            </a:prstGeom>
            <a:noFill/>
            <a:ln>
              <a:noFill/>
            </a:ln>
          </p:spPr>
        </p:pic>
        <p:sp>
          <p:nvSpPr>
            <p:cNvPr id="81" name="Google Shape;81;p15">
              <a:extLst>
                <a:ext uri="{FF2B5EF4-FFF2-40B4-BE49-F238E27FC236}">
                  <a16:creationId xmlns:a16="http://schemas.microsoft.com/office/drawing/2014/main" id="{5733D67E-676A-94E9-3ABF-4360CCAA0044}"/>
                </a:ext>
              </a:extLst>
            </p:cNvPr>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a:extLst>
                <a:ext uri="{FF2B5EF4-FFF2-40B4-BE49-F238E27FC236}">
                  <a16:creationId xmlns:a16="http://schemas.microsoft.com/office/drawing/2014/main" id="{9B512FE8-70CA-89C2-B823-E4AF87C03E0E}"/>
                </a:ext>
              </a:extLst>
            </p:cNvPr>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4" name="Text Placeholder 3">
            <a:extLst>
              <a:ext uri="{FF2B5EF4-FFF2-40B4-BE49-F238E27FC236}">
                <a16:creationId xmlns:a16="http://schemas.microsoft.com/office/drawing/2014/main" id="{034F78B3-D39E-B9A8-797D-A7F4054BD469}"/>
              </a:ext>
            </a:extLst>
          </p:cNvPr>
          <p:cNvSpPr>
            <a:spLocks noGrp="1"/>
          </p:cNvSpPr>
          <p:nvPr>
            <p:ph type="body" idx="1"/>
          </p:nvPr>
        </p:nvSpPr>
        <p:spPr>
          <a:xfrm>
            <a:off x="311785" y="1466214"/>
            <a:ext cx="3921548" cy="3520047"/>
          </a:xfrm>
        </p:spPr>
        <p:txBody>
          <a:bodyPr>
            <a:noAutofit/>
          </a:bodyPr>
          <a:lstStyle/>
          <a:p>
            <a:pPr marL="114300" indent="0" eaLnBrk="1" fontAlgn="auto" latinLnBrk="0" hangingPunct="1">
              <a:spcBef>
                <a:spcPts val="200"/>
              </a:spcBef>
              <a:spcAft>
                <a:spcPts val="200"/>
              </a:spcAft>
              <a:buNone/>
            </a:pPr>
            <a:r>
              <a:rPr lang="en-IN" sz="2000" b="1" dirty="0">
                <a:solidFill>
                  <a:srgbClr val="1111A1"/>
                </a:solidFill>
              </a:rPr>
              <a:t>Two-Worker Fast Formula</a:t>
            </a:r>
          </a:p>
          <a:p>
            <a:pPr marL="114300" indent="0" eaLnBrk="1" fontAlgn="auto" latinLnBrk="0" hangingPunct="1">
              <a:spcBef>
                <a:spcPts val="200"/>
              </a:spcBef>
              <a:spcAft>
                <a:spcPts val="200"/>
              </a:spcAft>
              <a:buNone/>
            </a:pPr>
            <a:endParaRPr lang="en-IN" altLang="en-US" dirty="0">
              <a:sym typeface="Outfit"/>
            </a:endParaRPr>
          </a:p>
          <a:p>
            <a:pPr marL="114300" indent="0" eaLnBrk="1" fontAlgn="auto" latinLnBrk="0" hangingPunct="1">
              <a:spcBef>
                <a:spcPts val="200"/>
              </a:spcBef>
              <a:spcAft>
                <a:spcPts val="200"/>
              </a:spcAft>
              <a:buNone/>
            </a:pPr>
            <a:endParaRPr lang="en-IN" altLang="en-US" dirty="0">
              <a:sym typeface="Outfit"/>
            </a:endParaRPr>
          </a:p>
        </p:txBody>
      </p:sp>
      <p:sp>
        <p:nvSpPr>
          <p:cNvPr id="118" name="Google Shape;118;p16">
            <a:extLst>
              <a:ext uri="{FF2B5EF4-FFF2-40B4-BE49-F238E27FC236}">
                <a16:creationId xmlns:a16="http://schemas.microsoft.com/office/drawing/2014/main" id="{EC5DBFD3-F2B0-95E4-5F02-D6D920E049E4}"/>
              </a:ext>
            </a:extLst>
          </p:cNvPr>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600"/>
              </a:spcBef>
              <a:spcAft>
                <a:spcPts val="600"/>
              </a:spcAft>
              <a:buNone/>
            </a:pPr>
            <a:r>
              <a:rPr lang="en-GB" sz="1800" b="1" dirty="0">
                <a:solidFill>
                  <a:srgbClr val="FF5733"/>
                </a:solidFill>
                <a:latin typeface="Poppins" panose="00000800000000000000"/>
                <a:ea typeface="Poppins" panose="00000800000000000000"/>
                <a:cs typeface="Poppins" panose="00000800000000000000"/>
                <a:sym typeface="Poppins" panose="00000800000000000000"/>
              </a:rPr>
              <a:t>ROUND 1</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lvl="0">
              <a:spcBef>
                <a:spcPts val="600"/>
              </a:spcBef>
              <a:spcAft>
                <a:spcPts val="600"/>
              </a:spcAft>
            </a:pPr>
            <a:r>
              <a:rPr lang="en-US" altLang="en-US" sz="2700" dirty="0">
                <a:sym typeface="+mn-ea"/>
              </a:rPr>
              <a:t>Preparation Strategy – Shortcut tips</a:t>
            </a:r>
            <a:r>
              <a:rPr lang="en-US" altLang="en-US" sz="1800" dirty="0">
                <a:sym typeface="+mn-ea"/>
              </a:rPr>
              <a:t> (examples)</a:t>
            </a:r>
            <a:endParaRPr lang="en-US" altLang="en-US" sz="2700" dirty="0">
              <a:sym typeface="+mn-ea"/>
            </a:endParaRPr>
          </a:p>
        </p:txBody>
      </p:sp>
      <p:cxnSp>
        <p:nvCxnSpPr>
          <p:cNvPr id="93" name="Google Shape;93;p15">
            <a:extLst>
              <a:ext uri="{FF2B5EF4-FFF2-40B4-BE49-F238E27FC236}">
                <a16:creationId xmlns:a16="http://schemas.microsoft.com/office/drawing/2014/main" id="{8ADF1E54-80A1-4BB5-2462-E6C3909A34BD}"/>
              </a:ext>
            </a:extLst>
          </p:cNvPr>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 name="TextBox 1">
            <a:extLst>
              <a:ext uri="{FF2B5EF4-FFF2-40B4-BE49-F238E27FC236}">
                <a16:creationId xmlns:a16="http://schemas.microsoft.com/office/drawing/2014/main" id="{FC28CD34-0D7C-3BDC-C0DA-B5117160C0A4}"/>
              </a:ext>
            </a:extLst>
          </p:cNvPr>
          <p:cNvSpPr txBox="1"/>
          <p:nvPr/>
        </p:nvSpPr>
        <p:spPr>
          <a:xfrm>
            <a:off x="294040" y="2074802"/>
            <a:ext cx="3392436" cy="584775"/>
          </a:xfrm>
          <a:prstGeom prst="rect">
            <a:avLst/>
          </a:prstGeom>
          <a:noFill/>
        </p:spPr>
        <p:txBody>
          <a:bodyPr wrap="square" rtlCol="0">
            <a:spAutoFit/>
          </a:bodyPr>
          <a:lstStyle/>
          <a:p>
            <a:pPr marL="114300" indent="0" eaLnBrk="1" fontAlgn="auto" latinLnBrk="0" hangingPunct="1">
              <a:spcBef>
                <a:spcPts val="200"/>
              </a:spcBef>
              <a:spcAft>
                <a:spcPts val="200"/>
              </a:spcAft>
              <a:buNone/>
            </a:pPr>
            <a:r>
              <a:rPr lang="en-US" altLang="en-US" sz="1600" dirty="0">
                <a:sym typeface="Outfit"/>
              </a:rPr>
              <a:t>2 persons take A and B hours to complete. Find combined hours.</a:t>
            </a:r>
            <a:endParaRPr lang="en-IN" altLang="en-US" sz="1600" dirty="0">
              <a:sym typeface="Outfit"/>
            </a:endParaRPr>
          </a:p>
        </p:txBody>
      </p:sp>
      <p:sp>
        <p:nvSpPr>
          <p:cNvPr id="9" name="Text Placeholder 3">
            <a:extLst>
              <a:ext uri="{FF2B5EF4-FFF2-40B4-BE49-F238E27FC236}">
                <a16:creationId xmlns:a16="http://schemas.microsoft.com/office/drawing/2014/main" id="{860CCAA4-3033-5CD4-EF19-1D285CE2BF9D}"/>
              </a:ext>
            </a:extLst>
          </p:cNvPr>
          <p:cNvSpPr txBox="1">
            <a:spLocks/>
          </p:cNvSpPr>
          <p:nvPr/>
        </p:nvSpPr>
        <p:spPr>
          <a:xfrm>
            <a:off x="5303052" y="1476857"/>
            <a:ext cx="3320415" cy="352004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panose="020B0604020202090204"/>
              <a:buChar char="●"/>
              <a:defRPr sz="1800" b="0" i="0" u="none" strike="noStrike" cap="none">
                <a:solidFill>
                  <a:schemeClr val="dk2"/>
                </a:solidFill>
                <a:latin typeface="Arial" panose="020B0604020202090204"/>
                <a:ea typeface="Arial" panose="020B0604020202090204"/>
                <a:cs typeface="Arial" panose="020B0604020202090204"/>
                <a:sym typeface="Arial" panose="020B0604020202090204"/>
              </a:defRPr>
            </a:lvl1pPr>
            <a:lvl2pPr marL="914400" marR="0" lvl="1"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2pPr>
            <a:lvl3pPr marL="1371600" marR="0" lvl="2"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9pPr>
          </a:lstStyle>
          <a:p>
            <a:pPr marL="114300" indent="0">
              <a:spcBef>
                <a:spcPts val="200"/>
              </a:spcBef>
              <a:spcAft>
                <a:spcPts val="200"/>
              </a:spcAft>
              <a:buFont typeface="Arial" panose="020B0604020202090204"/>
              <a:buNone/>
            </a:pPr>
            <a:r>
              <a:rPr lang="en-IN" sz="2000" b="1" dirty="0">
                <a:solidFill>
                  <a:srgbClr val="1111A1"/>
                </a:solidFill>
              </a:rPr>
              <a:t>Others</a:t>
            </a:r>
          </a:p>
          <a:p>
            <a:pPr marL="114300" indent="0">
              <a:spcBef>
                <a:spcPts val="200"/>
              </a:spcBef>
              <a:spcAft>
                <a:spcPts val="200"/>
              </a:spcAft>
              <a:buFont typeface="Arial" panose="020B0604020202090204"/>
              <a:buNone/>
            </a:pPr>
            <a:endParaRPr lang="en-IN" altLang="en-US" dirty="0">
              <a:sym typeface="Outfit"/>
            </a:endParaRPr>
          </a:p>
          <a:p>
            <a:pPr marL="114300" indent="0">
              <a:spcBef>
                <a:spcPts val="200"/>
              </a:spcBef>
              <a:spcAft>
                <a:spcPts val="200"/>
              </a:spcAft>
              <a:buFont typeface="Arial" panose="020B0604020202090204"/>
              <a:buNone/>
            </a:pPr>
            <a:endParaRPr lang="en-IN" altLang="en-US" dirty="0">
              <a:sym typeface="Outfit"/>
            </a:endParaRPr>
          </a:p>
        </p:txBody>
      </p:sp>
      <p:sp>
        <p:nvSpPr>
          <p:cNvPr id="20" name="TextBox 19">
            <a:extLst>
              <a:ext uri="{FF2B5EF4-FFF2-40B4-BE49-F238E27FC236}">
                <a16:creationId xmlns:a16="http://schemas.microsoft.com/office/drawing/2014/main" id="{C0CD8528-C535-2B74-D97B-B376566992A8}"/>
              </a:ext>
            </a:extLst>
          </p:cNvPr>
          <p:cNvSpPr txBox="1"/>
          <p:nvPr/>
        </p:nvSpPr>
        <p:spPr>
          <a:xfrm>
            <a:off x="154548" y="2806500"/>
            <a:ext cx="4030396" cy="923330"/>
          </a:xfrm>
          <a:prstGeom prst="rect">
            <a:avLst/>
          </a:prstGeom>
          <a:noFill/>
        </p:spPr>
        <p:txBody>
          <a:bodyPr wrap="square" rtlCol="0">
            <a:spAutoFit/>
          </a:bodyPr>
          <a:lstStyle/>
          <a:p>
            <a:r>
              <a:rPr lang="en-IN" sz="1800" dirty="0"/>
              <a:t>                             Product       A X B    </a:t>
            </a:r>
          </a:p>
          <a:p>
            <a:r>
              <a:rPr lang="en-IN" sz="1800" dirty="0"/>
              <a:t>Time Together  = ------------ = ----------</a:t>
            </a:r>
          </a:p>
          <a:p>
            <a:r>
              <a:rPr lang="en-IN" sz="1800" dirty="0"/>
              <a:t>		 Sum          A + B</a:t>
            </a:r>
          </a:p>
        </p:txBody>
      </p:sp>
      <p:sp>
        <p:nvSpPr>
          <p:cNvPr id="10" name="TextBox 9">
            <a:extLst>
              <a:ext uri="{FF2B5EF4-FFF2-40B4-BE49-F238E27FC236}">
                <a16:creationId xmlns:a16="http://schemas.microsoft.com/office/drawing/2014/main" id="{F6B4A035-7E99-33D9-D5C9-80C03C7C2153}"/>
              </a:ext>
            </a:extLst>
          </p:cNvPr>
          <p:cNvSpPr txBox="1"/>
          <p:nvPr/>
        </p:nvSpPr>
        <p:spPr>
          <a:xfrm>
            <a:off x="157236" y="3837124"/>
            <a:ext cx="4684065" cy="923330"/>
          </a:xfrm>
          <a:prstGeom prst="rect">
            <a:avLst/>
          </a:prstGeom>
          <a:noFill/>
        </p:spPr>
        <p:txBody>
          <a:bodyPr wrap="square" rtlCol="0">
            <a:spAutoFit/>
          </a:bodyPr>
          <a:lstStyle/>
          <a:p>
            <a:r>
              <a:rPr lang="en-IN" sz="1800" dirty="0"/>
              <a:t>                              6 X 12         6 X 12</a:t>
            </a:r>
          </a:p>
          <a:p>
            <a:r>
              <a:rPr lang="en-IN" sz="1800" dirty="0"/>
              <a:t>Time together  =    ---------   =  ----------  = 4</a:t>
            </a:r>
          </a:p>
          <a:p>
            <a:r>
              <a:rPr lang="en-IN" sz="1800" dirty="0"/>
              <a:t>		 6 + 12	         18</a:t>
            </a:r>
          </a:p>
        </p:txBody>
      </p:sp>
      <p:sp>
        <p:nvSpPr>
          <p:cNvPr id="13" name="Google Shape;130;p16">
            <a:extLst>
              <a:ext uri="{FF2B5EF4-FFF2-40B4-BE49-F238E27FC236}">
                <a16:creationId xmlns:a16="http://schemas.microsoft.com/office/drawing/2014/main" id="{B69DFF40-B3CD-D3E9-4D59-C40015D1309D}"/>
              </a:ext>
            </a:extLst>
          </p:cNvPr>
          <p:cNvSpPr txBox="1"/>
          <p:nvPr/>
        </p:nvSpPr>
        <p:spPr>
          <a:xfrm>
            <a:off x="5431380" y="1833562"/>
            <a:ext cx="3379320" cy="2771774"/>
          </a:xfrm>
          <a:prstGeom prst="rect">
            <a:avLst/>
          </a:prstGeom>
          <a:noFill/>
          <a:ln>
            <a:noFill/>
          </a:ln>
        </p:spPr>
        <p:txBody>
          <a:bodyPr spcFirstLastPara="1" wrap="square" lIns="0" tIns="0" rIns="0" bIns="0" anchor="t" anchorCtr="0">
            <a:noAutofit/>
          </a:bodyPr>
          <a:lstStyle/>
          <a:p>
            <a:pPr marL="0" lvl="0" indent="0" algn="l" rtl="0">
              <a:spcBef>
                <a:spcPts val="300"/>
              </a:spcBef>
              <a:spcAft>
                <a:spcPts val="300"/>
              </a:spcAft>
              <a:buNone/>
            </a:pPr>
            <a:endParaRPr lang="en-GB" sz="2400" b="0" dirty="0">
              <a:solidFill>
                <a:srgbClr val="4B5563"/>
              </a:solidFill>
              <a:latin typeface="DM Sans Medium"/>
              <a:ea typeface="DM Sans Medium"/>
              <a:cs typeface="DM Sans Medium"/>
              <a:sym typeface="DM Sans Medium"/>
            </a:endParaRPr>
          </a:p>
          <a:p>
            <a:pPr marL="171450" lvl="0" indent="-171450" algn="l" rtl="0">
              <a:spcBef>
                <a:spcPts val="300"/>
              </a:spcBef>
              <a:spcAft>
                <a:spcPts val="600"/>
              </a:spcAft>
              <a:buFont typeface="Wingdings" panose="05000000000000000000" charset="0"/>
              <a:buChar char=""/>
            </a:pPr>
            <a:r>
              <a:rPr lang="en-US" sz="1600" dirty="0">
                <a:sym typeface="DM Sans Medium"/>
              </a:rPr>
              <a:t>Divisibility Rules</a:t>
            </a:r>
          </a:p>
          <a:p>
            <a:pPr marL="171450" lvl="0" indent="-171450" algn="l" rtl="0">
              <a:spcBef>
                <a:spcPts val="300"/>
              </a:spcBef>
              <a:spcAft>
                <a:spcPts val="600"/>
              </a:spcAft>
              <a:buFont typeface="Wingdings" panose="05000000000000000000" charset="0"/>
              <a:buChar char=""/>
            </a:pPr>
            <a:r>
              <a:rPr lang="en-US" sz="1600" dirty="0">
                <a:sym typeface="DM Sans Medium"/>
              </a:rPr>
              <a:t>Calendar days calculation</a:t>
            </a:r>
          </a:p>
          <a:p>
            <a:pPr marL="171450" lvl="0" indent="-171450" algn="l" rtl="0">
              <a:spcBef>
                <a:spcPts val="300"/>
              </a:spcBef>
              <a:spcAft>
                <a:spcPts val="600"/>
              </a:spcAft>
              <a:buFont typeface="Wingdings" panose="05000000000000000000" charset="0"/>
              <a:buChar char=""/>
            </a:pPr>
            <a:r>
              <a:rPr lang="en-US" sz="1600" dirty="0">
                <a:sym typeface="DM Sans Medium"/>
              </a:rPr>
              <a:t>Unit digit elimination</a:t>
            </a:r>
          </a:p>
          <a:p>
            <a:pPr marL="171450" lvl="0" indent="-171450" algn="l" rtl="0">
              <a:spcBef>
                <a:spcPts val="300"/>
              </a:spcBef>
              <a:spcAft>
                <a:spcPts val="600"/>
              </a:spcAft>
              <a:buFont typeface="Wingdings" panose="05000000000000000000" charset="0"/>
              <a:buChar char=""/>
            </a:pPr>
            <a:r>
              <a:rPr lang="en-US" sz="1600" dirty="0">
                <a:sym typeface="DM Sans Medium"/>
              </a:rPr>
              <a:t>Estimation techniques</a:t>
            </a:r>
          </a:p>
        </p:txBody>
      </p:sp>
    </p:spTree>
    <p:extLst>
      <p:ext uri="{BB962C8B-B14F-4D97-AF65-F5344CB8AC3E}">
        <p14:creationId xmlns:p14="http://schemas.microsoft.com/office/powerpoint/2010/main" val="38895214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grpSp>
        <p:nvGrpSpPr>
          <p:cNvPr id="191" name="Google Shape;191;p19"/>
          <p:cNvGrpSpPr/>
          <p:nvPr/>
        </p:nvGrpSpPr>
        <p:grpSpPr>
          <a:xfrm>
            <a:off x="0" y="0"/>
            <a:ext cx="9144150" cy="5143650"/>
            <a:chOff x="0" y="0"/>
            <a:chExt cx="9144150" cy="5143650"/>
          </a:xfrm>
        </p:grpSpPr>
        <p:sp>
          <p:nvSpPr>
            <p:cNvPr id="192" name="Google Shape;192;p19"/>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93" name="Google Shape;193;p19"/>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94" name="Google Shape;194;p19"/>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pic>
        <p:nvPicPr>
          <p:cNvPr id="144" name="Google Shape;144;p17"/>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195" name="Google Shape;195;p19"/>
          <p:cNvSpPr txBox="1"/>
          <p:nvPr/>
        </p:nvSpPr>
        <p:spPr>
          <a:xfrm>
            <a:off x="571500" y="381000"/>
            <a:ext cx="8001000" cy="952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a:solidFill>
                  <a:srgbClr val="FF5733"/>
                </a:solidFill>
                <a:latin typeface="Poppins" panose="00000800000000000000"/>
                <a:ea typeface="Poppins" panose="00000800000000000000"/>
                <a:cs typeface="Poppins" panose="00000800000000000000"/>
                <a:sym typeface="Poppins" panose="00000800000000000000"/>
              </a:rPr>
              <a:t>ROUND 2</a:t>
            </a:r>
            <a:endParaRPr sz="1800" b="1">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900"/>
              </a:spcBef>
              <a:spcAft>
                <a:spcPts val="0"/>
              </a:spcAft>
              <a:buNone/>
            </a:pPr>
            <a:r>
              <a:rPr lang="en-GB" sz="2700" b="0">
                <a:solidFill>
                  <a:srgbClr val="0B132B"/>
                </a:solidFill>
                <a:latin typeface="Poppins SemiBold"/>
                <a:ea typeface="Poppins SemiBold"/>
                <a:cs typeface="Poppins SemiBold"/>
                <a:sym typeface="Poppins SemiBold"/>
              </a:rPr>
              <a:t>Coding Assessments</a:t>
            </a:r>
            <a:endParaRPr sz="2700" b="0">
              <a:solidFill>
                <a:srgbClr val="0B132B"/>
              </a:solidFill>
              <a:latin typeface="Poppins SemiBold"/>
              <a:ea typeface="Poppins SemiBold"/>
              <a:cs typeface="Poppins SemiBold"/>
              <a:sym typeface="Poppins SemiBold"/>
            </a:endParaRPr>
          </a:p>
        </p:txBody>
      </p:sp>
      <p:grpSp>
        <p:nvGrpSpPr>
          <p:cNvPr id="196" name="Google Shape;196;p19"/>
          <p:cNvGrpSpPr/>
          <p:nvPr/>
        </p:nvGrpSpPr>
        <p:grpSpPr>
          <a:xfrm>
            <a:off x="700405" y="3129280"/>
            <a:ext cx="3343275" cy="1866900"/>
            <a:chOff x="385763" y="1528763"/>
            <a:chExt cx="4219500" cy="2505000"/>
          </a:xfrm>
        </p:grpSpPr>
        <p:pic>
          <p:nvPicPr>
            <p:cNvPr id="197" name="Google Shape;197;p19"/>
            <p:cNvPicPr preferRelativeResize="0"/>
            <p:nvPr/>
          </p:nvPicPr>
          <p:blipFill rotWithShape="1">
            <a:blip r:embed="rId4"/>
            <a:srcRect/>
            <a:stretch>
              <a:fillRect/>
            </a:stretch>
          </p:blipFill>
          <p:spPr>
            <a:xfrm>
              <a:off x="385763" y="1528763"/>
              <a:ext cx="4219500" cy="2505000"/>
            </a:xfrm>
            <a:prstGeom prst="rect">
              <a:avLst/>
            </a:prstGeom>
            <a:noFill/>
            <a:ln>
              <a:noFill/>
            </a:ln>
          </p:spPr>
        </p:pic>
        <p:sp>
          <p:nvSpPr>
            <p:cNvPr id="198" name="Google Shape;198;p19"/>
            <p:cNvSpPr/>
            <p:nvPr/>
          </p:nvSpPr>
          <p:spPr>
            <a:xfrm>
              <a:off x="609600" y="1752600"/>
              <a:ext cx="3962400" cy="2229000"/>
            </a:xfrm>
            <a:prstGeom prst="roundRect">
              <a:avLst>
                <a:gd name="adj" fmla="val 5128"/>
              </a:avLst>
            </a:prstGeom>
            <a:solidFill>
              <a:srgbClr val="000000">
                <a:alpha val="0"/>
              </a:srgbClr>
            </a:solidFill>
            <a:ln w="38100" cap="flat" cmpd="sng">
              <a:solidFill>
                <a:srgbClr val="FF5733"/>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99" name="Google Shape;199;p19"/>
            <p:cNvGrpSpPr/>
            <p:nvPr/>
          </p:nvGrpSpPr>
          <p:grpSpPr>
            <a:xfrm>
              <a:off x="571500" y="1714500"/>
              <a:ext cx="3962400" cy="2229000"/>
              <a:chOff x="0" y="0"/>
              <a:chExt cx="3962400" cy="2229000"/>
            </a:xfrm>
          </p:grpSpPr>
          <p:pic>
            <p:nvPicPr>
              <p:cNvPr id="200" name="Google Shape;200;p19"/>
              <p:cNvPicPr preferRelativeResize="0"/>
              <p:nvPr/>
            </p:nvPicPr>
            <p:blipFill rotWithShape="1">
              <a:blip r:embed="rId5"/>
              <a:srcRect/>
              <a:stretch>
                <a:fillRect/>
              </a:stretch>
            </p:blipFill>
            <p:spPr>
              <a:xfrm>
                <a:off x="0" y="0"/>
                <a:ext cx="3962400" cy="2229000"/>
              </a:xfrm>
              <a:prstGeom prst="roundRect">
                <a:avLst>
                  <a:gd name="adj" fmla="val 5128"/>
                </a:avLst>
              </a:prstGeom>
              <a:noFill/>
              <a:ln>
                <a:noFill/>
              </a:ln>
            </p:spPr>
          </p:pic>
          <p:sp>
            <p:nvSpPr>
              <p:cNvPr id="201" name="Google Shape;201;p19"/>
              <p:cNvSpPr/>
              <p:nvPr/>
            </p:nvSpPr>
            <p:spPr>
              <a:xfrm>
                <a:off x="0" y="0"/>
                <a:ext cx="3962400" cy="2229000"/>
              </a:xfrm>
              <a:prstGeom prst="roundRect">
                <a:avLst>
                  <a:gd name="adj" fmla="val 5128"/>
                </a:avLst>
              </a:prstGeom>
              <a:solidFill>
                <a:srgbClr val="000000">
                  <a:alpha val="0"/>
                </a:srgbClr>
              </a:solidFill>
              <a:ln w="19050" cap="flat" cmpd="sng">
                <a:solidFill>
                  <a:srgbClr val="2D68FE"/>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grpSp>
        <p:nvGrpSpPr>
          <p:cNvPr id="202" name="Google Shape;202;p19"/>
          <p:cNvGrpSpPr/>
          <p:nvPr/>
        </p:nvGrpSpPr>
        <p:grpSpPr>
          <a:xfrm>
            <a:off x="419100" y="1577975"/>
            <a:ext cx="3619500" cy="1452245"/>
            <a:chOff x="4953000" y="1714500"/>
            <a:chExt cx="3619425" cy="2095650"/>
          </a:xfrm>
        </p:grpSpPr>
        <p:grpSp>
          <p:nvGrpSpPr>
            <p:cNvPr id="203" name="Google Shape;203;p19"/>
            <p:cNvGrpSpPr/>
            <p:nvPr/>
          </p:nvGrpSpPr>
          <p:grpSpPr>
            <a:xfrm>
              <a:off x="4953000" y="1714500"/>
              <a:ext cx="3619425" cy="571500"/>
              <a:chOff x="0" y="0"/>
              <a:chExt cx="3619425" cy="571500"/>
            </a:xfrm>
          </p:grpSpPr>
          <p:grpSp>
            <p:nvGrpSpPr>
              <p:cNvPr id="204" name="Google Shape;204;p19"/>
              <p:cNvGrpSpPr/>
              <p:nvPr/>
            </p:nvGrpSpPr>
            <p:grpSpPr>
              <a:xfrm>
                <a:off x="0" y="133350"/>
                <a:ext cx="305429" cy="421512"/>
                <a:chOff x="0" y="0"/>
                <a:chExt cx="305429" cy="421512"/>
              </a:xfrm>
            </p:grpSpPr>
            <p:sp>
              <p:nvSpPr>
                <p:cNvPr id="205" name="Google Shape;205;p19"/>
                <p:cNvSpPr/>
                <p:nvPr/>
              </p:nvSpPr>
              <p:spPr>
                <a:xfrm>
                  <a:off x="0" y="0"/>
                  <a:ext cx="305429" cy="421512"/>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06" name="Google Shape;206;p19"/>
                <p:cNvSpPr/>
                <p:nvPr/>
              </p:nvSpPr>
              <p:spPr>
                <a:xfrm>
                  <a:off x="95248" y="140199"/>
                  <a:ext cx="114298" cy="10996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207" name="Google Shape;207;p19"/>
              <p:cNvSpPr txBox="1"/>
              <p:nvPr/>
            </p:nvSpPr>
            <p:spPr>
              <a:xfrm>
                <a:off x="428625" y="0"/>
                <a:ext cx="31908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350" b="1">
                    <a:solidFill>
                      <a:srgbClr val="0B132B"/>
                    </a:solidFill>
                    <a:latin typeface="Inter" panose="02000503000000020004"/>
                    <a:ea typeface="Inter" panose="02000503000000020004"/>
                    <a:cs typeface="Inter" panose="02000503000000020004"/>
                    <a:sym typeface="Inter" panose="02000503000000020004"/>
                  </a:rPr>
                  <a:t>Platform</a:t>
                </a:r>
                <a:r>
                  <a:rPr lang="en-US" altLang="en-GB" sz="1350" b="1">
                    <a:solidFill>
                      <a:srgbClr val="0B132B"/>
                    </a:solidFill>
                    <a:latin typeface="Inter" panose="02000503000000020004"/>
                    <a:ea typeface="Inter" panose="02000503000000020004"/>
                    <a:cs typeface="Inter" panose="02000503000000020004"/>
                    <a:sym typeface="Inter" panose="02000503000000020004"/>
                  </a:rPr>
                  <a:t> Examples</a:t>
                </a:r>
                <a:r>
                  <a:rPr lang="en-GB" sz="1350" b="1">
                    <a:solidFill>
                      <a:srgbClr val="0B132B"/>
                    </a:solidFill>
                    <a:latin typeface="Inter" panose="02000503000000020004"/>
                    <a:ea typeface="Inter" panose="02000503000000020004"/>
                    <a:cs typeface="Inter" panose="02000503000000020004"/>
                    <a:sym typeface="Inter" panose="02000503000000020004"/>
                  </a:rPr>
                  <a:t>:</a:t>
                </a:r>
                <a:r>
                  <a:rPr lang="en-GB" sz="1350" b="0">
                    <a:solidFill>
                      <a:srgbClr val="4A5568"/>
                    </a:solidFill>
                    <a:latin typeface="Inter" panose="02000503000000020004"/>
                    <a:ea typeface="Inter" panose="02000503000000020004"/>
                    <a:cs typeface="Inter" panose="02000503000000020004"/>
                    <a:sym typeface="Inter" panose="02000503000000020004"/>
                  </a:rPr>
                  <a:t> HackerRank, LeetCode</a:t>
                </a:r>
                <a:r>
                  <a:rPr lang="en-US" altLang="en-GB" sz="1350" b="0">
                    <a:solidFill>
                      <a:srgbClr val="4A5568"/>
                    </a:solidFill>
                    <a:latin typeface="Inter" panose="02000503000000020004"/>
                    <a:ea typeface="Inter" panose="02000503000000020004"/>
                    <a:cs typeface="Inter" panose="02000503000000020004"/>
                    <a:sym typeface="Inter" panose="02000503000000020004"/>
                  </a:rPr>
                  <a:t>, CodeChef</a:t>
                </a:r>
              </a:p>
            </p:txBody>
          </p:sp>
        </p:grpSp>
        <p:grpSp>
          <p:nvGrpSpPr>
            <p:cNvPr id="208" name="Google Shape;208;p19"/>
            <p:cNvGrpSpPr/>
            <p:nvPr/>
          </p:nvGrpSpPr>
          <p:grpSpPr>
            <a:xfrm>
              <a:off x="4953000" y="2428875"/>
              <a:ext cx="3619425" cy="571500"/>
              <a:chOff x="0" y="0"/>
              <a:chExt cx="3619425" cy="571500"/>
            </a:xfrm>
          </p:grpSpPr>
          <p:grpSp>
            <p:nvGrpSpPr>
              <p:cNvPr id="209" name="Google Shape;209;p19"/>
              <p:cNvGrpSpPr/>
              <p:nvPr/>
            </p:nvGrpSpPr>
            <p:grpSpPr>
              <a:xfrm>
                <a:off x="0" y="133350"/>
                <a:ext cx="305429" cy="393106"/>
                <a:chOff x="0" y="0"/>
                <a:chExt cx="305429" cy="393106"/>
              </a:xfrm>
            </p:grpSpPr>
            <p:sp>
              <p:nvSpPr>
                <p:cNvPr id="210" name="Google Shape;210;p19"/>
                <p:cNvSpPr/>
                <p:nvPr/>
              </p:nvSpPr>
              <p:spPr>
                <a:xfrm>
                  <a:off x="0" y="0"/>
                  <a:ext cx="305429" cy="393106"/>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11" name="Google Shape;211;p19"/>
                <p:cNvSpPr/>
                <p:nvPr/>
              </p:nvSpPr>
              <p:spPr>
                <a:xfrm>
                  <a:off x="95250" y="152787"/>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212" name="Google Shape;212;p19"/>
              <p:cNvSpPr txBox="1"/>
              <p:nvPr/>
            </p:nvSpPr>
            <p:spPr>
              <a:xfrm>
                <a:off x="428625" y="0"/>
                <a:ext cx="31908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350" b="1">
                    <a:solidFill>
                      <a:srgbClr val="0B132B"/>
                    </a:solidFill>
                    <a:latin typeface="Inter" panose="02000503000000020004"/>
                    <a:ea typeface="Inter" panose="02000503000000020004"/>
                    <a:cs typeface="Inter" panose="02000503000000020004"/>
                    <a:sym typeface="Inter" panose="02000503000000020004"/>
                  </a:rPr>
                  <a:t>Focuses on</a:t>
                </a:r>
                <a:r>
                  <a:rPr lang="en-GB" sz="1350" b="0">
                    <a:solidFill>
                      <a:srgbClr val="4A5568"/>
                    </a:solidFill>
                    <a:latin typeface="Inter" panose="02000503000000020004"/>
                    <a:ea typeface="Inter" panose="02000503000000020004"/>
                    <a:cs typeface="Inter" panose="02000503000000020004"/>
                    <a:sym typeface="Inter" panose="02000503000000020004"/>
                  </a:rPr>
                  <a:t> algorithmic thinking.</a:t>
                </a:r>
                <a:endParaRPr sz="1350" b="0">
                  <a:solidFill>
                    <a:srgbClr val="4A5568"/>
                  </a:solidFill>
                  <a:latin typeface="Inter" panose="02000503000000020004"/>
                  <a:ea typeface="Inter" panose="02000503000000020004"/>
                  <a:cs typeface="Inter" panose="02000503000000020004"/>
                  <a:sym typeface="Inter" panose="02000503000000020004"/>
                </a:endParaRPr>
              </a:p>
            </p:txBody>
          </p:sp>
        </p:grpSp>
        <p:grpSp>
          <p:nvGrpSpPr>
            <p:cNvPr id="213" name="Google Shape;213;p19"/>
            <p:cNvGrpSpPr/>
            <p:nvPr/>
          </p:nvGrpSpPr>
          <p:grpSpPr>
            <a:xfrm>
              <a:off x="4953000" y="3143250"/>
              <a:ext cx="3619425" cy="666900"/>
              <a:chOff x="0" y="0"/>
              <a:chExt cx="3619425" cy="666900"/>
            </a:xfrm>
          </p:grpSpPr>
          <p:grpSp>
            <p:nvGrpSpPr>
              <p:cNvPr id="214" name="Google Shape;214;p19"/>
              <p:cNvGrpSpPr/>
              <p:nvPr/>
            </p:nvGrpSpPr>
            <p:grpSpPr>
              <a:xfrm>
                <a:off x="0" y="168146"/>
                <a:ext cx="304794" cy="421512"/>
                <a:chOff x="0" y="-12829"/>
                <a:chExt cx="304794" cy="421512"/>
              </a:xfrm>
            </p:grpSpPr>
            <p:sp>
              <p:nvSpPr>
                <p:cNvPr id="215" name="Google Shape;215;p19"/>
                <p:cNvSpPr/>
                <p:nvPr/>
              </p:nvSpPr>
              <p:spPr>
                <a:xfrm>
                  <a:off x="0" y="-12829"/>
                  <a:ext cx="304794" cy="421512"/>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16" name="Google Shape;216;p19"/>
                <p:cNvSpPr/>
                <p:nvPr/>
              </p:nvSpPr>
              <p:spPr>
                <a:xfrm>
                  <a:off x="95250" y="152787"/>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217" name="Google Shape;217;p19"/>
              <p:cNvSpPr txBox="1"/>
              <p:nvPr/>
            </p:nvSpPr>
            <p:spPr>
              <a:xfrm>
                <a:off x="428625" y="0"/>
                <a:ext cx="3190800" cy="666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350" b="1">
                    <a:solidFill>
                      <a:srgbClr val="0B132B"/>
                    </a:solidFill>
                    <a:latin typeface="Inter" panose="02000503000000020004"/>
                    <a:ea typeface="Inter" panose="02000503000000020004"/>
                    <a:cs typeface="Inter" panose="02000503000000020004"/>
                    <a:sym typeface="Inter" panose="02000503000000020004"/>
                  </a:rPr>
                  <a:t>Tests your ability</a:t>
                </a:r>
                <a:r>
                  <a:rPr lang="en-GB" sz="1350" b="0">
                    <a:solidFill>
                      <a:srgbClr val="4A5568"/>
                    </a:solidFill>
                    <a:latin typeface="Inter" panose="02000503000000020004"/>
                    <a:ea typeface="Inter" panose="02000503000000020004"/>
                    <a:cs typeface="Inter" panose="02000503000000020004"/>
                    <a:sym typeface="Inter" panose="02000503000000020004"/>
                  </a:rPr>
                  <a:t> to convert logic into clean, functional code.</a:t>
                </a:r>
                <a:endParaRPr sz="1350" b="0">
                  <a:solidFill>
                    <a:srgbClr val="4A5568"/>
                  </a:solidFill>
                  <a:latin typeface="Inter" panose="02000503000000020004"/>
                  <a:ea typeface="Inter" panose="02000503000000020004"/>
                  <a:cs typeface="Inter" panose="02000503000000020004"/>
                  <a:sym typeface="Inter" panose="02000503000000020004"/>
                </a:endParaRPr>
              </a:p>
            </p:txBody>
          </p:sp>
        </p:grpSp>
      </p:grpSp>
      <p:cxnSp>
        <p:nvCxnSpPr>
          <p:cNvPr id="93" name="Google Shape;93;p15"/>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4" name="Text Placeholder 3"/>
          <p:cNvSpPr>
            <a:spLocks noGrp="1"/>
          </p:cNvSpPr>
          <p:nvPr>
            <p:ph type="body" idx="1"/>
          </p:nvPr>
        </p:nvSpPr>
        <p:spPr>
          <a:xfrm>
            <a:off x="4782185" y="1529715"/>
            <a:ext cx="3538220" cy="3272155"/>
          </a:xfrm>
        </p:spPr>
        <p:txBody>
          <a:bodyPr>
            <a:noAutofit/>
          </a:bodyPr>
          <a:lstStyle/>
          <a:p>
            <a:pPr marL="114300" indent="0">
              <a:buNone/>
            </a:pPr>
            <a:r>
              <a:rPr lang="en-US" altLang="en-US" sz="2000" b="1">
                <a:solidFill>
                  <a:schemeClr val="tx1"/>
                </a:solidFill>
                <a:latin typeface="Arial Bold" panose="020B0604020202090204" charset="0"/>
                <a:cs typeface="Arial Bold" panose="020B0604020202090204" charset="0"/>
              </a:rPr>
              <a:t>Typical Questions</a:t>
            </a:r>
            <a:endParaRPr lang="en-US" altLang="en-US" sz="1600" b="1">
              <a:solidFill>
                <a:schemeClr val="tx1"/>
              </a:solidFill>
              <a:latin typeface="Arial Bold" panose="020B0604020202090204" charset="0"/>
              <a:cs typeface="Arial Bold" panose="020B0604020202090204" charset="0"/>
            </a:endParaRPr>
          </a:p>
          <a:p>
            <a:pPr marL="114300" indent="0">
              <a:buNone/>
            </a:pPr>
            <a:r>
              <a:rPr lang="en-US" altLang="en-US" sz="1600">
                <a:latin typeface="Arial" panose="020B0604020202090204" pitchFamily="34" charset="0"/>
                <a:cs typeface="Arial" panose="020B0604020202090204" pitchFamily="34" charset="0"/>
              </a:rPr>
              <a:t>Data Structures &amp; Algorithms</a:t>
            </a:r>
            <a:endParaRPr lang="en-US" altLang="en-US" sz="1600" b="1">
              <a:latin typeface="Arial Bold" panose="020B0604020202090204" charset="0"/>
              <a:cs typeface="Arial Bold" panose="020B0604020202090204" charset="0"/>
            </a:endParaRPr>
          </a:p>
          <a:p>
            <a:pPr marL="114300" indent="0">
              <a:buNone/>
            </a:pPr>
            <a:endParaRPr lang="en-US" altLang="en-US" sz="1600" b="1">
              <a:latin typeface="Arial Bold" panose="020B0604020202090204" charset="0"/>
              <a:cs typeface="Arial Bold" panose="020B0604020202090204" charset="0"/>
            </a:endParaRPr>
          </a:p>
          <a:p>
            <a:pPr eaLnBrk="1" fontAlgn="auto" latinLnBrk="0" hangingPunct="1">
              <a:spcAft>
                <a:spcPts val="600"/>
              </a:spcAft>
              <a:buFont typeface="Wingdings" panose="05000000000000000000" charset="0"/>
              <a:buChar char=""/>
            </a:pPr>
            <a:r>
              <a:rPr lang="en-US" altLang="en-US" sz="1400">
                <a:latin typeface="Arial" panose="020B0604020202090204" pitchFamily="34" charset="0"/>
                <a:cs typeface="Arial" panose="020B0604020202090204" pitchFamily="34" charset="0"/>
              </a:rPr>
              <a:t>Arrays, LinkedList, Maps</a:t>
            </a:r>
          </a:p>
          <a:p>
            <a:pPr eaLnBrk="1" fontAlgn="auto" latinLnBrk="0" hangingPunct="1">
              <a:spcAft>
                <a:spcPts val="600"/>
              </a:spcAft>
              <a:buFont typeface="Wingdings" panose="05000000000000000000" charset="0"/>
              <a:buChar char=""/>
            </a:pPr>
            <a:r>
              <a:rPr lang="en-US" altLang="en-US" sz="1400">
                <a:latin typeface="Arial" panose="020B0604020202090204" pitchFamily="34" charset="0"/>
                <a:cs typeface="Arial" panose="020B0604020202090204" pitchFamily="34" charset="0"/>
              </a:rPr>
              <a:t>Stacks, Queues</a:t>
            </a:r>
          </a:p>
          <a:p>
            <a:pPr eaLnBrk="1" fontAlgn="auto" latinLnBrk="0" hangingPunct="1">
              <a:spcAft>
                <a:spcPts val="600"/>
              </a:spcAft>
              <a:buFont typeface="Wingdings" panose="05000000000000000000" charset="0"/>
              <a:buChar char=""/>
            </a:pPr>
            <a:r>
              <a:rPr lang="en-US" altLang="en-US" sz="1400">
                <a:latin typeface="Arial" panose="020B0604020202090204" pitchFamily="34" charset="0"/>
                <a:cs typeface="Arial" panose="020B0604020202090204" pitchFamily="34" charset="0"/>
              </a:rPr>
              <a:t>Strings &amp; Functions</a:t>
            </a:r>
          </a:p>
          <a:p>
            <a:pPr eaLnBrk="1" fontAlgn="auto" latinLnBrk="0" hangingPunct="1">
              <a:spcAft>
                <a:spcPts val="600"/>
              </a:spcAft>
              <a:buFont typeface="Wingdings" panose="05000000000000000000" charset="0"/>
              <a:buChar char=""/>
            </a:pPr>
            <a:r>
              <a:rPr lang="en-US" altLang="en-US" sz="1400">
                <a:latin typeface="Arial" panose="020B0604020202090204" pitchFamily="34" charset="0"/>
                <a:cs typeface="Arial" panose="020B0604020202090204" pitchFamily="34" charset="0"/>
              </a:rPr>
              <a:t>Loops</a:t>
            </a:r>
          </a:p>
          <a:p>
            <a:pPr eaLnBrk="1" fontAlgn="auto" latinLnBrk="0" hangingPunct="1">
              <a:spcAft>
                <a:spcPts val="600"/>
              </a:spcAft>
              <a:buFont typeface="Wingdings" panose="05000000000000000000" charset="0"/>
              <a:buChar char=""/>
            </a:pPr>
            <a:r>
              <a:rPr lang="en-US" altLang="en-US" sz="1400">
                <a:latin typeface="Arial" panose="020B0604020202090204" pitchFamily="34" charset="0"/>
                <a:cs typeface="Arial" panose="020B0604020202090204" pitchFamily="34" charset="0"/>
              </a:rPr>
              <a:t>Searching</a:t>
            </a:r>
          </a:p>
          <a:p>
            <a:pPr eaLnBrk="1" fontAlgn="auto" latinLnBrk="0" hangingPunct="1">
              <a:spcAft>
                <a:spcPts val="600"/>
              </a:spcAft>
              <a:buFont typeface="Wingdings" panose="05000000000000000000" charset="0"/>
              <a:buChar char=""/>
            </a:pPr>
            <a:r>
              <a:rPr lang="en-US" altLang="en-US" sz="1400">
                <a:latin typeface="Arial" panose="020B0604020202090204" pitchFamily="34" charset="0"/>
                <a:cs typeface="Arial" panose="020B0604020202090204" pitchFamily="34" charset="0"/>
              </a:rPr>
              <a:t>Sorting</a:t>
            </a:r>
          </a:p>
          <a:p>
            <a:pPr eaLnBrk="1" fontAlgn="auto" latinLnBrk="0" hangingPunct="1">
              <a:spcAft>
                <a:spcPts val="600"/>
              </a:spcAft>
              <a:buFont typeface="Wingdings" panose="05000000000000000000" charset="0"/>
              <a:buChar char=""/>
            </a:pPr>
            <a:r>
              <a:rPr lang="en-US" altLang="en-US" sz="1400">
                <a:latin typeface="Arial" panose="020B0604020202090204" pitchFamily="34" charset="0"/>
                <a:cs typeface="Arial" panose="020B0604020202090204" pitchFamily="34" charset="0"/>
              </a:rPr>
              <a:t>Logic Building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grpSp>
        <p:nvGrpSpPr>
          <p:cNvPr id="191" name="Google Shape;191;p19"/>
          <p:cNvGrpSpPr/>
          <p:nvPr/>
        </p:nvGrpSpPr>
        <p:grpSpPr>
          <a:xfrm>
            <a:off x="0" y="0"/>
            <a:ext cx="9144150" cy="5143650"/>
            <a:chOff x="0" y="0"/>
            <a:chExt cx="9144150" cy="5143650"/>
          </a:xfrm>
        </p:grpSpPr>
        <p:sp>
          <p:nvSpPr>
            <p:cNvPr id="192" name="Google Shape;192;p19"/>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93" name="Google Shape;193;p19"/>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94" name="Google Shape;194;p19"/>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pic>
        <p:nvPicPr>
          <p:cNvPr id="144" name="Google Shape;144;p17"/>
          <p:cNvPicPr preferRelativeResize="0"/>
          <p:nvPr/>
        </p:nvPicPr>
        <p:blipFill rotWithShape="1">
          <a:blip r:embed="rId3"/>
          <a:srcRect/>
          <a:stretch>
            <a:fillRect/>
          </a:stretch>
        </p:blipFill>
        <p:spPr>
          <a:xfrm>
            <a:off x="5080" y="5080"/>
            <a:ext cx="9138920" cy="5139055"/>
          </a:xfrm>
          <a:prstGeom prst="rect">
            <a:avLst/>
          </a:prstGeom>
          <a:noFill/>
          <a:ln>
            <a:noFill/>
          </a:ln>
        </p:spPr>
      </p:pic>
      <p:sp>
        <p:nvSpPr>
          <p:cNvPr id="195" name="Google Shape;195;p19"/>
          <p:cNvSpPr txBox="1"/>
          <p:nvPr/>
        </p:nvSpPr>
        <p:spPr>
          <a:xfrm>
            <a:off x="571500" y="290195"/>
            <a:ext cx="8001000" cy="8966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a:solidFill>
                  <a:srgbClr val="FF5733"/>
                </a:solidFill>
                <a:latin typeface="Poppins" panose="00000800000000000000"/>
                <a:ea typeface="Poppins" panose="00000800000000000000"/>
                <a:cs typeface="Poppins" panose="00000800000000000000"/>
                <a:sym typeface="Poppins" panose="00000800000000000000"/>
              </a:rPr>
              <a:t>ROUND 2</a:t>
            </a:r>
            <a:endParaRPr sz="1800" b="1">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900"/>
              </a:spcBef>
              <a:spcAft>
                <a:spcPts val="0"/>
              </a:spcAft>
              <a:buNone/>
            </a:pPr>
            <a:r>
              <a:rPr lang="en-GB" sz="2700" b="0">
                <a:solidFill>
                  <a:srgbClr val="0B132B"/>
                </a:solidFill>
                <a:latin typeface="Poppins SemiBold"/>
                <a:ea typeface="Poppins SemiBold"/>
                <a:cs typeface="Poppins SemiBold"/>
                <a:sym typeface="Poppins SemiBold"/>
              </a:rPr>
              <a:t>Coding Assessments</a:t>
            </a:r>
            <a:r>
              <a:rPr lang="en-US" altLang="en-GB" sz="2700" b="0">
                <a:solidFill>
                  <a:srgbClr val="0B132B"/>
                </a:solidFill>
                <a:latin typeface="Poppins SemiBold"/>
                <a:ea typeface="Poppins SemiBold"/>
                <a:cs typeface="Poppins SemiBold"/>
                <a:sym typeface="Poppins SemiBold"/>
              </a:rPr>
              <a:t> &amp; Evaluation</a:t>
            </a:r>
          </a:p>
        </p:txBody>
      </p:sp>
      <p:cxnSp>
        <p:nvCxnSpPr>
          <p:cNvPr id="93" name="Google Shape;93;p15"/>
          <p:cNvCxnSpPr/>
          <p:nvPr/>
        </p:nvCxnSpPr>
        <p:spPr>
          <a:xfrm>
            <a:off x="311785" y="123571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pic>
        <p:nvPicPr>
          <p:cNvPr id="6" name="Google Shape;154;p17"/>
          <p:cNvPicPr preferRelativeResize="0"/>
          <p:nvPr/>
        </p:nvPicPr>
        <p:blipFill rotWithShape="1">
          <a:blip r:embed="rId4"/>
          <a:srcRect t="80" b="80"/>
          <a:stretch>
            <a:fillRect/>
          </a:stretch>
        </p:blipFill>
        <p:spPr>
          <a:xfrm>
            <a:off x="4732020" y="1400810"/>
            <a:ext cx="3218986" cy="2948610"/>
          </a:xfrm>
          <a:prstGeom prst="roundRect">
            <a:avLst>
              <a:gd name="adj" fmla="val 4968"/>
            </a:avLst>
          </a:prstGeom>
          <a:noFill/>
          <a:ln>
            <a:noFill/>
          </a:ln>
        </p:spPr>
      </p:pic>
      <p:sp>
        <p:nvSpPr>
          <p:cNvPr id="7" name="Google Shape;150;p17"/>
          <p:cNvSpPr txBox="1"/>
          <p:nvPr/>
        </p:nvSpPr>
        <p:spPr>
          <a:xfrm>
            <a:off x="414020" y="1354455"/>
            <a:ext cx="5798185" cy="3518535"/>
          </a:xfrm>
          <a:prstGeom prst="rect">
            <a:avLst/>
          </a:prstGeom>
          <a:noFill/>
          <a:ln>
            <a:noFill/>
          </a:ln>
        </p:spPr>
        <p:txBody>
          <a:bodyPr spcFirstLastPara="1" wrap="square" lIns="0" tIns="0" rIns="0" bIns="0" anchor="t" anchorCtr="0">
            <a:noAutofit/>
          </a:bodyPr>
          <a:lstStyle/>
          <a:p>
            <a:pPr marL="146050" lvl="0" indent="0" algn="l" rtl="0" eaLnBrk="1" fontAlgn="auto" latinLnBrk="0" hangingPunct="1">
              <a:spcBef>
                <a:spcPts val="200"/>
              </a:spcBef>
              <a:spcAft>
                <a:spcPts val="200"/>
              </a:spcAft>
              <a:buSzPts val="1295"/>
              <a:buNone/>
            </a:pPr>
            <a:r>
              <a:rPr lang="en-GB" b="1">
                <a:solidFill>
                  <a:srgbClr val="4338CA"/>
                </a:solidFill>
                <a:latin typeface="Outfit"/>
                <a:ea typeface="Outfit"/>
                <a:cs typeface="Outfit"/>
                <a:sym typeface="Outfit"/>
              </a:rPr>
              <a:t>Automated Evaluation:</a:t>
            </a:r>
            <a:r>
              <a:rPr lang="en-GB" b="0">
                <a:solidFill>
                  <a:srgbClr val="4B5563"/>
                </a:solidFill>
                <a:latin typeface="DM Sans Medium"/>
                <a:ea typeface="DM Sans Medium"/>
                <a:cs typeface="DM Sans Medium"/>
                <a:sym typeface="DM Sans Medium"/>
              </a:rPr>
              <a:t> </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b="0">
                <a:solidFill>
                  <a:srgbClr val="4B5563"/>
                </a:solidFill>
                <a:latin typeface="DM Sans Medium"/>
                <a:ea typeface="DM Sans Medium"/>
                <a:cs typeface="DM Sans Medium"/>
                <a:sym typeface="DM Sans Medium"/>
              </a:rPr>
              <a:t>Hidden Test Cases</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b="0">
                <a:solidFill>
                  <a:srgbClr val="4B5563"/>
                </a:solidFill>
                <a:latin typeface="DM Sans Medium"/>
                <a:ea typeface="DM Sans Medium"/>
                <a:cs typeface="DM Sans Medium"/>
                <a:sym typeface="DM Sans Medium"/>
              </a:rPr>
              <a:t>Edge Cases</a:t>
            </a:r>
            <a:endParaRPr lang="en-GB" sz="1200" b="0">
              <a:solidFill>
                <a:srgbClr val="4B5563"/>
              </a:solidFill>
              <a:latin typeface="DM Sans Medium"/>
              <a:ea typeface="DM Sans Medium"/>
              <a:cs typeface="DM Sans Medium"/>
              <a:sym typeface="DM Sans Medium"/>
            </a:endParaRPr>
          </a:p>
          <a:p>
            <a:pPr marL="146050" lvl="0" indent="0" algn="l" rtl="0" eaLnBrk="1" fontAlgn="auto" latinLnBrk="0" hangingPunct="1">
              <a:spcBef>
                <a:spcPts val="200"/>
              </a:spcBef>
              <a:spcAft>
                <a:spcPts val="200"/>
              </a:spcAft>
              <a:buSzPts val="1295"/>
              <a:buNone/>
            </a:pPr>
            <a:r>
              <a:rPr lang="en-GB" b="1">
                <a:solidFill>
                  <a:srgbClr val="4338CA"/>
                </a:solidFill>
                <a:latin typeface="Outfit"/>
                <a:ea typeface="Outfit"/>
                <a:cs typeface="Outfit"/>
                <a:sym typeface="Outfit"/>
              </a:rPr>
              <a:t>Performance Metrics:</a:t>
            </a:r>
            <a:r>
              <a:rPr lang="en-GB" b="0">
                <a:solidFill>
                  <a:srgbClr val="4B5563"/>
                </a:solidFill>
                <a:latin typeface="DM Sans Medium"/>
                <a:ea typeface="DM Sans Medium"/>
                <a:cs typeface="DM Sans Medium"/>
                <a:sym typeface="DM Sans Medium"/>
              </a:rPr>
              <a:t> </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b="0">
                <a:solidFill>
                  <a:srgbClr val="4B5563"/>
                </a:solidFill>
                <a:latin typeface="DM Sans Medium"/>
                <a:ea typeface="DM Sans Medium"/>
                <a:cs typeface="DM Sans Medium"/>
                <a:sym typeface="DM Sans Medium"/>
              </a:rPr>
              <a:t>Time complexity (execution speed) </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b="0">
                <a:solidFill>
                  <a:srgbClr val="4B5563"/>
                </a:solidFill>
                <a:latin typeface="DM Sans Medium"/>
                <a:ea typeface="DM Sans Medium"/>
                <a:cs typeface="DM Sans Medium"/>
                <a:sym typeface="DM Sans Medium"/>
              </a:rPr>
              <a:t>Space complexity (memory usage)</a:t>
            </a:r>
          </a:p>
          <a:p>
            <a:pPr marL="146050" lvl="0" indent="0" algn="l" rtl="0" eaLnBrk="1" fontAlgn="auto" latinLnBrk="0" hangingPunct="1">
              <a:spcBef>
                <a:spcPts val="200"/>
              </a:spcBef>
              <a:spcAft>
                <a:spcPts val="200"/>
              </a:spcAft>
              <a:buSzPts val="1295"/>
              <a:buNone/>
            </a:pPr>
            <a:r>
              <a:rPr lang="en-US" altLang="en-GB" b="1">
                <a:solidFill>
                  <a:srgbClr val="4338CA"/>
                </a:solidFill>
                <a:latin typeface="Outfit"/>
                <a:ea typeface="Outfit"/>
                <a:cs typeface="Outfit"/>
                <a:sym typeface="Outfit"/>
              </a:rPr>
              <a:t>Efficiency:</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b="0">
                <a:solidFill>
                  <a:srgbClr val="4B5563"/>
                </a:solidFill>
                <a:latin typeface="DM Sans Medium"/>
                <a:ea typeface="DM Sans Medium"/>
                <a:cs typeface="DM Sans Medium"/>
                <a:sym typeface="DM Sans Medium"/>
              </a:rPr>
              <a:t>Handle large Data sets without timing out</a:t>
            </a:r>
          </a:p>
          <a:p>
            <a:pPr marL="146050" lvl="0" indent="0" algn="l" rtl="0" eaLnBrk="1" fontAlgn="auto" latinLnBrk="0" hangingPunct="1">
              <a:spcBef>
                <a:spcPts val="200"/>
              </a:spcBef>
              <a:spcAft>
                <a:spcPts val="200"/>
              </a:spcAft>
              <a:buSzPts val="1295"/>
              <a:buNone/>
            </a:pPr>
            <a:r>
              <a:rPr lang="en-US" altLang="en-GB" b="1">
                <a:solidFill>
                  <a:srgbClr val="4338CA"/>
                </a:solidFill>
                <a:latin typeface="Outfit"/>
                <a:ea typeface="Outfit"/>
                <a:cs typeface="Outfit"/>
                <a:sym typeface="DM Sans Medium"/>
              </a:rPr>
              <a:t>Code Quality: </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b="0">
                <a:solidFill>
                  <a:srgbClr val="4B5563"/>
                </a:solidFill>
                <a:latin typeface="DM Sans Medium"/>
                <a:ea typeface="DM Sans Medium"/>
                <a:cs typeface="DM Sans Medium"/>
                <a:sym typeface="DM Sans Medium"/>
              </a:rPr>
              <a:t>Naming convention and coding style</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b="0">
                <a:solidFill>
                  <a:srgbClr val="4B5563"/>
                </a:solidFill>
                <a:latin typeface="DM Sans Medium"/>
                <a:ea typeface="DM Sans Medium"/>
                <a:cs typeface="DM Sans Medium"/>
                <a:sym typeface="DM Sans Medium"/>
              </a:rPr>
              <a:t>Code Modularity</a:t>
            </a:r>
          </a:p>
          <a:p>
            <a:pPr marL="146050" lvl="0" indent="0" algn="l" rtl="0" eaLnBrk="1" fontAlgn="auto" latinLnBrk="0" hangingPunct="1">
              <a:spcBef>
                <a:spcPts val="200"/>
              </a:spcBef>
              <a:spcAft>
                <a:spcPts val="200"/>
              </a:spcAft>
              <a:buSzPts val="1295"/>
              <a:buNone/>
            </a:pPr>
            <a:r>
              <a:rPr lang="en-US" altLang="en-GB" b="1">
                <a:solidFill>
                  <a:srgbClr val="4338CA"/>
                </a:solidFill>
                <a:latin typeface="Outfit"/>
                <a:ea typeface="Outfit"/>
                <a:cs typeface="Outfit"/>
                <a:sym typeface="DM Sans Medium"/>
              </a:rPr>
              <a:t>Integrity checks:</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a:solidFill>
                  <a:srgbClr val="4B5563"/>
                </a:solidFill>
                <a:latin typeface="DM Sans Medium"/>
                <a:ea typeface="DM Sans Medium"/>
                <a:cs typeface="DM Sans Medium"/>
                <a:sym typeface="DM Sans Medium"/>
              </a:rPr>
              <a:t>Tab Switching</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a:solidFill>
                  <a:srgbClr val="4B5563"/>
                </a:solidFill>
                <a:latin typeface="DM Sans Medium"/>
                <a:ea typeface="DM Sans Medium"/>
                <a:cs typeface="DM Sans Medium"/>
                <a:sym typeface="DM Sans Medium"/>
              </a:rPr>
              <a:t>Copy Pasting</a:t>
            </a:r>
          </a:p>
          <a:p>
            <a:pPr marL="914400" lvl="1" indent="-311150" algn="l" rtl="0" eaLnBrk="1" fontAlgn="auto" latinLnBrk="0" hangingPunct="1">
              <a:spcBef>
                <a:spcPts val="200"/>
              </a:spcBef>
              <a:spcAft>
                <a:spcPts val="200"/>
              </a:spcAft>
              <a:buSzPts val="1295"/>
              <a:buFont typeface="Wingdings" panose="05000000000000000000" charset="0"/>
              <a:buChar char=""/>
            </a:pPr>
            <a:r>
              <a:rPr lang="en-US" altLang="en-GB" sz="1200">
                <a:solidFill>
                  <a:srgbClr val="4B5563"/>
                </a:solidFill>
                <a:latin typeface="DM Sans Medium"/>
                <a:ea typeface="DM Sans Medium"/>
                <a:cs typeface="DM Sans Medium"/>
                <a:sym typeface="DM Sans Medium"/>
              </a:rPr>
              <a:t>AI Usage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oogle Shape;78;p15"/>
          <p:cNvGrpSpPr/>
          <p:nvPr/>
        </p:nvGrpSpPr>
        <p:grpSpPr>
          <a:xfrm>
            <a:off x="0" y="0"/>
            <a:ext cx="9144150" cy="5143650"/>
            <a:chOff x="0" y="0"/>
            <a:chExt cx="9144150" cy="5143650"/>
          </a:xfrm>
        </p:grpSpPr>
        <p:sp>
          <p:nvSpPr>
            <p:cNvPr id="79" name="Google Shape;79;p15"/>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p:cNvPicPr preferRelativeResize="0"/>
            <p:nvPr/>
          </p:nvPicPr>
          <p:blipFill rotWithShape="1">
            <a:blip r:embed="rId2"/>
            <a:srcRect/>
            <a:stretch>
              <a:fillRect/>
            </a:stretch>
          </p:blipFill>
          <p:spPr>
            <a:xfrm>
              <a:off x="4763" y="4763"/>
              <a:ext cx="8982000" cy="4981500"/>
            </a:xfrm>
            <a:prstGeom prst="rect">
              <a:avLst/>
            </a:prstGeom>
            <a:noFill/>
            <a:ln>
              <a:noFill/>
            </a:ln>
          </p:spPr>
        </p:pic>
        <p:sp>
          <p:nvSpPr>
            <p:cNvPr id="81" name="Google Shape;81;p15"/>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4" name="Text Placeholder 3"/>
          <p:cNvSpPr>
            <a:spLocks noGrp="1"/>
          </p:cNvSpPr>
          <p:nvPr>
            <p:ph type="body" idx="1"/>
          </p:nvPr>
        </p:nvSpPr>
        <p:spPr>
          <a:xfrm>
            <a:off x="737870" y="2839085"/>
            <a:ext cx="3851275" cy="1148715"/>
          </a:xfrm>
        </p:spPr>
        <p:txBody>
          <a:bodyPr>
            <a:noAutofit/>
          </a:bodyPr>
          <a:lstStyle/>
          <a:p>
            <a:pPr marL="114300" indent="0" eaLnBrk="1" fontAlgn="auto" latinLnBrk="0" hangingPunct="1">
              <a:spcAft>
                <a:spcPts val="600"/>
              </a:spcAft>
              <a:buNone/>
            </a:pPr>
            <a:r>
              <a:rPr lang="en-US" altLang="en-US" sz="1600"/>
              <a:t>✔ Pick your comfortable language</a:t>
            </a:r>
          </a:p>
          <a:p>
            <a:pPr marL="114300" indent="0" eaLnBrk="1" fontAlgn="auto" latinLnBrk="0" hangingPunct="1">
              <a:spcAft>
                <a:spcPts val="600"/>
              </a:spcAft>
              <a:buNone/>
            </a:pPr>
            <a:r>
              <a:rPr lang="en-US" altLang="en-US" sz="1600">
                <a:sym typeface="+mn-ea"/>
              </a:rPr>
              <a:t>✔ </a:t>
            </a:r>
            <a:r>
              <a:rPr lang="en-US" altLang="en-US" sz="1600"/>
              <a:t>Write code regularly</a:t>
            </a:r>
          </a:p>
          <a:p>
            <a:pPr marL="114300" indent="0" eaLnBrk="1" fontAlgn="auto" latinLnBrk="0" hangingPunct="1">
              <a:spcAft>
                <a:spcPts val="600"/>
              </a:spcAft>
              <a:buNone/>
            </a:pPr>
            <a:r>
              <a:rPr lang="en-US" altLang="en-US" sz="1600"/>
              <a:t>✔ Debug errors</a:t>
            </a:r>
          </a:p>
        </p:txBody>
      </p:sp>
      <p:sp>
        <p:nvSpPr>
          <p:cNvPr id="118" name="Google Shape;118;p16"/>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600"/>
              </a:spcBef>
              <a:spcAft>
                <a:spcPts val="600"/>
              </a:spcAft>
              <a:buNone/>
            </a:pPr>
            <a:r>
              <a:rPr lang="en-GB" sz="1800" b="1">
                <a:solidFill>
                  <a:srgbClr val="FF5733"/>
                </a:solidFill>
                <a:latin typeface="Poppins" panose="00000800000000000000"/>
                <a:ea typeface="Poppins" panose="00000800000000000000"/>
                <a:cs typeface="Poppins" panose="00000800000000000000"/>
                <a:sym typeface="Poppins" panose="00000800000000000000"/>
              </a:rPr>
              <a:t>ROUND </a:t>
            </a:r>
            <a:r>
              <a:rPr lang="en-US" altLang="en-GB" sz="1800" b="1">
                <a:solidFill>
                  <a:srgbClr val="FF5733"/>
                </a:solidFill>
                <a:latin typeface="Poppins" panose="00000800000000000000"/>
                <a:ea typeface="Poppins" panose="00000800000000000000"/>
                <a:cs typeface="Poppins" panose="00000800000000000000"/>
                <a:sym typeface="Poppins" panose="00000800000000000000"/>
              </a:rPr>
              <a:t>2</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US" sz="2700">
                <a:sym typeface="+mn-ea"/>
              </a:rPr>
              <a:t>Preparation Strategy - Coding Interviews</a:t>
            </a:r>
          </a:p>
        </p:txBody>
      </p:sp>
      <p:cxnSp>
        <p:nvCxnSpPr>
          <p:cNvPr id="93" name="Google Shape;93;p15"/>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84" name="Google Shape;84;p15"/>
          <p:cNvGrpSpPr/>
          <p:nvPr/>
        </p:nvGrpSpPr>
        <p:grpSpPr>
          <a:xfrm>
            <a:off x="1285875" y="1456690"/>
            <a:ext cx="6425485" cy="1240155"/>
            <a:chOff x="-247650" y="133350"/>
            <a:chExt cx="6410325" cy="1240155"/>
          </a:xfrm>
        </p:grpSpPr>
        <p:grpSp>
          <p:nvGrpSpPr>
            <p:cNvPr id="86" name="Google Shape;86;p15"/>
            <p:cNvGrpSpPr/>
            <p:nvPr/>
          </p:nvGrpSpPr>
          <p:grpSpPr>
            <a:xfrm>
              <a:off x="-247650" y="133350"/>
              <a:ext cx="2257425" cy="1240155"/>
              <a:chOff x="-247650" y="133350"/>
              <a:chExt cx="2257425" cy="1240155"/>
            </a:xfrm>
          </p:grpSpPr>
          <p:pic>
            <p:nvPicPr>
              <p:cNvPr id="87" name="Google Shape;87;p15"/>
              <p:cNvPicPr preferRelativeResize="0"/>
              <p:nvPr/>
            </p:nvPicPr>
            <p:blipFill rotWithShape="1">
              <a:blip r:embed="rId3"/>
              <a:srcRect/>
              <a:stretch>
                <a:fillRect/>
              </a:stretch>
            </p:blipFill>
            <p:spPr>
              <a:xfrm>
                <a:off x="-247650" y="224155"/>
                <a:ext cx="2257425" cy="1149350"/>
              </a:xfrm>
              <a:prstGeom prst="rect">
                <a:avLst/>
              </a:prstGeom>
              <a:noFill/>
              <a:ln>
                <a:noFill/>
              </a:ln>
            </p:spPr>
          </p:pic>
          <p:sp>
            <p:nvSpPr>
              <p:cNvPr id="88" name="Google Shape;88;p15"/>
              <p:cNvSpPr/>
              <p:nvPr/>
            </p:nvSpPr>
            <p:spPr>
              <a:xfrm>
                <a:off x="0" y="381000"/>
                <a:ext cx="1762200" cy="76200"/>
              </a:xfrm>
              <a:prstGeom prst="roundRect">
                <a:avLst>
                  <a:gd name="adj" fmla="val 50000"/>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9" name="Google Shape;89;p15"/>
              <p:cNvSpPr/>
              <p:nvPr/>
            </p:nvSpPr>
            <p:spPr>
              <a:xfrm>
                <a:off x="633413" y="133350"/>
                <a:ext cx="495300" cy="495300"/>
              </a:xfrm>
              <a:prstGeom prst="ellipse">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0" name="Google Shape;90;p15"/>
              <p:cNvSpPr txBox="1"/>
              <p:nvPr/>
            </p:nvSpPr>
            <p:spPr>
              <a:xfrm>
                <a:off x="633413" y="133350"/>
                <a:ext cx="495300" cy="495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500" b="0">
                    <a:solidFill>
                      <a:srgbClr val="FFFFFF"/>
                    </a:solidFill>
                    <a:latin typeface="Poppins ExtraBold"/>
                    <a:ea typeface="Poppins ExtraBold"/>
                    <a:cs typeface="Poppins ExtraBold"/>
                    <a:sym typeface="Poppins ExtraBold"/>
                  </a:rPr>
                  <a:t>1</a:t>
                </a:r>
              </a:p>
            </p:txBody>
          </p:sp>
          <p:sp>
            <p:nvSpPr>
              <p:cNvPr id="91" name="Google Shape;91;p15"/>
              <p:cNvSpPr txBox="1"/>
              <p:nvPr/>
            </p:nvSpPr>
            <p:spPr>
              <a:xfrm>
                <a:off x="170180" y="522665"/>
                <a:ext cx="1476375" cy="735965"/>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altLang="en-GB" sz="1350" b="1" dirty="0">
                    <a:solidFill>
                      <a:srgbClr val="0B132B"/>
                    </a:solidFill>
                    <a:latin typeface="Poppins" panose="00000800000000000000"/>
                    <a:ea typeface="Poppins" panose="00000800000000000000"/>
                    <a:cs typeface="Poppins" panose="00000800000000000000"/>
                    <a:sym typeface="Poppins" panose="00000800000000000000"/>
                  </a:rPr>
                  <a:t>Start Easy</a:t>
                </a:r>
              </a:p>
            </p:txBody>
          </p:sp>
        </p:grpSp>
        <p:grpSp>
          <p:nvGrpSpPr>
            <p:cNvPr id="92" name="Google Shape;92;p15"/>
            <p:cNvGrpSpPr/>
            <p:nvPr/>
          </p:nvGrpSpPr>
          <p:grpSpPr>
            <a:xfrm>
              <a:off x="1828800" y="133350"/>
              <a:ext cx="2257425" cy="1240155"/>
              <a:chOff x="-247650" y="133350"/>
              <a:chExt cx="2257425" cy="1240155"/>
            </a:xfrm>
          </p:grpSpPr>
          <p:pic>
            <p:nvPicPr>
              <p:cNvPr id="2" name="Google Shape;93;p15"/>
              <p:cNvPicPr preferRelativeResize="0"/>
              <p:nvPr/>
            </p:nvPicPr>
            <p:blipFill rotWithShape="1">
              <a:blip r:embed="rId3"/>
              <a:srcRect/>
              <a:stretch>
                <a:fillRect/>
              </a:stretch>
            </p:blipFill>
            <p:spPr>
              <a:xfrm>
                <a:off x="-247650" y="224155"/>
                <a:ext cx="2257425" cy="1149350"/>
              </a:xfrm>
              <a:prstGeom prst="rect">
                <a:avLst/>
              </a:prstGeom>
              <a:noFill/>
              <a:ln>
                <a:noFill/>
              </a:ln>
            </p:spPr>
          </p:pic>
          <p:sp>
            <p:nvSpPr>
              <p:cNvPr id="94" name="Google Shape;94;p15"/>
              <p:cNvSpPr/>
              <p:nvPr/>
            </p:nvSpPr>
            <p:spPr>
              <a:xfrm>
                <a:off x="0" y="381000"/>
                <a:ext cx="1762200" cy="762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5" name="Google Shape;95;p15"/>
              <p:cNvSpPr/>
              <p:nvPr/>
            </p:nvSpPr>
            <p:spPr>
              <a:xfrm>
                <a:off x="633413" y="133350"/>
                <a:ext cx="495300" cy="495300"/>
              </a:xfrm>
              <a:prstGeom prst="ellipse">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6" name="Google Shape;96;p15"/>
              <p:cNvSpPr txBox="1"/>
              <p:nvPr/>
            </p:nvSpPr>
            <p:spPr>
              <a:xfrm>
                <a:off x="633413" y="133350"/>
                <a:ext cx="495300" cy="495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500" b="0">
                    <a:solidFill>
                      <a:srgbClr val="FFFFFF"/>
                    </a:solidFill>
                    <a:latin typeface="Poppins ExtraBold"/>
                    <a:ea typeface="Poppins ExtraBold"/>
                    <a:cs typeface="Poppins ExtraBold"/>
                    <a:sym typeface="Poppins ExtraBold"/>
                  </a:rPr>
                  <a:t>2</a:t>
                </a:r>
              </a:p>
            </p:txBody>
          </p:sp>
          <p:sp>
            <p:nvSpPr>
              <p:cNvPr id="97" name="Google Shape;97;p15"/>
              <p:cNvSpPr txBox="1"/>
              <p:nvPr/>
            </p:nvSpPr>
            <p:spPr>
              <a:xfrm>
                <a:off x="142875" y="575310"/>
                <a:ext cx="1476375" cy="66675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altLang="en-GB" sz="1350" b="1" dirty="0">
                    <a:solidFill>
                      <a:srgbClr val="0B132B"/>
                    </a:solidFill>
                    <a:latin typeface="Poppins" panose="00000800000000000000"/>
                    <a:ea typeface="Poppins" panose="00000800000000000000"/>
                    <a:cs typeface="Poppins" panose="00000800000000000000"/>
                    <a:sym typeface="Poppins" panose="00000800000000000000"/>
                  </a:rPr>
                  <a:t>Move to Medium</a:t>
                </a:r>
              </a:p>
            </p:txBody>
          </p:sp>
        </p:grpSp>
        <p:grpSp>
          <p:nvGrpSpPr>
            <p:cNvPr id="98" name="Google Shape;98;p15"/>
            <p:cNvGrpSpPr/>
            <p:nvPr/>
          </p:nvGrpSpPr>
          <p:grpSpPr>
            <a:xfrm>
              <a:off x="3905250" y="133350"/>
              <a:ext cx="2257425" cy="1224915"/>
              <a:chOff x="-247650" y="133350"/>
              <a:chExt cx="2257425" cy="1224915"/>
            </a:xfrm>
          </p:grpSpPr>
          <p:pic>
            <p:nvPicPr>
              <p:cNvPr id="99" name="Google Shape;99;p15"/>
              <p:cNvPicPr preferRelativeResize="0"/>
              <p:nvPr/>
            </p:nvPicPr>
            <p:blipFill rotWithShape="1">
              <a:blip r:embed="rId3"/>
              <a:srcRect/>
              <a:stretch>
                <a:fillRect/>
              </a:stretch>
            </p:blipFill>
            <p:spPr>
              <a:xfrm>
                <a:off x="-247650" y="224155"/>
                <a:ext cx="2257425" cy="1134110"/>
              </a:xfrm>
              <a:prstGeom prst="rect">
                <a:avLst/>
              </a:prstGeom>
              <a:noFill/>
              <a:ln>
                <a:noFill/>
              </a:ln>
            </p:spPr>
          </p:pic>
          <p:sp>
            <p:nvSpPr>
              <p:cNvPr id="100" name="Google Shape;100;p15"/>
              <p:cNvSpPr/>
              <p:nvPr/>
            </p:nvSpPr>
            <p:spPr>
              <a:xfrm>
                <a:off x="0" y="381000"/>
                <a:ext cx="1762200" cy="762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1" name="Google Shape;101;p15"/>
              <p:cNvSpPr/>
              <p:nvPr/>
            </p:nvSpPr>
            <p:spPr>
              <a:xfrm>
                <a:off x="633413" y="133350"/>
                <a:ext cx="495300" cy="495300"/>
              </a:xfrm>
              <a:prstGeom prst="ellipse">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2" name="Google Shape;102;p15"/>
              <p:cNvSpPr txBox="1"/>
              <p:nvPr/>
            </p:nvSpPr>
            <p:spPr>
              <a:xfrm>
                <a:off x="633413" y="133350"/>
                <a:ext cx="495300" cy="4953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500" b="0">
                    <a:solidFill>
                      <a:srgbClr val="0B132B"/>
                    </a:solidFill>
                    <a:latin typeface="Poppins ExtraBold"/>
                    <a:ea typeface="Poppins ExtraBold"/>
                    <a:cs typeface="Poppins ExtraBold"/>
                    <a:sym typeface="Poppins ExtraBold"/>
                  </a:rPr>
                  <a:t>3</a:t>
                </a:r>
              </a:p>
            </p:txBody>
          </p:sp>
          <p:sp>
            <p:nvSpPr>
              <p:cNvPr id="103" name="Google Shape;103;p15"/>
              <p:cNvSpPr txBox="1"/>
              <p:nvPr/>
            </p:nvSpPr>
            <p:spPr>
              <a:xfrm>
                <a:off x="142875" y="575310"/>
                <a:ext cx="1476375" cy="666115"/>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altLang="en-GB" sz="1350" b="1" dirty="0">
                    <a:solidFill>
                      <a:srgbClr val="0B132B"/>
                    </a:solidFill>
                    <a:latin typeface="Poppins" panose="00000800000000000000"/>
                    <a:ea typeface="Poppins" panose="00000800000000000000"/>
                    <a:cs typeface="Poppins" panose="00000800000000000000"/>
                    <a:sym typeface="Poppins" panose="00000800000000000000"/>
                  </a:rPr>
                  <a:t>Attempt Hard </a:t>
                </a:r>
              </a:p>
            </p:txBody>
          </p:sp>
        </p:grpSp>
      </p:grpSp>
      <p:grpSp>
        <p:nvGrpSpPr>
          <p:cNvPr id="554" name="Google Shape;554;p30"/>
          <p:cNvGrpSpPr/>
          <p:nvPr/>
        </p:nvGrpSpPr>
        <p:grpSpPr>
          <a:xfrm>
            <a:off x="381000" y="4168139"/>
            <a:ext cx="8382000" cy="883587"/>
            <a:chOff x="0" y="0"/>
            <a:chExt cx="8382000" cy="714525"/>
          </a:xfrm>
        </p:grpSpPr>
        <p:sp>
          <p:nvSpPr>
            <p:cNvPr id="3" name="Google Shape;556;p30"/>
            <p:cNvSpPr/>
            <p:nvPr/>
          </p:nvSpPr>
          <p:spPr>
            <a:xfrm>
              <a:off x="0" y="0"/>
              <a:ext cx="8382000" cy="666750"/>
            </a:xfrm>
            <a:prstGeom prst="roundRect">
              <a:avLst>
                <a:gd name="adj" fmla="val 16000"/>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57" name="Google Shape;557;p30"/>
            <p:cNvSpPr txBox="1"/>
            <p:nvPr/>
          </p:nvSpPr>
          <p:spPr>
            <a:xfrm>
              <a:off x="85725" y="238125"/>
              <a:ext cx="1238400" cy="4764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GB" sz="1250" b="1" dirty="0">
                  <a:solidFill>
                    <a:srgbClr val="111827"/>
                  </a:solidFill>
                  <a:latin typeface="Outfit"/>
                  <a:ea typeface="Outfit"/>
                  <a:cs typeface="Outfit"/>
                  <a:sym typeface="Outfit"/>
                </a:rPr>
                <a:t>CONSISTENCY:</a:t>
              </a:r>
              <a:endParaRPr sz="1295" dirty="0"/>
            </a:p>
          </p:txBody>
        </p:sp>
        <p:sp>
          <p:nvSpPr>
            <p:cNvPr id="558" name="Google Shape;558;p30"/>
            <p:cNvSpPr txBox="1"/>
            <p:nvPr/>
          </p:nvSpPr>
          <p:spPr>
            <a:xfrm>
              <a:off x="1323693" y="168851"/>
              <a:ext cx="6788785" cy="47625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GB" sz="1600" b="1" dirty="0">
                  <a:solidFill>
                    <a:srgbClr val="111827"/>
                  </a:solidFill>
                  <a:latin typeface="DM Sans"/>
                  <a:ea typeface="DM Sans"/>
                  <a:cs typeface="DM Sans"/>
                  <a:sym typeface="DM Sans"/>
                </a:rPr>
                <a:t>Solving 2-3 problems daily is far more effective than cramming 20 problems on a weekend.</a:t>
              </a:r>
            </a:p>
          </p:txBody>
        </p:sp>
      </p:grpSp>
      <p:sp>
        <p:nvSpPr>
          <p:cNvPr id="5" name="Text Placeholder 3"/>
          <p:cNvSpPr>
            <a:spLocks noGrp="1"/>
          </p:cNvSpPr>
          <p:nvPr/>
        </p:nvSpPr>
        <p:spPr>
          <a:xfrm>
            <a:off x="4373880" y="2814320"/>
            <a:ext cx="3851275" cy="984885"/>
          </a:xfrm>
          <a:prstGeom prst="rect">
            <a:avLst/>
          </a:prstGeom>
          <a:noFill/>
          <a:ln>
            <a:noFill/>
          </a:ln>
        </p:spPr>
        <p:txBody>
          <a:bodyPr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panose="020B0604020202090204"/>
              <a:buChar char="●"/>
              <a:defRPr sz="1800" b="0" i="0" u="none" strike="noStrike" cap="none">
                <a:solidFill>
                  <a:schemeClr val="dk2"/>
                </a:solidFill>
                <a:latin typeface="Arial" panose="020B0604020202090204"/>
                <a:ea typeface="Arial" panose="020B0604020202090204"/>
                <a:cs typeface="Arial" panose="020B0604020202090204"/>
                <a:sym typeface="Arial" panose="020B0604020202090204"/>
              </a:defRPr>
            </a:lvl1pPr>
            <a:lvl2pPr marL="914400" marR="0" lvl="1"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2pPr>
            <a:lvl3pPr marL="1371600" marR="0" lvl="2"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115000"/>
              </a:lnSpc>
              <a:spcBef>
                <a:spcPts val="0"/>
              </a:spcBef>
              <a:spcAft>
                <a:spcPts val="0"/>
              </a:spcAft>
              <a:buClr>
                <a:schemeClr val="dk2"/>
              </a:buClr>
              <a:buSzPts val="1400"/>
              <a:buFont typeface="Arial" panose="020B0604020202090204"/>
              <a:buChar char="■"/>
              <a:defRPr sz="1400" b="0" i="0" u="none" strike="noStrike" cap="none">
                <a:solidFill>
                  <a:schemeClr val="dk2"/>
                </a:solidFill>
                <a:latin typeface="Arial" panose="020B0604020202090204"/>
                <a:ea typeface="Arial" panose="020B0604020202090204"/>
                <a:cs typeface="Arial" panose="020B0604020202090204"/>
                <a:sym typeface="Arial" panose="020B0604020202090204"/>
              </a:defRPr>
            </a:lvl9pPr>
          </a:lstStyle>
          <a:p>
            <a:pPr marL="114300" algn="l" eaLnBrk="1" fontAlgn="auto" latinLnBrk="0" hangingPunct="1">
              <a:spcAft>
                <a:spcPts val="600"/>
              </a:spcAft>
              <a:buNone/>
            </a:pPr>
            <a:r>
              <a:rPr lang="en-US" altLang="en-US" sz="1600"/>
              <a:t>✔ Understand logic</a:t>
            </a:r>
          </a:p>
          <a:p>
            <a:pPr marL="114300" algn="l" eaLnBrk="1" fontAlgn="auto" latinLnBrk="0" hangingPunct="1">
              <a:spcAft>
                <a:spcPts val="600"/>
              </a:spcAft>
              <a:buNone/>
            </a:pPr>
            <a:r>
              <a:rPr lang="en-US" altLang="en-US" sz="1600"/>
              <a:t>✔ Convert ideas into code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30"/>
        <p:cNvGrpSpPr/>
        <p:nvPr/>
      </p:nvGrpSpPr>
      <p:grpSpPr>
        <a:xfrm>
          <a:off x="0" y="0"/>
          <a:ext cx="0" cy="0"/>
          <a:chOff x="0" y="0"/>
          <a:chExt cx="0" cy="0"/>
        </a:xfrm>
      </p:grpSpPr>
      <p:grpSp>
        <p:nvGrpSpPr>
          <p:cNvPr id="531" name="Google Shape;531;p30"/>
          <p:cNvGrpSpPr/>
          <p:nvPr/>
        </p:nvGrpSpPr>
        <p:grpSpPr>
          <a:xfrm>
            <a:off x="0" y="0"/>
            <a:ext cx="9144150" cy="5143650"/>
            <a:chOff x="0" y="0"/>
            <a:chExt cx="9144150" cy="5143650"/>
          </a:xfrm>
        </p:grpSpPr>
        <p:sp>
          <p:nvSpPr>
            <p:cNvPr id="532" name="Google Shape;532;p30"/>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533" name="Google Shape;533;p30"/>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534" name="Google Shape;534;p30"/>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35" name="Google Shape;535;p30"/>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536" name="Google Shape;536;p30"/>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CODING METHODS</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GB" sz="2700" b="0" i="0" u="none" strike="noStrike">
                <a:solidFill>
                  <a:srgbClr val="0B132B"/>
                </a:solidFill>
                <a:latin typeface="Poppins SemiBold"/>
                <a:ea typeface="Poppins SemiBold"/>
                <a:cs typeface="Poppins SemiBold"/>
                <a:sym typeface="Poppins SemiBold"/>
              </a:rPr>
              <a:t>Traditional Practice vs. Vibe Coding</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537" name="Google Shape;537;p30"/>
          <p:cNvGrpSpPr/>
          <p:nvPr/>
        </p:nvGrpSpPr>
        <p:grpSpPr>
          <a:xfrm>
            <a:off x="423863" y="1957387"/>
            <a:ext cx="4010100" cy="2376600"/>
            <a:chOff x="-147637" y="-71437"/>
            <a:chExt cx="4010100" cy="2376600"/>
          </a:xfrm>
        </p:grpSpPr>
        <p:pic>
          <p:nvPicPr>
            <p:cNvPr id="538" name="Google Shape;538;p30"/>
            <p:cNvPicPr preferRelativeResize="0"/>
            <p:nvPr/>
          </p:nvPicPr>
          <p:blipFill rotWithShape="1">
            <a:blip r:embed="rId4"/>
            <a:srcRect/>
            <a:stretch>
              <a:fillRect/>
            </a:stretch>
          </p:blipFill>
          <p:spPr>
            <a:xfrm>
              <a:off x="-147637" y="-71437"/>
              <a:ext cx="4010100" cy="2376600"/>
            </a:xfrm>
            <a:prstGeom prst="rect">
              <a:avLst/>
            </a:prstGeom>
            <a:noFill/>
            <a:ln>
              <a:noFill/>
            </a:ln>
          </p:spPr>
        </p:pic>
        <p:sp>
          <p:nvSpPr>
            <p:cNvPr id="539" name="Google Shape;539;p30"/>
            <p:cNvSpPr/>
            <p:nvPr/>
          </p:nvSpPr>
          <p:spPr>
            <a:xfrm>
              <a:off x="0" y="0"/>
              <a:ext cx="3714900" cy="76200"/>
            </a:xfrm>
            <a:prstGeom prst="roundRect">
              <a:avLst>
                <a:gd name="adj" fmla="val 50000"/>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540" name="Google Shape;540;p30"/>
            <p:cNvGrpSpPr/>
            <p:nvPr/>
          </p:nvGrpSpPr>
          <p:grpSpPr>
            <a:xfrm>
              <a:off x="2905125" y="1476375"/>
              <a:ext cx="476250" cy="333375"/>
              <a:chOff x="0" y="95250"/>
              <a:chExt cx="476250" cy="333375"/>
            </a:xfrm>
          </p:grpSpPr>
          <p:pic>
            <p:nvPicPr>
              <p:cNvPr id="541" name="Google Shape;541;p30"/>
              <p:cNvPicPr preferRelativeResize="0"/>
              <p:nvPr/>
            </p:nvPicPr>
            <p:blipFill rotWithShape="1">
              <a:blip r:embed="rId5"/>
              <a:srcRect/>
              <a:stretch>
                <a:fillRect/>
              </a:stretch>
            </p:blipFill>
            <p:spPr>
              <a:xfrm>
                <a:off x="0" y="95250"/>
                <a:ext cx="190500" cy="190500"/>
              </a:xfrm>
              <a:prstGeom prst="rect">
                <a:avLst/>
              </a:prstGeom>
              <a:noFill/>
              <a:ln>
                <a:noFill/>
              </a:ln>
            </p:spPr>
          </p:pic>
          <p:pic>
            <p:nvPicPr>
              <p:cNvPr id="542" name="Google Shape;542;p30"/>
              <p:cNvPicPr preferRelativeResize="0"/>
              <p:nvPr/>
            </p:nvPicPr>
            <p:blipFill rotWithShape="1">
              <a:blip r:embed="rId6"/>
              <a:srcRect/>
              <a:stretch>
                <a:fillRect/>
              </a:stretch>
            </p:blipFill>
            <p:spPr>
              <a:xfrm>
                <a:off x="142875" y="238125"/>
                <a:ext cx="190500" cy="190500"/>
              </a:xfrm>
              <a:prstGeom prst="rect">
                <a:avLst/>
              </a:prstGeom>
              <a:noFill/>
              <a:ln>
                <a:noFill/>
              </a:ln>
            </p:spPr>
          </p:pic>
          <p:pic>
            <p:nvPicPr>
              <p:cNvPr id="543" name="Google Shape;543;p30"/>
              <p:cNvPicPr preferRelativeResize="0"/>
              <p:nvPr/>
            </p:nvPicPr>
            <p:blipFill rotWithShape="1">
              <a:blip r:embed="rId7"/>
              <a:srcRect/>
              <a:stretch>
                <a:fillRect/>
              </a:stretch>
            </p:blipFill>
            <p:spPr>
              <a:xfrm>
                <a:off x="285750" y="95250"/>
                <a:ext cx="190500" cy="190500"/>
              </a:xfrm>
              <a:prstGeom prst="rect">
                <a:avLst/>
              </a:prstGeom>
              <a:noFill/>
              <a:ln>
                <a:noFill/>
              </a:ln>
            </p:spPr>
          </p:pic>
        </p:grpSp>
        <p:sp>
          <p:nvSpPr>
            <p:cNvPr id="544" name="Google Shape;544;p30"/>
            <p:cNvSpPr txBox="1"/>
            <p:nvPr/>
          </p:nvSpPr>
          <p:spPr>
            <a:xfrm>
              <a:off x="238125" y="238125"/>
              <a:ext cx="3238500" cy="206703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650" b="1" dirty="0">
                  <a:solidFill>
                    <a:srgbClr val="2D68FE"/>
                  </a:solidFill>
                  <a:latin typeface="Poppins" panose="00000800000000000000"/>
                  <a:ea typeface="Poppins" panose="00000800000000000000"/>
                  <a:cs typeface="Poppins" panose="00000800000000000000"/>
                  <a:sym typeface="Poppins" panose="00000800000000000000"/>
                </a:rPr>
                <a:t>Traditional</a:t>
              </a:r>
              <a:endParaRPr sz="1650" b="1" dirty="0">
                <a:solidFill>
                  <a:srgbClr val="2D68FE"/>
                </a:solidFill>
                <a:latin typeface="Poppins" panose="00000800000000000000"/>
                <a:ea typeface="Poppins" panose="00000800000000000000"/>
                <a:cs typeface="Poppins" panose="00000800000000000000"/>
                <a:sym typeface="Poppins" panose="00000800000000000000"/>
              </a:endParaRPr>
            </a:p>
            <a:p>
              <a:pPr marL="285750" lvl="0" indent="-285750" algn="l" rtl="0">
                <a:spcBef>
                  <a:spcPts val="900"/>
                </a:spcBef>
                <a:spcAft>
                  <a:spcPts val="0"/>
                </a:spcAft>
                <a:buFont typeface="Arial" panose="020B0604020202020204" pitchFamily="34" charset="0"/>
                <a:buChar char="•"/>
              </a:pPr>
              <a:r>
                <a:rPr lang="en-GB" sz="1350" b="0" dirty="0">
                  <a:solidFill>
                    <a:srgbClr val="4A5568"/>
                  </a:solidFill>
                  <a:latin typeface="Inter" panose="02000503000000020004"/>
                  <a:ea typeface="Inter" panose="02000503000000020004"/>
                  <a:cs typeface="Inter" panose="02000503000000020004"/>
                  <a:sym typeface="Inter" panose="02000503000000020004"/>
                </a:rPr>
                <a:t>Focuses on syntax and manual logic building.</a:t>
              </a:r>
            </a:p>
            <a:p>
              <a:pPr marL="285750" lvl="0" indent="-285750">
                <a:spcBef>
                  <a:spcPts val="900"/>
                </a:spcBef>
                <a:buFont typeface="Arial" panose="020B0604020202020204" pitchFamily="34" charset="0"/>
                <a:buChar char="•"/>
              </a:pPr>
              <a:r>
                <a:rPr lang="en-IN" sz="1200" dirty="0"/>
                <a:t>Deep Understanding &amp; Maintainability</a:t>
              </a:r>
            </a:p>
            <a:p>
              <a:pPr marL="285750" lvl="0" indent="-285750">
                <a:spcBef>
                  <a:spcPts val="900"/>
                </a:spcBef>
                <a:buFont typeface="Arial" panose="020B0604020202020204" pitchFamily="34" charset="0"/>
                <a:buChar char="•"/>
              </a:pPr>
              <a:r>
                <a:rPr lang="en-IN" sz="1200" dirty="0"/>
                <a:t>Deterministic Quality &amp; Security</a:t>
              </a:r>
              <a:endParaRPr lang="en-IN" sz="1200" b="0" dirty="0">
                <a:solidFill>
                  <a:srgbClr val="4A5568"/>
                </a:solidFill>
                <a:latin typeface="Inter" panose="02000503000000020004"/>
                <a:ea typeface="Inter" panose="02000503000000020004"/>
                <a:cs typeface="Inter" panose="02000503000000020004"/>
                <a:sym typeface="Inter" panose="02000503000000020004"/>
              </a:endParaRPr>
            </a:p>
            <a:p>
              <a:pPr marL="285750" lvl="0" indent="-285750">
                <a:spcBef>
                  <a:spcPts val="900"/>
                </a:spcBef>
                <a:buFont typeface="Arial" panose="020B0604020202020204" pitchFamily="34" charset="0"/>
                <a:buChar char="•"/>
              </a:pPr>
              <a:r>
                <a:rPr lang="en-IN" sz="1200" dirty="0"/>
                <a:t>Architectural Mastery</a:t>
              </a:r>
            </a:p>
            <a:p>
              <a:pPr marL="285750" lvl="0" indent="-285750">
                <a:spcBef>
                  <a:spcPts val="900"/>
                </a:spcBef>
                <a:buFont typeface="Arial" panose="020B0604020202020204" pitchFamily="34" charset="0"/>
                <a:buChar char="•"/>
              </a:pPr>
              <a:endParaRPr lang="en-GB" sz="1350" b="0" dirty="0">
                <a:solidFill>
                  <a:srgbClr val="4A5568"/>
                </a:solidFill>
                <a:latin typeface="Inter" panose="02000503000000020004"/>
                <a:ea typeface="Inter" panose="02000503000000020004"/>
                <a:cs typeface="Inter" panose="02000503000000020004"/>
                <a:sym typeface="Inter" panose="02000503000000020004"/>
              </a:endParaRPr>
            </a:p>
            <a:p>
              <a:pPr marL="285750" lvl="0" indent="-285750" algn="l" rtl="0">
                <a:spcBef>
                  <a:spcPts val="900"/>
                </a:spcBef>
                <a:spcAft>
                  <a:spcPts val="0"/>
                </a:spcAft>
                <a:buFont typeface="Arial" panose="020B0604020202020204" pitchFamily="34" charset="0"/>
                <a:buChar char="•"/>
              </a:pPr>
              <a:endParaRPr lang="en-GB" sz="1350" b="0" dirty="0">
                <a:solidFill>
                  <a:srgbClr val="4A5568"/>
                </a:solidFill>
                <a:latin typeface="Inter" panose="02000503000000020004"/>
                <a:ea typeface="Inter" panose="02000503000000020004"/>
                <a:cs typeface="Inter" panose="02000503000000020004"/>
                <a:sym typeface="Inter" panose="02000503000000020004"/>
              </a:endParaRPr>
            </a:p>
            <a:p>
              <a:pPr marL="285750" lvl="0" indent="-285750" algn="l" rtl="0">
                <a:spcBef>
                  <a:spcPts val="900"/>
                </a:spcBef>
                <a:spcAft>
                  <a:spcPts val="0"/>
                </a:spcAft>
                <a:buFont typeface="Arial" panose="020B0604020202020204" pitchFamily="34" charset="0"/>
                <a:buChar char="•"/>
              </a:pPr>
              <a:endParaRPr sz="1350" b="0" dirty="0">
                <a:solidFill>
                  <a:srgbClr val="4A5568"/>
                </a:solidFill>
                <a:latin typeface="Inter" panose="02000503000000020004"/>
                <a:ea typeface="Inter" panose="02000503000000020004"/>
                <a:cs typeface="Inter" panose="02000503000000020004"/>
                <a:sym typeface="Inter" panose="02000503000000020004"/>
              </a:endParaRPr>
            </a:p>
          </p:txBody>
        </p:sp>
      </p:grpSp>
      <p:grpSp>
        <p:nvGrpSpPr>
          <p:cNvPr id="545" name="Google Shape;545;p30"/>
          <p:cNvGrpSpPr/>
          <p:nvPr/>
        </p:nvGrpSpPr>
        <p:grpSpPr>
          <a:xfrm>
            <a:off x="4710113" y="1957387"/>
            <a:ext cx="4010100" cy="2376600"/>
            <a:chOff x="-147637" y="-71437"/>
            <a:chExt cx="4010100" cy="2376600"/>
          </a:xfrm>
        </p:grpSpPr>
        <p:pic>
          <p:nvPicPr>
            <p:cNvPr id="546" name="Google Shape;546;p30"/>
            <p:cNvPicPr preferRelativeResize="0"/>
            <p:nvPr/>
          </p:nvPicPr>
          <p:blipFill rotWithShape="1">
            <a:blip r:embed="rId4"/>
            <a:srcRect/>
            <a:stretch>
              <a:fillRect/>
            </a:stretch>
          </p:blipFill>
          <p:spPr>
            <a:xfrm>
              <a:off x="-147637" y="-71437"/>
              <a:ext cx="4010100" cy="2376600"/>
            </a:xfrm>
            <a:prstGeom prst="rect">
              <a:avLst/>
            </a:prstGeom>
            <a:noFill/>
            <a:ln>
              <a:noFill/>
            </a:ln>
          </p:spPr>
        </p:pic>
        <p:sp>
          <p:nvSpPr>
            <p:cNvPr id="547" name="Google Shape;547;p30"/>
            <p:cNvSpPr/>
            <p:nvPr/>
          </p:nvSpPr>
          <p:spPr>
            <a:xfrm>
              <a:off x="0" y="0"/>
              <a:ext cx="3714900" cy="762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548" name="Google Shape;548;p30"/>
            <p:cNvGrpSpPr/>
            <p:nvPr/>
          </p:nvGrpSpPr>
          <p:grpSpPr>
            <a:xfrm>
              <a:off x="2743200" y="1552575"/>
              <a:ext cx="800100" cy="324000"/>
              <a:chOff x="-19050" y="219075"/>
              <a:chExt cx="800100" cy="324000"/>
            </a:xfrm>
          </p:grpSpPr>
          <p:pic>
            <p:nvPicPr>
              <p:cNvPr id="549" name="Google Shape;549;p30"/>
              <p:cNvPicPr preferRelativeResize="0"/>
              <p:nvPr/>
            </p:nvPicPr>
            <p:blipFill rotWithShape="1">
              <a:blip r:embed="rId8"/>
              <a:srcRect/>
              <a:stretch>
                <a:fillRect/>
              </a:stretch>
            </p:blipFill>
            <p:spPr>
              <a:xfrm>
                <a:off x="-19050" y="219075"/>
                <a:ext cx="800100" cy="324000"/>
              </a:xfrm>
              <a:prstGeom prst="rect">
                <a:avLst/>
              </a:prstGeom>
              <a:noFill/>
              <a:ln>
                <a:noFill/>
              </a:ln>
            </p:spPr>
          </p:pic>
          <p:pic>
            <p:nvPicPr>
              <p:cNvPr id="550" name="Google Shape;550;p30"/>
              <p:cNvPicPr preferRelativeResize="0"/>
              <p:nvPr/>
            </p:nvPicPr>
            <p:blipFill rotWithShape="1">
              <a:blip r:embed="rId9"/>
              <a:srcRect/>
              <a:stretch>
                <a:fillRect/>
              </a:stretch>
            </p:blipFill>
            <p:spPr>
              <a:xfrm>
                <a:off x="323850" y="323850"/>
                <a:ext cx="114300" cy="114300"/>
              </a:xfrm>
              <a:prstGeom prst="rect">
                <a:avLst/>
              </a:prstGeom>
              <a:noFill/>
              <a:ln>
                <a:noFill/>
              </a:ln>
            </p:spPr>
          </p:pic>
        </p:grpSp>
        <p:sp>
          <p:nvSpPr>
            <p:cNvPr id="551" name="Google Shape;551;p30"/>
            <p:cNvSpPr txBox="1"/>
            <p:nvPr/>
          </p:nvSpPr>
          <p:spPr>
            <a:xfrm>
              <a:off x="238125" y="238125"/>
              <a:ext cx="3238500" cy="16191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650" b="1" dirty="0">
                  <a:solidFill>
                    <a:srgbClr val="FF5733"/>
                  </a:solidFill>
                  <a:latin typeface="Poppins" panose="00000800000000000000"/>
                  <a:ea typeface="Poppins" panose="00000800000000000000"/>
                  <a:cs typeface="Poppins" panose="00000800000000000000"/>
                  <a:sym typeface="Poppins" panose="00000800000000000000"/>
                </a:rPr>
                <a:t>Vibe Coding </a:t>
              </a:r>
              <a:r>
                <a:rPr lang="en-GB" sz="1050" b="1" dirty="0">
                  <a:solidFill>
                    <a:srgbClr val="4A5568"/>
                  </a:solidFill>
                  <a:latin typeface="Inter" panose="02000503000000020004"/>
                  <a:ea typeface="Inter" panose="02000503000000020004"/>
                  <a:cs typeface="Poppins" panose="00000800000000000000"/>
                  <a:sym typeface="Inter" panose="02000503000000020004"/>
                </a:rPr>
                <a:t>(A</a:t>
              </a:r>
              <a:r>
                <a:rPr lang="en-GB" sz="1050" b="1" dirty="0">
                  <a:solidFill>
                    <a:srgbClr val="4A5568"/>
                  </a:solidFill>
                  <a:latin typeface="Inter" panose="02000503000000020004"/>
                  <a:ea typeface="Inter" panose="02000503000000020004"/>
                  <a:cs typeface="Inter" panose="02000503000000020004"/>
                  <a:sym typeface="Inter" panose="02000503000000020004"/>
                </a:rPr>
                <a:t>I-Assisted)</a:t>
              </a:r>
              <a:endParaRPr sz="1050" b="1" dirty="0">
                <a:solidFill>
                  <a:srgbClr val="4A5568"/>
                </a:solidFill>
                <a:latin typeface="Inter" panose="02000503000000020004"/>
                <a:ea typeface="Inter" panose="02000503000000020004"/>
                <a:cs typeface="Inter" panose="02000503000000020004"/>
                <a:sym typeface="Inter" panose="02000503000000020004"/>
              </a:endParaRPr>
            </a:p>
            <a:p>
              <a:pPr marL="285750" lvl="0" indent="-285750" algn="l" rtl="0">
                <a:spcBef>
                  <a:spcPts val="900"/>
                </a:spcBef>
                <a:spcAft>
                  <a:spcPts val="0"/>
                </a:spcAft>
                <a:buFont typeface="Arial" panose="020B0604020202020204" pitchFamily="34" charset="0"/>
                <a:buChar char="•"/>
              </a:pPr>
              <a:r>
                <a:rPr lang="en-GB" sz="1350" b="0" dirty="0">
                  <a:solidFill>
                    <a:srgbClr val="4A5568"/>
                  </a:solidFill>
                  <a:latin typeface="Inter" panose="02000503000000020004"/>
                  <a:ea typeface="Inter" panose="02000503000000020004"/>
                  <a:cs typeface="Inter" panose="02000503000000020004"/>
                  <a:sym typeface="Inter" panose="02000503000000020004"/>
                </a:rPr>
                <a:t>Faster prototyping, but risks masking fundamental gaps.</a:t>
              </a:r>
            </a:p>
            <a:p>
              <a:pPr marL="285750" lvl="0" indent="-285750">
                <a:spcBef>
                  <a:spcPts val="900"/>
                </a:spcBef>
                <a:buFont typeface="Arial" panose="020B0604020202020204" pitchFamily="34" charset="0"/>
                <a:buChar char="•"/>
              </a:pPr>
              <a:r>
                <a:rPr lang="en-IN" sz="1200" dirty="0"/>
                <a:t>Unmatched Velocity</a:t>
              </a:r>
            </a:p>
            <a:p>
              <a:pPr marL="285750" lvl="0" indent="-285750">
                <a:spcBef>
                  <a:spcPts val="900"/>
                </a:spcBef>
                <a:buFont typeface="Arial" panose="020B0604020202020204" pitchFamily="34" charset="0"/>
                <a:buChar char="•"/>
              </a:pPr>
              <a:r>
                <a:rPr lang="en-IN" sz="1200" dirty="0"/>
                <a:t>Lower Barrier to Entry</a:t>
              </a:r>
            </a:p>
            <a:p>
              <a:pPr marL="285750" lvl="0" indent="-285750">
                <a:spcBef>
                  <a:spcPts val="900"/>
                </a:spcBef>
                <a:buFont typeface="Arial" panose="020B0604020202020204" pitchFamily="34" charset="0"/>
                <a:buChar char="•"/>
              </a:pPr>
              <a:r>
                <a:rPr lang="en-IN" sz="1200" dirty="0"/>
                <a:t>Boilerplate Elimination</a:t>
              </a:r>
              <a:endParaRPr sz="1350" b="0" dirty="0">
                <a:solidFill>
                  <a:srgbClr val="4A5568"/>
                </a:solidFill>
                <a:latin typeface="Inter" panose="02000503000000020004"/>
                <a:ea typeface="Inter" panose="02000503000000020004"/>
                <a:cs typeface="Inter" panose="02000503000000020004"/>
                <a:sym typeface="Inter" panose="02000503000000020004"/>
              </a:endParaRPr>
            </a:p>
          </p:txBody>
        </p:sp>
      </p:grpSp>
      <p:cxnSp>
        <p:nvCxnSpPr>
          <p:cNvPr id="93" name="Google Shape;93;p15"/>
          <p:cNvCxnSpPr/>
          <p:nvPr/>
        </p:nvCxnSpPr>
        <p:spPr>
          <a:xfrm>
            <a:off x="311785" y="128016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grpSp>
        <p:nvGrpSpPr>
          <p:cNvPr id="222" name="Google Shape;222;p20"/>
          <p:cNvGrpSpPr/>
          <p:nvPr/>
        </p:nvGrpSpPr>
        <p:grpSpPr>
          <a:xfrm>
            <a:off x="0" y="0"/>
            <a:ext cx="9144150" cy="5143650"/>
            <a:chOff x="0" y="0"/>
            <a:chExt cx="9144150" cy="5143650"/>
          </a:xfrm>
        </p:grpSpPr>
        <p:sp>
          <p:nvSpPr>
            <p:cNvPr id="223" name="Google Shape;223;p20"/>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24" name="Google Shape;224;p20"/>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25" name="Google Shape;225;p20"/>
            <p:cNvPicPr preferRelativeResize="0"/>
            <p:nvPr/>
          </p:nvPicPr>
          <p:blipFill rotWithShape="1">
            <a:blip r:embed="rId3"/>
            <a:srcRect/>
            <a:stretch>
              <a:fillRect/>
            </a:stretch>
          </p:blipFill>
          <p:spPr>
            <a:xfrm>
              <a:off x="4957763" y="957263"/>
              <a:ext cx="3457500" cy="3076500"/>
            </a:xfrm>
            <a:prstGeom prst="rect">
              <a:avLst/>
            </a:prstGeom>
            <a:noFill/>
            <a:ln>
              <a:noFill/>
            </a:ln>
          </p:spPr>
        </p:pic>
        <p:pic>
          <p:nvPicPr>
            <p:cNvPr id="226" name="Google Shape;226;p20"/>
            <p:cNvPicPr preferRelativeResize="0"/>
            <p:nvPr/>
          </p:nvPicPr>
          <p:blipFill rotWithShape="1">
            <a:blip r:embed="rId4"/>
            <a:srcRect/>
            <a:stretch>
              <a:fillRect/>
            </a:stretch>
          </p:blipFill>
          <p:spPr>
            <a:xfrm>
              <a:off x="6353175" y="1495425"/>
              <a:ext cx="2152800" cy="2152800"/>
            </a:xfrm>
            <a:prstGeom prst="rect">
              <a:avLst/>
            </a:prstGeom>
            <a:noFill/>
            <a:ln>
              <a:noFill/>
            </a:ln>
          </p:spPr>
        </p:pic>
        <p:pic>
          <p:nvPicPr>
            <p:cNvPr id="227" name="Google Shape;227;p20"/>
            <p:cNvPicPr preferRelativeResize="0"/>
            <p:nvPr/>
          </p:nvPicPr>
          <p:blipFill rotWithShape="1">
            <a:blip r:embed="rId5"/>
            <a:srcRect/>
            <a:stretch>
              <a:fillRect/>
            </a:stretch>
          </p:blipFill>
          <p:spPr>
            <a:xfrm>
              <a:off x="7362825" y="1933575"/>
              <a:ext cx="705000" cy="705000"/>
            </a:xfrm>
            <a:prstGeom prst="rect">
              <a:avLst/>
            </a:prstGeom>
            <a:noFill/>
            <a:ln>
              <a:noFill/>
            </a:ln>
          </p:spPr>
        </p:pic>
        <p:sp>
          <p:nvSpPr>
            <p:cNvPr id="228" name="Google Shape;228;p20"/>
            <p:cNvSpPr/>
            <p:nvPr/>
          </p:nvSpPr>
          <p:spPr>
            <a:xfrm>
              <a:off x="6343650" y="3295650"/>
              <a:ext cx="266700" cy="266700"/>
            </a:xfrm>
            <a:prstGeom prst="ellipse">
              <a:avLst/>
            </a:prstGeom>
            <a:solidFill>
              <a:srgbClr val="FFC300">
                <a:alpha val="7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29" name="Google Shape;229;p20"/>
            <p:cNvSpPr/>
            <p:nvPr/>
          </p:nvSpPr>
          <p:spPr>
            <a:xfrm>
              <a:off x="7162800" y="1352550"/>
              <a:ext cx="152400" cy="152400"/>
            </a:xfrm>
            <a:prstGeom prst="ellipse">
              <a:avLst/>
            </a:prstGeom>
            <a:solidFill>
              <a:srgbClr val="2D68FE">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0" name="Google Shape;230;p20"/>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pic>
        <p:nvPicPr>
          <p:cNvPr id="144" name="Google Shape;144;p17"/>
          <p:cNvPicPr preferRelativeResize="0"/>
          <p:nvPr/>
        </p:nvPicPr>
        <p:blipFill rotWithShape="1">
          <a:blip r:embed="rId6"/>
          <a:srcRect/>
          <a:stretch>
            <a:fillRect/>
          </a:stretch>
        </p:blipFill>
        <p:spPr>
          <a:xfrm>
            <a:off x="5080" y="5080"/>
            <a:ext cx="9138285" cy="5139055"/>
          </a:xfrm>
          <a:prstGeom prst="rect">
            <a:avLst/>
          </a:prstGeom>
          <a:noFill/>
          <a:ln>
            <a:noFill/>
          </a:ln>
        </p:spPr>
      </p:pic>
      <p:sp>
        <p:nvSpPr>
          <p:cNvPr id="231" name="Google Shape;231;p20"/>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ROUND 3</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900"/>
              </a:spcBef>
              <a:spcAft>
                <a:spcPts val="900"/>
              </a:spcAft>
              <a:buNone/>
            </a:pPr>
            <a:r>
              <a:rPr lang="en-US" altLang="en-GB" sz="2700" b="0" i="0" u="none" strike="noStrike">
                <a:solidFill>
                  <a:srgbClr val="0B132B"/>
                </a:solidFill>
                <a:latin typeface="Poppins SemiBold"/>
                <a:ea typeface="Poppins SemiBold"/>
                <a:cs typeface="Poppins SemiBold"/>
                <a:sym typeface="Poppins SemiBold"/>
              </a:rPr>
              <a:t>T</a:t>
            </a:r>
            <a:r>
              <a:rPr lang="en-US" sz="2700" b="0" i="0" u="none" strike="noStrike">
                <a:solidFill>
                  <a:srgbClr val="0B132B"/>
                </a:solidFill>
                <a:latin typeface="Poppins SemiBold"/>
                <a:ea typeface="Poppins SemiBold"/>
                <a:cs typeface="Poppins SemiBold"/>
                <a:sym typeface="Poppins SemiBold"/>
              </a:rPr>
              <a:t>echnical Interviews</a:t>
            </a:r>
            <a:endParaRPr lang="en-US"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232" name="Google Shape;232;p20"/>
          <p:cNvGrpSpPr/>
          <p:nvPr/>
        </p:nvGrpSpPr>
        <p:grpSpPr>
          <a:xfrm>
            <a:off x="565150" y="1658620"/>
            <a:ext cx="8007350" cy="2485390"/>
            <a:chOff x="-6350" y="-151130"/>
            <a:chExt cx="8007350" cy="2485390"/>
          </a:xfrm>
        </p:grpSpPr>
        <p:grpSp>
          <p:nvGrpSpPr>
            <p:cNvPr id="233" name="Google Shape;233;p20"/>
            <p:cNvGrpSpPr/>
            <p:nvPr/>
          </p:nvGrpSpPr>
          <p:grpSpPr>
            <a:xfrm>
              <a:off x="0" y="-151130"/>
              <a:ext cx="8001000" cy="571500"/>
              <a:chOff x="0" y="-151130"/>
              <a:chExt cx="8001000" cy="571500"/>
            </a:xfrm>
          </p:grpSpPr>
          <p:grpSp>
            <p:nvGrpSpPr>
              <p:cNvPr id="234" name="Google Shape;234;p20"/>
              <p:cNvGrpSpPr/>
              <p:nvPr/>
            </p:nvGrpSpPr>
            <p:grpSpPr>
              <a:xfrm>
                <a:off x="0" y="0"/>
                <a:ext cx="304800" cy="304800"/>
                <a:chOff x="0" y="0"/>
                <a:chExt cx="304800" cy="304800"/>
              </a:xfrm>
            </p:grpSpPr>
            <p:sp>
              <p:nvSpPr>
                <p:cNvPr id="235" name="Google Shape;235;p20"/>
                <p:cNvSpPr/>
                <p:nvPr/>
              </p:nvSpPr>
              <p:spPr>
                <a:xfrm>
                  <a:off x="0" y="0"/>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6" name="Google Shape;236;p20"/>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237" name="Google Shape;237;p20"/>
              <p:cNvSpPr txBox="1"/>
              <p:nvPr/>
            </p:nvSpPr>
            <p:spPr>
              <a:xfrm>
                <a:off x="457200" y="-151130"/>
                <a:ext cx="75438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575" b="1" dirty="0">
                    <a:solidFill>
                      <a:srgbClr val="0B132B"/>
                    </a:solidFill>
                    <a:latin typeface="Inter" panose="02000503000000020004"/>
                    <a:ea typeface="Inter" panose="02000503000000020004"/>
                    <a:cs typeface="Inter" panose="02000503000000020004"/>
                    <a:sym typeface="Inter" panose="02000503000000020004"/>
                  </a:rPr>
                  <a:t>Deep dive into technical knowledge</a:t>
                </a:r>
                <a:endParaRPr sz="1575" b="1" dirty="0">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238" name="Google Shape;238;p20"/>
            <p:cNvGrpSpPr/>
            <p:nvPr/>
          </p:nvGrpSpPr>
          <p:grpSpPr>
            <a:xfrm>
              <a:off x="0" y="457835"/>
              <a:ext cx="8001000" cy="571500"/>
              <a:chOff x="0" y="-304165"/>
              <a:chExt cx="8001000" cy="571500"/>
            </a:xfrm>
          </p:grpSpPr>
          <p:grpSp>
            <p:nvGrpSpPr>
              <p:cNvPr id="239" name="Google Shape;239;p20"/>
              <p:cNvGrpSpPr/>
              <p:nvPr/>
            </p:nvGrpSpPr>
            <p:grpSpPr>
              <a:xfrm>
                <a:off x="0" y="-153035"/>
                <a:ext cx="304800" cy="304800"/>
                <a:chOff x="0" y="-153035"/>
                <a:chExt cx="304800" cy="304800"/>
              </a:xfrm>
            </p:grpSpPr>
            <p:sp>
              <p:nvSpPr>
                <p:cNvPr id="240" name="Google Shape;240;p20"/>
                <p:cNvSpPr/>
                <p:nvPr/>
              </p:nvSpPr>
              <p:spPr>
                <a:xfrm>
                  <a:off x="0" y="-153035"/>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1" name="Google Shape;241;p20"/>
                <p:cNvSpPr/>
                <p:nvPr/>
              </p:nvSpPr>
              <p:spPr>
                <a:xfrm>
                  <a:off x="95250" y="-40555"/>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242" name="Google Shape;242;p20"/>
              <p:cNvSpPr txBox="1"/>
              <p:nvPr/>
            </p:nvSpPr>
            <p:spPr>
              <a:xfrm>
                <a:off x="457200" y="-304165"/>
                <a:ext cx="75438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altLang="en-US" sz="1575" b="1" dirty="0">
                    <a:solidFill>
                      <a:srgbClr val="0B132B"/>
                    </a:solidFill>
                    <a:latin typeface="Inter" panose="02000503000000020004"/>
                    <a:ea typeface="Inter" panose="02000503000000020004"/>
                    <a:cs typeface="Inter" panose="02000503000000020004"/>
                    <a:sym typeface="Inter" panose="02000503000000020004"/>
                  </a:rPr>
                  <a:t>Behavioral &amp; Personality assessment</a:t>
                </a:r>
              </a:p>
            </p:txBody>
          </p:sp>
        </p:grpSp>
        <p:grpSp>
          <p:nvGrpSpPr>
            <p:cNvPr id="243" name="Google Shape;243;p20"/>
            <p:cNvGrpSpPr/>
            <p:nvPr/>
          </p:nvGrpSpPr>
          <p:grpSpPr>
            <a:xfrm>
              <a:off x="-6350" y="1762760"/>
              <a:ext cx="8007350" cy="571500"/>
              <a:chOff x="-6350" y="238760"/>
              <a:chExt cx="8007350" cy="571500"/>
            </a:xfrm>
          </p:grpSpPr>
          <p:grpSp>
            <p:nvGrpSpPr>
              <p:cNvPr id="244" name="Google Shape;244;p20"/>
              <p:cNvGrpSpPr/>
              <p:nvPr/>
            </p:nvGrpSpPr>
            <p:grpSpPr>
              <a:xfrm>
                <a:off x="-6350" y="373380"/>
                <a:ext cx="304800" cy="304800"/>
                <a:chOff x="-6350" y="373380"/>
                <a:chExt cx="304800" cy="304800"/>
              </a:xfrm>
            </p:grpSpPr>
            <p:sp>
              <p:nvSpPr>
                <p:cNvPr id="245" name="Google Shape;245;p20"/>
                <p:cNvSpPr/>
                <p:nvPr/>
              </p:nvSpPr>
              <p:spPr>
                <a:xfrm>
                  <a:off x="-6350" y="373380"/>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46" name="Google Shape;246;p20"/>
                <p:cNvSpPr/>
                <p:nvPr/>
              </p:nvSpPr>
              <p:spPr>
                <a:xfrm>
                  <a:off x="101600" y="479412"/>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247" name="Google Shape;247;p20"/>
              <p:cNvSpPr txBox="1"/>
              <p:nvPr/>
            </p:nvSpPr>
            <p:spPr>
              <a:xfrm>
                <a:off x="457200" y="238760"/>
                <a:ext cx="75438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575" b="1">
                    <a:solidFill>
                      <a:srgbClr val="0B132B"/>
                    </a:solidFill>
                    <a:latin typeface="Inter" panose="02000503000000020004"/>
                    <a:ea typeface="Inter" panose="02000503000000020004"/>
                    <a:cs typeface="Inter" panose="02000503000000020004"/>
                    <a:sym typeface="Inter" panose="02000503000000020004"/>
                  </a:rPr>
                  <a:t>Evaluation of team fit and problem-solving approach</a:t>
                </a:r>
                <a:endParaRPr sz="1575" b="1">
                  <a:solidFill>
                    <a:srgbClr val="0B132B"/>
                  </a:solidFill>
                  <a:latin typeface="Inter" panose="02000503000000020004"/>
                  <a:ea typeface="Inter" panose="02000503000000020004"/>
                  <a:cs typeface="Inter" panose="02000503000000020004"/>
                  <a:sym typeface="Inter" panose="02000503000000020004"/>
                </a:endParaRPr>
              </a:p>
            </p:txBody>
          </p:sp>
        </p:grpSp>
      </p:grpSp>
      <p:cxnSp>
        <p:nvCxnSpPr>
          <p:cNvPr id="93" name="Google Shape;93;p15"/>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 name="Google Shape;240;p20"/>
          <p:cNvSpPr/>
          <p:nvPr/>
        </p:nvSpPr>
        <p:spPr>
          <a:xfrm>
            <a:off x="565150" y="3081020"/>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 name="Google Shape;241;p20"/>
          <p:cNvSpPr/>
          <p:nvPr/>
        </p:nvSpPr>
        <p:spPr>
          <a:xfrm>
            <a:off x="660400" y="319532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 name="Google Shape;242;p20"/>
          <p:cNvSpPr txBox="1"/>
          <p:nvPr/>
        </p:nvSpPr>
        <p:spPr>
          <a:xfrm>
            <a:off x="1022350" y="2929890"/>
            <a:ext cx="75438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575" b="1">
                <a:solidFill>
                  <a:srgbClr val="0B132B"/>
                </a:solidFill>
                <a:latin typeface="Inter" panose="02000503000000020004"/>
                <a:ea typeface="Inter" panose="02000503000000020004"/>
                <a:cs typeface="Inter" panose="02000503000000020004"/>
                <a:sym typeface="Inter" panose="02000503000000020004"/>
              </a:rPr>
              <a:t>Assessment of communication skills</a:t>
            </a:r>
            <a:endParaRPr sz="1575" b="1">
              <a:solidFill>
                <a:srgbClr val="0B132B"/>
              </a:solidFill>
              <a:latin typeface="Inter" panose="02000503000000020004"/>
              <a:ea typeface="Inter" panose="02000503000000020004"/>
              <a:cs typeface="Inter" panose="02000503000000020004"/>
              <a:sym typeface="Inter" panose="02000503000000020004"/>
            </a:endParaRPr>
          </a:p>
        </p:txBody>
      </p:sp>
      <p:sp>
        <p:nvSpPr>
          <p:cNvPr id="5" name="Google Shape;235;p20"/>
          <p:cNvSpPr/>
          <p:nvPr/>
        </p:nvSpPr>
        <p:spPr>
          <a:xfrm>
            <a:off x="571500" y="4293235"/>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 name="Google Shape;236;p20"/>
          <p:cNvSpPr/>
          <p:nvPr/>
        </p:nvSpPr>
        <p:spPr>
          <a:xfrm>
            <a:off x="666750" y="4407535"/>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 name="Google Shape;237;p20"/>
          <p:cNvSpPr txBox="1"/>
          <p:nvPr/>
        </p:nvSpPr>
        <p:spPr>
          <a:xfrm>
            <a:off x="1028700" y="4142105"/>
            <a:ext cx="75438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altLang="en-US" sz="1575" b="1">
                <a:solidFill>
                  <a:srgbClr val="0B132B"/>
                </a:solidFill>
                <a:latin typeface="Inter" panose="02000503000000020004"/>
                <a:ea typeface="Inter" panose="02000503000000020004"/>
                <a:cs typeface="Inter" panose="02000503000000020004"/>
                <a:sym typeface="Inter" panose="02000503000000020004"/>
              </a:rPr>
              <a:t>Common Interview Style - “Difference Between” Questions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8"/>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168" name="Google Shape;168;p18"/>
          <p:cNvPicPr preferRelativeResize="0"/>
          <p:nvPr/>
        </p:nvPicPr>
        <p:blipFill rotWithShape="1">
          <a:blip r:embed="rId3"/>
          <a:srcRect/>
          <a:stretch>
            <a:fillRect/>
          </a:stretch>
        </p:blipFill>
        <p:spPr>
          <a:xfrm>
            <a:off x="229507" y="-47625"/>
            <a:ext cx="9138920" cy="5191125"/>
          </a:xfrm>
          <a:prstGeom prst="rect">
            <a:avLst/>
          </a:prstGeom>
          <a:noFill/>
          <a:ln>
            <a:noFill/>
          </a:ln>
        </p:spPr>
      </p:pic>
      <p:sp>
        <p:nvSpPr>
          <p:cNvPr id="169" name="Google Shape;169;p18"/>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0" name="Google Shape;170;p18"/>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1" name="Google Shape;171;p18"/>
          <p:cNvSpPr txBox="1"/>
          <p:nvPr/>
        </p:nvSpPr>
        <p:spPr>
          <a:xfrm>
            <a:off x="571500" y="381000"/>
            <a:ext cx="8001000"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ROUND </a:t>
            </a:r>
            <a:r>
              <a:rPr lang="en-US" alt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3</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900"/>
              </a:spcBef>
              <a:spcAft>
                <a:spcPts val="900"/>
              </a:spcAft>
              <a:buNone/>
            </a:pPr>
            <a:r>
              <a:rPr lang="en-US" sz="2700" b="0" i="0" u="none" strike="noStrike">
                <a:solidFill>
                  <a:srgbClr val="0B132B"/>
                </a:solidFill>
                <a:latin typeface="Poppins SemiBold"/>
                <a:ea typeface="Poppins SemiBold"/>
                <a:cs typeface="Poppins SemiBold"/>
                <a:sym typeface="Poppins SemiBold"/>
              </a:rPr>
              <a:t>Technical Interviews - Assessment areas </a:t>
            </a:r>
            <a:endParaRPr lang="en-US"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p:cNvCxnSpPr/>
          <p:nvPr/>
        </p:nvCxnSpPr>
        <p:spPr>
          <a:xfrm>
            <a:off x="381000" y="13716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4" name="Group 3">
            <a:extLst>
              <a:ext uri="{FF2B5EF4-FFF2-40B4-BE49-F238E27FC236}">
                <a16:creationId xmlns:a16="http://schemas.microsoft.com/office/drawing/2014/main" id="{4A465CB2-B856-C3CC-FB2E-7F8E89317786}"/>
              </a:ext>
            </a:extLst>
          </p:cNvPr>
          <p:cNvGrpSpPr/>
          <p:nvPr/>
        </p:nvGrpSpPr>
        <p:grpSpPr>
          <a:xfrm>
            <a:off x="283210" y="1584960"/>
            <a:ext cx="3916680" cy="3216910"/>
            <a:chOff x="283210" y="1584960"/>
            <a:chExt cx="3916680" cy="3216910"/>
          </a:xfrm>
        </p:grpSpPr>
        <p:sp>
          <p:nvSpPr>
            <p:cNvPr id="2" name="Google Shape;125;p16"/>
            <p:cNvSpPr/>
            <p:nvPr/>
          </p:nvSpPr>
          <p:spPr>
            <a:xfrm>
              <a:off x="283210" y="1584960"/>
              <a:ext cx="3916680" cy="3216910"/>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30" name="Google Shape;130;p16"/>
            <p:cNvSpPr txBox="1"/>
            <p:nvPr/>
          </p:nvSpPr>
          <p:spPr>
            <a:xfrm>
              <a:off x="473710" y="1724659"/>
              <a:ext cx="3614420" cy="2893059"/>
            </a:xfrm>
            <a:prstGeom prst="rect">
              <a:avLst/>
            </a:prstGeom>
            <a:noFill/>
            <a:ln>
              <a:noFill/>
            </a:ln>
          </p:spPr>
          <p:txBody>
            <a:bodyPr spcFirstLastPara="1" wrap="square" lIns="0" tIns="0" rIns="0" bIns="0" anchor="t" anchorCtr="0">
              <a:noAutofit/>
            </a:bodyPr>
            <a:lstStyle/>
            <a:p>
              <a:pPr marL="0" lvl="0" indent="0" algn="l" rtl="0">
                <a:spcBef>
                  <a:spcPts val="300"/>
                </a:spcBef>
                <a:spcAft>
                  <a:spcPts val="0"/>
                </a:spcAft>
                <a:buNone/>
              </a:pPr>
              <a:r>
                <a:rPr lang="en-US" sz="1800" b="1" dirty="0">
                  <a:solidFill>
                    <a:srgbClr val="111827"/>
                  </a:solidFill>
                  <a:latin typeface="DM Sans"/>
                  <a:ea typeface="DM Sans"/>
                  <a:cs typeface="DM Sans"/>
                  <a:sym typeface="DM Sans Medium"/>
                </a:rPr>
                <a:t>Data Structures &amp; Algorithms</a:t>
              </a:r>
            </a:p>
            <a:p>
              <a:pPr marL="0" lvl="0" indent="0" algn="l" rtl="0">
                <a:spcBef>
                  <a:spcPts val="300"/>
                </a:spcBef>
                <a:spcAft>
                  <a:spcPts val="0"/>
                </a:spcAft>
                <a:buNone/>
              </a:pPr>
              <a:endParaRPr lang="en-US" sz="1600" b="1" dirty="0">
                <a:solidFill>
                  <a:srgbClr val="111827"/>
                </a:solidFill>
                <a:latin typeface="DM Sans"/>
                <a:ea typeface="DM Sans"/>
                <a:cs typeface="DM Sans"/>
                <a:sym typeface="DM Sans Medium"/>
              </a:endParaRP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Core Structures</a:t>
              </a:r>
              <a:r>
                <a:rPr lang="en-US" sz="1600" b="0" dirty="0">
                  <a:solidFill>
                    <a:srgbClr val="4B5563"/>
                  </a:solidFill>
                  <a:latin typeface="DM Sans Medium"/>
                  <a:ea typeface="DM Sans Medium"/>
                  <a:cs typeface="DM Sans Medium"/>
                  <a:sym typeface="DM Sans Medium"/>
                </a:rPr>
                <a:t> - </a:t>
              </a:r>
              <a:r>
                <a:rPr lang="en-US" sz="1200" b="0" dirty="0">
                  <a:solidFill>
                    <a:srgbClr val="4B5563"/>
                  </a:solidFill>
                  <a:latin typeface="DM Sans Medium"/>
                  <a:ea typeface="DM Sans Medium"/>
                  <a:cs typeface="DM Sans Medium"/>
                  <a:sym typeface="DM Sans Medium"/>
                </a:rPr>
                <a:t>Arrays, Strings, Linked     </a:t>
              </a:r>
            </a:p>
            <a:p>
              <a:pPr marL="0" lvl="0" indent="0" algn="l" rtl="0" eaLnBrk="1" fontAlgn="auto" latinLnBrk="0" hangingPunct="1">
                <a:spcBef>
                  <a:spcPts val="400"/>
                </a:spcBef>
                <a:spcAft>
                  <a:spcPts val="400"/>
                </a:spcAft>
                <a:buClr>
                  <a:srgbClr val="00B050"/>
                </a:buClr>
                <a:buSzPct val="120000"/>
                <a:buFont typeface="Wingdings" panose="05000000000000000000" charset="0"/>
                <a:buNone/>
              </a:pPr>
              <a:r>
                <a:rPr lang="en-US" sz="1200" b="0" dirty="0">
                  <a:solidFill>
                    <a:srgbClr val="4B5563"/>
                  </a:solidFill>
                  <a:latin typeface="DM Sans Medium"/>
                  <a:ea typeface="DM Sans Medium"/>
                  <a:cs typeface="DM Sans Medium"/>
                  <a:sym typeface="DM Sans Medium"/>
                </a:rPr>
                <a:t>               Lists, Stacks, Queues</a:t>
              </a:r>
              <a:endParaRPr lang="en-US" sz="1600" b="0" dirty="0">
                <a:solidFill>
                  <a:srgbClr val="4B5563"/>
                </a:solidFill>
                <a:latin typeface="DM Sans Medium"/>
                <a:ea typeface="DM Sans Medium"/>
                <a:cs typeface="DM Sans Medium"/>
                <a:sym typeface="DM Sans Medium"/>
              </a:endParaRP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Basic Algorithms</a:t>
              </a:r>
              <a:r>
                <a:rPr lang="en-US" b="0" dirty="0">
                  <a:solidFill>
                    <a:srgbClr val="4B5563"/>
                  </a:solidFill>
                  <a:latin typeface="DM Sans Medium"/>
                  <a:ea typeface="DM Sans Medium"/>
                  <a:cs typeface="DM Sans Medium"/>
                  <a:sym typeface="DM Sans Medium"/>
                </a:rPr>
                <a:t> -</a:t>
              </a:r>
              <a:r>
                <a:rPr lang="en-US" sz="1200" b="0" dirty="0">
                  <a:solidFill>
                    <a:srgbClr val="4B5563"/>
                  </a:solidFill>
                  <a:latin typeface="DM Sans Medium"/>
                  <a:ea typeface="DM Sans Medium"/>
                  <a:cs typeface="DM Sans Medium"/>
                  <a:sym typeface="DM Sans Medium"/>
                </a:rPr>
                <a:t> Sorting &amp; Searching</a:t>
              </a: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Complexity</a:t>
              </a:r>
              <a:r>
                <a:rPr lang="en-US" b="0" dirty="0">
                  <a:solidFill>
                    <a:srgbClr val="4B5563"/>
                  </a:solidFill>
                  <a:latin typeface="DM Sans Medium"/>
                  <a:ea typeface="DM Sans Medium"/>
                  <a:cs typeface="DM Sans Medium"/>
                  <a:sym typeface="DM Sans Medium"/>
                </a:rPr>
                <a:t> </a:t>
              </a:r>
              <a:r>
                <a:rPr lang="en-US" sz="1600" b="0" dirty="0">
                  <a:solidFill>
                    <a:srgbClr val="4B5563"/>
                  </a:solidFill>
                  <a:latin typeface="DM Sans Medium"/>
                  <a:ea typeface="DM Sans Medium"/>
                  <a:cs typeface="DM Sans Medium"/>
                  <a:sym typeface="DM Sans Medium"/>
                </a:rPr>
                <a:t>- </a:t>
              </a:r>
              <a:r>
                <a:rPr lang="en-US" sz="1200" b="0" dirty="0">
                  <a:solidFill>
                    <a:srgbClr val="4B5563"/>
                  </a:solidFill>
                  <a:latin typeface="DM Sans Medium"/>
                  <a:ea typeface="DM Sans Medium"/>
                  <a:cs typeface="DM Sans Medium"/>
                  <a:sym typeface="DM Sans Medium"/>
                </a:rPr>
                <a:t>Time and Space</a:t>
              </a: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Advanced Topics</a:t>
              </a:r>
              <a:r>
                <a:rPr lang="en-US" sz="1600" b="1" dirty="0">
                  <a:solidFill>
                    <a:srgbClr val="4B5563"/>
                  </a:solidFill>
                  <a:latin typeface="DM Sans Medium"/>
                  <a:ea typeface="DM Sans Medium"/>
                  <a:cs typeface="DM Sans Medium"/>
                  <a:sym typeface="DM Sans Medium"/>
                </a:rPr>
                <a:t> </a:t>
              </a:r>
              <a:r>
                <a:rPr lang="en-US" sz="1600" b="0" dirty="0">
                  <a:solidFill>
                    <a:srgbClr val="4B5563"/>
                  </a:solidFill>
                  <a:latin typeface="DM Sans Medium"/>
                  <a:ea typeface="DM Sans Medium"/>
                  <a:cs typeface="DM Sans Medium"/>
                  <a:sym typeface="DM Sans Medium"/>
                </a:rPr>
                <a:t>- </a:t>
              </a:r>
              <a:r>
                <a:rPr lang="en-US" sz="1200" b="0" dirty="0">
                  <a:solidFill>
                    <a:srgbClr val="4B5563"/>
                  </a:solidFill>
                  <a:latin typeface="DM Sans Medium"/>
                  <a:ea typeface="DM Sans Medium"/>
                  <a:cs typeface="DM Sans Medium"/>
                  <a:sym typeface="DM Sans Medium"/>
                </a:rPr>
                <a:t>Trees, Graphs,</a:t>
              </a:r>
            </a:p>
            <a:p>
              <a:pPr marL="0" lvl="0" indent="0" algn="l" rtl="0" eaLnBrk="1" fontAlgn="auto" latinLnBrk="0" hangingPunct="1">
                <a:spcBef>
                  <a:spcPts val="400"/>
                </a:spcBef>
                <a:spcAft>
                  <a:spcPts val="400"/>
                </a:spcAft>
                <a:buClr>
                  <a:srgbClr val="00B050"/>
                </a:buClr>
                <a:buSzPct val="120000"/>
                <a:buFont typeface="Wingdings" panose="05000000000000000000" charset="0"/>
                <a:buNone/>
              </a:pPr>
              <a:r>
                <a:rPr lang="en-US" sz="1200" b="0" dirty="0">
                  <a:solidFill>
                    <a:srgbClr val="4B5563"/>
                  </a:solidFill>
                  <a:latin typeface="DM Sans Medium"/>
                  <a:ea typeface="DM Sans Medium"/>
                  <a:cs typeface="DM Sans Medium"/>
                  <a:sym typeface="DM Sans Medium"/>
                </a:rPr>
                <a:t>               Dynamic Programming</a:t>
              </a:r>
            </a:p>
          </p:txBody>
        </p:sp>
      </p:grpSp>
      <p:grpSp>
        <p:nvGrpSpPr>
          <p:cNvPr id="5" name="Group 4">
            <a:extLst>
              <a:ext uri="{FF2B5EF4-FFF2-40B4-BE49-F238E27FC236}">
                <a16:creationId xmlns:a16="http://schemas.microsoft.com/office/drawing/2014/main" id="{056D8305-3434-E378-F26A-5CC889D7BEC8}"/>
              </a:ext>
            </a:extLst>
          </p:cNvPr>
          <p:cNvGrpSpPr/>
          <p:nvPr/>
        </p:nvGrpSpPr>
        <p:grpSpPr>
          <a:xfrm>
            <a:off x="4504055" y="1584960"/>
            <a:ext cx="4196715" cy="3234690"/>
            <a:chOff x="4504055" y="1584960"/>
            <a:chExt cx="4196715" cy="3234690"/>
          </a:xfrm>
        </p:grpSpPr>
        <p:sp>
          <p:nvSpPr>
            <p:cNvPr id="3" name="Google Shape;125;p16"/>
            <p:cNvSpPr/>
            <p:nvPr/>
          </p:nvSpPr>
          <p:spPr>
            <a:xfrm>
              <a:off x="4504055" y="1584960"/>
              <a:ext cx="4196715" cy="3234690"/>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34" name="Google Shape;134;p16"/>
            <p:cNvSpPr txBox="1"/>
            <p:nvPr/>
          </p:nvSpPr>
          <p:spPr>
            <a:xfrm>
              <a:off x="4668519" y="1752601"/>
              <a:ext cx="3903981" cy="2817495"/>
            </a:xfrm>
            <a:prstGeom prst="rect">
              <a:avLst/>
            </a:prstGeom>
            <a:noFill/>
            <a:ln>
              <a:noFill/>
            </a:ln>
          </p:spPr>
          <p:txBody>
            <a:bodyPr spcFirstLastPara="1" wrap="square" lIns="0" tIns="0" rIns="0" bIns="0" anchor="t" anchorCtr="0">
              <a:noAutofit/>
            </a:bodyPr>
            <a:lstStyle/>
            <a:p>
              <a:pPr marL="0" lvl="0" indent="0" algn="l" rtl="0">
                <a:spcBef>
                  <a:spcPts val="300"/>
                </a:spcBef>
                <a:spcAft>
                  <a:spcPts val="0"/>
                </a:spcAft>
                <a:buNone/>
              </a:pPr>
              <a:r>
                <a:rPr lang="en-US" sz="1600" b="1" dirty="0">
                  <a:solidFill>
                    <a:srgbClr val="111827"/>
                  </a:solidFill>
                  <a:latin typeface="DM Sans"/>
                  <a:ea typeface="DM Sans"/>
                  <a:cs typeface="DM Sans"/>
                  <a:sym typeface="DM Sans"/>
                </a:rPr>
                <a:t>DBMS and OOPS</a:t>
              </a:r>
            </a:p>
            <a:p>
              <a:pPr marL="0" lvl="0" indent="0" algn="l" rtl="0">
                <a:spcBef>
                  <a:spcPts val="300"/>
                </a:spcBef>
                <a:spcAft>
                  <a:spcPts val="0"/>
                </a:spcAft>
                <a:buNone/>
              </a:pPr>
              <a:endParaRPr lang="en-GB" b="0" dirty="0">
                <a:solidFill>
                  <a:srgbClr val="4B5563"/>
                </a:solidFill>
                <a:latin typeface="DM Sans Medium"/>
                <a:ea typeface="DM Sans Medium"/>
                <a:cs typeface="DM Sans Medium"/>
                <a:sym typeface="DM Sans Medium"/>
              </a:endParaRP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OOPS components </a:t>
              </a:r>
              <a:r>
                <a:rPr lang="en-US" sz="1200" b="0" dirty="0">
                  <a:solidFill>
                    <a:srgbClr val="4B5563"/>
                  </a:solidFill>
                  <a:latin typeface="DM Sans Medium"/>
                  <a:ea typeface="DM Sans Medium"/>
                  <a:cs typeface="DM Sans Medium"/>
                  <a:sym typeface="DM Sans Medium"/>
                </a:rPr>
                <a:t>- Class, Objects, </a:t>
              </a:r>
            </a:p>
            <a:p>
              <a:pPr marL="0" lvl="0" indent="0" algn="l" rtl="0" eaLnBrk="1" fontAlgn="auto" latinLnBrk="0" hangingPunct="1">
                <a:spcBef>
                  <a:spcPts val="400"/>
                </a:spcBef>
                <a:spcAft>
                  <a:spcPts val="400"/>
                </a:spcAft>
                <a:buClr>
                  <a:srgbClr val="00B050"/>
                </a:buClr>
                <a:buSzPct val="120000"/>
                <a:buFont typeface="Wingdings" panose="05000000000000000000" charset="0"/>
                <a:buNone/>
              </a:pPr>
              <a:r>
                <a:rPr lang="en-US" sz="1200" b="0" dirty="0">
                  <a:solidFill>
                    <a:srgbClr val="4B5563"/>
                  </a:solidFill>
                  <a:latin typeface="DM Sans Medium"/>
                  <a:ea typeface="DM Sans Medium"/>
                  <a:cs typeface="DM Sans Medium"/>
                  <a:sym typeface="DM Sans Medium"/>
                </a:rPr>
                <a:t>                  Interfaces</a:t>
              </a: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4 Pillars of OOPS -</a:t>
              </a:r>
              <a:r>
                <a:rPr lang="en-US" sz="1200" b="0" dirty="0">
                  <a:solidFill>
                    <a:srgbClr val="4B5563"/>
                  </a:solidFill>
                  <a:latin typeface="DM Sans Medium"/>
                  <a:ea typeface="DM Sans Medium"/>
                  <a:cs typeface="DM Sans Medium"/>
                  <a:sym typeface="DM Sans Medium"/>
                </a:rPr>
                <a:t> Abstraction, </a:t>
              </a:r>
            </a:p>
            <a:p>
              <a:pPr marL="0" lvl="0" indent="0" algn="l" rtl="0" eaLnBrk="1" fontAlgn="auto" latinLnBrk="0" hangingPunct="1">
                <a:spcBef>
                  <a:spcPts val="400"/>
                </a:spcBef>
                <a:spcAft>
                  <a:spcPts val="400"/>
                </a:spcAft>
                <a:buClr>
                  <a:srgbClr val="00B050"/>
                </a:buClr>
                <a:buSzPct val="120000"/>
                <a:buFont typeface="Wingdings" panose="05000000000000000000" charset="0"/>
                <a:buNone/>
              </a:pPr>
              <a:r>
                <a:rPr lang="en-US" sz="1200" b="0" dirty="0">
                  <a:solidFill>
                    <a:srgbClr val="4B5563"/>
                  </a:solidFill>
                  <a:latin typeface="DM Sans Medium"/>
                  <a:ea typeface="DM Sans Medium"/>
                  <a:cs typeface="DM Sans Medium"/>
                  <a:sym typeface="DM Sans Medium"/>
                </a:rPr>
                <a:t>                 Encapsulation, Inheritance, Polymorphism</a:t>
              </a: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Design Patterns</a:t>
              </a:r>
              <a:r>
                <a:rPr lang="en-US" sz="1200" dirty="0">
                  <a:solidFill>
                    <a:srgbClr val="4B5563"/>
                  </a:solidFill>
                  <a:latin typeface="DM Sans Medium"/>
                  <a:ea typeface="DM Sans Medium"/>
                  <a:cs typeface="DM Sans Medium"/>
                  <a:sym typeface="DM Sans Medium"/>
                </a:rPr>
                <a:t> - Singleton, Factory</a:t>
              </a:r>
              <a:endParaRPr lang="en-US" sz="1200" b="0" dirty="0">
                <a:solidFill>
                  <a:srgbClr val="4B5563"/>
                </a:solidFill>
                <a:latin typeface="DM Sans Medium"/>
                <a:ea typeface="DM Sans Medium"/>
                <a:cs typeface="DM Sans Medium"/>
                <a:sym typeface="DM Sans Medium"/>
              </a:endParaRP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SQL fundamentals </a:t>
              </a:r>
              <a:r>
                <a:rPr lang="en-US" sz="1200" b="0" dirty="0">
                  <a:solidFill>
                    <a:srgbClr val="4B5563"/>
                  </a:solidFill>
                  <a:latin typeface="DM Sans Medium"/>
                  <a:ea typeface="DM Sans Medium"/>
                  <a:cs typeface="DM Sans Medium"/>
                  <a:sym typeface="DM Sans Medium"/>
                </a:rPr>
                <a:t>- CRUD, joins, aggregates</a:t>
              </a: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DBMS concepts </a:t>
              </a:r>
              <a:r>
                <a:rPr lang="en-US" sz="1200" b="0" dirty="0">
                  <a:solidFill>
                    <a:srgbClr val="4B5563"/>
                  </a:solidFill>
                  <a:latin typeface="DM Sans Medium"/>
                  <a:ea typeface="DM Sans Medium"/>
                  <a:cs typeface="DM Sans Medium"/>
                  <a:sym typeface="DM Sans Medium"/>
                </a:rPr>
                <a:t>- Relationships, Indexing</a:t>
              </a: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Java &amp; Python basics</a:t>
              </a:r>
            </a:p>
            <a:p>
              <a:pPr marL="171450" lvl="0" indent="-171450" algn="l" rtl="0">
                <a:spcBef>
                  <a:spcPts val="300"/>
                </a:spcBef>
                <a:spcAft>
                  <a:spcPts val="0"/>
                </a:spcAft>
                <a:buFont typeface="Wingdings" panose="05000000000000000000" charset="0"/>
                <a:buChar char=""/>
              </a:pPr>
              <a:endParaRPr lang="en-US" b="1" dirty="0">
                <a:solidFill>
                  <a:srgbClr val="4B5563"/>
                </a:solidFill>
                <a:latin typeface="DM Sans Medium"/>
                <a:ea typeface="DM Sans Medium"/>
                <a:cs typeface="DM Sans Medium"/>
                <a:sym typeface="DM Sans Medium"/>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8"/>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168" name="Google Shape;168;p18"/>
          <p:cNvPicPr preferRelativeResize="0"/>
          <p:nvPr/>
        </p:nvPicPr>
        <p:blipFill rotWithShape="1">
          <a:blip r:embed="rId3"/>
          <a:srcRect/>
          <a:stretch>
            <a:fillRect/>
          </a:stretch>
        </p:blipFill>
        <p:spPr>
          <a:xfrm>
            <a:off x="5080" y="5080"/>
            <a:ext cx="9138285" cy="5139055"/>
          </a:xfrm>
          <a:prstGeom prst="rect">
            <a:avLst/>
          </a:prstGeom>
          <a:noFill/>
          <a:ln>
            <a:noFill/>
          </a:ln>
        </p:spPr>
      </p:pic>
      <p:sp>
        <p:nvSpPr>
          <p:cNvPr id="169" name="Google Shape;169;p18"/>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0" name="Google Shape;170;p18"/>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1" name="Google Shape;171;p18"/>
          <p:cNvSpPr txBox="1"/>
          <p:nvPr/>
        </p:nvSpPr>
        <p:spPr>
          <a:xfrm>
            <a:off x="571499" y="381000"/>
            <a:ext cx="8381999"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ROUND </a:t>
            </a:r>
            <a:r>
              <a:rPr lang="en-US" alt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3</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900"/>
              </a:spcBef>
              <a:spcAft>
                <a:spcPts val="900"/>
              </a:spcAft>
              <a:buNone/>
            </a:pPr>
            <a:r>
              <a:rPr lang="en-US" sz="2700" b="0" i="0" u="none" strike="noStrike">
                <a:solidFill>
                  <a:srgbClr val="0B132B"/>
                </a:solidFill>
                <a:latin typeface="Poppins SemiBold"/>
                <a:ea typeface="Poppins SemiBold"/>
                <a:cs typeface="Poppins SemiBold"/>
                <a:sym typeface="Poppins SemiBold"/>
              </a:rPr>
              <a:t>Technical Interviews - Assessment areas </a:t>
            </a:r>
            <a:r>
              <a:rPr lang="en-US" sz="1600" b="0" i="0" u="none" strike="noStrike">
                <a:solidFill>
                  <a:srgbClr val="0B132B"/>
                </a:solidFill>
                <a:latin typeface="Poppins SemiBold"/>
                <a:ea typeface="Poppins SemiBold"/>
                <a:cs typeface="Poppins SemiBold"/>
                <a:sym typeface="Poppins SemiBold"/>
              </a:rPr>
              <a:t>(Cont..)</a:t>
            </a:r>
            <a:r>
              <a:rPr lang="en-US" sz="2700" b="0" i="0" u="none" strike="noStrike">
                <a:solidFill>
                  <a:srgbClr val="0B132B"/>
                </a:solidFill>
                <a:latin typeface="Poppins SemiBold"/>
                <a:ea typeface="Poppins SemiBold"/>
                <a:cs typeface="Poppins SemiBold"/>
                <a:sym typeface="Poppins SemiBold"/>
              </a:rPr>
              <a:t> </a:t>
            </a:r>
            <a:endParaRPr lang="en-US"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p:cNvCxnSpPr/>
          <p:nvPr/>
        </p:nvCxnSpPr>
        <p:spPr>
          <a:xfrm>
            <a:off x="381000" y="13716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4" name="Group 3">
            <a:extLst>
              <a:ext uri="{FF2B5EF4-FFF2-40B4-BE49-F238E27FC236}">
                <a16:creationId xmlns:a16="http://schemas.microsoft.com/office/drawing/2014/main" id="{ECC26EE9-41A8-02ED-619B-68DDBF37F502}"/>
              </a:ext>
            </a:extLst>
          </p:cNvPr>
          <p:cNvGrpSpPr/>
          <p:nvPr/>
        </p:nvGrpSpPr>
        <p:grpSpPr>
          <a:xfrm>
            <a:off x="250190" y="1602740"/>
            <a:ext cx="4835525" cy="3382644"/>
            <a:chOff x="250190" y="1602740"/>
            <a:chExt cx="4835525" cy="3382644"/>
          </a:xfrm>
        </p:grpSpPr>
        <p:sp>
          <p:nvSpPr>
            <p:cNvPr id="2" name="Google Shape;125;p16"/>
            <p:cNvSpPr/>
            <p:nvPr/>
          </p:nvSpPr>
          <p:spPr>
            <a:xfrm>
              <a:off x="250190" y="1602740"/>
              <a:ext cx="4718685" cy="3382644"/>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30" name="Google Shape;130;p16"/>
            <p:cNvSpPr txBox="1"/>
            <p:nvPr/>
          </p:nvSpPr>
          <p:spPr>
            <a:xfrm>
              <a:off x="437515" y="1739901"/>
              <a:ext cx="4648200" cy="3034664"/>
            </a:xfrm>
            <a:prstGeom prst="rect">
              <a:avLst/>
            </a:prstGeom>
            <a:noFill/>
            <a:ln>
              <a:noFill/>
            </a:ln>
          </p:spPr>
          <p:txBody>
            <a:bodyPr spcFirstLastPara="1" wrap="square" lIns="0" tIns="0" rIns="0" bIns="0" anchor="t" anchorCtr="0">
              <a:noAutofit/>
            </a:bodyPr>
            <a:lstStyle/>
            <a:p>
              <a:pPr marL="0" lvl="0" algn="l" rtl="0">
                <a:spcBef>
                  <a:spcPts val="300"/>
                </a:spcBef>
                <a:spcAft>
                  <a:spcPts val="0"/>
                </a:spcAft>
                <a:buSzTx/>
                <a:buNone/>
              </a:pPr>
              <a:r>
                <a:rPr lang="en-US" sz="1600" b="1" dirty="0">
                  <a:solidFill>
                    <a:srgbClr val="111827"/>
                  </a:solidFill>
                  <a:latin typeface="DM Sans"/>
                  <a:ea typeface="DM Sans"/>
                  <a:cs typeface="DM Sans"/>
                  <a:sym typeface="DM Sans Medium"/>
                </a:rPr>
                <a:t>AI &amp; DS</a:t>
              </a:r>
            </a:p>
            <a:p>
              <a:pPr marL="0" lvl="0" indent="0" algn="l" rtl="0">
                <a:spcBef>
                  <a:spcPts val="300"/>
                </a:spcBef>
                <a:spcAft>
                  <a:spcPts val="0"/>
                </a:spcAft>
                <a:buFont typeface="Wingdings" panose="05000000000000000000" charset="0"/>
                <a:buNone/>
              </a:pPr>
              <a:endParaRPr lang="en-US" b="1" dirty="0">
                <a:solidFill>
                  <a:srgbClr val="4B5563"/>
                </a:solidFill>
                <a:latin typeface="DM Sans Medium"/>
                <a:ea typeface="DM Sans Medium"/>
                <a:cs typeface="DM Sans Medium"/>
                <a:sym typeface="DM Sans Medium"/>
              </a:endParaRPr>
            </a:p>
            <a:p>
              <a:pPr marL="171450" lvl="0" indent="-171450" algn="l" rtl="0">
                <a:spcBef>
                  <a:spcPts val="300"/>
                </a:spcBef>
                <a:spcAft>
                  <a:spcPts val="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Mathematical concepts - </a:t>
              </a:r>
              <a:r>
                <a:rPr lang="en-US" sz="1200" dirty="0">
                  <a:solidFill>
                    <a:srgbClr val="4B5563"/>
                  </a:solidFill>
                  <a:latin typeface="DM Sans Medium"/>
                  <a:ea typeface="DM Sans Medium"/>
                  <a:cs typeface="DM Sans Medium"/>
                  <a:sym typeface="DM Sans Medium"/>
                </a:rPr>
                <a:t>Linear Algebra, </a:t>
              </a:r>
              <a:r>
                <a:rPr lang="en-US" sz="1200" dirty="0" err="1">
                  <a:solidFill>
                    <a:srgbClr val="4B5563"/>
                  </a:solidFill>
                  <a:latin typeface="DM Sans Medium"/>
                  <a:ea typeface="DM Sans Medium"/>
                  <a:cs typeface="DM Sans Medium"/>
                  <a:sym typeface="DM Sans Medium"/>
                </a:rPr>
                <a:t>Probabality</a:t>
              </a:r>
              <a:r>
                <a:rPr lang="en-US" sz="1200" dirty="0">
                  <a:solidFill>
                    <a:srgbClr val="4B5563"/>
                  </a:solidFill>
                  <a:latin typeface="DM Sans Medium"/>
                  <a:ea typeface="DM Sans Medium"/>
                  <a:cs typeface="DM Sans Medium"/>
                  <a:sym typeface="DM Sans Medium"/>
                </a:rPr>
                <a:t> </a:t>
              </a:r>
            </a:p>
            <a:p>
              <a:pPr marL="171450" lvl="0" indent="-171450" algn="l" rtl="0">
                <a:spcBef>
                  <a:spcPts val="300"/>
                </a:spcBef>
                <a:spcAft>
                  <a:spcPts val="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Statistical Concepts - </a:t>
              </a:r>
              <a:r>
                <a:rPr lang="en-US" sz="1200" dirty="0">
                  <a:solidFill>
                    <a:srgbClr val="4B5563"/>
                  </a:solidFill>
                  <a:latin typeface="DM Sans Medium"/>
                  <a:ea typeface="DM Sans Medium"/>
                  <a:cs typeface="DM Sans Medium"/>
                  <a:sym typeface="DM Sans Medium"/>
                </a:rPr>
                <a:t>Mean/Median/Mode, Standard </a:t>
              </a:r>
            </a:p>
            <a:p>
              <a:pPr marL="0" lvl="0" indent="0" algn="l" rtl="0">
                <a:spcBef>
                  <a:spcPts val="300"/>
                </a:spcBef>
                <a:spcAft>
                  <a:spcPts val="0"/>
                </a:spcAft>
                <a:buClr>
                  <a:srgbClr val="00B050"/>
                </a:buClr>
                <a:buSzPct val="120000"/>
                <a:buFont typeface="Wingdings" panose="05000000000000000000" charset="0"/>
                <a:buNone/>
              </a:pPr>
              <a:r>
                <a:rPr lang="en-US" sz="1200" dirty="0">
                  <a:solidFill>
                    <a:srgbClr val="4B5563"/>
                  </a:solidFill>
                  <a:latin typeface="DM Sans Medium"/>
                  <a:ea typeface="DM Sans Medium"/>
                  <a:cs typeface="DM Sans Medium"/>
                  <a:sym typeface="DM Sans Medium"/>
                </a:rPr>
                <a:t>                                          Deviation, Distributions</a:t>
              </a:r>
            </a:p>
            <a:p>
              <a:pPr marL="171450" lvl="0" indent="-171450" algn="l" rtl="0">
                <a:spcBef>
                  <a:spcPts val="300"/>
                </a:spcBef>
                <a:spcAft>
                  <a:spcPts val="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Core ML concepts</a:t>
              </a:r>
              <a:r>
                <a:rPr lang="en-US" sz="1200" dirty="0">
                  <a:solidFill>
                    <a:srgbClr val="4B5563"/>
                  </a:solidFill>
                  <a:latin typeface="DM Sans Medium"/>
                  <a:ea typeface="DM Sans Medium"/>
                  <a:cs typeface="DM Sans Medium"/>
                  <a:sym typeface="DM Sans Medium"/>
                </a:rPr>
                <a:t> - Supervised / Unsupervised </a:t>
              </a:r>
            </a:p>
            <a:p>
              <a:pPr marL="0" lvl="0" indent="0" algn="l" rtl="0">
                <a:spcBef>
                  <a:spcPts val="300"/>
                </a:spcBef>
                <a:spcAft>
                  <a:spcPts val="0"/>
                </a:spcAft>
                <a:buClr>
                  <a:srgbClr val="00B050"/>
                </a:buClr>
                <a:buSzPct val="120000"/>
                <a:buFont typeface="Wingdings" panose="05000000000000000000" charset="0"/>
                <a:buNone/>
              </a:pPr>
              <a:r>
                <a:rPr lang="en-US" sz="1200" dirty="0">
                  <a:solidFill>
                    <a:srgbClr val="4B5563"/>
                  </a:solidFill>
                  <a:latin typeface="DM Sans Medium"/>
                  <a:ea typeface="DM Sans Medium"/>
                  <a:cs typeface="DM Sans Medium"/>
                  <a:sym typeface="DM Sans Medium"/>
                </a:rPr>
                <a:t>                                        Learning / Gen AI / LLMs</a:t>
              </a:r>
            </a:p>
            <a:p>
              <a:pPr marL="171450" lvl="0" indent="-171450" algn="l" rtl="0">
                <a:spcBef>
                  <a:spcPts val="300"/>
                </a:spcBef>
                <a:spcAft>
                  <a:spcPts val="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Key Algorithms</a:t>
              </a:r>
              <a:r>
                <a:rPr lang="en-US" sz="1200" dirty="0">
                  <a:solidFill>
                    <a:srgbClr val="4B5563"/>
                  </a:solidFill>
                  <a:latin typeface="DM Sans Medium"/>
                  <a:ea typeface="DM Sans Medium"/>
                  <a:cs typeface="DM Sans Medium"/>
                  <a:sym typeface="DM Sans Medium"/>
                </a:rPr>
                <a:t> - Regression, Classification, Clustering</a:t>
              </a:r>
            </a:p>
            <a:p>
              <a:pPr marL="171450" lvl="0" indent="-171450" algn="l" rtl="0">
                <a:spcBef>
                  <a:spcPts val="300"/>
                </a:spcBef>
                <a:spcAft>
                  <a:spcPts val="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Model </a:t>
              </a:r>
              <a:r>
                <a:rPr lang="en-US" b="1" dirty="0" err="1">
                  <a:solidFill>
                    <a:srgbClr val="4B5563"/>
                  </a:solidFill>
                  <a:latin typeface="DM Sans Medium"/>
                  <a:ea typeface="DM Sans Medium"/>
                  <a:cs typeface="DM Sans Medium"/>
                  <a:sym typeface="DM Sans Medium"/>
                </a:rPr>
                <a:t>Evalutions</a:t>
              </a:r>
              <a:r>
                <a:rPr lang="en-US" sz="1200" dirty="0">
                  <a:solidFill>
                    <a:srgbClr val="4B5563"/>
                  </a:solidFill>
                  <a:latin typeface="DM Sans Medium"/>
                  <a:ea typeface="DM Sans Medium"/>
                  <a:cs typeface="DM Sans Medium"/>
                  <a:sym typeface="DM Sans Medium"/>
                </a:rPr>
                <a:t> - Precision, Recall, Accuracy</a:t>
              </a:r>
            </a:p>
            <a:p>
              <a:pPr marL="171450" lvl="0" indent="-171450" algn="l" rtl="0">
                <a:spcBef>
                  <a:spcPts val="300"/>
                </a:spcBef>
                <a:spcAft>
                  <a:spcPts val="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Python Libraries </a:t>
              </a:r>
              <a:r>
                <a:rPr lang="en-US" sz="1200" dirty="0">
                  <a:solidFill>
                    <a:srgbClr val="4B5563"/>
                  </a:solidFill>
                  <a:latin typeface="DM Sans Medium"/>
                  <a:ea typeface="DM Sans Medium"/>
                  <a:cs typeface="DM Sans Medium"/>
                  <a:sym typeface="DM Sans Medium"/>
                </a:rPr>
                <a:t>- pandas, </a:t>
              </a:r>
              <a:r>
                <a:rPr lang="en-US" sz="1200" dirty="0" err="1">
                  <a:solidFill>
                    <a:srgbClr val="4B5563"/>
                  </a:solidFill>
                  <a:latin typeface="DM Sans Medium"/>
                  <a:ea typeface="DM Sans Medium"/>
                  <a:cs typeface="DM Sans Medium"/>
                  <a:sym typeface="DM Sans Medium"/>
                </a:rPr>
                <a:t>numpy</a:t>
              </a:r>
              <a:r>
                <a:rPr lang="en-US" sz="1200" dirty="0">
                  <a:solidFill>
                    <a:srgbClr val="4B5563"/>
                  </a:solidFill>
                  <a:latin typeface="DM Sans Medium"/>
                  <a:ea typeface="DM Sans Medium"/>
                  <a:cs typeface="DM Sans Medium"/>
                  <a:sym typeface="DM Sans Medium"/>
                </a:rPr>
                <a:t>, scikit</a:t>
              </a:r>
            </a:p>
          </p:txBody>
        </p:sp>
      </p:grpSp>
      <p:grpSp>
        <p:nvGrpSpPr>
          <p:cNvPr id="5" name="Group 4">
            <a:extLst>
              <a:ext uri="{FF2B5EF4-FFF2-40B4-BE49-F238E27FC236}">
                <a16:creationId xmlns:a16="http://schemas.microsoft.com/office/drawing/2014/main" id="{C3A5CEB9-1FC2-23CC-55DE-3F95C3CB36B2}"/>
              </a:ext>
            </a:extLst>
          </p:cNvPr>
          <p:cNvGrpSpPr/>
          <p:nvPr/>
        </p:nvGrpSpPr>
        <p:grpSpPr>
          <a:xfrm>
            <a:off x="5363210" y="1602740"/>
            <a:ext cx="3399790" cy="3382645"/>
            <a:chOff x="5363210" y="1602740"/>
            <a:chExt cx="3399790" cy="3382645"/>
          </a:xfrm>
        </p:grpSpPr>
        <p:sp>
          <p:nvSpPr>
            <p:cNvPr id="3" name="Google Shape;125;p16"/>
            <p:cNvSpPr/>
            <p:nvPr/>
          </p:nvSpPr>
          <p:spPr>
            <a:xfrm>
              <a:off x="5363210" y="1602740"/>
              <a:ext cx="3399790" cy="3382645"/>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34" name="Google Shape;134;p16"/>
            <p:cNvSpPr txBox="1"/>
            <p:nvPr/>
          </p:nvSpPr>
          <p:spPr>
            <a:xfrm>
              <a:off x="5489575" y="1768474"/>
              <a:ext cx="3075940" cy="2752724"/>
            </a:xfrm>
            <a:prstGeom prst="rect">
              <a:avLst/>
            </a:prstGeom>
            <a:noFill/>
            <a:ln>
              <a:noFill/>
            </a:ln>
          </p:spPr>
          <p:txBody>
            <a:bodyPr spcFirstLastPara="1" wrap="square" lIns="0" tIns="0" rIns="0" bIns="0" anchor="t" anchorCtr="0">
              <a:noAutofit/>
            </a:bodyPr>
            <a:lstStyle/>
            <a:p>
              <a:pPr marL="0" lvl="0" indent="0" algn="l" rtl="0">
                <a:spcBef>
                  <a:spcPts val="300"/>
                </a:spcBef>
                <a:spcAft>
                  <a:spcPts val="0"/>
                </a:spcAft>
                <a:buNone/>
              </a:pPr>
              <a:r>
                <a:rPr lang="en-US" sz="1600" b="1" dirty="0">
                  <a:solidFill>
                    <a:srgbClr val="111827"/>
                  </a:solidFill>
                  <a:latin typeface="DM Sans"/>
                  <a:ea typeface="DM Sans"/>
                  <a:cs typeface="DM Sans"/>
                  <a:sym typeface="DM Sans"/>
                </a:rPr>
                <a:t>Other topics</a:t>
              </a:r>
            </a:p>
            <a:p>
              <a:pPr marL="0" lvl="0" indent="0" algn="l" rtl="0">
                <a:spcBef>
                  <a:spcPts val="300"/>
                </a:spcBef>
                <a:spcAft>
                  <a:spcPts val="0"/>
                </a:spcAft>
                <a:buNone/>
              </a:pPr>
              <a:endParaRPr lang="en-GB" b="0" dirty="0">
                <a:solidFill>
                  <a:srgbClr val="4B5563"/>
                </a:solidFill>
                <a:latin typeface="DM Sans Medium"/>
                <a:ea typeface="DM Sans Medium"/>
                <a:cs typeface="DM Sans Medium"/>
                <a:sym typeface="DM Sans Medium"/>
              </a:endParaRP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OS - </a:t>
              </a:r>
              <a:r>
                <a:rPr lang="en-US" sz="1200" dirty="0">
                  <a:solidFill>
                    <a:srgbClr val="4B5563"/>
                  </a:solidFill>
                  <a:latin typeface="DM Sans Medium"/>
                  <a:ea typeface="DM Sans Medium"/>
                  <a:cs typeface="DM Sans Medium"/>
                  <a:sym typeface="DM Sans Medium"/>
                </a:rPr>
                <a:t>Process management and </a:t>
              </a:r>
            </a:p>
            <a:p>
              <a:pPr marL="0" lvl="0" indent="0" algn="l" rtl="0" eaLnBrk="1" fontAlgn="auto" latinLnBrk="0" hangingPunct="1">
                <a:spcBef>
                  <a:spcPts val="400"/>
                </a:spcBef>
                <a:spcAft>
                  <a:spcPts val="400"/>
                </a:spcAft>
                <a:buClr>
                  <a:srgbClr val="00B050"/>
                </a:buClr>
                <a:buSzPct val="120000"/>
                <a:buFont typeface="Wingdings" panose="05000000000000000000" charset="0"/>
                <a:buNone/>
              </a:pPr>
              <a:r>
                <a:rPr lang="en-US" sz="1200" dirty="0">
                  <a:solidFill>
                    <a:srgbClr val="4B5563"/>
                  </a:solidFill>
                  <a:latin typeface="DM Sans Medium"/>
                  <a:ea typeface="DM Sans Medium"/>
                  <a:cs typeface="DM Sans Medium"/>
                  <a:sym typeface="DM Sans Medium"/>
                </a:rPr>
                <a:t>            Memory management</a:t>
              </a: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Networks -</a:t>
              </a:r>
              <a:r>
                <a:rPr lang="en-US" sz="1200" dirty="0">
                  <a:solidFill>
                    <a:srgbClr val="4B5563"/>
                  </a:solidFill>
                  <a:latin typeface="DM Sans Medium"/>
                  <a:ea typeface="DM Sans Medium"/>
                  <a:cs typeface="DM Sans Medium"/>
                  <a:sym typeface="DM Sans Medium"/>
                </a:rPr>
                <a:t> Protocols, Security</a:t>
              </a: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SDLC </a:t>
              </a:r>
              <a:r>
                <a:rPr lang="en-US" sz="1200" b="0" dirty="0">
                  <a:solidFill>
                    <a:srgbClr val="4B5563"/>
                  </a:solidFill>
                  <a:latin typeface="DM Sans Medium"/>
                  <a:ea typeface="DM Sans Medium"/>
                  <a:cs typeface="DM Sans Medium"/>
                  <a:sym typeface="DM Sans Medium"/>
                </a:rPr>
                <a:t>- Waterfall &amp; Agile</a:t>
              </a:r>
              <a:endParaRPr lang="en-US" b="0" dirty="0">
                <a:solidFill>
                  <a:srgbClr val="4B5563"/>
                </a:solidFill>
                <a:latin typeface="DM Sans Medium"/>
                <a:ea typeface="DM Sans Medium"/>
                <a:cs typeface="DM Sans Medium"/>
                <a:sym typeface="DM Sans Medium"/>
              </a:endParaRP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System Design </a:t>
              </a:r>
            </a:p>
            <a:p>
              <a:pPr marL="171450" lvl="0" indent="-171450" algn="l" rtl="0" eaLnBrk="1" fontAlgn="auto" latinLnBrk="0" hangingPunct="1">
                <a:spcBef>
                  <a:spcPts val="400"/>
                </a:spcBef>
                <a:spcAft>
                  <a:spcPts val="400"/>
                </a:spcAft>
                <a:buClr>
                  <a:srgbClr val="00B050"/>
                </a:buClr>
                <a:buSzPct val="120000"/>
                <a:buFont typeface="Wingdings" panose="05000000000000000000" charset="0"/>
                <a:buChar char=""/>
              </a:pPr>
              <a:r>
                <a:rPr lang="en-US" b="1" dirty="0">
                  <a:solidFill>
                    <a:srgbClr val="4B5563"/>
                  </a:solidFill>
                  <a:latin typeface="DM Sans Medium"/>
                  <a:ea typeface="DM Sans Medium"/>
                  <a:cs typeface="DM Sans Medium"/>
                  <a:sym typeface="DM Sans Medium"/>
                </a:rPr>
                <a:t>  Version Control</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8"/>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168" name="Google Shape;168;p18"/>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169" name="Google Shape;169;p18"/>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0" name="Google Shape;170;p18"/>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71" name="Google Shape;171;p18"/>
          <p:cNvSpPr txBox="1"/>
          <p:nvPr/>
        </p:nvSpPr>
        <p:spPr>
          <a:xfrm>
            <a:off x="571499" y="381000"/>
            <a:ext cx="8381999"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dirty="0">
                <a:solidFill>
                  <a:srgbClr val="FF5733"/>
                </a:solidFill>
                <a:latin typeface="Poppins" panose="00000800000000000000"/>
                <a:ea typeface="Poppins" panose="00000800000000000000"/>
                <a:cs typeface="Poppins" panose="00000800000000000000"/>
                <a:sym typeface="Poppins" panose="00000800000000000000"/>
              </a:rPr>
              <a:t>ROUND </a:t>
            </a:r>
            <a:r>
              <a:rPr lang="en-US" altLang="en-GB" sz="1800" b="1" i="0" u="none" strike="noStrike" dirty="0">
                <a:solidFill>
                  <a:srgbClr val="FF5733"/>
                </a:solidFill>
                <a:latin typeface="Poppins" panose="00000800000000000000"/>
                <a:ea typeface="Poppins" panose="00000800000000000000"/>
                <a:cs typeface="Poppins" panose="00000800000000000000"/>
                <a:sym typeface="Poppins" panose="00000800000000000000"/>
              </a:rPr>
              <a:t>3</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900"/>
              </a:spcBef>
              <a:spcAft>
                <a:spcPts val="900"/>
              </a:spcAft>
              <a:buNone/>
            </a:pPr>
            <a:r>
              <a:rPr lang="en-US" sz="2400" b="0" i="0" u="none" strike="noStrike" dirty="0">
                <a:solidFill>
                  <a:srgbClr val="0B132B"/>
                </a:solidFill>
                <a:latin typeface="Poppins SemiBold"/>
                <a:ea typeface="Poppins SemiBold"/>
                <a:cs typeface="Poppins SemiBold"/>
                <a:sym typeface="Poppins SemiBold"/>
              </a:rPr>
              <a:t>Technical Interviews - Standard Behavioral Questions</a:t>
            </a:r>
            <a:r>
              <a:rPr lang="en-US" sz="2700" b="0" i="0" u="none" strike="noStrike" dirty="0">
                <a:solidFill>
                  <a:srgbClr val="0B132B"/>
                </a:solidFill>
                <a:latin typeface="Poppins SemiBold"/>
                <a:ea typeface="Poppins SemiBold"/>
                <a:cs typeface="Poppins SemiBold"/>
                <a:sym typeface="Poppins SemiBold"/>
              </a:rPr>
              <a:t> </a:t>
            </a:r>
            <a:endParaRPr lang="en-US"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p:cNvCxnSpPr/>
          <p:nvPr/>
        </p:nvCxnSpPr>
        <p:spPr>
          <a:xfrm>
            <a:off x="381000" y="13716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123" name="Google Shape;123;p16"/>
          <p:cNvGrpSpPr/>
          <p:nvPr/>
        </p:nvGrpSpPr>
        <p:grpSpPr>
          <a:xfrm>
            <a:off x="345440" y="1571625"/>
            <a:ext cx="8417560" cy="3317241"/>
            <a:chOff x="-3904618" y="1345744"/>
            <a:chExt cx="8473440" cy="1673386"/>
          </a:xfrm>
        </p:grpSpPr>
        <p:sp>
          <p:nvSpPr>
            <p:cNvPr id="2" name="Google Shape;125;p16"/>
            <p:cNvSpPr/>
            <p:nvPr/>
          </p:nvSpPr>
          <p:spPr>
            <a:xfrm>
              <a:off x="-3904618" y="1345744"/>
              <a:ext cx="8473440" cy="1673386"/>
            </a:xfrm>
            <a:prstGeom prst="roundRect">
              <a:avLst>
                <a:gd name="adj" fmla="val 4444"/>
              </a:avLst>
            </a:prstGeom>
            <a:solidFill>
              <a:srgbClr val="FFFFFF"/>
            </a:solidFill>
            <a:ln w="952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30" name="Google Shape;130;p16"/>
            <p:cNvSpPr txBox="1"/>
            <p:nvPr/>
          </p:nvSpPr>
          <p:spPr>
            <a:xfrm>
              <a:off x="-3676418" y="1423904"/>
              <a:ext cx="8053475" cy="1537567"/>
            </a:xfrm>
            <a:prstGeom prst="rect">
              <a:avLst/>
            </a:prstGeom>
            <a:noFill/>
            <a:ln>
              <a:noFill/>
            </a:ln>
          </p:spPr>
          <p:txBody>
            <a:bodyPr spcFirstLastPara="1" wrap="square" lIns="0" tIns="0" rIns="0" bIns="0" anchor="t" anchorCtr="0">
              <a:noAutofit/>
            </a:bodyPr>
            <a:lstStyle/>
            <a:p>
              <a:pPr marL="171450" lvl="0" indent="-171450" algn="l" rtl="0" eaLnBrk="1" fontAlgn="auto" latinLnBrk="0" hangingPunct="1">
                <a:spcBef>
                  <a:spcPts val="400"/>
                </a:spcBef>
                <a:spcAft>
                  <a:spcPts val="400"/>
                </a:spcAft>
                <a:buClr>
                  <a:srgbClr val="00B050"/>
                </a:buClr>
                <a:buSzPct val="125000"/>
                <a:buFont typeface="Wingdings" panose="05000000000000000000" charset="0"/>
                <a:buChar char=""/>
              </a:pPr>
              <a:r>
                <a:rPr lang="en-US" sz="1600" dirty="0">
                  <a:solidFill>
                    <a:srgbClr val="4B5563"/>
                  </a:solidFill>
                  <a:latin typeface="DM Sans Medium"/>
                  <a:ea typeface="DM Sans Medium"/>
                  <a:cs typeface="DM Sans Medium"/>
                  <a:sym typeface="DM Sans Medium"/>
                </a:rPr>
                <a:t>  Tell me about yourself</a:t>
              </a:r>
            </a:p>
            <a:p>
              <a:pPr marL="171450" lvl="0" indent="-171450" algn="l" rtl="0" eaLnBrk="1" fontAlgn="auto" latinLnBrk="0" hangingPunct="1">
                <a:spcBef>
                  <a:spcPts val="400"/>
                </a:spcBef>
                <a:spcAft>
                  <a:spcPts val="400"/>
                </a:spcAft>
                <a:buClr>
                  <a:srgbClr val="00B050"/>
                </a:buClr>
                <a:buSzPct val="125000"/>
                <a:buFont typeface="Wingdings" panose="05000000000000000000" charset="0"/>
                <a:buChar char=""/>
              </a:pPr>
              <a:r>
                <a:rPr lang="en-US" sz="1600" dirty="0">
                  <a:solidFill>
                    <a:srgbClr val="4B5563"/>
                  </a:solidFill>
                  <a:latin typeface="DM Sans Medium"/>
                  <a:ea typeface="DM Sans Medium"/>
                  <a:cs typeface="DM Sans Medium"/>
                  <a:sym typeface="DM Sans Medium"/>
                </a:rPr>
                <a:t>  Explain project XYZ</a:t>
              </a:r>
            </a:p>
            <a:p>
              <a:pPr marL="171450" lvl="0" indent="-171450" algn="l" rtl="0" eaLnBrk="1" fontAlgn="auto" latinLnBrk="0" hangingPunct="1">
                <a:spcBef>
                  <a:spcPts val="400"/>
                </a:spcBef>
                <a:spcAft>
                  <a:spcPts val="400"/>
                </a:spcAft>
                <a:buClr>
                  <a:srgbClr val="00B050"/>
                </a:buClr>
                <a:buSzPct val="125000"/>
                <a:buFont typeface="Wingdings" panose="05000000000000000000" charset="0"/>
                <a:buChar char=""/>
              </a:pPr>
              <a:r>
                <a:rPr lang="en-US" sz="1600" dirty="0">
                  <a:solidFill>
                    <a:srgbClr val="4B5563"/>
                  </a:solidFill>
                  <a:latin typeface="DM Sans Medium"/>
                  <a:ea typeface="DM Sans Medium"/>
                  <a:cs typeface="DM Sans Medium"/>
                  <a:sym typeface="DM Sans Medium"/>
                </a:rPr>
                <a:t>  Tell me about a technical challenge you overcame during the Internship / Projects.</a:t>
              </a:r>
            </a:p>
            <a:p>
              <a:pPr marL="171450" lvl="0" indent="-171450" algn="l" rtl="0" eaLnBrk="1" fontAlgn="auto" latinLnBrk="0" hangingPunct="1">
                <a:spcBef>
                  <a:spcPts val="400"/>
                </a:spcBef>
                <a:spcAft>
                  <a:spcPts val="400"/>
                </a:spcAft>
                <a:buClr>
                  <a:srgbClr val="00B050"/>
                </a:buClr>
                <a:buSzPct val="125000"/>
                <a:buFont typeface="Wingdings" panose="05000000000000000000" charset="0"/>
                <a:buChar char=""/>
              </a:pPr>
              <a:r>
                <a:rPr lang="en-US" sz="1600" dirty="0">
                  <a:solidFill>
                    <a:srgbClr val="4B5563"/>
                  </a:solidFill>
                  <a:latin typeface="DM Sans Medium"/>
                  <a:ea typeface="DM Sans Medium"/>
                  <a:cs typeface="DM Sans Medium"/>
                  <a:sym typeface="DM Sans Medium"/>
                </a:rPr>
                <a:t>  What is your most significant accomplishment across your projects?</a:t>
              </a:r>
            </a:p>
            <a:p>
              <a:pPr marL="171450" lvl="0" indent="-171450" algn="l" rtl="0" eaLnBrk="1" fontAlgn="auto" latinLnBrk="0" hangingPunct="1">
                <a:spcBef>
                  <a:spcPts val="400"/>
                </a:spcBef>
                <a:spcAft>
                  <a:spcPts val="400"/>
                </a:spcAft>
                <a:buClr>
                  <a:srgbClr val="00B050"/>
                </a:buClr>
                <a:buSzPct val="125000"/>
                <a:buFont typeface="Wingdings" panose="05000000000000000000" charset="0"/>
                <a:buChar char=""/>
              </a:pPr>
              <a:r>
                <a:rPr lang="en-US" sz="1600" dirty="0">
                  <a:solidFill>
                    <a:srgbClr val="4B5563"/>
                  </a:solidFill>
                  <a:latin typeface="DM Sans Medium"/>
                  <a:ea typeface="DM Sans Medium"/>
                  <a:cs typeface="DM Sans Medium"/>
                  <a:sym typeface="DM Sans Medium"/>
                </a:rPr>
                <a:t>  Where do you see yourself in next 5 years ?</a:t>
              </a:r>
            </a:p>
            <a:p>
              <a:pPr marL="171450" lvl="0" indent="-171450" algn="l" rtl="0" eaLnBrk="1" fontAlgn="auto" latinLnBrk="0" hangingPunct="1">
                <a:spcBef>
                  <a:spcPts val="400"/>
                </a:spcBef>
                <a:spcAft>
                  <a:spcPts val="400"/>
                </a:spcAft>
                <a:buClr>
                  <a:srgbClr val="00B050"/>
                </a:buClr>
                <a:buSzPct val="125000"/>
                <a:buFont typeface="Wingdings" panose="05000000000000000000" charset="0"/>
                <a:buChar char=""/>
              </a:pPr>
              <a:r>
                <a:rPr lang="en-US" sz="1600" dirty="0">
                  <a:solidFill>
                    <a:srgbClr val="4B5563"/>
                  </a:solidFill>
                  <a:latin typeface="DM Sans Medium"/>
                  <a:ea typeface="DM Sans Medium"/>
                  <a:cs typeface="DM Sans Medium"/>
                  <a:sym typeface="DM Sans Medium"/>
                </a:rPr>
                <a:t>  Why do you want to join our company ?</a:t>
              </a:r>
            </a:p>
            <a:p>
              <a:pPr marL="171450" lvl="0" indent="-171450" algn="l" rtl="0" eaLnBrk="1" fontAlgn="auto" latinLnBrk="0" hangingPunct="1">
                <a:spcBef>
                  <a:spcPts val="400"/>
                </a:spcBef>
                <a:spcAft>
                  <a:spcPts val="400"/>
                </a:spcAft>
                <a:buClr>
                  <a:srgbClr val="00B050"/>
                </a:buClr>
                <a:buSzPct val="125000"/>
                <a:buFont typeface="Wingdings" panose="05000000000000000000" charset="0"/>
                <a:buChar char=""/>
              </a:pPr>
              <a:r>
                <a:rPr lang="en-US" sz="1600" dirty="0">
                  <a:solidFill>
                    <a:srgbClr val="4B5563"/>
                  </a:solidFill>
                  <a:latin typeface="DM Sans Medium"/>
                  <a:ea typeface="DM Sans Medium"/>
                  <a:cs typeface="DM Sans Medium"/>
                  <a:sym typeface="DM Sans Medium"/>
                </a:rPr>
                <a:t>  How do you manage conflict within the team ?</a:t>
              </a:r>
            </a:p>
            <a:p>
              <a:pPr marL="171450" lvl="0" indent="-171450" algn="l" rtl="0" eaLnBrk="1" fontAlgn="auto" latinLnBrk="0" hangingPunct="1">
                <a:spcBef>
                  <a:spcPts val="400"/>
                </a:spcBef>
                <a:spcAft>
                  <a:spcPts val="400"/>
                </a:spcAft>
                <a:buClr>
                  <a:srgbClr val="00B050"/>
                </a:buClr>
                <a:buSzPct val="125000"/>
                <a:buFont typeface="Wingdings" panose="05000000000000000000" charset="0"/>
                <a:buChar char=""/>
              </a:pPr>
              <a:r>
                <a:rPr lang="en-US" sz="1600" dirty="0">
                  <a:solidFill>
                    <a:srgbClr val="4B5563"/>
                  </a:solidFill>
                  <a:latin typeface="DM Sans Medium"/>
                  <a:ea typeface="DM Sans Medium"/>
                  <a:cs typeface="DM Sans Medium"/>
                  <a:sym typeface="DM Sans Medium"/>
                </a:rPr>
                <a:t>  Do you have any question for me or the company ?</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Google Shape;78;p15"/>
          <p:cNvGrpSpPr/>
          <p:nvPr/>
        </p:nvGrpSpPr>
        <p:grpSpPr>
          <a:xfrm>
            <a:off x="5080" y="-5080"/>
            <a:ext cx="9144150" cy="5143650"/>
            <a:chOff x="0" y="0"/>
            <a:chExt cx="9144150" cy="5143650"/>
          </a:xfrm>
        </p:grpSpPr>
        <p:sp>
          <p:nvSpPr>
            <p:cNvPr id="79" name="Google Shape;79;p15"/>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p:cNvPicPr preferRelativeResize="0"/>
            <p:nvPr/>
          </p:nvPicPr>
          <p:blipFill rotWithShape="1">
            <a:blip r:embed="rId2"/>
            <a:srcRect/>
            <a:stretch>
              <a:fillRect/>
            </a:stretch>
          </p:blipFill>
          <p:spPr>
            <a:xfrm>
              <a:off x="4763" y="4763"/>
              <a:ext cx="8982000" cy="4981500"/>
            </a:xfrm>
            <a:prstGeom prst="rect">
              <a:avLst/>
            </a:prstGeom>
            <a:noFill/>
            <a:ln>
              <a:noFill/>
            </a:ln>
          </p:spPr>
        </p:pic>
        <p:sp>
          <p:nvSpPr>
            <p:cNvPr id="81" name="Google Shape;81;p15"/>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4" name="Text Placeholder 3"/>
          <p:cNvSpPr>
            <a:spLocks noGrp="1"/>
          </p:cNvSpPr>
          <p:nvPr>
            <p:ph type="body" idx="1"/>
          </p:nvPr>
        </p:nvSpPr>
        <p:spPr>
          <a:xfrm>
            <a:off x="311785" y="1452245"/>
            <a:ext cx="8520430" cy="2673985"/>
          </a:xfrm>
        </p:spPr>
        <p:txBody>
          <a:bodyPr>
            <a:normAutofit fontScale="90000" lnSpcReduction="10000"/>
          </a:bodyPr>
          <a:lstStyle/>
          <a:p>
            <a:pPr marL="114300" indent="0" eaLnBrk="1" fontAlgn="auto" latinLnBrk="0" hangingPunct="1">
              <a:spcBef>
                <a:spcPts val="600"/>
              </a:spcBef>
              <a:spcAft>
                <a:spcPts val="600"/>
              </a:spcAft>
              <a:buNone/>
            </a:pPr>
            <a:r>
              <a:rPr lang="en-US" altLang="en-US" dirty="0"/>
              <a:t>✔ </a:t>
            </a:r>
            <a:r>
              <a:rPr lang="en-US" altLang="en-US" dirty="0">
                <a:sym typeface="+mn-ea"/>
              </a:rPr>
              <a:t>Master 1 or 2 Programming Languages</a:t>
            </a:r>
          </a:p>
          <a:p>
            <a:pPr marL="114300" indent="0" eaLnBrk="1" fontAlgn="auto" latinLnBrk="0" hangingPunct="1">
              <a:spcBef>
                <a:spcPts val="600"/>
              </a:spcBef>
              <a:spcAft>
                <a:spcPts val="600"/>
              </a:spcAft>
              <a:buNone/>
            </a:pPr>
            <a:r>
              <a:rPr lang="en-US" altLang="en-US" dirty="0"/>
              <a:t>✔ Revise CS fundamentals and Practice DSA problems daily</a:t>
            </a:r>
          </a:p>
          <a:p>
            <a:pPr marL="114300" algn="l" eaLnBrk="1" fontAlgn="auto" latinLnBrk="0" hangingPunct="1">
              <a:spcBef>
                <a:spcPts val="600"/>
              </a:spcBef>
              <a:spcAft>
                <a:spcPts val="600"/>
              </a:spcAft>
              <a:buNone/>
            </a:pPr>
            <a:r>
              <a:rPr lang="en-US" altLang="en-US" dirty="0">
                <a:sym typeface="+mn-ea"/>
              </a:rPr>
              <a:t>  ✔ </a:t>
            </a:r>
            <a:r>
              <a:rPr lang="en-US" altLang="en-US" dirty="0">
                <a:sym typeface="Inter SemiBold" panose="02000503000000020004"/>
              </a:rPr>
              <a:t>Understand the underlying mechanics, not just syntax.</a:t>
            </a:r>
            <a:endParaRPr lang="en-US" altLang="en-US" dirty="0"/>
          </a:p>
          <a:p>
            <a:pPr marL="114300" indent="0" eaLnBrk="1" fontAlgn="auto" latinLnBrk="0" hangingPunct="1">
              <a:spcBef>
                <a:spcPts val="600"/>
              </a:spcBef>
              <a:spcAft>
                <a:spcPts val="600"/>
              </a:spcAft>
              <a:buNone/>
            </a:pPr>
            <a:r>
              <a:rPr lang="en-US" altLang="en-US" dirty="0"/>
              <a:t>✔ Identify </a:t>
            </a:r>
            <a:r>
              <a:rPr lang="en-US" altLang="en-US" dirty="0" err="1"/>
              <a:t>weakspot</a:t>
            </a:r>
            <a:r>
              <a:rPr lang="en-US" altLang="en-US" dirty="0"/>
              <a:t> and strengthen those areas</a:t>
            </a:r>
          </a:p>
          <a:p>
            <a:pPr marL="114300" indent="0" eaLnBrk="1" fontAlgn="auto" latinLnBrk="0" hangingPunct="1">
              <a:spcBef>
                <a:spcPts val="600"/>
              </a:spcBef>
              <a:spcAft>
                <a:spcPts val="600"/>
              </a:spcAft>
              <a:buNone/>
            </a:pPr>
            <a:r>
              <a:rPr lang="en-US" altLang="en-US" dirty="0">
                <a:sym typeface="+mn-ea"/>
              </a:rPr>
              <a:t>✔ Prepare for real world examples and discussions</a:t>
            </a:r>
          </a:p>
          <a:p>
            <a:pPr marL="114300" indent="0" eaLnBrk="1" fontAlgn="auto" latinLnBrk="0" hangingPunct="1">
              <a:spcBef>
                <a:spcPts val="600"/>
              </a:spcBef>
              <a:spcAft>
                <a:spcPts val="600"/>
              </a:spcAft>
              <a:buNone/>
            </a:pPr>
            <a:r>
              <a:rPr lang="en-US" altLang="en-US" dirty="0"/>
              <a:t>✔ Prepare and rehearse standard behavioral questions</a:t>
            </a:r>
            <a:endParaRPr lang="en-US" altLang="en-US" sz="3200" dirty="0"/>
          </a:p>
        </p:txBody>
      </p:sp>
      <p:sp>
        <p:nvSpPr>
          <p:cNvPr id="118" name="Google Shape;118;p16"/>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600"/>
              </a:spcBef>
              <a:spcAft>
                <a:spcPts val="600"/>
              </a:spcAft>
              <a:buNone/>
            </a:pPr>
            <a:r>
              <a:rPr lang="en-GB" sz="1800" b="1">
                <a:solidFill>
                  <a:srgbClr val="FF5733"/>
                </a:solidFill>
                <a:latin typeface="Poppins" panose="00000800000000000000"/>
                <a:ea typeface="Poppins" panose="00000800000000000000"/>
                <a:cs typeface="Poppins" panose="00000800000000000000"/>
                <a:sym typeface="Poppins" panose="00000800000000000000"/>
              </a:rPr>
              <a:t>ROUND </a:t>
            </a:r>
            <a:r>
              <a:rPr lang="en-US" altLang="en-GB" sz="1800" b="1">
                <a:solidFill>
                  <a:srgbClr val="FF5733"/>
                </a:solidFill>
                <a:latin typeface="Poppins" panose="00000800000000000000"/>
                <a:ea typeface="Poppins" panose="00000800000000000000"/>
                <a:cs typeface="Poppins" panose="00000800000000000000"/>
                <a:sym typeface="Poppins" panose="00000800000000000000"/>
              </a:rPr>
              <a:t>3</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US" sz="2700">
                <a:sym typeface="+mn-ea"/>
              </a:rPr>
              <a:t>Preparation Strategy - Technical Interview</a:t>
            </a:r>
          </a:p>
        </p:txBody>
      </p:sp>
      <p:cxnSp>
        <p:nvCxnSpPr>
          <p:cNvPr id="93" name="Google Shape;93;p15"/>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554" name="Google Shape;554;p30"/>
          <p:cNvGrpSpPr/>
          <p:nvPr/>
        </p:nvGrpSpPr>
        <p:grpSpPr>
          <a:xfrm>
            <a:off x="152158" y="4214495"/>
            <a:ext cx="8746914" cy="714525"/>
            <a:chOff x="-64590" y="0"/>
            <a:chExt cx="8446590" cy="714525"/>
          </a:xfrm>
        </p:grpSpPr>
        <p:sp>
          <p:nvSpPr>
            <p:cNvPr id="3" name="Google Shape;556;p30"/>
            <p:cNvSpPr/>
            <p:nvPr/>
          </p:nvSpPr>
          <p:spPr>
            <a:xfrm>
              <a:off x="0" y="0"/>
              <a:ext cx="8382000" cy="666750"/>
            </a:xfrm>
            <a:prstGeom prst="roundRect">
              <a:avLst>
                <a:gd name="adj" fmla="val 16000"/>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557" name="Google Shape;557;p30"/>
            <p:cNvSpPr txBox="1"/>
            <p:nvPr/>
          </p:nvSpPr>
          <p:spPr>
            <a:xfrm>
              <a:off x="-64590" y="238125"/>
              <a:ext cx="1138816" cy="4764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altLang="en-GB" b="1" dirty="0">
                  <a:solidFill>
                    <a:srgbClr val="111827"/>
                  </a:solidFill>
                  <a:latin typeface="Outfit"/>
                  <a:ea typeface="Outfit"/>
                  <a:cs typeface="Outfit"/>
                  <a:sym typeface="Outfit"/>
                </a:rPr>
                <a:t>Remember</a:t>
              </a:r>
              <a:r>
                <a:rPr lang="en-GB" b="1" dirty="0">
                  <a:solidFill>
                    <a:srgbClr val="111827"/>
                  </a:solidFill>
                  <a:latin typeface="Outfit"/>
                  <a:ea typeface="Outfit"/>
                  <a:cs typeface="Outfit"/>
                  <a:sym typeface="Outfit"/>
                </a:rPr>
                <a:t>:</a:t>
              </a:r>
              <a:endParaRPr dirty="0"/>
            </a:p>
          </p:txBody>
        </p:sp>
        <p:sp>
          <p:nvSpPr>
            <p:cNvPr id="558" name="Google Shape;558;p30"/>
            <p:cNvSpPr txBox="1"/>
            <p:nvPr/>
          </p:nvSpPr>
          <p:spPr>
            <a:xfrm>
              <a:off x="947286" y="238125"/>
              <a:ext cx="7434714" cy="47625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altLang="en-GB" b="1" dirty="0">
                  <a:solidFill>
                    <a:srgbClr val="111827"/>
                  </a:solidFill>
                  <a:latin typeface="DM Sans"/>
                  <a:ea typeface="DM Sans"/>
                  <a:cs typeface="DM Sans"/>
                  <a:sym typeface="DM Sans"/>
                </a:rPr>
                <a:t>Understanding basics and revising fundamentals regularly gives immense confidence.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1"/>
          <p:cNvSpPr/>
          <p:nvPr/>
        </p:nvSpPr>
        <p:spPr>
          <a:xfrm>
            <a:off x="0" y="0"/>
            <a:ext cx="9144000" cy="51435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53" name="Google Shape;253;p21"/>
          <p:cNvPicPr preferRelativeResize="0"/>
          <p:nvPr/>
        </p:nvPicPr>
        <p:blipFill rotWithShape="1">
          <a:blip r:embed="rId3"/>
          <a:srcRect/>
          <a:stretch>
            <a:fillRect/>
          </a:stretch>
        </p:blipFill>
        <p:spPr>
          <a:xfrm>
            <a:off x="5080" y="5080"/>
            <a:ext cx="8982075" cy="5124450"/>
          </a:xfrm>
          <a:prstGeom prst="rect">
            <a:avLst/>
          </a:prstGeom>
          <a:noFill/>
          <a:ln>
            <a:noFill/>
          </a:ln>
        </p:spPr>
      </p:pic>
      <p:sp>
        <p:nvSpPr>
          <p:cNvPr id="254" name="Google Shape;254;p21"/>
          <p:cNvSpPr/>
          <p:nvPr/>
        </p:nvSpPr>
        <p:spPr>
          <a:xfrm>
            <a:off x="5334000" y="-1238250"/>
            <a:ext cx="7620000" cy="7620000"/>
          </a:xfrm>
          <a:prstGeom prst="ellipse">
            <a:avLst/>
          </a:prstGeom>
          <a:solidFill>
            <a:srgbClr val="FF5733">
              <a:alpha val="1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55" name="Google Shape;255;p21"/>
          <p:cNvSpPr/>
          <p:nvPr/>
        </p:nvSpPr>
        <p:spPr>
          <a:xfrm>
            <a:off x="-1905000" y="3238500"/>
            <a:ext cx="3810000" cy="3810000"/>
          </a:xfrm>
          <a:prstGeom prst="ellipse">
            <a:avLst/>
          </a:prstGeom>
          <a:solidFill>
            <a:srgbClr val="0B132B">
              <a:alpha val="1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56" name="Google Shape;256;p21"/>
          <p:cNvPicPr preferRelativeResize="0"/>
          <p:nvPr/>
        </p:nvPicPr>
        <p:blipFill rotWithShape="1">
          <a:blip r:embed="rId4"/>
          <a:srcRect/>
          <a:stretch>
            <a:fillRect/>
          </a:stretch>
        </p:blipFill>
        <p:spPr>
          <a:xfrm>
            <a:off x="7086600" y="-723900"/>
            <a:ext cx="2057400" cy="2971800"/>
          </a:xfrm>
          <a:prstGeom prst="rect">
            <a:avLst/>
          </a:prstGeom>
          <a:noFill/>
          <a:ln>
            <a:noFill/>
          </a:ln>
        </p:spPr>
      </p:pic>
      <p:pic>
        <p:nvPicPr>
          <p:cNvPr id="257" name="Google Shape;257;p21"/>
          <p:cNvPicPr preferRelativeResize="0"/>
          <p:nvPr/>
        </p:nvPicPr>
        <p:blipFill rotWithShape="1">
          <a:blip r:embed="rId5"/>
          <a:srcRect/>
          <a:stretch>
            <a:fillRect/>
          </a:stretch>
        </p:blipFill>
        <p:spPr>
          <a:xfrm>
            <a:off x="-209550" y="3409950"/>
            <a:ext cx="2324100" cy="1719300"/>
          </a:xfrm>
          <a:prstGeom prst="rect">
            <a:avLst/>
          </a:prstGeom>
          <a:noFill/>
          <a:ln>
            <a:noFill/>
          </a:ln>
        </p:spPr>
      </p:pic>
      <p:grpSp>
        <p:nvGrpSpPr>
          <p:cNvPr id="258" name="Google Shape;258;p21"/>
          <p:cNvGrpSpPr/>
          <p:nvPr/>
        </p:nvGrpSpPr>
        <p:grpSpPr>
          <a:xfrm>
            <a:off x="533400" y="1428750"/>
            <a:ext cx="3657600" cy="2667000"/>
            <a:chOff x="-228600" y="0"/>
            <a:chExt cx="3657600" cy="2667000"/>
          </a:xfrm>
        </p:grpSpPr>
        <p:sp>
          <p:nvSpPr>
            <p:cNvPr id="259" name="Google Shape;259;p21"/>
            <p:cNvSpPr/>
            <p:nvPr/>
          </p:nvSpPr>
          <p:spPr>
            <a:xfrm>
              <a:off x="-228600" y="76200"/>
              <a:ext cx="57300" cy="16191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0" name="Google Shape;260;p21"/>
            <p:cNvSpPr txBox="1"/>
            <p:nvPr/>
          </p:nvSpPr>
          <p:spPr>
            <a:xfrm>
              <a:off x="0" y="0"/>
              <a:ext cx="3429000" cy="2667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3450" b="0">
                  <a:solidFill>
                    <a:srgbClr val="FFFFFF"/>
                  </a:solidFill>
                  <a:latin typeface="Poppins ExtraBold"/>
                  <a:ea typeface="Poppins ExtraBold"/>
                  <a:cs typeface="Poppins ExtraBold"/>
                  <a:sym typeface="Poppins ExtraBold"/>
                </a:rPr>
                <a:t>Resume Readiness</a:t>
              </a:r>
              <a:endParaRPr sz="3450" b="0">
                <a:solidFill>
                  <a:srgbClr val="FFFFFF"/>
                </a:solidFill>
                <a:latin typeface="Poppins ExtraBold"/>
                <a:ea typeface="Poppins ExtraBold"/>
                <a:cs typeface="Poppins ExtraBold"/>
                <a:sym typeface="Poppins ExtraBold"/>
              </a:endParaRPr>
            </a:p>
            <a:p>
              <a:pPr marL="0" lvl="0" indent="0" algn="l" rtl="0">
                <a:spcBef>
                  <a:spcPts val="1125"/>
                </a:spcBef>
                <a:spcAft>
                  <a:spcPts val="0"/>
                </a:spcAft>
                <a:buNone/>
              </a:pPr>
              <a:r>
                <a:rPr lang="en-GB" sz="1950" b="0">
                  <a:solidFill>
                    <a:srgbClr val="FFC300"/>
                  </a:solidFill>
                  <a:latin typeface="Poppins SemiBold"/>
                  <a:ea typeface="Poppins SemiBold"/>
                  <a:cs typeface="Poppins SemiBold"/>
                  <a:sym typeface="Poppins SemiBold"/>
                </a:rPr>
                <a:t>The Power of First Impressions</a:t>
              </a:r>
              <a:endParaRPr sz="1950" b="0">
                <a:solidFill>
                  <a:srgbClr val="FFC300"/>
                </a:solidFill>
                <a:latin typeface="Poppins SemiBold"/>
                <a:ea typeface="Poppins SemiBold"/>
                <a:cs typeface="Poppins SemiBold"/>
                <a:sym typeface="Poppins SemiBold"/>
              </a:endParaRPr>
            </a:p>
          </p:txBody>
        </p:sp>
      </p:grpSp>
      <p:grpSp>
        <p:nvGrpSpPr>
          <p:cNvPr id="261" name="Google Shape;261;p21"/>
          <p:cNvGrpSpPr/>
          <p:nvPr/>
        </p:nvGrpSpPr>
        <p:grpSpPr>
          <a:xfrm>
            <a:off x="4562475" y="523875"/>
            <a:ext cx="3810000" cy="666750"/>
            <a:chOff x="0" y="0"/>
            <a:chExt cx="3810000" cy="857400"/>
          </a:xfrm>
        </p:grpSpPr>
        <p:sp>
          <p:nvSpPr>
            <p:cNvPr id="262" name="Google Shape;262;p21"/>
            <p:cNvSpPr/>
            <p:nvPr/>
          </p:nvSpPr>
          <p:spPr>
            <a:xfrm>
              <a:off x="0" y="0"/>
              <a:ext cx="3810000" cy="857400"/>
            </a:xfrm>
            <a:prstGeom prst="roundRect">
              <a:avLst>
                <a:gd name="adj" fmla="val 13333"/>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3" name="Google Shape;263;p21"/>
            <p:cNvSpPr/>
            <p:nvPr/>
          </p:nvSpPr>
          <p:spPr>
            <a:xfrm>
              <a:off x="0" y="0"/>
              <a:ext cx="95400" cy="8574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4" name="Google Shape;264;p21"/>
            <p:cNvSpPr/>
            <p:nvPr/>
          </p:nvSpPr>
          <p:spPr>
            <a:xfrm>
              <a:off x="238125" y="238125"/>
              <a:ext cx="381000" cy="381000"/>
            </a:xfrm>
            <a:prstGeom prst="ellipse">
              <a:avLst/>
            </a:prstGeom>
            <a:solidFill>
              <a:srgbClr val="FF5733">
                <a:alpha val="11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5" name="Google Shape;265;p21"/>
            <p:cNvSpPr txBox="1"/>
            <p:nvPr/>
          </p:nvSpPr>
          <p:spPr>
            <a:xfrm>
              <a:off x="333375" y="285750"/>
              <a:ext cx="190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200" b="1">
                  <a:solidFill>
                    <a:srgbClr val="FF5733"/>
                  </a:solidFill>
                  <a:latin typeface="Poppins" panose="00000800000000000000"/>
                  <a:ea typeface="Poppins" panose="00000800000000000000"/>
                  <a:cs typeface="Poppins" panose="00000800000000000000"/>
                  <a:sym typeface="Poppins" panose="00000800000000000000"/>
                </a:rPr>
                <a:t>1</a:t>
              </a:r>
            </a:p>
          </p:txBody>
        </p:sp>
        <p:sp>
          <p:nvSpPr>
            <p:cNvPr id="266" name="Google Shape;266;p21"/>
            <p:cNvSpPr txBox="1"/>
            <p:nvPr/>
          </p:nvSpPr>
          <p:spPr>
            <a:xfrm>
              <a:off x="762000" y="142875"/>
              <a:ext cx="28575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200" b="1">
                  <a:solidFill>
                    <a:srgbClr val="0B132B"/>
                  </a:solidFill>
                  <a:latin typeface="Inter" panose="02000503000000020004"/>
                  <a:ea typeface="Inter" panose="02000503000000020004"/>
                  <a:cs typeface="Inter" panose="02000503000000020004"/>
                  <a:sym typeface="Inter" panose="02000503000000020004"/>
                </a:rPr>
                <a:t>Keep formatting simple and neat.</a:t>
              </a:r>
              <a:endParaRPr sz="1200" b="1">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267" name="Google Shape;267;p21"/>
          <p:cNvGrpSpPr/>
          <p:nvPr/>
        </p:nvGrpSpPr>
        <p:grpSpPr>
          <a:xfrm>
            <a:off x="4572000" y="1428750"/>
            <a:ext cx="3810000" cy="666750"/>
            <a:chOff x="0" y="0"/>
            <a:chExt cx="3810000" cy="857400"/>
          </a:xfrm>
        </p:grpSpPr>
        <p:sp>
          <p:nvSpPr>
            <p:cNvPr id="268" name="Google Shape;268;p21"/>
            <p:cNvSpPr/>
            <p:nvPr/>
          </p:nvSpPr>
          <p:spPr>
            <a:xfrm>
              <a:off x="0" y="0"/>
              <a:ext cx="3810000" cy="857400"/>
            </a:xfrm>
            <a:prstGeom prst="roundRect">
              <a:avLst>
                <a:gd name="adj" fmla="val 13333"/>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9" name="Google Shape;269;p21"/>
            <p:cNvSpPr/>
            <p:nvPr/>
          </p:nvSpPr>
          <p:spPr>
            <a:xfrm>
              <a:off x="0" y="0"/>
              <a:ext cx="95400" cy="8574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0" name="Google Shape;270;p21"/>
            <p:cNvSpPr/>
            <p:nvPr/>
          </p:nvSpPr>
          <p:spPr>
            <a:xfrm>
              <a:off x="238125" y="238125"/>
              <a:ext cx="381000" cy="381000"/>
            </a:xfrm>
            <a:prstGeom prst="ellipse">
              <a:avLst/>
            </a:prstGeom>
            <a:solidFill>
              <a:srgbClr val="FFC300">
                <a:alpha val="2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1" name="Google Shape;271;p21"/>
            <p:cNvSpPr txBox="1"/>
            <p:nvPr/>
          </p:nvSpPr>
          <p:spPr>
            <a:xfrm>
              <a:off x="333375" y="285750"/>
              <a:ext cx="190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200" b="1">
                  <a:solidFill>
                    <a:srgbClr val="0B132B"/>
                  </a:solidFill>
                  <a:latin typeface="Poppins" panose="00000800000000000000"/>
                  <a:ea typeface="Poppins" panose="00000800000000000000"/>
                  <a:cs typeface="Poppins" panose="00000800000000000000"/>
                  <a:sym typeface="Poppins" panose="00000800000000000000"/>
                </a:rPr>
                <a:t>2</a:t>
              </a:r>
            </a:p>
          </p:txBody>
        </p:sp>
        <p:sp>
          <p:nvSpPr>
            <p:cNvPr id="272" name="Google Shape;272;p21"/>
            <p:cNvSpPr txBox="1"/>
            <p:nvPr/>
          </p:nvSpPr>
          <p:spPr>
            <a:xfrm>
              <a:off x="762000" y="142875"/>
              <a:ext cx="2857500" cy="5715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200" b="1">
                  <a:solidFill>
                    <a:srgbClr val="0B132B"/>
                  </a:solidFill>
                  <a:latin typeface="Inter" panose="02000503000000020004"/>
                  <a:ea typeface="Inter" panose="02000503000000020004"/>
                  <a:cs typeface="Inter" panose="02000503000000020004"/>
                  <a:sym typeface="Inter" panose="02000503000000020004"/>
                </a:rPr>
                <a:t>Avoid confusing acronyms.</a:t>
              </a:r>
              <a:endParaRPr sz="1200" b="1">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273" name="Google Shape;273;p21"/>
          <p:cNvGrpSpPr/>
          <p:nvPr/>
        </p:nvGrpSpPr>
        <p:grpSpPr>
          <a:xfrm>
            <a:off x="4581525" y="2300605"/>
            <a:ext cx="3810000" cy="667385"/>
            <a:chOff x="0" y="0"/>
            <a:chExt cx="3810000" cy="857400"/>
          </a:xfrm>
        </p:grpSpPr>
        <p:sp>
          <p:nvSpPr>
            <p:cNvPr id="274" name="Google Shape;274;p21"/>
            <p:cNvSpPr/>
            <p:nvPr/>
          </p:nvSpPr>
          <p:spPr>
            <a:xfrm>
              <a:off x="0" y="0"/>
              <a:ext cx="3810000" cy="857400"/>
            </a:xfrm>
            <a:prstGeom prst="roundRect">
              <a:avLst>
                <a:gd name="adj" fmla="val 13333"/>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5" name="Google Shape;275;p21"/>
            <p:cNvSpPr/>
            <p:nvPr/>
          </p:nvSpPr>
          <p:spPr>
            <a:xfrm>
              <a:off x="0" y="0"/>
              <a:ext cx="95400" cy="857400"/>
            </a:xfrm>
            <a:prstGeom prst="roundRect">
              <a:avLst>
                <a:gd name="adj" fmla="val 50000"/>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6" name="Google Shape;276;p21"/>
            <p:cNvSpPr/>
            <p:nvPr/>
          </p:nvSpPr>
          <p:spPr>
            <a:xfrm>
              <a:off x="238125" y="238125"/>
              <a:ext cx="381000" cy="381000"/>
            </a:xfrm>
            <a:prstGeom prst="ellipse">
              <a:avLst/>
            </a:prstGeom>
            <a:solidFill>
              <a:srgbClr val="0B132B">
                <a:alpha val="11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77" name="Google Shape;277;p21"/>
            <p:cNvSpPr txBox="1"/>
            <p:nvPr/>
          </p:nvSpPr>
          <p:spPr>
            <a:xfrm>
              <a:off x="333375" y="285750"/>
              <a:ext cx="190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200" b="1">
                  <a:solidFill>
                    <a:srgbClr val="0B132B"/>
                  </a:solidFill>
                  <a:latin typeface="Poppins" panose="00000800000000000000"/>
                  <a:ea typeface="Poppins" panose="00000800000000000000"/>
                  <a:cs typeface="Poppins" panose="00000800000000000000"/>
                  <a:sym typeface="Poppins" panose="00000800000000000000"/>
                </a:rPr>
                <a:t>3</a:t>
              </a:r>
            </a:p>
          </p:txBody>
        </p:sp>
        <p:sp>
          <p:nvSpPr>
            <p:cNvPr id="278" name="Google Shape;278;p21"/>
            <p:cNvSpPr txBox="1"/>
            <p:nvPr/>
          </p:nvSpPr>
          <p:spPr>
            <a:xfrm>
              <a:off x="762000" y="95250"/>
              <a:ext cx="2857500" cy="666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altLang="en-GB" sz="1125" b="1">
                  <a:solidFill>
                    <a:srgbClr val="0B132B"/>
                  </a:solidFill>
                  <a:latin typeface="Inter" panose="02000503000000020004"/>
                  <a:ea typeface="Inter" panose="02000503000000020004"/>
                  <a:cs typeface="Inter" panose="02000503000000020004"/>
                  <a:sym typeface="Inter" panose="02000503000000020004"/>
                </a:rPr>
                <a:t>Easy to read</a:t>
              </a:r>
            </a:p>
          </p:txBody>
        </p:sp>
      </p:grpSp>
      <p:grpSp>
        <p:nvGrpSpPr>
          <p:cNvPr id="2" name="Google Shape;273;p21"/>
          <p:cNvGrpSpPr/>
          <p:nvPr/>
        </p:nvGrpSpPr>
        <p:grpSpPr>
          <a:xfrm>
            <a:off x="4553585" y="3228340"/>
            <a:ext cx="3810000" cy="667385"/>
            <a:chOff x="0" y="0"/>
            <a:chExt cx="3810000" cy="857400"/>
          </a:xfrm>
        </p:grpSpPr>
        <p:sp>
          <p:nvSpPr>
            <p:cNvPr id="3" name="Google Shape;274;p21"/>
            <p:cNvSpPr/>
            <p:nvPr/>
          </p:nvSpPr>
          <p:spPr>
            <a:xfrm>
              <a:off x="0" y="0"/>
              <a:ext cx="3810000" cy="857400"/>
            </a:xfrm>
            <a:prstGeom prst="roundRect">
              <a:avLst>
                <a:gd name="adj" fmla="val 13333"/>
              </a:avLst>
            </a:prstGeom>
            <a:solidFill>
              <a:srgbClr val="FFFFFF"/>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 name="Google Shape;275;p21"/>
            <p:cNvSpPr/>
            <p:nvPr/>
          </p:nvSpPr>
          <p:spPr>
            <a:xfrm>
              <a:off x="0" y="0"/>
              <a:ext cx="95400" cy="857400"/>
            </a:xfrm>
            <a:prstGeom prst="roundRect">
              <a:avLst>
                <a:gd name="adj" fmla="val 50000"/>
              </a:avLst>
            </a:prstGeom>
            <a:solidFill>
              <a:schemeClr val="accent5"/>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 name="Google Shape;276;p21"/>
            <p:cNvSpPr/>
            <p:nvPr/>
          </p:nvSpPr>
          <p:spPr>
            <a:xfrm>
              <a:off x="238125" y="238125"/>
              <a:ext cx="381000" cy="381000"/>
            </a:xfrm>
            <a:prstGeom prst="ellipse">
              <a:avLst/>
            </a:prstGeom>
            <a:solidFill>
              <a:srgbClr val="0B132B">
                <a:alpha val="11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 name="Google Shape;277;p21"/>
            <p:cNvSpPr txBox="1"/>
            <p:nvPr/>
          </p:nvSpPr>
          <p:spPr>
            <a:xfrm>
              <a:off x="333375" y="285750"/>
              <a:ext cx="1905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200" b="1">
                  <a:solidFill>
                    <a:srgbClr val="0B132B"/>
                  </a:solidFill>
                  <a:latin typeface="Poppins" panose="00000800000000000000"/>
                  <a:ea typeface="Poppins" panose="00000800000000000000"/>
                  <a:cs typeface="Poppins" panose="00000800000000000000"/>
                  <a:sym typeface="Poppins" panose="00000800000000000000"/>
                </a:rPr>
                <a:t>3</a:t>
              </a:r>
            </a:p>
          </p:txBody>
        </p:sp>
        <p:sp>
          <p:nvSpPr>
            <p:cNvPr id="7" name="Google Shape;278;p21"/>
            <p:cNvSpPr txBox="1"/>
            <p:nvPr/>
          </p:nvSpPr>
          <p:spPr>
            <a:xfrm>
              <a:off x="762000" y="95250"/>
              <a:ext cx="2857500" cy="6669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altLang="en-GB" sz="1125" b="1">
                  <a:solidFill>
                    <a:srgbClr val="0B132B"/>
                  </a:solidFill>
                  <a:latin typeface="Inter" panose="02000503000000020004"/>
                  <a:ea typeface="Inter" panose="02000503000000020004"/>
                  <a:cs typeface="Inter" panose="02000503000000020004"/>
                  <a:sym typeface="Inter" panose="02000503000000020004"/>
                </a:rPr>
                <a:t>Showcase your strengths</a:t>
              </a:r>
            </a:p>
          </p:txBody>
        </p:sp>
      </p:grpSp>
      <p:grpSp>
        <p:nvGrpSpPr>
          <p:cNvPr id="554" name="Google Shape;554;p30"/>
          <p:cNvGrpSpPr/>
          <p:nvPr/>
        </p:nvGrpSpPr>
        <p:grpSpPr>
          <a:xfrm>
            <a:off x="1905000" y="4230370"/>
            <a:ext cx="5276215" cy="572555"/>
            <a:chOff x="0" y="0"/>
            <a:chExt cx="8382000" cy="674477"/>
          </a:xfrm>
        </p:grpSpPr>
        <p:sp>
          <p:nvSpPr>
            <p:cNvPr id="8" name="Google Shape;556;p30"/>
            <p:cNvSpPr/>
            <p:nvPr/>
          </p:nvSpPr>
          <p:spPr>
            <a:xfrm>
              <a:off x="0" y="0"/>
              <a:ext cx="8382000" cy="666750"/>
            </a:xfrm>
            <a:prstGeom prst="roundRect">
              <a:avLst>
                <a:gd name="adj" fmla="val 16000"/>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2000"/>
            </a:p>
          </p:txBody>
        </p:sp>
        <p:sp>
          <p:nvSpPr>
            <p:cNvPr id="558" name="Google Shape;558;p30"/>
            <p:cNvSpPr txBox="1"/>
            <p:nvPr/>
          </p:nvSpPr>
          <p:spPr>
            <a:xfrm>
              <a:off x="281848" y="197979"/>
              <a:ext cx="7725354" cy="476498"/>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altLang="en-US" sz="1800" b="1" dirty="0">
                  <a:solidFill>
                    <a:srgbClr val="111827"/>
                  </a:solidFill>
                  <a:latin typeface="DM Sans"/>
                  <a:ea typeface="DM Sans"/>
                  <a:cs typeface="DM Sans"/>
                  <a:sym typeface="DM Sans"/>
                </a:rPr>
                <a:t>Your resume should drive the interview</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144" name="Google Shape;144;p17"/>
          <p:cNvPicPr preferRelativeResize="0"/>
          <p:nvPr/>
        </p:nvPicPr>
        <p:blipFill rotWithShape="1">
          <a:blip r:embed="rId3"/>
          <a:srcRect/>
          <a:stretch>
            <a:fillRect/>
          </a:stretch>
        </p:blipFill>
        <p:spPr>
          <a:xfrm>
            <a:off x="5080" y="5080"/>
            <a:ext cx="9120505" cy="5137785"/>
          </a:xfrm>
          <a:prstGeom prst="rect">
            <a:avLst/>
          </a:prstGeom>
          <a:noFill/>
          <a:ln>
            <a:noFill/>
          </a:ln>
        </p:spPr>
      </p:pic>
      <p:sp>
        <p:nvSpPr>
          <p:cNvPr id="283" name="Google Shape;283;p22"/>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84" name="Google Shape;284;p22"/>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85" name="Google Shape;285;p22"/>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86" name="Google Shape;286;p22"/>
          <p:cNvPicPr preferRelativeResize="0"/>
          <p:nvPr/>
        </p:nvPicPr>
        <p:blipFill rotWithShape="1">
          <a:blip r:embed="rId4"/>
          <a:srcRect/>
          <a:stretch>
            <a:fillRect/>
          </a:stretch>
        </p:blipFill>
        <p:spPr>
          <a:xfrm>
            <a:off x="6848475" y="847725"/>
            <a:ext cx="2276400" cy="3448200"/>
          </a:xfrm>
          <a:prstGeom prst="rect">
            <a:avLst/>
          </a:prstGeom>
          <a:noFill/>
          <a:ln>
            <a:noFill/>
          </a:ln>
        </p:spPr>
      </p:pic>
      <p:pic>
        <p:nvPicPr>
          <p:cNvPr id="287" name="Google Shape;287;p22"/>
          <p:cNvPicPr preferRelativeResize="0"/>
          <p:nvPr/>
        </p:nvPicPr>
        <p:blipFill rotWithShape="1">
          <a:blip r:embed="rId5"/>
          <a:srcRect/>
          <a:stretch>
            <a:fillRect/>
          </a:stretch>
        </p:blipFill>
        <p:spPr>
          <a:xfrm>
            <a:off x="7419975" y="1419225"/>
            <a:ext cx="1724100" cy="2305200"/>
          </a:xfrm>
          <a:prstGeom prst="rect">
            <a:avLst/>
          </a:prstGeom>
          <a:noFill/>
          <a:ln>
            <a:noFill/>
          </a:ln>
        </p:spPr>
      </p:pic>
      <p:sp>
        <p:nvSpPr>
          <p:cNvPr id="288" name="Google Shape;288;p22"/>
          <p:cNvSpPr txBox="1"/>
          <p:nvPr/>
        </p:nvSpPr>
        <p:spPr>
          <a:xfrm>
            <a:off x="571500" y="381000"/>
            <a:ext cx="8001000"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GB" sz="2700" b="0" i="0" u="none" strike="noStrike">
                <a:solidFill>
                  <a:srgbClr val="0B132B"/>
                </a:solidFill>
                <a:latin typeface="Poppins SemiBold"/>
                <a:ea typeface="Poppins SemiBold"/>
                <a:cs typeface="Poppins SemiBold"/>
                <a:sym typeface="Poppins SemiBold"/>
              </a:rPr>
              <a:t>Organizing the resume	</a:t>
            </a:r>
          </a:p>
        </p:txBody>
      </p:sp>
      <p:cxnSp>
        <p:nvCxnSpPr>
          <p:cNvPr id="93" name="Google Shape;93;p15"/>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130" name="Google Shape;130;p16"/>
          <p:cNvSpPr txBox="1"/>
          <p:nvPr/>
        </p:nvSpPr>
        <p:spPr>
          <a:xfrm>
            <a:off x="572135" y="1739900"/>
            <a:ext cx="8094905" cy="3034665"/>
          </a:xfrm>
          <a:prstGeom prst="rect">
            <a:avLst/>
          </a:prstGeom>
          <a:noFill/>
          <a:ln>
            <a:noFill/>
          </a:ln>
        </p:spPr>
        <p:txBody>
          <a:bodyPr spcFirstLastPara="1" wrap="square" lIns="0" tIns="0" rIns="0" bIns="0" anchor="t" anchorCtr="0">
            <a:noAutofit/>
          </a:bodyPr>
          <a:lstStyle/>
          <a:p>
            <a:pPr marL="0" lvl="0" indent="0" algn="l" rtl="0">
              <a:spcBef>
                <a:spcPts val="300"/>
              </a:spcBef>
              <a:spcAft>
                <a:spcPts val="0"/>
              </a:spcAft>
              <a:buFont typeface="Wingdings" panose="05000000000000000000" charset="0"/>
              <a:buNone/>
            </a:pPr>
            <a:r>
              <a:rPr lang="en-US" sz="1800" b="1" dirty="0">
                <a:solidFill>
                  <a:srgbClr val="111827"/>
                </a:solidFill>
                <a:latin typeface="DM Sans"/>
                <a:ea typeface="DM Sans"/>
                <a:cs typeface="DM Sans"/>
                <a:sym typeface="DM Sans Medium"/>
              </a:rPr>
              <a:t>Organize the resume for interviewer to easily spot the below items - </a:t>
            </a:r>
          </a:p>
          <a:p>
            <a:pPr marL="0" lvl="0" indent="0" algn="l" rtl="0">
              <a:spcBef>
                <a:spcPts val="300"/>
              </a:spcBef>
              <a:spcAft>
                <a:spcPts val="0"/>
              </a:spcAft>
              <a:buFont typeface="Wingdings" panose="05000000000000000000" charset="0"/>
              <a:buNone/>
            </a:pPr>
            <a:endParaRPr lang="en-US" sz="1600" b="1" dirty="0">
              <a:solidFill>
                <a:srgbClr val="4B5563"/>
              </a:solidFill>
              <a:latin typeface="DM Sans Medium"/>
              <a:ea typeface="DM Sans Medium"/>
              <a:cs typeface="DM Sans Medium"/>
              <a:sym typeface="DM Sans Medium"/>
            </a:endParaRPr>
          </a:p>
          <a:p>
            <a:pPr marL="171450" lvl="0" indent="-171450" algn="l" rtl="0" eaLnBrk="1" fontAlgn="auto" latinLnBrk="0" hangingPunct="1">
              <a:spcBef>
                <a:spcPts val="600"/>
              </a:spcBef>
              <a:spcAft>
                <a:spcPts val="600"/>
              </a:spcAft>
              <a:buFont typeface="Wingdings" panose="05000000000000000000" charset="0"/>
              <a:buChar char=""/>
            </a:pPr>
            <a:r>
              <a:rPr lang="en-US" altLang="en-US" sz="1600" b="1" dirty="0">
                <a:solidFill>
                  <a:srgbClr val="4B5563"/>
                </a:solidFill>
                <a:latin typeface="DM Sans Medium"/>
                <a:ea typeface="DM Sans Medium"/>
                <a:cs typeface="DM Sans Medium"/>
                <a:sym typeface="DM Sans Medium"/>
              </a:rPr>
              <a:t>Education</a:t>
            </a:r>
            <a:r>
              <a:rPr lang="en-US" sz="1600" b="1" dirty="0">
                <a:solidFill>
                  <a:srgbClr val="4B5563"/>
                </a:solidFill>
                <a:latin typeface="DM Sans Medium"/>
                <a:ea typeface="DM Sans Medium"/>
                <a:cs typeface="DM Sans Medium"/>
                <a:sym typeface="DM Sans Medium"/>
              </a:rPr>
              <a:t> - </a:t>
            </a:r>
            <a:r>
              <a:rPr lang="en-US" dirty="0">
                <a:solidFill>
                  <a:srgbClr val="4B5563"/>
                </a:solidFill>
                <a:latin typeface="DM Sans Medium"/>
                <a:ea typeface="DM Sans Medium"/>
                <a:cs typeface="DM Sans Medium"/>
                <a:sym typeface="DM Sans Medium"/>
              </a:rPr>
              <a:t>Major, CGPA </a:t>
            </a:r>
          </a:p>
          <a:p>
            <a:pPr marL="171450" lvl="0" indent="-171450" algn="l" rtl="0" eaLnBrk="1" fontAlgn="auto" latinLnBrk="0" hangingPunct="1">
              <a:spcBef>
                <a:spcPts val="600"/>
              </a:spcBef>
              <a:spcAft>
                <a:spcPts val="600"/>
              </a:spcAft>
              <a:buFont typeface="Wingdings" panose="05000000000000000000" charset="0"/>
              <a:buChar char=""/>
            </a:pPr>
            <a:r>
              <a:rPr lang="en-US" altLang="en-US" sz="1600" b="1" dirty="0">
                <a:solidFill>
                  <a:srgbClr val="4B5563"/>
                </a:solidFill>
                <a:latin typeface="DM Sans Medium"/>
                <a:ea typeface="DM Sans Medium"/>
                <a:cs typeface="DM Sans Medium"/>
                <a:sym typeface="DM Sans Medium"/>
              </a:rPr>
              <a:t>Skills </a:t>
            </a:r>
            <a:r>
              <a:rPr lang="en-US" sz="1600" b="1" dirty="0">
                <a:solidFill>
                  <a:srgbClr val="4B5563"/>
                </a:solidFill>
                <a:latin typeface="DM Sans Medium"/>
                <a:ea typeface="DM Sans Medium"/>
                <a:cs typeface="DM Sans Medium"/>
                <a:sym typeface="DM Sans Medium"/>
              </a:rPr>
              <a:t>- </a:t>
            </a:r>
            <a:r>
              <a:rPr lang="en-US" dirty="0">
                <a:solidFill>
                  <a:srgbClr val="4B5563"/>
                </a:solidFill>
                <a:latin typeface="DM Sans Medium"/>
                <a:ea typeface="DM Sans Medium"/>
                <a:cs typeface="DM Sans Medium"/>
                <a:sym typeface="DM Sans Medium"/>
              </a:rPr>
              <a:t>Technical Skills</a:t>
            </a:r>
          </a:p>
          <a:p>
            <a:pPr marL="171450" lvl="0" indent="-171450" algn="l" rtl="0" eaLnBrk="1" fontAlgn="auto" latinLnBrk="0" hangingPunct="1">
              <a:spcBef>
                <a:spcPts val="600"/>
              </a:spcBef>
              <a:spcAft>
                <a:spcPts val="600"/>
              </a:spcAft>
              <a:buFont typeface="Wingdings" panose="05000000000000000000" charset="0"/>
              <a:buChar char=""/>
            </a:pPr>
            <a:r>
              <a:rPr lang="en-US" altLang="en-US" sz="1600" b="1" dirty="0">
                <a:solidFill>
                  <a:srgbClr val="4B5563"/>
                </a:solidFill>
                <a:latin typeface="DM Sans Medium"/>
                <a:ea typeface="DM Sans Medium"/>
                <a:cs typeface="DM Sans Medium"/>
                <a:sym typeface="DM Sans Medium"/>
              </a:rPr>
              <a:t>Projects </a:t>
            </a:r>
            <a:r>
              <a:rPr lang="en-US" dirty="0">
                <a:solidFill>
                  <a:srgbClr val="4B5563"/>
                </a:solidFill>
                <a:latin typeface="DM Sans Medium"/>
                <a:ea typeface="DM Sans Medium"/>
                <a:cs typeface="DM Sans Medium"/>
                <a:sym typeface="DM Sans Medium"/>
              </a:rPr>
              <a:t>- College / Own projects</a:t>
            </a:r>
          </a:p>
          <a:p>
            <a:pPr marL="171450" lvl="0" indent="-171450" algn="l" rtl="0" eaLnBrk="1" fontAlgn="auto" latinLnBrk="0" hangingPunct="1">
              <a:spcBef>
                <a:spcPts val="600"/>
              </a:spcBef>
              <a:spcAft>
                <a:spcPts val="600"/>
              </a:spcAft>
              <a:buFont typeface="Wingdings" panose="05000000000000000000" charset="0"/>
              <a:buChar char=""/>
            </a:pPr>
            <a:r>
              <a:rPr lang="en-US" altLang="en-US" sz="1600" b="1" dirty="0">
                <a:solidFill>
                  <a:srgbClr val="4B5563"/>
                </a:solidFill>
                <a:latin typeface="DM Sans Medium"/>
                <a:ea typeface="DM Sans Medium"/>
                <a:cs typeface="DM Sans Medium"/>
                <a:sym typeface="DM Sans Medium"/>
              </a:rPr>
              <a:t>Internship / Experience</a:t>
            </a:r>
            <a:r>
              <a:rPr lang="en-US" dirty="0">
                <a:solidFill>
                  <a:srgbClr val="4B5563"/>
                </a:solidFill>
                <a:latin typeface="DM Sans Medium"/>
                <a:ea typeface="DM Sans Medium"/>
                <a:cs typeface="DM Sans Medium"/>
                <a:sym typeface="DM Sans Medium"/>
              </a:rPr>
              <a:t> - Internship projects</a:t>
            </a:r>
          </a:p>
          <a:p>
            <a:pPr marL="171450" lvl="0" indent="-171450" algn="l" rtl="0" eaLnBrk="1" fontAlgn="auto" latinLnBrk="0" hangingPunct="1">
              <a:spcBef>
                <a:spcPts val="600"/>
              </a:spcBef>
              <a:spcAft>
                <a:spcPts val="600"/>
              </a:spcAft>
              <a:buFont typeface="Wingdings" panose="05000000000000000000" charset="0"/>
              <a:buChar char=""/>
            </a:pPr>
            <a:r>
              <a:rPr lang="en-US" altLang="en-US" sz="1600" b="1" dirty="0">
                <a:solidFill>
                  <a:srgbClr val="4B5563"/>
                </a:solidFill>
                <a:latin typeface="DM Sans Medium"/>
                <a:ea typeface="DM Sans Medium"/>
                <a:cs typeface="DM Sans Medium"/>
                <a:sym typeface="DM Sans Medium"/>
              </a:rPr>
              <a:t>Other achievements</a:t>
            </a:r>
            <a:r>
              <a:rPr lang="en-US" dirty="0">
                <a:solidFill>
                  <a:srgbClr val="4B5563"/>
                </a:solidFill>
                <a:latin typeface="DM Sans Medium"/>
                <a:ea typeface="DM Sans Medium"/>
                <a:cs typeface="DM Sans Medium"/>
                <a:sym typeface="DM Sans Medium"/>
              </a:rPr>
              <a:t> - Paper presentation, Hackathon</a:t>
            </a:r>
          </a:p>
          <a:p>
            <a:pPr marL="171450" lvl="0" indent="-171450" algn="l" rtl="0" eaLnBrk="1" fontAlgn="auto" latinLnBrk="0" hangingPunct="1">
              <a:spcBef>
                <a:spcPts val="600"/>
              </a:spcBef>
              <a:spcAft>
                <a:spcPts val="600"/>
              </a:spcAft>
              <a:buFont typeface="Wingdings" panose="05000000000000000000" charset="0"/>
              <a:buChar char=""/>
            </a:pPr>
            <a:r>
              <a:rPr lang="en-US" altLang="en-US" sz="1600" b="1" dirty="0">
                <a:solidFill>
                  <a:srgbClr val="4B5563"/>
                </a:solidFill>
                <a:latin typeface="DM Sans Medium"/>
                <a:ea typeface="DM Sans Medium"/>
                <a:cs typeface="DM Sans Medium"/>
                <a:sym typeface="DM Sans Medium"/>
              </a:rPr>
              <a:t>Certifications </a:t>
            </a:r>
            <a:r>
              <a:rPr lang="en-US" dirty="0">
                <a:solidFill>
                  <a:srgbClr val="4B5563"/>
                </a:solidFill>
                <a:latin typeface="DM Sans Medium"/>
                <a:ea typeface="DM Sans Medium"/>
                <a:cs typeface="DM Sans Medium"/>
                <a:sym typeface="DM Sans Medium"/>
              </a:rPr>
              <a:t>- Certified course completions</a:t>
            </a:r>
          </a:p>
          <a:p>
            <a:pPr marL="171450" lvl="0" indent="-171450" algn="l" rtl="0">
              <a:spcBef>
                <a:spcPts val="300"/>
              </a:spcBef>
              <a:spcAft>
                <a:spcPts val="0"/>
              </a:spcAft>
              <a:buFont typeface="Wingdings" panose="05000000000000000000" charset="0"/>
              <a:buChar char=""/>
            </a:pPr>
            <a:endParaRPr lang="en-US" dirty="0">
              <a:solidFill>
                <a:srgbClr val="4B5563"/>
              </a:solidFill>
              <a:latin typeface="DM Sans Medium"/>
              <a:ea typeface="DM Sans Medium"/>
              <a:cs typeface="DM Sans Medium"/>
              <a:sym typeface="DM Sans Medium"/>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grpSp>
        <p:nvGrpSpPr>
          <p:cNvPr id="78" name="Google Shape;78;p15"/>
          <p:cNvGrpSpPr/>
          <p:nvPr/>
        </p:nvGrpSpPr>
        <p:grpSpPr>
          <a:xfrm>
            <a:off x="0" y="0"/>
            <a:ext cx="9144150" cy="5144135"/>
            <a:chOff x="0" y="0"/>
            <a:chExt cx="9144150" cy="5144135"/>
          </a:xfrm>
        </p:grpSpPr>
        <p:sp>
          <p:nvSpPr>
            <p:cNvPr id="79" name="Google Shape;79;p15"/>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p:cNvPicPr preferRelativeResize="0"/>
            <p:nvPr/>
          </p:nvPicPr>
          <p:blipFill rotWithShape="1">
            <a:blip r:embed="rId3"/>
            <a:srcRect/>
            <a:stretch>
              <a:fillRect/>
            </a:stretch>
          </p:blipFill>
          <p:spPr>
            <a:xfrm>
              <a:off x="5080" y="5080"/>
              <a:ext cx="9138920" cy="5139055"/>
            </a:xfrm>
            <a:prstGeom prst="rect">
              <a:avLst/>
            </a:prstGeom>
            <a:noFill/>
            <a:ln>
              <a:noFill/>
            </a:ln>
          </p:spPr>
        </p:pic>
        <p:sp>
          <p:nvSpPr>
            <p:cNvPr id="81" name="Google Shape;81;p15"/>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cxnSp>
        <p:nvCxnSpPr>
          <p:cNvPr id="201" name="Google Shape;201;p19"/>
          <p:cNvCxnSpPr/>
          <p:nvPr/>
        </p:nvCxnSpPr>
        <p:spPr>
          <a:xfrm>
            <a:off x="381000" y="109474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 name="Google Shape;288;p22"/>
          <p:cNvSpPr txBox="1"/>
          <p:nvPr/>
        </p:nvSpPr>
        <p:spPr>
          <a:xfrm>
            <a:off x="381000" y="209550"/>
            <a:ext cx="8096250" cy="104775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GB" sz="2700" b="0" i="0" u="none" strike="noStrike">
                <a:solidFill>
                  <a:srgbClr val="0B132B"/>
                </a:solidFill>
                <a:latin typeface="Poppins SemiBold"/>
                <a:ea typeface="Poppins SemiBold"/>
                <a:cs typeface="Poppins SemiBold"/>
                <a:sym typeface="Poppins SemiBold"/>
              </a:rPr>
              <a:t>Embracing Simple &amp; Neat Layouts	</a:t>
            </a:r>
          </a:p>
        </p:txBody>
      </p:sp>
      <p:sp>
        <p:nvSpPr>
          <p:cNvPr id="6" name="Google Shape;206;p19">
            <a:extLst>
              <a:ext uri="{FF2B5EF4-FFF2-40B4-BE49-F238E27FC236}">
                <a16:creationId xmlns:a16="http://schemas.microsoft.com/office/drawing/2014/main" id="{786FC8DA-72A7-F33C-20FA-E06356BBD41F}"/>
              </a:ext>
            </a:extLst>
          </p:cNvPr>
          <p:cNvSpPr txBox="1"/>
          <p:nvPr/>
        </p:nvSpPr>
        <p:spPr>
          <a:xfrm>
            <a:off x="3906593" y="1507062"/>
            <a:ext cx="4858526" cy="3729567"/>
          </a:xfrm>
          <a:prstGeom prst="rect">
            <a:avLst/>
          </a:prstGeom>
          <a:noFill/>
          <a:ln>
            <a:noFill/>
          </a:ln>
        </p:spPr>
        <p:txBody>
          <a:bodyPr spcFirstLastPara="1" wrap="square" lIns="0" tIns="0" rIns="0" bIns="0" anchor="t" anchorCtr="0">
            <a:noAutofit/>
          </a:bodyPr>
          <a:lstStyle/>
          <a:p>
            <a:pPr marL="457200" lvl="0" indent="-311150" algn="l" rtl="0">
              <a:spcBef>
                <a:spcPts val="900"/>
              </a:spcBef>
              <a:spcAft>
                <a:spcPts val="600"/>
              </a:spcAft>
              <a:buClr>
                <a:srgbClr val="FF0000"/>
              </a:buClr>
              <a:buSzPts val="1295"/>
              <a:buFont typeface="Arial" panose="020B0604020202020204" pitchFamily="34" charset="0"/>
              <a:buChar char="X"/>
            </a:pPr>
            <a:r>
              <a:rPr lang="en-GB" sz="1600" b="1" dirty="0">
                <a:solidFill>
                  <a:srgbClr val="4B5563"/>
                </a:solidFill>
                <a:latin typeface="DM Sans Medium"/>
                <a:ea typeface="DM Sans Medium"/>
                <a:cs typeface="DM Sans Medium"/>
                <a:sym typeface="DM Sans Medium"/>
              </a:rPr>
              <a:t>Complex Layout </a:t>
            </a:r>
            <a:r>
              <a:rPr lang="en-GB" sz="1600" b="0" dirty="0">
                <a:solidFill>
                  <a:srgbClr val="4B5563"/>
                </a:solidFill>
                <a:latin typeface="DM Sans Medium"/>
                <a:ea typeface="DM Sans Medium"/>
                <a:cs typeface="DM Sans Medium"/>
                <a:sym typeface="DM Sans Medium"/>
              </a:rPr>
              <a:t>– Multiple columns, images, graphics</a:t>
            </a:r>
          </a:p>
          <a:p>
            <a:pPr marL="457200" lvl="0" indent="-311150" algn="l" rtl="0">
              <a:spcBef>
                <a:spcPts val="900"/>
              </a:spcBef>
              <a:spcAft>
                <a:spcPts val="600"/>
              </a:spcAft>
              <a:buClr>
                <a:srgbClr val="FF0000"/>
              </a:buClr>
              <a:buSzPts val="1295"/>
              <a:buFont typeface="Arial" panose="020B0604020202020204" pitchFamily="34" charset="0"/>
              <a:buChar char="X"/>
            </a:pPr>
            <a:r>
              <a:rPr lang="en-GB" sz="1600" b="1" dirty="0">
                <a:solidFill>
                  <a:srgbClr val="4B5563"/>
                </a:solidFill>
                <a:latin typeface="DM Sans Medium"/>
                <a:ea typeface="DM Sans Medium"/>
                <a:cs typeface="DM Sans Medium"/>
                <a:sym typeface="DM Sans Medium"/>
              </a:rPr>
              <a:t>Creative Headings – </a:t>
            </a:r>
            <a:r>
              <a:rPr lang="en-GB" sz="1600" dirty="0" err="1">
                <a:solidFill>
                  <a:srgbClr val="4B5563"/>
                </a:solidFill>
                <a:latin typeface="DM Sans Medium"/>
                <a:ea typeface="DM Sans Medium"/>
                <a:cs typeface="DM Sans Medium"/>
                <a:sym typeface="DM Sans Medium"/>
              </a:rPr>
              <a:t>MyJourney</a:t>
            </a:r>
            <a:r>
              <a:rPr lang="en-GB" sz="1600" dirty="0">
                <a:solidFill>
                  <a:srgbClr val="4B5563"/>
                </a:solidFill>
                <a:latin typeface="DM Sans Medium"/>
                <a:ea typeface="DM Sans Medium"/>
                <a:cs typeface="DM Sans Medium"/>
                <a:sym typeface="DM Sans Medium"/>
              </a:rPr>
              <a:t>, </a:t>
            </a:r>
            <a:r>
              <a:rPr lang="en-GB" sz="1600" dirty="0" err="1">
                <a:solidFill>
                  <a:srgbClr val="4B5563"/>
                </a:solidFill>
                <a:latin typeface="DM Sans Medium"/>
                <a:ea typeface="DM Sans Medium"/>
                <a:cs typeface="DM Sans Medium"/>
                <a:sym typeface="DM Sans Medium"/>
              </a:rPr>
              <a:t>ToolBox</a:t>
            </a:r>
            <a:endParaRPr lang="en-GB" sz="1600" dirty="0">
              <a:solidFill>
                <a:srgbClr val="4B5563"/>
              </a:solidFill>
              <a:latin typeface="DM Sans Medium"/>
              <a:ea typeface="DM Sans Medium"/>
              <a:cs typeface="DM Sans Medium"/>
              <a:sym typeface="DM Sans Medium"/>
            </a:endParaRPr>
          </a:p>
          <a:p>
            <a:pPr marL="457200" lvl="0" indent="-311150" algn="l" rtl="0">
              <a:spcBef>
                <a:spcPts val="900"/>
              </a:spcBef>
              <a:spcAft>
                <a:spcPts val="600"/>
              </a:spcAft>
              <a:buClr>
                <a:srgbClr val="FF0000"/>
              </a:buClr>
              <a:buSzPts val="1295"/>
              <a:buFont typeface="Arial" panose="020B0604020202020204" pitchFamily="34" charset="0"/>
              <a:buChar char="X"/>
            </a:pPr>
            <a:r>
              <a:rPr lang="en-GB" sz="1600" b="1" dirty="0">
                <a:solidFill>
                  <a:srgbClr val="4B5563"/>
                </a:solidFill>
                <a:latin typeface="DM Sans Medium"/>
                <a:ea typeface="DM Sans Medium"/>
                <a:cs typeface="DM Sans Medium"/>
                <a:sym typeface="DM Sans Medium"/>
              </a:rPr>
              <a:t>Inconsistent Formatting – </a:t>
            </a:r>
            <a:r>
              <a:rPr lang="en-GB" sz="1600" dirty="0">
                <a:solidFill>
                  <a:srgbClr val="4B5563"/>
                </a:solidFill>
                <a:latin typeface="DM Sans Medium"/>
                <a:ea typeface="DM Sans Medium"/>
                <a:cs typeface="DM Sans Medium"/>
                <a:sym typeface="DM Sans Medium"/>
              </a:rPr>
              <a:t>Differences in bullets and fonts</a:t>
            </a:r>
            <a:r>
              <a:rPr lang="en-GB" sz="1600" b="1" dirty="0">
                <a:solidFill>
                  <a:srgbClr val="4B5563"/>
                </a:solidFill>
                <a:latin typeface="DM Sans Medium"/>
                <a:ea typeface="DM Sans Medium"/>
                <a:cs typeface="DM Sans Medium"/>
                <a:sym typeface="DM Sans Medium"/>
              </a:rPr>
              <a:t> </a:t>
            </a:r>
          </a:p>
          <a:p>
            <a:pPr marL="457200" indent="-311150">
              <a:spcBef>
                <a:spcPts val="900"/>
              </a:spcBef>
              <a:spcAft>
                <a:spcPts val="600"/>
              </a:spcAft>
              <a:buClr>
                <a:srgbClr val="FF0000"/>
              </a:buClr>
              <a:buSzPts val="1295"/>
              <a:buFont typeface="Arial" panose="020B0604020202020204" pitchFamily="34" charset="0"/>
              <a:buChar char="X"/>
            </a:pPr>
            <a:r>
              <a:rPr lang="en-GB" sz="1600" b="1" dirty="0">
                <a:solidFill>
                  <a:srgbClr val="4B5563"/>
                </a:solidFill>
                <a:latin typeface="DM Sans Medium"/>
                <a:ea typeface="DM Sans Medium"/>
                <a:cs typeface="DM Sans Medium"/>
                <a:sym typeface="DM Sans Medium"/>
              </a:rPr>
              <a:t>Unnecessary Sections – </a:t>
            </a:r>
            <a:r>
              <a:rPr lang="en-GB" sz="1600" dirty="0">
                <a:solidFill>
                  <a:srgbClr val="4B5563"/>
                </a:solidFill>
                <a:latin typeface="DM Sans Medium"/>
                <a:ea typeface="DM Sans Medium"/>
                <a:cs typeface="DM Sans Medium"/>
                <a:sym typeface="DM Sans Medium"/>
              </a:rPr>
              <a:t>More personal info</a:t>
            </a:r>
          </a:p>
          <a:p>
            <a:pPr marL="457200" indent="-311150">
              <a:spcBef>
                <a:spcPts val="900"/>
              </a:spcBef>
              <a:spcAft>
                <a:spcPts val="600"/>
              </a:spcAft>
              <a:buClr>
                <a:srgbClr val="FF0000"/>
              </a:buClr>
              <a:buSzPts val="1295"/>
              <a:buFont typeface="Arial" panose="020B0604020202020204" pitchFamily="34" charset="0"/>
              <a:buChar char="X"/>
            </a:pPr>
            <a:r>
              <a:rPr lang="en-GB" sz="1600" b="1" dirty="0">
                <a:solidFill>
                  <a:srgbClr val="4B5563"/>
                </a:solidFill>
                <a:latin typeface="DM Sans Medium"/>
                <a:ea typeface="DM Sans Medium"/>
                <a:cs typeface="DM Sans Medium"/>
                <a:sym typeface="DM Sans Medium"/>
              </a:rPr>
              <a:t>Hidden Links – </a:t>
            </a:r>
            <a:r>
              <a:rPr lang="en-GB" sz="1600" dirty="0">
                <a:solidFill>
                  <a:srgbClr val="4B5563"/>
                </a:solidFill>
                <a:latin typeface="DM Sans Medium"/>
                <a:ea typeface="DM Sans Medium"/>
                <a:cs typeface="DM Sans Medium"/>
                <a:sym typeface="DM Sans Medium"/>
              </a:rPr>
              <a:t>LinkedIn link hidden under text</a:t>
            </a:r>
          </a:p>
        </p:txBody>
      </p:sp>
      <p:pic>
        <p:nvPicPr>
          <p:cNvPr id="16" name="Picture 15">
            <a:extLst>
              <a:ext uri="{FF2B5EF4-FFF2-40B4-BE49-F238E27FC236}">
                <a16:creationId xmlns:a16="http://schemas.microsoft.com/office/drawing/2014/main" id="{BF65982E-134C-C71E-55A3-7A8BE801A33F}"/>
              </a:ext>
            </a:extLst>
          </p:cNvPr>
          <p:cNvPicPr>
            <a:picLocks noChangeAspect="1"/>
          </p:cNvPicPr>
          <p:nvPr/>
        </p:nvPicPr>
        <p:blipFill>
          <a:blip r:embed="rId4"/>
          <a:stretch>
            <a:fillRect/>
          </a:stretch>
        </p:blipFill>
        <p:spPr>
          <a:xfrm>
            <a:off x="750641" y="1197364"/>
            <a:ext cx="2880783" cy="387332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8">
          <a:extLst>
            <a:ext uri="{FF2B5EF4-FFF2-40B4-BE49-F238E27FC236}">
              <a16:creationId xmlns:a16="http://schemas.microsoft.com/office/drawing/2014/main" id="{794C4EF3-07AF-55AF-CF17-CD5CB3A4A73B}"/>
            </a:ext>
          </a:extLst>
        </p:cNvPr>
        <p:cNvGrpSpPr/>
        <p:nvPr/>
      </p:nvGrpSpPr>
      <p:grpSpPr>
        <a:xfrm>
          <a:off x="0" y="0"/>
          <a:ext cx="0" cy="0"/>
          <a:chOff x="0" y="0"/>
          <a:chExt cx="0" cy="0"/>
        </a:xfrm>
      </p:grpSpPr>
      <p:grpSp>
        <p:nvGrpSpPr>
          <p:cNvPr id="78" name="Google Shape;78;p15">
            <a:extLst>
              <a:ext uri="{FF2B5EF4-FFF2-40B4-BE49-F238E27FC236}">
                <a16:creationId xmlns:a16="http://schemas.microsoft.com/office/drawing/2014/main" id="{8F1D49EA-FDCF-AEC9-2C08-9489F93615CA}"/>
              </a:ext>
            </a:extLst>
          </p:cNvPr>
          <p:cNvGrpSpPr/>
          <p:nvPr/>
        </p:nvGrpSpPr>
        <p:grpSpPr>
          <a:xfrm>
            <a:off x="0" y="0"/>
            <a:ext cx="9144150" cy="5144135"/>
            <a:chOff x="0" y="0"/>
            <a:chExt cx="9144150" cy="5144135"/>
          </a:xfrm>
        </p:grpSpPr>
        <p:pic>
          <p:nvPicPr>
            <p:cNvPr id="80" name="Google Shape;80;p15">
              <a:extLst>
                <a:ext uri="{FF2B5EF4-FFF2-40B4-BE49-F238E27FC236}">
                  <a16:creationId xmlns:a16="http://schemas.microsoft.com/office/drawing/2014/main" id="{3C2BE75D-F3BF-EDC1-922C-55A5D3E4E2E3}"/>
                </a:ext>
              </a:extLst>
            </p:cNvPr>
            <p:cNvPicPr preferRelativeResize="0"/>
            <p:nvPr/>
          </p:nvPicPr>
          <p:blipFill rotWithShape="1">
            <a:blip r:embed="rId3"/>
            <a:srcRect/>
            <a:stretch>
              <a:fillRect/>
            </a:stretch>
          </p:blipFill>
          <p:spPr>
            <a:xfrm>
              <a:off x="5080" y="5080"/>
              <a:ext cx="9138920" cy="5139055"/>
            </a:xfrm>
            <a:prstGeom prst="rect">
              <a:avLst/>
            </a:prstGeom>
            <a:noFill/>
            <a:ln>
              <a:noFill/>
            </a:ln>
          </p:spPr>
        </p:pic>
        <p:sp>
          <p:nvSpPr>
            <p:cNvPr id="79" name="Google Shape;79;p15">
              <a:extLst>
                <a:ext uri="{FF2B5EF4-FFF2-40B4-BE49-F238E27FC236}">
                  <a16:creationId xmlns:a16="http://schemas.microsoft.com/office/drawing/2014/main" id="{5D628F4A-A0E1-C094-FD04-AB1A2B9D89B5}"/>
                </a:ext>
              </a:extLst>
            </p:cNvPr>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1" name="Google Shape;81;p15">
              <a:extLst>
                <a:ext uri="{FF2B5EF4-FFF2-40B4-BE49-F238E27FC236}">
                  <a16:creationId xmlns:a16="http://schemas.microsoft.com/office/drawing/2014/main" id="{87145288-9021-65B5-66C5-9B6010182E0B}"/>
                </a:ext>
              </a:extLst>
            </p:cNvPr>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a:extLst>
                <a:ext uri="{FF2B5EF4-FFF2-40B4-BE49-F238E27FC236}">
                  <a16:creationId xmlns:a16="http://schemas.microsoft.com/office/drawing/2014/main" id="{A80D62CC-5E65-214F-A372-24EFF02E65FC}"/>
                </a:ext>
              </a:extLst>
            </p:cNvPr>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cxnSp>
        <p:nvCxnSpPr>
          <p:cNvPr id="201" name="Google Shape;201;p19">
            <a:extLst>
              <a:ext uri="{FF2B5EF4-FFF2-40B4-BE49-F238E27FC236}">
                <a16:creationId xmlns:a16="http://schemas.microsoft.com/office/drawing/2014/main" id="{5F47C6C9-0E17-97EE-3DD0-A1E6CA69198B}"/>
              </a:ext>
            </a:extLst>
          </p:cNvPr>
          <p:cNvCxnSpPr/>
          <p:nvPr/>
        </p:nvCxnSpPr>
        <p:spPr>
          <a:xfrm>
            <a:off x="381000" y="109474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 name="Google Shape;288;p22">
            <a:extLst>
              <a:ext uri="{FF2B5EF4-FFF2-40B4-BE49-F238E27FC236}">
                <a16:creationId xmlns:a16="http://schemas.microsoft.com/office/drawing/2014/main" id="{663E498E-CC6A-ED50-FD50-3FA50BF109A7}"/>
              </a:ext>
            </a:extLst>
          </p:cNvPr>
          <p:cNvSpPr txBox="1"/>
          <p:nvPr/>
        </p:nvSpPr>
        <p:spPr>
          <a:xfrm>
            <a:off x="381000" y="209550"/>
            <a:ext cx="8096250" cy="104775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GB" sz="2700" b="0" i="0" u="none" strike="noStrike">
                <a:solidFill>
                  <a:srgbClr val="0B132B"/>
                </a:solidFill>
                <a:latin typeface="Poppins SemiBold"/>
                <a:ea typeface="Poppins SemiBold"/>
                <a:cs typeface="Poppins SemiBold"/>
                <a:sym typeface="Poppins SemiBold"/>
              </a:rPr>
              <a:t>Embracing Simple &amp; Neat Layouts	</a:t>
            </a:r>
          </a:p>
        </p:txBody>
      </p:sp>
      <p:sp>
        <p:nvSpPr>
          <p:cNvPr id="6" name="Google Shape;206;p19">
            <a:extLst>
              <a:ext uri="{FF2B5EF4-FFF2-40B4-BE49-F238E27FC236}">
                <a16:creationId xmlns:a16="http://schemas.microsoft.com/office/drawing/2014/main" id="{7554A9B2-FB4D-378D-6ABB-8EACC47D1715}"/>
              </a:ext>
            </a:extLst>
          </p:cNvPr>
          <p:cNvSpPr txBox="1"/>
          <p:nvPr/>
        </p:nvSpPr>
        <p:spPr>
          <a:xfrm>
            <a:off x="3879414" y="1240360"/>
            <a:ext cx="4883585" cy="3729567"/>
          </a:xfrm>
          <a:prstGeom prst="rect">
            <a:avLst/>
          </a:prstGeom>
          <a:noFill/>
          <a:ln>
            <a:noFill/>
          </a:ln>
        </p:spPr>
        <p:txBody>
          <a:bodyPr spcFirstLastPara="1" wrap="square" lIns="0" tIns="0" rIns="0" bIns="0" anchor="t" anchorCtr="0">
            <a:noAutofit/>
          </a:bodyPr>
          <a:lstStyle/>
          <a:p>
            <a:pPr marL="431800" lvl="0" indent="-285750">
              <a:spcBef>
                <a:spcPts val="900"/>
              </a:spcBef>
              <a:spcAft>
                <a:spcPts val="600"/>
              </a:spcAft>
              <a:buClr>
                <a:srgbClr val="00B050"/>
              </a:buClr>
              <a:buSzPct val="150000"/>
              <a:buFont typeface="Wingdings" panose="05000000000000000000" pitchFamily="2" charset="2"/>
              <a:buChar char="ü"/>
            </a:pPr>
            <a:r>
              <a:rPr lang="en-GB" b="1" dirty="0">
                <a:solidFill>
                  <a:srgbClr val="4B5563"/>
                </a:solidFill>
                <a:latin typeface="DM Sans Medium"/>
                <a:ea typeface="DM Sans Medium"/>
                <a:cs typeface="DM Sans Medium"/>
                <a:sym typeface="DM Sans Medium"/>
              </a:rPr>
              <a:t>Clean &amp; Simple Layout – </a:t>
            </a:r>
            <a:r>
              <a:rPr lang="en-GB" dirty="0">
                <a:solidFill>
                  <a:srgbClr val="4B5563"/>
                </a:solidFill>
                <a:latin typeface="DM Sans Medium"/>
                <a:ea typeface="DM Sans Medium"/>
                <a:cs typeface="DM Sans Medium"/>
                <a:sym typeface="DM Sans Medium"/>
              </a:rPr>
              <a:t>Avoids complex graphics, multi-column layouts, or heavy colours.</a:t>
            </a:r>
            <a:endParaRPr lang="en-GB" b="1" dirty="0">
              <a:solidFill>
                <a:srgbClr val="4B5563"/>
              </a:solidFill>
              <a:latin typeface="DM Sans Medium"/>
              <a:ea typeface="DM Sans Medium"/>
              <a:cs typeface="DM Sans Medium"/>
              <a:sym typeface="DM Sans Medium"/>
            </a:endParaRPr>
          </a:p>
          <a:p>
            <a:pPr marL="431800" lvl="0" indent="-285750">
              <a:spcBef>
                <a:spcPts val="900"/>
              </a:spcBef>
              <a:spcAft>
                <a:spcPts val="600"/>
              </a:spcAft>
              <a:buClr>
                <a:srgbClr val="00B050"/>
              </a:buClr>
              <a:buSzPct val="150000"/>
              <a:buFont typeface="Wingdings" panose="05000000000000000000" pitchFamily="2" charset="2"/>
              <a:buChar char="ü"/>
            </a:pPr>
            <a:r>
              <a:rPr lang="en-GB" b="1" dirty="0">
                <a:solidFill>
                  <a:srgbClr val="4B5563"/>
                </a:solidFill>
                <a:latin typeface="DM Sans Medium"/>
                <a:ea typeface="DM Sans Medium"/>
                <a:cs typeface="DM Sans Medium"/>
                <a:sym typeface="DM Sans Medium"/>
              </a:rPr>
              <a:t>Standard Headings – </a:t>
            </a:r>
            <a:r>
              <a:rPr lang="en-GB" dirty="0">
                <a:solidFill>
                  <a:srgbClr val="4B5563"/>
                </a:solidFill>
                <a:latin typeface="DM Sans Medium"/>
                <a:ea typeface="DM Sans Medium"/>
                <a:cs typeface="DM Sans Medium"/>
                <a:sym typeface="DM Sans Medium"/>
              </a:rPr>
              <a:t>Chronologically ordered sections with clear, bold standard headers</a:t>
            </a:r>
            <a:endParaRPr lang="en-GB" b="1" dirty="0">
              <a:solidFill>
                <a:srgbClr val="4B5563"/>
              </a:solidFill>
              <a:latin typeface="DM Sans Medium"/>
              <a:ea typeface="DM Sans Medium"/>
              <a:cs typeface="DM Sans Medium"/>
              <a:sym typeface="DM Sans Medium"/>
            </a:endParaRPr>
          </a:p>
          <a:p>
            <a:pPr marL="431800" lvl="0" indent="-285750">
              <a:spcBef>
                <a:spcPts val="900"/>
              </a:spcBef>
              <a:spcAft>
                <a:spcPts val="600"/>
              </a:spcAft>
              <a:buClr>
                <a:srgbClr val="00B050"/>
              </a:buClr>
              <a:buSzPct val="150000"/>
              <a:buFont typeface="Wingdings" panose="05000000000000000000" pitchFamily="2" charset="2"/>
              <a:buChar char="ü"/>
            </a:pPr>
            <a:r>
              <a:rPr lang="en-GB" b="1" dirty="0">
                <a:solidFill>
                  <a:srgbClr val="4B5563"/>
                </a:solidFill>
                <a:latin typeface="DM Sans Medium"/>
                <a:ea typeface="DM Sans Medium"/>
                <a:cs typeface="DM Sans Medium"/>
                <a:sym typeface="DM Sans Medium"/>
              </a:rPr>
              <a:t>Consistent Formatting – </a:t>
            </a:r>
            <a:r>
              <a:rPr lang="en-GB" dirty="0">
                <a:solidFill>
                  <a:srgbClr val="4B5563"/>
                </a:solidFill>
                <a:latin typeface="DM Sans Medium"/>
                <a:ea typeface="DM Sans Medium"/>
                <a:cs typeface="DM Sans Medium"/>
                <a:sym typeface="DM Sans Medium"/>
              </a:rPr>
              <a:t>Same font and bullet style throughout</a:t>
            </a:r>
            <a:endParaRPr lang="en-GB" b="1" dirty="0">
              <a:solidFill>
                <a:srgbClr val="4B5563"/>
              </a:solidFill>
              <a:latin typeface="DM Sans Medium"/>
              <a:ea typeface="DM Sans Medium"/>
              <a:cs typeface="DM Sans Medium"/>
              <a:sym typeface="DM Sans Medium"/>
            </a:endParaRPr>
          </a:p>
          <a:p>
            <a:pPr marL="431800" lvl="0" indent="-285750">
              <a:spcBef>
                <a:spcPts val="900"/>
              </a:spcBef>
              <a:spcAft>
                <a:spcPts val="600"/>
              </a:spcAft>
              <a:buClr>
                <a:srgbClr val="00B050"/>
              </a:buClr>
              <a:buSzPct val="150000"/>
              <a:buFont typeface="Wingdings" panose="05000000000000000000" pitchFamily="2" charset="2"/>
              <a:buChar char="ü"/>
            </a:pPr>
            <a:r>
              <a:rPr lang="en-GB" b="1" dirty="0">
                <a:solidFill>
                  <a:srgbClr val="4B5563"/>
                </a:solidFill>
                <a:latin typeface="DM Sans Medium"/>
                <a:ea typeface="DM Sans Medium"/>
                <a:cs typeface="DM Sans Medium"/>
                <a:sym typeface="DM Sans Medium"/>
              </a:rPr>
              <a:t>Relevant Information – </a:t>
            </a:r>
            <a:r>
              <a:rPr lang="en-GB" dirty="0">
                <a:solidFill>
                  <a:srgbClr val="4B5563"/>
                </a:solidFill>
                <a:latin typeface="DM Sans Medium"/>
                <a:ea typeface="DM Sans Medium"/>
                <a:cs typeface="DM Sans Medium"/>
                <a:sym typeface="DM Sans Medium"/>
              </a:rPr>
              <a:t>Emphasizes on academic and technical expertise and excludes hobbies and profile summary</a:t>
            </a:r>
            <a:endParaRPr lang="en-GB" b="1" dirty="0">
              <a:solidFill>
                <a:srgbClr val="4B5563"/>
              </a:solidFill>
              <a:latin typeface="DM Sans Medium"/>
              <a:ea typeface="DM Sans Medium"/>
              <a:cs typeface="DM Sans Medium"/>
              <a:sym typeface="DM Sans Medium"/>
            </a:endParaRPr>
          </a:p>
          <a:p>
            <a:pPr marL="431800" lvl="0" indent="-285750">
              <a:spcBef>
                <a:spcPts val="900"/>
              </a:spcBef>
              <a:spcAft>
                <a:spcPts val="600"/>
              </a:spcAft>
              <a:buClr>
                <a:srgbClr val="00B050"/>
              </a:buClr>
              <a:buSzPct val="150000"/>
              <a:buFont typeface="Wingdings" panose="05000000000000000000" pitchFamily="2" charset="2"/>
              <a:buChar char="ü"/>
            </a:pPr>
            <a:r>
              <a:rPr lang="en-GB" b="1" dirty="0">
                <a:solidFill>
                  <a:srgbClr val="4B5563"/>
                </a:solidFill>
                <a:latin typeface="DM Sans Medium"/>
                <a:ea typeface="DM Sans Medium"/>
                <a:cs typeface="DM Sans Medium"/>
                <a:sym typeface="DM Sans Medium"/>
              </a:rPr>
              <a:t>Visible Links – </a:t>
            </a:r>
            <a:r>
              <a:rPr lang="en-GB" dirty="0">
                <a:solidFill>
                  <a:srgbClr val="4B5563"/>
                </a:solidFill>
                <a:latin typeface="DM Sans Medium"/>
                <a:ea typeface="DM Sans Medium"/>
                <a:cs typeface="DM Sans Medium"/>
                <a:sym typeface="DM Sans Medium"/>
              </a:rPr>
              <a:t>Links are clearly visible</a:t>
            </a:r>
          </a:p>
          <a:p>
            <a:pPr marL="431800" indent="-285750">
              <a:spcBef>
                <a:spcPts val="900"/>
              </a:spcBef>
              <a:spcAft>
                <a:spcPts val="600"/>
              </a:spcAft>
              <a:buClr>
                <a:srgbClr val="00B050"/>
              </a:buClr>
              <a:buSzPct val="150000"/>
              <a:buFont typeface="Wingdings" panose="05000000000000000000" pitchFamily="2" charset="2"/>
              <a:buChar char="ü"/>
            </a:pPr>
            <a:r>
              <a:rPr lang="en-GB" b="1" dirty="0">
                <a:solidFill>
                  <a:srgbClr val="4B5563"/>
                </a:solidFill>
                <a:latin typeface="DM Sans Medium"/>
                <a:ea typeface="DM Sans Medium"/>
                <a:cs typeface="DM Sans Medium"/>
                <a:sym typeface="DM Sans"/>
              </a:rPr>
              <a:t>Concise Length:</a:t>
            </a:r>
            <a:r>
              <a:rPr lang="en-GB" b="1" dirty="0">
                <a:solidFill>
                  <a:srgbClr val="4B5563"/>
                </a:solidFill>
                <a:latin typeface="DM Sans Medium"/>
                <a:ea typeface="DM Sans Medium"/>
                <a:cs typeface="DM Sans Medium"/>
              </a:rPr>
              <a:t> </a:t>
            </a:r>
            <a:r>
              <a:rPr lang="en-GB" dirty="0">
                <a:solidFill>
                  <a:srgbClr val="4B5563"/>
                </a:solidFill>
                <a:latin typeface="DM Sans Medium"/>
                <a:ea typeface="DM Sans Medium"/>
                <a:cs typeface="DM Sans Medium"/>
                <a:sym typeface="DM Sans Medium"/>
              </a:rPr>
              <a:t>Restrict your resume to a single page for entry-level campus recruitment.</a:t>
            </a:r>
          </a:p>
          <a:p>
            <a:pPr marL="431800" lvl="0" indent="-285750">
              <a:spcBef>
                <a:spcPts val="900"/>
              </a:spcBef>
              <a:spcAft>
                <a:spcPts val="600"/>
              </a:spcAft>
              <a:buClr>
                <a:srgbClr val="00B050"/>
              </a:buClr>
              <a:buSzPct val="150000"/>
              <a:buFont typeface="Wingdings" panose="05000000000000000000" pitchFamily="2" charset="2"/>
              <a:buChar char="ü"/>
            </a:pPr>
            <a:endParaRPr lang="en-GB" b="1" dirty="0">
              <a:solidFill>
                <a:srgbClr val="4B5563"/>
              </a:solidFill>
              <a:latin typeface="DM Sans Medium"/>
              <a:ea typeface="DM Sans Medium"/>
              <a:cs typeface="DM Sans Medium"/>
              <a:sym typeface="DM Sans Medium"/>
            </a:endParaRPr>
          </a:p>
        </p:txBody>
      </p:sp>
      <p:pic>
        <p:nvPicPr>
          <p:cNvPr id="4" name="Picture 3">
            <a:extLst>
              <a:ext uri="{FF2B5EF4-FFF2-40B4-BE49-F238E27FC236}">
                <a16:creationId xmlns:a16="http://schemas.microsoft.com/office/drawing/2014/main" id="{6E4B2694-53DB-327B-E63F-04F4C808234D}"/>
              </a:ext>
            </a:extLst>
          </p:cNvPr>
          <p:cNvPicPr>
            <a:picLocks noChangeAspect="1"/>
          </p:cNvPicPr>
          <p:nvPr/>
        </p:nvPicPr>
        <p:blipFill>
          <a:blip r:embed="rId4"/>
          <a:stretch>
            <a:fillRect/>
          </a:stretch>
        </p:blipFill>
        <p:spPr>
          <a:xfrm>
            <a:off x="443569" y="1257300"/>
            <a:ext cx="3054693" cy="3831310"/>
          </a:xfrm>
          <a:prstGeom prst="rect">
            <a:avLst/>
          </a:prstGeom>
        </p:spPr>
      </p:pic>
      <p:pic>
        <p:nvPicPr>
          <p:cNvPr id="7" name="Picture 6">
            <a:extLst>
              <a:ext uri="{FF2B5EF4-FFF2-40B4-BE49-F238E27FC236}">
                <a16:creationId xmlns:a16="http://schemas.microsoft.com/office/drawing/2014/main" id="{9D4FC831-C345-0D6C-4C81-2774A5406AC6}"/>
              </a:ext>
            </a:extLst>
          </p:cNvPr>
          <p:cNvPicPr>
            <a:picLocks noChangeAspect="1"/>
          </p:cNvPicPr>
          <p:nvPr/>
        </p:nvPicPr>
        <p:blipFill>
          <a:blip r:embed="rId5"/>
          <a:stretch>
            <a:fillRect/>
          </a:stretch>
        </p:blipFill>
        <p:spPr>
          <a:xfrm>
            <a:off x="1752573" y="1741802"/>
            <a:ext cx="1016052" cy="114306"/>
          </a:xfrm>
          <a:prstGeom prst="rect">
            <a:avLst/>
          </a:prstGeom>
        </p:spPr>
      </p:pic>
    </p:spTree>
    <p:extLst>
      <p:ext uri="{BB962C8B-B14F-4D97-AF65-F5344CB8AC3E}">
        <p14:creationId xmlns:p14="http://schemas.microsoft.com/office/powerpoint/2010/main" val="1695804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8">
          <a:extLst>
            <a:ext uri="{FF2B5EF4-FFF2-40B4-BE49-F238E27FC236}">
              <a16:creationId xmlns:a16="http://schemas.microsoft.com/office/drawing/2014/main" id="{B11227A0-D7B8-A628-C2EC-CB271F3998DE}"/>
            </a:ext>
          </a:extLst>
        </p:cNvPr>
        <p:cNvGrpSpPr/>
        <p:nvPr/>
      </p:nvGrpSpPr>
      <p:grpSpPr>
        <a:xfrm>
          <a:off x="0" y="0"/>
          <a:ext cx="0" cy="0"/>
          <a:chOff x="0" y="0"/>
          <a:chExt cx="0" cy="0"/>
        </a:xfrm>
      </p:grpSpPr>
      <p:grpSp>
        <p:nvGrpSpPr>
          <p:cNvPr id="78" name="Google Shape;78;p15">
            <a:extLst>
              <a:ext uri="{FF2B5EF4-FFF2-40B4-BE49-F238E27FC236}">
                <a16:creationId xmlns:a16="http://schemas.microsoft.com/office/drawing/2014/main" id="{FAC1FFBB-F656-E3D1-F6C3-F40D63B8A899}"/>
              </a:ext>
            </a:extLst>
          </p:cNvPr>
          <p:cNvGrpSpPr/>
          <p:nvPr/>
        </p:nvGrpSpPr>
        <p:grpSpPr>
          <a:xfrm>
            <a:off x="0" y="0"/>
            <a:ext cx="9144150" cy="5144135"/>
            <a:chOff x="0" y="0"/>
            <a:chExt cx="9144150" cy="5144135"/>
          </a:xfrm>
        </p:grpSpPr>
        <p:sp>
          <p:nvSpPr>
            <p:cNvPr id="79" name="Google Shape;79;p15">
              <a:extLst>
                <a:ext uri="{FF2B5EF4-FFF2-40B4-BE49-F238E27FC236}">
                  <a16:creationId xmlns:a16="http://schemas.microsoft.com/office/drawing/2014/main" id="{699EA69B-42D6-D290-B564-41F428FBA8FA}"/>
                </a:ext>
              </a:extLst>
            </p:cNvPr>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a:extLst>
                <a:ext uri="{FF2B5EF4-FFF2-40B4-BE49-F238E27FC236}">
                  <a16:creationId xmlns:a16="http://schemas.microsoft.com/office/drawing/2014/main" id="{B976FEFA-E3F3-F9F9-F8A2-3A19CA383B44}"/>
                </a:ext>
              </a:extLst>
            </p:cNvPr>
            <p:cNvPicPr preferRelativeResize="0"/>
            <p:nvPr/>
          </p:nvPicPr>
          <p:blipFill rotWithShape="1">
            <a:blip r:embed="rId3"/>
            <a:srcRect/>
            <a:stretch>
              <a:fillRect/>
            </a:stretch>
          </p:blipFill>
          <p:spPr>
            <a:xfrm>
              <a:off x="5080" y="5080"/>
              <a:ext cx="9138920" cy="5139055"/>
            </a:xfrm>
            <a:prstGeom prst="rect">
              <a:avLst/>
            </a:prstGeom>
            <a:noFill/>
            <a:ln>
              <a:noFill/>
            </a:ln>
          </p:spPr>
        </p:pic>
        <p:sp>
          <p:nvSpPr>
            <p:cNvPr id="81" name="Google Shape;81;p15">
              <a:extLst>
                <a:ext uri="{FF2B5EF4-FFF2-40B4-BE49-F238E27FC236}">
                  <a16:creationId xmlns:a16="http://schemas.microsoft.com/office/drawing/2014/main" id="{240CFC51-AA2B-04D5-4AE2-2776ADE98372}"/>
                </a:ext>
              </a:extLst>
            </p:cNvPr>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a:extLst>
                <a:ext uri="{FF2B5EF4-FFF2-40B4-BE49-F238E27FC236}">
                  <a16:creationId xmlns:a16="http://schemas.microsoft.com/office/drawing/2014/main" id="{608F9203-25F1-A02C-592B-E9CA28F38E4E}"/>
                </a:ext>
              </a:extLst>
            </p:cNvPr>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cxnSp>
        <p:nvCxnSpPr>
          <p:cNvPr id="201" name="Google Shape;201;p19">
            <a:extLst>
              <a:ext uri="{FF2B5EF4-FFF2-40B4-BE49-F238E27FC236}">
                <a16:creationId xmlns:a16="http://schemas.microsoft.com/office/drawing/2014/main" id="{0EE1480C-B33B-DD74-F111-AD9916212C10}"/>
              </a:ext>
            </a:extLst>
          </p:cNvPr>
          <p:cNvCxnSpPr/>
          <p:nvPr/>
        </p:nvCxnSpPr>
        <p:spPr>
          <a:xfrm>
            <a:off x="381000" y="109474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 name="Google Shape;288;p22">
            <a:extLst>
              <a:ext uri="{FF2B5EF4-FFF2-40B4-BE49-F238E27FC236}">
                <a16:creationId xmlns:a16="http://schemas.microsoft.com/office/drawing/2014/main" id="{90B62685-716F-DAD4-E58E-2109C22D4F80}"/>
              </a:ext>
            </a:extLst>
          </p:cNvPr>
          <p:cNvSpPr txBox="1"/>
          <p:nvPr/>
        </p:nvSpPr>
        <p:spPr>
          <a:xfrm>
            <a:off x="381000" y="209550"/>
            <a:ext cx="8096250" cy="104775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dirty="0">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GB" sz="2700" b="0" i="0" u="none" strike="noStrike" dirty="0">
                <a:solidFill>
                  <a:srgbClr val="0B132B"/>
                </a:solidFill>
                <a:latin typeface="Poppins SemiBold"/>
                <a:ea typeface="Poppins SemiBold"/>
                <a:cs typeface="Poppins SemiBold"/>
                <a:sym typeface="Poppins SemiBold"/>
              </a:rPr>
              <a:t>Embracing Simple &amp; Neat Layouts	</a:t>
            </a:r>
          </a:p>
        </p:txBody>
      </p:sp>
      <p:sp>
        <p:nvSpPr>
          <p:cNvPr id="3" name="Google Shape;206;p19">
            <a:extLst>
              <a:ext uri="{FF2B5EF4-FFF2-40B4-BE49-F238E27FC236}">
                <a16:creationId xmlns:a16="http://schemas.microsoft.com/office/drawing/2014/main" id="{31695F3E-80E9-A169-650A-79CE6D3DCAE9}"/>
              </a:ext>
            </a:extLst>
          </p:cNvPr>
          <p:cNvSpPr txBox="1"/>
          <p:nvPr/>
        </p:nvSpPr>
        <p:spPr>
          <a:xfrm>
            <a:off x="317500" y="1333500"/>
            <a:ext cx="8238671" cy="70357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2000" b="1" dirty="0">
                <a:solidFill>
                  <a:srgbClr val="111827"/>
                </a:solidFill>
                <a:latin typeface="Outfit"/>
                <a:ea typeface="Outfit"/>
                <a:cs typeface="Outfit"/>
                <a:sym typeface="Outfit"/>
              </a:rPr>
              <a:t>ATS-Friendly Optimization</a:t>
            </a:r>
            <a:endParaRPr lang="en-US" sz="2000" b="1" dirty="0">
              <a:solidFill>
                <a:srgbClr val="111827"/>
              </a:solidFill>
              <a:latin typeface="Outfit"/>
              <a:ea typeface="Outfit"/>
              <a:cs typeface="Outfit"/>
              <a:sym typeface="Outfit"/>
            </a:endParaRPr>
          </a:p>
          <a:p>
            <a:pPr marL="0" lvl="0" indent="0" algn="l" rtl="0">
              <a:spcBef>
                <a:spcPts val="0"/>
              </a:spcBef>
              <a:spcAft>
                <a:spcPts val="0"/>
              </a:spcAft>
              <a:buNone/>
            </a:pPr>
            <a:r>
              <a:rPr lang="en-US" altLang="en-GB" dirty="0">
                <a:solidFill>
                  <a:srgbClr val="4B5563"/>
                </a:solidFill>
                <a:latin typeface="DM Sans Medium"/>
                <a:ea typeface="DM Sans Medium"/>
                <a:cs typeface="DM Sans Medium"/>
                <a:sym typeface="DM Sans Medium"/>
              </a:rPr>
              <a:t>O</a:t>
            </a:r>
            <a:r>
              <a:rPr lang="en-US" dirty="0">
                <a:solidFill>
                  <a:srgbClr val="4B5563"/>
                </a:solidFill>
                <a:latin typeface="DM Sans Medium"/>
                <a:ea typeface="DM Sans Medium"/>
                <a:cs typeface="DM Sans Medium"/>
                <a:sym typeface="DM Sans Medium"/>
              </a:rPr>
              <a:t>ptimize</a:t>
            </a:r>
            <a:r>
              <a:rPr lang="en-US" altLang="en-GB" dirty="0">
                <a:solidFill>
                  <a:srgbClr val="4B5563"/>
                </a:solidFill>
                <a:latin typeface="DM Sans Medium"/>
                <a:ea typeface="DM Sans Medium"/>
                <a:cs typeface="DM Sans Medium"/>
                <a:sym typeface="DM Sans Medium"/>
              </a:rPr>
              <a:t> </a:t>
            </a:r>
            <a:r>
              <a:rPr lang="en-US" dirty="0">
                <a:solidFill>
                  <a:srgbClr val="4B5563"/>
                </a:solidFill>
                <a:latin typeface="DM Sans Medium"/>
                <a:ea typeface="DM Sans Medium"/>
                <a:cs typeface="DM Sans Medium"/>
                <a:sym typeface="DM Sans Medium"/>
              </a:rPr>
              <a:t>for both human recruiters and Applicant Tracking Systems (ATS).</a:t>
            </a:r>
          </a:p>
          <a:p>
            <a:pPr marL="457200" lvl="0" indent="-311150" algn="l" rtl="0">
              <a:spcBef>
                <a:spcPts val="900"/>
              </a:spcBef>
              <a:spcAft>
                <a:spcPts val="0"/>
              </a:spcAft>
              <a:buClr>
                <a:srgbClr val="4338CA"/>
              </a:buClr>
              <a:buSzPts val="1295"/>
              <a:buChar char="●"/>
            </a:pPr>
            <a:endParaRPr lang="en-GB" b="0" dirty="0">
              <a:solidFill>
                <a:srgbClr val="4B5563"/>
              </a:solidFill>
              <a:latin typeface="DM Sans Medium"/>
              <a:ea typeface="DM Sans Medium"/>
              <a:cs typeface="DM Sans Medium"/>
              <a:sym typeface="DM Sans Medium"/>
            </a:endParaRPr>
          </a:p>
        </p:txBody>
      </p:sp>
      <p:graphicFrame>
        <p:nvGraphicFramePr>
          <p:cNvPr id="6" name="Table 5">
            <a:extLst>
              <a:ext uri="{FF2B5EF4-FFF2-40B4-BE49-F238E27FC236}">
                <a16:creationId xmlns:a16="http://schemas.microsoft.com/office/drawing/2014/main" id="{2F1C5F2E-D36D-E2AE-D04B-FB14123DEE58}"/>
              </a:ext>
            </a:extLst>
          </p:cNvPr>
          <p:cNvGraphicFramePr>
            <a:graphicFrameLocks noGrp="1"/>
          </p:cNvGraphicFramePr>
          <p:nvPr>
            <p:extLst>
              <p:ext uri="{D42A27DB-BD31-4B8C-83A1-F6EECF244321}">
                <p14:modId xmlns:p14="http://schemas.microsoft.com/office/powerpoint/2010/main" val="656386261"/>
              </p:ext>
            </p:extLst>
          </p:nvPr>
        </p:nvGraphicFramePr>
        <p:xfrm>
          <a:off x="287865" y="2174235"/>
          <a:ext cx="8382000" cy="2759288"/>
        </p:xfrm>
        <a:graphic>
          <a:graphicData uri="http://schemas.openxmlformats.org/drawingml/2006/table">
            <a:tbl>
              <a:tblPr firstRow="1" bandRow="1">
                <a:tableStyleId>{5C22544A-7EE6-4342-B048-85BDC9FD1C3A}</a:tableStyleId>
              </a:tblPr>
              <a:tblGrid>
                <a:gridCol w="1428493">
                  <a:extLst>
                    <a:ext uri="{9D8B030D-6E8A-4147-A177-3AD203B41FA5}">
                      <a16:colId xmlns:a16="http://schemas.microsoft.com/office/drawing/2014/main" val="1498933806"/>
                    </a:ext>
                  </a:extLst>
                </a:gridCol>
                <a:gridCol w="3923945">
                  <a:extLst>
                    <a:ext uri="{9D8B030D-6E8A-4147-A177-3AD203B41FA5}">
                      <a16:colId xmlns:a16="http://schemas.microsoft.com/office/drawing/2014/main" val="1413528557"/>
                    </a:ext>
                  </a:extLst>
                </a:gridCol>
                <a:gridCol w="3029562">
                  <a:extLst>
                    <a:ext uri="{9D8B030D-6E8A-4147-A177-3AD203B41FA5}">
                      <a16:colId xmlns:a16="http://schemas.microsoft.com/office/drawing/2014/main" val="1174432998"/>
                    </a:ext>
                  </a:extLst>
                </a:gridCol>
              </a:tblGrid>
              <a:tr h="389044">
                <a:tc>
                  <a:txBody>
                    <a:bodyPr/>
                    <a:lstStyle/>
                    <a:p>
                      <a:r>
                        <a:rPr lang="en-US" dirty="0"/>
                        <a:t>Aspect</a:t>
                      </a:r>
                      <a:endParaRPr lang="en-IN" dirty="0"/>
                    </a:p>
                  </a:txBody>
                  <a:tcPr/>
                </a:tc>
                <a:tc>
                  <a:txBody>
                    <a:bodyPr/>
                    <a:lstStyle/>
                    <a:p>
                      <a:r>
                        <a:rPr lang="en-US" dirty="0"/>
                        <a:t>DONTs</a:t>
                      </a:r>
                      <a:endParaRPr lang="en-IN" dirty="0"/>
                    </a:p>
                  </a:txBody>
                  <a:tcPr/>
                </a:tc>
                <a:tc>
                  <a:txBody>
                    <a:bodyPr/>
                    <a:lstStyle/>
                    <a:p>
                      <a:r>
                        <a:rPr lang="en-US" dirty="0"/>
                        <a:t>DOs</a:t>
                      </a:r>
                      <a:endParaRPr lang="en-IN" dirty="0"/>
                    </a:p>
                  </a:txBody>
                  <a:tcPr/>
                </a:tc>
                <a:extLst>
                  <a:ext uri="{0D108BD9-81ED-4DB2-BD59-A6C34878D82A}">
                    <a16:rowId xmlns:a16="http://schemas.microsoft.com/office/drawing/2014/main" val="349042342"/>
                  </a:ext>
                </a:extLst>
              </a:tr>
              <a:tr h="389044">
                <a:tc>
                  <a:txBody>
                    <a:bodyPr/>
                    <a:lstStyle/>
                    <a:p>
                      <a:r>
                        <a:rPr lang="en-US" dirty="0"/>
                        <a:t>Layout</a:t>
                      </a:r>
                      <a:endParaRPr lang="en-IN" dirty="0"/>
                    </a:p>
                  </a:txBody>
                  <a:tcPr/>
                </a:tc>
                <a:tc>
                  <a:txBody>
                    <a:bodyPr/>
                    <a:lstStyle/>
                    <a:p>
                      <a:r>
                        <a:rPr lang="en-US" dirty="0"/>
                        <a:t>Avoid multi-columns, split panels</a:t>
                      </a:r>
                      <a:endParaRPr lang="en-IN" dirty="0"/>
                    </a:p>
                  </a:txBody>
                  <a:tcPr/>
                </a:tc>
                <a:tc>
                  <a:txBody>
                    <a:bodyPr/>
                    <a:lstStyle/>
                    <a:p>
                      <a:r>
                        <a:rPr lang="en-US" dirty="0"/>
                        <a:t>Single column, top-to-bottom reading</a:t>
                      </a:r>
                      <a:endParaRPr lang="en-IN" dirty="0"/>
                    </a:p>
                  </a:txBody>
                  <a:tcPr/>
                </a:tc>
                <a:extLst>
                  <a:ext uri="{0D108BD9-81ED-4DB2-BD59-A6C34878D82A}">
                    <a16:rowId xmlns:a16="http://schemas.microsoft.com/office/drawing/2014/main" val="1793509996"/>
                  </a:ext>
                </a:extLst>
              </a:tr>
              <a:tr h="389044">
                <a:tc>
                  <a:txBody>
                    <a:bodyPr/>
                    <a:lstStyle/>
                    <a:p>
                      <a:endParaRPr lang="en-IN"/>
                    </a:p>
                  </a:txBody>
                  <a:tcPr/>
                </a:tc>
                <a:tc>
                  <a:txBody>
                    <a:bodyPr/>
                    <a:lstStyle/>
                    <a:p>
                      <a:r>
                        <a:rPr lang="en-US" dirty="0"/>
                        <a:t>Avoid flashing colors, images, photos, borders</a:t>
                      </a:r>
                      <a:endParaRPr lang="en-IN" dirty="0"/>
                    </a:p>
                  </a:txBody>
                  <a:tcPr/>
                </a:tc>
                <a:tc>
                  <a:txBody>
                    <a:bodyPr/>
                    <a:lstStyle/>
                    <a:p>
                      <a:r>
                        <a:rPr lang="en-US" dirty="0"/>
                        <a:t>Use clean &amp; Clear plain text</a:t>
                      </a:r>
                      <a:endParaRPr lang="en-IN" dirty="0"/>
                    </a:p>
                  </a:txBody>
                  <a:tcPr/>
                </a:tc>
                <a:extLst>
                  <a:ext uri="{0D108BD9-81ED-4DB2-BD59-A6C34878D82A}">
                    <a16:rowId xmlns:a16="http://schemas.microsoft.com/office/drawing/2014/main" val="459285435"/>
                  </a:ext>
                </a:extLst>
              </a:tr>
              <a:tr h="389044">
                <a:tc>
                  <a:txBody>
                    <a:bodyPr/>
                    <a:lstStyle/>
                    <a:p>
                      <a:endParaRPr lang="en-IN"/>
                    </a:p>
                  </a:txBody>
                  <a:tcPr/>
                </a:tc>
                <a:tc>
                  <a:txBody>
                    <a:bodyPr/>
                    <a:lstStyle/>
                    <a:p>
                      <a:r>
                        <a:rPr lang="en-US" dirty="0"/>
                        <a:t>Avoid placing contact info like phone numbers and links in document headers / footers</a:t>
                      </a:r>
                      <a:endParaRPr lang="en-IN" dirty="0"/>
                    </a:p>
                  </a:txBody>
                  <a:tcPr/>
                </a:tc>
                <a:tc>
                  <a:txBody>
                    <a:bodyPr/>
                    <a:lstStyle/>
                    <a:p>
                      <a:r>
                        <a:rPr lang="en-US" dirty="0"/>
                        <a:t>Place all contact details on top section of document</a:t>
                      </a:r>
                      <a:endParaRPr lang="en-IN" dirty="0"/>
                    </a:p>
                  </a:txBody>
                  <a:tcPr/>
                </a:tc>
                <a:extLst>
                  <a:ext uri="{0D108BD9-81ED-4DB2-BD59-A6C34878D82A}">
                    <a16:rowId xmlns:a16="http://schemas.microsoft.com/office/drawing/2014/main" val="3635769339"/>
                  </a:ext>
                </a:extLst>
              </a:tr>
              <a:tr h="389044">
                <a:tc>
                  <a:txBody>
                    <a:bodyPr/>
                    <a:lstStyle/>
                    <a:p>
                      <a:r>
                        <a:rPr lang="en-US" dirty="0"/>
                        <a:t>Hyperlinks</a:t>
                      </a:r>
                      <a:endParaRPr lang="en-IN" dirty="0"/>
                    </a:p>
                  </a:txBody>
                  <a:tcPr/>
                </a:tc>
                <a:tc>
                  <a:txBody>
                    <a:bodyPr/>
                    <a:lstStyle/>
                    <a:p>
                      <a:r>
                        <a:rPr lang="en-US" dirty="0"/>
                        <a:t>Avoid hiding URLs under custom text like Click Here or using long URLs.</a:t>
                      </a:r>
                      <a:endParaRPr lang="en-IN" dirty="0"/>
                    </a:p>
                  </a:txBody>
                  <a:tcPr/>
                </a:tc>
                <a:tc>
                  <a:txBody>
                    <a:bodyPr/>
                    <a:lstStyle/>
                    <a:p>
                      <a:r>
                        <a:rPr lang="en-US" dirty="0"/>
                        <a:t>Anchor clean URLs to identifiable text: </a:t>
                      </a:r>
                      <a:r>
                        <a:rPr lang="en-US" sz="1400" b="0" i="0" u="none" strike="noStrike" cap="none" dirty="0">
                          <a:solidFill>
                            <a:schemeClr val="dk1"/>
                          </a:solidFill>
                          <a:latin typeface="+mn-lt"/>
                          <a:ea typeface="+mn-ea"/>
                          <a:cs typeface="+mn-cs"/>
                          <a:sym typeface="Arial" panose="020B0604020202090204"/>
                          <a:hlinkClick r:id="rId4"/>
                        </a:rPr>
                        <a:t>https://linkedin.com/in/username</a:t>
                      </a:r>
                      <a:r>
                        <a:rPr lang="en-US" sz="1400" b="0" i="0" u="none" strike="noStrike" cap="none" dirty="0">
                          <a:solidFill>
                            <a:schemeClr val="dk1"/>
                          </a:solidFill>
                          <a:latin typeface="+mn-lt"/>
                          <a:ea typeface="+mn-ea"/>
                          <a:cs typeface="+mn-cs"/>
                          <a:sym typeface="Arial" panose="020B0604020202090204"/>
                        </a:rPr>
                        <a:t> </a:t>
                      </a:r>
                      <a:r>
                        <a:rPr lang="en-US" dirty="0"/>
                        <a:t>or </a:t>
                      </a:r>
                      <a:r>
                        <a:rPr lang="en-US" sz="1400" b="0" i="0" u="none" strike="noStrike" cap="none" dirty="0">
                          <a:solidFill>
                            <a:schemeClr val="dk1"/>
                          </a:solidFill>
                          <a:latin typeface="+mn-lt"/>
                          <a:ea typeface="+mn-ea"/>
                          <a:cs typeface="+mn-cs"/>
                          <a:sym typeface="Arial" panose="020B0604020202090204"/>
                          <a:hlinkClick r:id="rId5"/>
                        </a:rPr>
                        <a:t>https://github.com/username</a:t>
                      </a:r>
                      <a:endParaRPr lang="en-IN" dirty="0"/>
                    </a:p>
                  </a:txBody>
                  <a:tcPr/>
                </a:tc>
                <a:extLst>
                  <a:ext uri="{0D108BD9-81ED-4DB2-BD59-A6C34878D82A}">
                    <a16:rowId xmlns:a16="http://schemas.microsoft.com/office/drawing/2014/main" val="582775116"/>
                  </a:ext>
                </a:extLst>
              </a:tr>
            </a:tbl>
          </a:graphicData>
        </a:graphic>
      </p:graphicFrame>
    </p:spTree>
    <p:extLst>
      <p:ext uri="{BB962C8B-B14F-4D97-AF65-F5344CB8AC3E}">
        <p14:creationId xmlns:p14="http://schemas.microsoft.com/office/powerpoint/2010/main" val="32308204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8">
          <a:extLst>
            <a:ext uri="{FF2B5EF4-FFF2-40B4-BE49-F238E27FC236}">
              <a16:creationId xmlns:a16="http://schemas.microsoft.com/office/drawing/2014/main" id="{F933E6A2-2F78-845B-096A-236299D79DBC}"/>
            </a:ext>
          </a:extLst>
        </p:cNvPr>
        <p:cNvGrpSpPr/>
        <p:nvPr/>
      </p:nvGrpSpPr>
      <p:grpSpPr>
        <a:xfrm>
          <a:off x="0" y="0"/>
          <a:ext cx="0" cy="0"/>
          <a:chOff x="0" y="0"/>
          <a:chExt cx="0" cy="0"/>
        </a:xfrm>
      </p:grpSpPr>
      <p:grpSp>
        <p:nvGrpSpPr>
          <p:cNvPr id="78" name="Google Shape;78;p15">
            <a:extLst>
              <a:ext uri="{FF2B5EF4-FFF2-40B4-BE49-F238E27FC236}">
                <a16:creationId xmlns:a16="http://schemas.microsoft.com/office/drawing/2014/main" id="{1A9256F8-4AF7-06C8-29AF-04667528D641}"/>
              </a:ext>
            </a:extLst>
          </p:cNvPr>
          <p:cNvGrpSpPr/>
          <p:nvPr/>
        </p:nvGrpSpPr>
        <p:grpSpPr>
          <a:xfrm>
            <a:off x="0" y="0"/>
            <a:ext cx="9144150" cy="5144135"/>
            <a:chOff x="0" y="0"/>
            <a:chExt cx="9144150" cy="5144135"/>
          </a:xfrm>
        </p:grpSpPr>
        <p:sp>
          <p:nvSpPr>
            <p:cNvPr id="79" name="Google Shape;79;p15">
              <a:extLst>
                <a:ext uri="{FF2B5EF4-FFF2-40B4-BE49-F238E27FC236}">
                  <a16:creationId xmlns:a16="http://schemas.microsoft.com/office/drawing/2014/main" id="{ACD438A1-C572-CEE3-69D8-048984469C0A}"/>
                </a:ext>
              </a:extLst>
            </p:cNvPr>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a:extLst>
                <a:ext uri="{FF2B5EF4-FFF2-40B4-BE49-F238E27FC236}">
                  <a16:creationId xmlns:a16="http://schemas.microsoft.com/office/drawing/2014/main" id="{B6027A4A-25C3-A106-CCEF-DF082A1FC20E}"/>
                </a:ext>
              </a:extLst>
            </p:cNvPr>
            <p:cNvPicPr preferRelativeResize="0"/>
            <p:nvPr/>
          </p:nvPicPr>
          <p:blipFill rotWithShape="1">
            <a:blip r:embed="rId3"/>
            <a:srcRect/>
            <a:stretch>
              <a:fillRect/>
            </a:stretch>
          </p:blipFill>
          <p:spPr>
            <a:xfrm>
              <a:off x="5080" y="5080"/>
              <a:ext cx="9138920" cy="5139055"/>
            </a:xfrm>
            <a:prstGeom prst="rect">
              <a:avLst/>
            </a:prstGeom>
            <a:noFill/>
            <a:ln>
              <a:noFill/>
            </a:ln>
          </p:spPr>
        </p:pic>
        <p:sp>
          <p:nvSpPr>
            <p:cNvPr id="81" name="Google Shape;81;p15">
              <a:extLst>
                <a:ext uri="{FF2B5EF4-FFF2-40B4-BE49-F238E27FC236}">
                  <a16:creationId xmlns:a16="http://schemas.microsoft.com/office/drawing/2014/main" id="{5EAF079A-2F95-2AF6-77BC-D150D17FA255}"/>
                </a:ext>
              </a:extLst>
            </p:cNvPr>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82" name="Google Shape;82;p15">
              <a:extLst>
                <a:ext uri="{FF2B5EF4-FFF2-40B4-BE49-F238E27FC236}">
                  <a16:creationId xmlns:a16="http://schemas.microsoft.com/office/drawing/2014/main" id="{2D35B1BE-D6BA-19BB-A243-3A8D3FD9CB76}"/>
                </a:ext>
              </a:extLst>
            </p:cNvPr>
            <p:cNvSpPr/>
            <p:nvPr/>
          </p:nvSpPr>
          <p:spPr>
            <a:xfrm>
              <a:off x="8477250" y="4476750"/>
              <a:ext cx="666900" cy="666900"/>
            </a:xfrm>
            <a:custGeom>
              <a:avLst/>
              <a:gdLst/>
              <a:ahLst/>
              <a:cxnLst/>
              <a:rect l="l" t="t" r="r" b="b"/>
              <a:pathLst>
                <a:path w="120000" h="120000" extrusionOk="0">
                  <a:moveTo>
                    <a:pt x="120000" y="120000"/>
                  </a:moveTo>
                  <a:lnTo>
                    <a:pt x="120000" y="0"/>
                  </a:lnTo>
                  <a:lnTo>
                    <a:pt x="0" y="120000"/>
                  </a:lnTo>
                  <a:close/>
                </a:path>
              </a:pathLst>
            </a:custGeom>
            <a:solidFill>
              <a:srgbClr val="FFC300">
                <a:alpha val="6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cxnSp>
        <p:nvCxnSpPr>
          <p:cNvPr id="201" name="Google Shape;201;p19">
            <a:extLst>
              <a:ext uri="{FF2B5EF4-FFF2-40B4-BE49-F238E27FC236}">
                <a16:creationId xmlns:a16="http://schemas.microsoft.com/office/drawing/2014/main" id="{1D76611F-7CC1-B9A5-6D61-0A1BAF229023}"/>
              </a:ext>
            </a:extLst>
          </p:cNvPr>
          <p:cNvCxnSpPr/>
          <p:nvPr/>
        </p:nvCxnSpPr>
        <p:spPr>
          <a:xfrm>
            <a:off x="381000" y="109474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 name="Google Shape;288;p22">
            <a:extLst>
              <a:ext uri="{FF2B5EF4-FFF2-40B4-BE49-F238E27FC236}">
                <a16:creationId xmlns:a16="http://schemas.microsoft.com/office/drawing/2014/main" id="{7814F0CF-1DB6-6BC8-B85C-D3FD9D6D91E6}"/>
              </a:ext>
            </a:extLst>
          </p:cNvPr>
          <p:cNvSpPr txBox="1"/>
          <p:nvPr/>
        </p:nvSpPr>
        <p:spPr>
          <a:xfrm>
            <a:off x="381000" y="209550"/>
            <a:ext cx="8096250" cy="104775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GB" sz="2700" b="0" i="0" u="none" strike="noStrike">
                <a:solidFill>
                  <a:srgbClr val="0B132B"/>
                </a:solidFill>
                <a:latin typeface="Poppins SemiBold"/>
                <a:ea typeface="Poppins SemiBold"/>
                <a:cs typeface="Poppins SemiBold"/>
                <a:sym typeface="Poppins SemiBold"/>
              </a:rPr>
              <a:t>Embracing Simple &amp; Neat Layouts	</a:t>
            </a:r>
          </a:p>
        </p:txBody>
      </p:sp>
      <p:graphicFrame>
        <p:nvGraphicFramePr>
          <p:cNvPr id="6" name="Table 5">
            <a:extLst>
              <a:ext uri="{FF2B5EF4-FFF2-40B4-BE49-F238E27FC236}">
                <a16:creationId xmlns:a16="http://schemas.microsoft.com/office/drawing/2014/main" id="{E0FD4227-B8E9-C61A-46FF-1C71EE49C101}"/>
              </a:ext>
            </a:extLst>
          </p:cNvPr>
          <p:cNvGraphicFramePr>
            <a:graphicFrameLocks noGrp="1"/>
          </p:cNvGraphicFramePr>
          <p:nvPr>
            <p:extLst>
              <p:ext uri="{D42A27DB-BD31-4B8C-83A1-F6EECF244321}">
                <p14:modId xmlns:p14="http://schemas.microsoft.com/office/powerpoint/2010/main" val="666150283"/>
              </p:ext>
            </p:extLst>
          </p:nvPr>
        </p:nvGraphicFramePr>
        <p:xfrm>
          <a:off x="262462" y="1195912"/>
          <a:ext cx="8500539" cy="3711364"/>
        </p:xfrm>
        <a:graphic>
          <a:graphicData uri="http://schemas.openxmlformats.org/drawingml/2006/table">
            <a:tbl>
              <a:tblPr firstRow="1" bandRow="1">
                <a:tableStyleId>{5C22544A-7EE6-4342-B048-85BDC9FD1C3A}</a:tableStyleId>
              </a:tblPr>
              <a:tblGrid>
                <a:gridCol w="2112509">
                  <a:extLst>
                    <a:ext uri="{9D8B030D-6E8A-4147-A177-3AD203B41FA5}">
                      <a16:colId xmlns:a16="http://schemas.microsoft.com/office/drawing/2014/main" val="1498933806"/>
                    </a:ext>
                  </a:extLst>
                </a:gridCol>
                <a:gridCol w="2766207">
                  <a:extLst>
                    <a:ext uri="{9D8B030D-6E8A-4147-A177-3AD203B41FA5}">
                      <a16:colId xmlns:a16="http://schemas.microsoft.com/office/drawing/2014/main" val="1413528557"/>
                    </a:ext>
                  </a:extLst>
                </a:gridCol>
                <a:gridCol w="3621823">
                  <a:extLst>
                    <a:ext uri="{9D8B030D-6E8A-4147-A177-3AD203B41FA5}">
                      <a16:colId xmlns:a16="http://schemas.microsoft.com/office/drawing/2014/main" val="1174432998"/>
                    </a:ext>
                  </a:extLst>
                </a:gridCol>
              </a:tblGrid>
              <a:tr h="389044">
                <a:tc>
                  <a:txBody>
                    <a:bodyPr/>
                    <a:lstStyle/>
                    <a:p>
                      <a:r>
                        <a:rPr lang="en-US" dirty="0"/>
                        <a:t>Aspect</a:t>
                      </a:r>
                      <a:endParaRPr lang="en-IN" dirty="0"/>
                    </a:p>
                  </a:txBody>
                  <a:tcPr/>
                </a:tc>
                <a:tc>
                  <a:txBody>
                    <a:bodyPr/>
                    <a:lstStyle/>
                    <a:p>
                      <a:r>
                        <a:rPr lang="en-US" dirty="0"/>
                        <a:t>Regular</a:t>
                      </a:r>
                      <a:endParaRPr lang="en-IN" dirty="0"/>
                    </a:p>
                  </a:txBody>
                  <a:tcPr/>
                </a:tc>
                <a:tc>
                  <a:txBody>
                    <a:bodyPr/>
                    <a:lstStyle/>
                    <a:p>
                      <a:r>
                        <a:rPr lang="en-US" dirty="0"/>
                        <a:t>ATS Compatible</a:t>
                      </a:r>
                      <a:endParaRPr lang="en-IN" dirty="0"/>
                    </a:p>
                  </a:txBody>
                  <a:tcPr/>
                </a:tc>
                <a:extLst>
                  <a:ext uri="{0D108BD9-81ED-4DB2-BD59-A6C34878D82A}">
                    <a16:rowId xmlns:a16="http://schemas.microsoft.com/office/drawing/2014/main" val="349042342"/>
                  </a:ext>
                </a:extLst>
              </a:tr>
              <a:tr h="389044">
                <a:tc>
                  <a:txBody>
                    <a:bodyPr/>
                    <a:lstStyle/>
                    <a:p>
                      <a:r>
                        <a:rPr lang="en-US" dirty="0"/>
                        <a:t>Styling and Formatting</a:t>
                      </a:r>
                      <a:endParaRPr lang="en-IN" dirty="0"/>
                    </a:p>
                  </a:txBody>
                  <a:tcPr/>
                </a:tc>
                <a:tc>
                  <a:txBody>
                    <a:bodyPr/>
                    <a:lstStyle/>
                    <a:p>
                      <a:r>
                        <a:rPr lang="en-US" dirty="0"/>
                        <a:t>Avoid custom web fonts, decorative scripts</a:t>
                      </a:r>
                      <a:endParaRPr lang="en-IN" dirty="0"/>
                    </a:p>
                  </a:txBody>
                  <a:tcPr/>
                </a:tc>
                <a:tc>
                  <a:txBody>
                    <a:bodyPr/>
                    <a:lstStyle/>
                    <a:p>
                      <a:r>
                        <a:rPr lang="en-US" dirty="0"/>
                        <a:t>Use standard fonts like Arial, Calibri, Times New Roman</a:t>
                      </a:r>
                      <a:endParaRPr lang="en-IN" dirty="0"/>
                    </a:p>
                  </a:txBody>
                  <a:tcPr/>
                </a:tc>
                <a:extLst>
                  <a:ext uri="{0D108BD9-81ED-4DB2-BD59-A6C34878D82A}">
                    <a16:rowId xmlns:a16="http://schemas.microsoft.com/office/drawing/2014/main" val="1793509996"/>
                  </a:ext>
                </a:extLst>
              </a:tr>
              <a:tr h="389044">
                <a:tc>
                  <a:txBody>
                    <a:bodyPr/>
                    <a:lstStyle/>
                    <a:p>
                      <a:endParaRPr lang="en-IN"/>
                    </a:p>
                  </a:txBody>
                  <a:tcPr/>
                </a:tc>
                <a:tc>
                  <a:txBody>
                    <a:bodyPr/>
                    <a:lstStyle/>
                    <a:p>
                      <a:r>
                        <a:rPr lang="en-US" dirty="0"/>
                        <a:t>Avoid tiny font sizes to fit more content</a:t>
                      </a:r>
                      <a:endParaRPr lang="en-IN" dirty="0"/>
                    </a:p>
                  </a:txBody>
                  <a:tcPr/>
                </a:tc>
                <a:tc>
                  <a:txBody>
                    <a:bodyPr/>
                    <a:lstStyle/>
                    <a:p>
                      <a:r>
                        <a:rPr lang="en-US" dirty="0"/>
                        <a:t>Use legible uniform font sizes for headers and content</a:t>
                      </a:r>
                      <a:endParaRPr lang="en-IN" dirty="0"/>
                    </a:p>
                  </a:txBody>
                  <a:tcPr/>
                </a:tc>
                <a:extLst>
                  <a:ext uri="{0D108BD9-81ED-4DB2-BD59-A6C34878D82A}">
                    <a16:rowId xmlns:a16="http://schemas.microsoft.com/office/drawing/2014/main" val="459285435"/>
                  </a:ext>
                </a:extLst>
              </a:tr>
              <a:tr h="389044">
                <a:tc>
                  <a:txBody>
                    <a:bodyPr/>
                    <a:lstStyle/>
                    <a:p>
                      <a:endParaRPr lang="en-IN" dirty="0"/>
                    </a:p>
                  </a:txBody>
                  <a:tcPr/>
                </a:tc>
                <a:tc>
                  <a:txBody>
                    <a:bodyPr/>
                    <a:lstStyle/>
                    <a:p>
                      <a:r>
                        <a:rPr lang="en-US" dirty="0"/>
                        <a:t>Avoid fancy fonts and symbols for bullets</a:t>
                      </a:r>
                      <a:endParaRPr lang="en-IN" dirty="0"/>
                    </a:p>
                  </a:txBody>
                  <a:tcPr/>
                </a:tc>
                <a:tc>
                  <a:txBody>
                    <a:bodyPr/>
                    <a:lstStyle/>
                    <a:p>
                      <a:r>
                        <a:rPr lang="en-US" dirty="0"/>
                        <a:t>Use common standard circular or hyphen</a:t>
                      </a:r>
                      <a:endParaRPr lang="en-IN" dirty="0"/>
                    </a:p>
                  </a:txBody>
                  <a:tcPr/>
                </a:tc>
                <a:extLst>
                  <a:ext uri="{0D108BD9-81ED-4DB2-BD59-A6C34878D82A}">
                    <a16:rowId xmlns:a16="http://schemas.microsoft.com/office/drawing/2014/main" val="3635769339"/>
                  </a:ext>
                </a:extLst>
              </a:tr>
              <a:tr h="389044">
                <a:tc>
                  <a:txBody>
                    <a:bodyPr/>
                    <a:lstStyle/>
                    <a:p>
                      <a:r>
                        <a:rPr lang="en-US" dirty="0"/>
                        <a:t>Headings and Sections</a:t>
                      </a:r>
                      <a:endParaRPr lang="en-IN" dirty="0"/>
                    </a:p>
                  </a:txBody>
                  <a:tcPr/>
                </a:tc>
                <a:tc>
                  <a:txBody>
                    <a:bodyPr/>
                    <a:lstStyle/>
                    <a:p>
                      <a:r>
                        <a:rPr lang="en-US" dirty="0"/>
                        <a:t>Avoid creative headings like “</a:t>
                      </a:r>
                      <a:r>
                        <a:rPr lang="en-US" dirty="0" err="1"/>
                        <a:t>ToolBox</a:t>
                      </a:r>
                      <a:r>
                        <a:rPr lang="en-US" dirty="0"/>
                        <a:t>”, “My Journey” </a:t>
                      </a:r>
                      <a:r>
                        <a:rPr lang="en-US" dirty="0" err="1"/>
                        <a:t>etc</a:t>
                      </a:r>
                      <a:endParaRPr lang="en-IN" dirty="0"/>
                    </a:p>
                  </a:txBody>
                  <a:tcPr/>
                </a:tc>
                <a:tc>
                  <a:txBody>
                    <a:bodyPr/>
                    <a:lstStyle/>
                    <a:p>
                      <a:r>
                        <a:rPr lang="en-US" dirty="0"/>
                        <a:t>Use standard headings like “Skills”, “Projects”, “Experience” </a:t>
                      </a:r>
                      <a:r>
                        <a:rPr lang="en-US" dirty="0" err="1"/>
                        <a:t>etc</a:t>
                      </a:r>
                      <a:endParaRPr lang="en-IN" dirty="0"/>
                    </a:p>
                  </a:txBody>
                  <a:tcPr/>
                </a:tc>
                <a:extLst>
                  <a:ext uri="{0D108BD9-81ED-4DB2-BD59-A6C34878D82A}">
                    <a16:rowId xmlns:a16="http://schemas.microsoft.com/office/drawing/2014/main" val="4164028418"/>
                  </a:ext>
                </a:extLst>
              </a:tr>
              <a:tr h="389044">
                <a:tc>
                  <a:txBody>
                    <a:bodyPr/>
                    <a:lstStyle/>
                    <a:p>
                      <a:endParaRPr lang="en-IN" dirty="0"/>
                    </a:p>
                  </a:txBody>
                  <a:tcPr/>
                </a:tc>
                <a:tc>
                  <a:txBody>
                    <a:bodyPr/>
                    <a:lstStyle/>
                    <a:p>
                      <a:r>
                        <a:rPr lang="en-US" dirty="0"/>
                        <a:t>Avoid passive summaries (</a:t>
                      </a:r>
                      <a:r>
                        <a:rPr lang="en-US" i="1" dirty="0"/>
                        <a:t>"Responsible for developing a website"</a:t>
                      </a:r>
                      <a:r>
                        <a:rPr lang="en-US" dirty="0"/>
                        <a:t>)</a:t>
                      </a:r>
                      <a:endParaRPr lang="en-IN" dirty="0"/>
                    </a:p>
                  </a:txBody>
                  <a:tcPr/>
                </a:tc>
                <a:tc>
                  <a:txBody>
                    <a:bodyPr/>
                    <a:lstStyle/>
                    <a:p>
                      <a:r>
                        <a:rPr lang="en-US" dirty="0"/>
                        <a:t>Use action-based summaries </a:t>
                      </a:r>
                      <a:r>
                        <a:rPr lang="en-US" i="1" dirty="0"/>
                        <a:t>"Built a full-stack portal using React &amp; Node.js, reducing query response times by 30%"</a:t>
                      </a:r>
                      <a:r>
                        <a:rPr lang="en-US" dirty="0"/>
                        <a:t>)</a:t>
                      </a:r>
                      <a:endParaRPr lang="en-IN" dirty="0"/>
                    </a:p>
                  </a:txBody>
                  <a:tcPr/>
                </a:tc>
                <a:extLst>
                  <a:ext uri="{0D108BD9-81ED-4DB2-BD59-A6C34878D82A}">
                    <a16:rowId xmlns:a16="http://schemas.microsoft.com/office/drawing/2014/main" val="2693154493"/>
                  </a:ext>
                </a:extLst>
              </a:tr>
              <a:tr h="389044">
                <a:tc>
                  <a:txBody>
                    <a:bodyPr/>
                    <a:lstStyle/>
                    <a:p>
                      <a:endParaRPr lang="en-IN" dirty="0"/>
                    </a:p>
                  </a:txBody>
                  <a:tcPr/>
                </a:tc>
                <a:tc>
                  <a:txBody>
                    <a:bodyPr/>
                    <a:lstStyle/>
                    <a:p>
                      <a:r>
                        <a:rPr lang="en-US" dirty="0"/>
                        <a:t>Avoid plain abbreviations like ML, DS</a:t>
                      </a:r>
                      <a:endParaRPr lang="en-IN" dirty="0"/>
                    </a:p>
                  </a:txBody>
                  <a:tcPr/>
                </a:tc>
                <a:tc>
                  <a:txBody>
                    <a:bodyPr/>
                    <a:lstStyle/>
                    <a:p>
                      <a:r>
                        <a:rPr lang="en-US" dirty="0"/>
                        <a:t>Spell out along with abbreviations like Machine Learning (ML), Data Science(DS)</a:t>
                      </a:r>
                      <a:endParaRPr lang="en-IN" dirty="0"/>
                    </a:p>
                  </a:txBody>
                  <a:tcPr/>
                </a:tc>
                <a:extLst>
                  <a:ext uri="{0D108BD9-81ED-4DB2-BD59-A6C34878D82A}">
                    <a16:rowId xmlns:a16="http://schemas.microsoft.com/office/drawing/2014/main" val="2723177176"/>
                  </a:ext>
                </a:extLst>
              </a:tr>
            </a:tbl>
          </a:graphicData>
        </a:graphic>
      </p:graphicFrame>
    </p:spTree>
    <p:extLst>
      <p:ext uri="{BB962C8B-B14F-4D97-AF65-F5344CB8AC3E}">
        <p14:creationId xmlns:p14="http://schemas.microsoft.com/office/powerpoint/2010/main" val="11327722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22"/>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p:cNvPicPr preferRelativeResize="0"/>
          <p:nvPr/>
        </p:nvPicPr>
        <p:blipFill rotWithShape="1">
          <a:blip r:embed="rId3"/>
          <a:srcRect/>
          <a:stretch>
            <a:fillRect/>
          </a:stretch>
        </p:blipFill>
        <p:spPr>
          <a:xfrm>
            <a:off x="5080" y="5080"/>
            <a:ext cx="9138920" cy="5139055"/>
          </a:xfrm>
          <a:prstGeom prst="rect">
            <a:avLst/>
          </a:prstGeom>
          <a:noFill/>
          <a:ln>
            <a:noFill/>
          </a:ln>
        </p:spPr>
      </p:pic>
      <p:sp>
        <p:nvSpPr>
          <p:cNvPr id="284" name="Google Shape;284;p22"/>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85" name="Google Shape;285;p22"/>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86" name="Google Shape;286;p22"/>
          <p:cNvPicPr preferRelativeResize="0"/>
          <p:nvPr/>
        </p:nvPicPr>
        <p:blipFill rotWithShape="1">
          <a:blip r:embed="rId4"/>
          <a:srcRect/>
          <a:stretch>
            <a:fillRect/>
          </a:stretch>
        </p:blipFill>
        <p:spPr>
          <a:xfrm>
            <a:off x="6848475" y="847725"/>
            <a:ext cx="2276400" cy="3448200"/>
          </a:xfrm>
          <a:prstGeom prst="rect">
            <a:avLst/>
          </a:prstGeom>
          <a:noFill/>
          <a:ln>
            <a:noFill/>
          </a:ln>
        </p:spPr>
      </p:pic>
      <p:pic>
        <p:nvPicPr>
          <p:cNvPr id="287" name="Google Shape;287;p22"/>
          <p:cNvPicPr preferRelativeResize="0"/>
          <p:nvPr/>
        </p:nvPicPr>
        <p:blipFill rotWithShape="1">
          <a:blip r:embed="rId5"/>
          <a:srcRect/>
          <a:stretch>
            <a:fillRect/>
          </a:stretch>
        </p:blipFill>
        <p:spPr>
          <a:xfrm>
            <a:off x="7419975" y="1419225"/>
            <a:ext cx="1724100" cy="2305200"/>
          </a:xfrm>
          <a:prstGeom prst="rect">
            <a:avLst/>
          </a:prstGeom>
          <a:noFill/>
          <a:ln>
            <a:noFill/>
          </a:ln>
        </p:spPr>
      </p:pic>
      <p:sp>
        <p:nvSpPr>
          <p:cNvPr id="288" name="Google Shape;288;p22"/>
          <p:cNvSpPr txBox="1"/>
          <p:nvPr/>
        </p:nvSpPr>
        <p:spPr>
          <a:xfrm>
            <a:off x="571500" y="381000"/>
            <a:ext cx="8001000"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dirty="0">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GB" sz="2700" b="0" i="0" u="none" strike="noStrike" dirty="0">
                <a:solidFill>
                  <a:srgbClr val="0B132B"/>
                </a:solidFill>
                <a:latin typeface="Poppins SemiBold"/>
                <a:ea typeface="Poppins SemiBold"/>
                <a:cs typeface="Poppins SemiBold"/>
                <a:sym typeface="Poppins SemiBold"/>
              </a:rPr>
              <a:t>Showcasing Your Projects for Impact</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289" name="Google Shape;289;p22"/>
          <p:cNvGrpSpPr/>
          <p:nvPr/>
        </p:nvGrpSpPr>
        <p:grpSpPr>
          <a:xfrm>
            <a:off x="408305" y="1572260"/>
            <a:ext cx="4163695" cy="772160"/>
            <a:chOff x="-55998" y="-23812"/>
            <a:chExt cx="8228448" cy="914400"/>
          </a:xfrm>
        </p:grpSpPr>
        <p:pic>
          <p:nvPicPr>
            <p:cNvPr id="290" name="Google Shape;290;p22"/>
            <p:cNvPicPr preferRelativeResize="0"/>
            <p:nvPr/>
          </p:nvPicPr>
          <p:blipFill rotWithShape="1">
            <a:blip r:embed="rId6"/>
            <a:srcRect/>
            <a:stretch>
              <a:fillRect/>
            </a:stretch>
          </p:blipFill>
          <p:spPr>
            <a:xfrm>
              <a:off x="-55998" y="-23812"/>
              <a:ext cx="8228448" cy="914400"/>
            </a:xfrm>
            <a:prstGeom prst="rect">
              <a:avLst/>
            </a:prstGeom>
            <a:noFill/>
            <a:ln>
              <a:noFill/>
            </a:ln>
          </p:spPr>
        </p:pic>
        <p:sp>
          <p:nvSpPr>
            <p:cNvPr id="291" name="Google Shape;291;p22"/>
            <p:cNvSpPr/>
            <p:nvPr/>
          </p:nvSpPr>
          <p:spPr>
            <a:xfrm>
              <a:off x="219714" y="152386"/>
              <a:ext cx="57300" cy="523800"/>
            </a:xfrm>
            <a:prstGeom prst="roundRect">
              <a:avLst>
                <a:gd name="adj" fmla="val 50000"/>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292" name="Google Shape;292;p22"/>
            <p:cNvGrpSpPr/>
            <p:nvPr/>
          </p:nvGrpSpPr>
          <p:grpSpPr>
            <a:xfrm>
              <a:off x="519393" y="270755"/>
              <a:ext cx="601102" cy="313858"/>
              <a:chOff x="214593" y="18342"/>
              <a:chExt cx="601102" cy="313858"/>
            </a:xfrm>
          </p:grpSpPr>
          <p:sp>
            <p:nvSpPr>
              <p:cNvPr id="293" name="Google Shape;293;p22"/>
              <p:cNvSpPr/>
              <p:nvPr/>
            </p:nvSpPr>
            <p:spPr>
              <a:xfrm>
                <a:off x="214593" y="18342"/>
                <a:ext cx="601102" cy="313858"/>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4" name="Google Shape;294;p22"/>
              <p:cNvSpPr/>
              <p:nvPr/>
            </p:nvSpPr>
            <p:spPr>
              <a:xfrm>
                <a:off x="390279" y="108696"/>
                <a:ext cx="244708" cy="116168"/>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295" name="Google Shape;295;p22"/>
            <p:cNvSpPr txBox="1"/>
            <p:nvPr/>
          </p:nvSpPr>
          <p:spPr>
            <a:xfrm>
              <a:off x="1271697" y="-35"/>
              <a:ext cx="6443965" cy="809781"/>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350" dirty="0">
                  <a:solidFill>
                    <a:srgbClr val="0B132B"/>
                  </a:solidFill>
                  <a:latin typeface="Inter" panose="02000503000000020004"/>
                  <a:ea typeface="Inter" panose="02000503000000020004"/>
                  <a:cs typeface="Inter" panose="02000503000000020004"/>
                  <a:sym typeface="Inter" panose="02000503000000020004"/>
                </a:rPr>
                <a:t>Place your most important </a:t>
              </a:r>
              <a:r>
                <a:rPr lang="en-US" altLang="en-GB" sz="1350" dirty="0">
                  <a:solidFill>
                    <a:srgbClr val="0B132B"/>
                  </a:solidFill>
                  <a:latin typeface="Inter" panose="02000503000000020004"/>
                  <a:ea typeface="Inter" panose="02000503000000020004"/>
                  <a:cs typeface="Inter" panose="02000503000000020004"/>
                  <a:sym typeface="Inter" panose="02000503000000020004"/>
                </a:rPr>
                <a:t>and strongest </a:t>
              </a:r>
              <a:r>
                <a:rPr lang="en-GB" sz="1350" dirty="0">
                  <a:solidFill>
                    <a:srgbClr val="0B132B"/>
                  </a:solidFill>
                  <a:latin typeface="Inter" panose="02000503000000020004"/>
                  <a:ea typeface="Inter" panose="02000503000000020004"/>
                  <a:cs typeface="Inter" panose="02000503000000020004"/>
                  <a:sym typeface="Inter" panose="02000503000000020004"/>
                </a:rPr>
                <a:t>projects at the top.</a:t>
              </a:r>
              <a:endParaRPr sz="1350" dirty="0">
                <a:solidFill>
                  <a:srgbClr val="0B132B"/>
                </a:solidFill>
                <a:latin typeface="Inter" panose="02000503000000020004"/>
                <a:ea typeface="Inter" panose="02000503000000020004"/>
                <a:cs typeface="Inter" panose="02000503000000020004"/>
                <a:sym typeface="Inter" panose="02000503000000020004"/>
              </a:endParaRPr>
            </a:p>
          </p:txBody>
        </p:sp>
      </p:grpSp>
      <p:grpSp>
        <p:nvGrpSpPr>
          <p:cNvPr id="296" name="Google Shape;296;p22"/>
          <p:cNvGrpSpPr/>
          <p:nvPr/>
        </p:nvGrpSpPr>
        <p:grpSpPr>
          <a:xfrm>
            <a:off x="386080" y="3187065"/>
            <a:ext cx="4222115" cy="914400"/>
            <a:chOff x="-93646" y="-23812"/>
            <a:chExt cx="8343900" cy="914400"/>
          </a:xfrm>
        </p:grpSpPr>
        <p:pic>
          <p:nvPicPr>
            <p:cNvPr id="297" name="Google Shape;297;p22"/>
            <p:cNvPicPr preferRelativeResize="0"/>
            <p:nvPr/>
          </p:nvPicPr>
          <p:blipFill rotWithShape="1">
            <a:blip r:embed="rId6"/>
            <a:srcRect/>
            <a:stretch>
              <a:fillRect/>
            </a:stretch>
          </p:blipFill>
          <p:spPr>
            <a:xfrm>
              <a:off x="-93646" y="-23812"/>
              <a:ext cx="8343900" cy="914400"/>
            </a:xfrm>
            <a:prstGeom prst="rect">
              <a:avLst/>
            </a:prstGeom>
            <a:noFill/>
            <a:ln>
              <a:noFill/>
            </a:ln>
          </p:spPr>
        </p:pic>
        <p:sp>
          <p:nvSpPr>
            <p:cNvPr id="298" name="Google Shape;298;p22"/>
            <p:cNvSpPr/>
            <p:nvPr/>
          </p:nvSpPr>
          <p:spPr>
            <a:xfrm>
              <a:off x="254852" y="142875"/>
              <a:ext cx="57300" cy="5238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299" name="Google Shape;299;p22"/>
            <p:cNvGrpSpPr/>
            <p:nvPr/>
          </p:nvGrpSpPr>
          <p:grpSpPr>
            <a:xfrm>
              <a:off x="558292" y="252413"/>
              <a:ext cx="601102" cy="307975"/>
              <a:chOff x="253492" y="0"/>
              <a:chExt cx="601102" cy="307975"/>
            </a:xfrm>
          </p:grpSpPr>
          <p:sp>
            <p:nvSpPr>
              <p:cNvPr id="300" name="Google Shape;300;p22"/>
              <p:cNvSpPr/>
              <p:nvPr/>
            </p:nvSpPr>
            <p:spPr>
              <a:xfrm>
                <a:off x="253492" y="0"/>
                <a:ext cx="601102" cy="307975"/>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01" name="Google Shape;301;p22"/>
              <p:cNvSpPr/>
              <p:nvPr/>
            </p:nvSpPr>
            <p:spPr>
              <a:xfrm>
                <a:off x="445625" y="114300"/>
                <a:ext cx="244708"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302" name="Google Shape;302;p22"/>
            <p:cNvSpPr txBox="1"/>
            <p:nvPr/>
          </p:nvSpPr>
          <p:spPr>
            <a:xfrm>
              <a:off x="1416015" y="-317"/>
              <a:ext cx="6510476" cy="809625"/>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350" dirty="0">
                  <a:solidFill>
                    <a:srgbClr val="0B132B"/>
                  </a:solidFill>
                  <a:latin typeface="Inter" panose="02000503000000020004"/>
                  <a:ea typeface="Inter" panose="02000503000000020004"/>
                  <a:sym typeface="Inter SemiBold" panose="02000503000000020004"/>
                </a:rPr>
                <a:t>Only list technologies you can confidently explain in detail.</a:t>
              </a:r>
              <a:endParaRPr sz="1350" dirty="0">
                <a:solidFill>
                  <a:srgbClr val="0B132B"/>
                </a:solidFill>
                <a:latin typeface="Inter" panose="02000503000000020004"/>
                <a:ea typeface="Inter" panose="02000503000000020004"/>
                <a:sym typeface="Inter" panose="02000503000000020004"/>
              </a:endParaRPr>
            </a:p>
          </p:txBody>
        </p:sp>
      </p:grpSp>
      <p:grpSp>
        <p:nvGrpSpPr>
          <p:cNvPr id="303" name="Google Shape;303;p22"/>
          <p:cNvGrpSpPr/>
          <p:nvPr/>
        </p:nvGrpSpPr>
        <p:grpSpPr>
          <a:xfrm>
            <a:off x="408305" y="2392680"/>
            <a:ext cx="4294505" cy="762635"/>
            <a:chOff x="-120650" y="-28726"/>
            <a:chExt cx="8363747" cy="914400"/>
          </a:xfrm>
        </p:grpSpPr>
        <p:pic>
          <p:nvPicPr>
            <p:cNvPr id="304" name="Google Shape;304;p22"/>
            <p:cNvPicPr preferRelativeResize="0"/>
            <p:nvPr/>
          </p:nvPicPr>
          <p:blipFill rotWithShape="1">
            <a:blip r:embed="rId6"/>
            <a:srcRect/>
            <a:stretch>
              <a:fillRect/>
            </a:stretch>
          </p:blipFill>
          <p:spPr>
            <a:xfrm>
              <a:off x="-120650" y="-28726"/>
              <a:ext cx="8108315" cy="914400"/>
            </a:xfrm>
            <a:prstGeom prst="rect">
              <a:avLst/>
            </a:prstGeom>
            <a:noFill/>
            <a:ln>
              <a:noFill/>
            </a:ln>
          </p:spPr>
        </p:pic>
        <p:sp>
          <p:nvSpPr>
            <p:cNvPr id="305" name="Google Shape;305;p22"/>
            <p:cNvSpPr/>
            <p:nvPr/>
          </p:nvSpPr>
          <p:spPr>
            <a:xfrm flipH="1">
              <a:off x="196087" y="89529"/>
              <a:ext cx="78105" cy="644411"/>
            </a:xfrm>
            <a:prstGeom prst="roundRect">
              <a:avLst>
                <a:gd name="adj" fmla="val 15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07" name="Google Shape;307;p22"/>
            <p:cNvSpPr/>
            <p:nvPr/>
          </p:nvSpPr>
          <p:spPr>
            <a:xfrm>
              <a:off x="479146" y="275353"/>
              <a:ext cx="592375" cy="345872"/>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09" name="Google Shape;309;p22"/>
            <p:cNvSpPr txBox="1"/>
            <p:nvPr/>
          </p:nvSpPr>
          <p:spPr>
            <a:xfrm>
              <a:off x="1289136" y="213097"/>
              <a:ext cx="6953961" cy="523891"/>
            </a:xfrm>
            <a:prstGeom prst="rect">
              <a:avLst/>
            </a:prstGeom>
            <a:noFill/>
            <a:ln>
              <a:noFill/>
            </a:ln>
          </p:spPr>
          <p:txBody>
            <a:bodyPr spcFirstLastPara="1" wrap="square" lIns="0" tIns="0" rIns="0" bIns="0" anchor="ctr" anchorCtr="0">
              <a:noAutofit/>
            </a:bodyPr>
            <a:lstStyle/>
            <a:p>
              <a:pPr marL="0" lvl="0" indent="0" algn="l" rtl="0" eaLnBrk="1" fontAlgn="auto" latinLnBrk="0" hangingPunct="1">
                <a:spcAft>
                  <a:spcPts val="600"/>
                </a:spcAft>
                <a:buNone/>
              </a:pPr>
              <a:r>
                <a:rPr lang="en-GB" sz="1350" dirty="0">
                  <a:solidFill>
                    <a:srgbClr val="0B132B"/>
                  </a:solidFill>
                  <a:latin typeface="Inter" panose="02000503000000020004"/>
                  <a:ea typeface="Inter" panose="02000503000000020004"/>
                  <a:cs typeface="Inter" panose="02000503000000020004"/>
                  <a:sym typeface="Inter" panose="02000503000000020004"/>
                </a:rPr>
                <a:t>Be ready to explain </a:t>
              </a:r>
              <a:r>
                <a:rPr lang="en-US" altLang="en-GB" sz="1350" dirty="0">
                  <a:solidFill>
                    <a:srgbClr val="0B132B"/>
                  </a:solidFill>
                  <a:latin typeface="Inter" panose="02000503000000020004"/>
                  <a:ea typeface="Inter" panose="02000503000000020004"/>
                  <a:cs typeface="Inter" panose="02000503000000020004"/>
                  <a:sym typeface="Inter" panose="02000503000000020004"/>
                </a:rPr>
                <a:t>the project </a:t>
              </a:r>
              <a:r>
                <a:rPr lang="en-GB" sz="1350" dirty="0">
                  <a:solidFill>
                    <a:srgbClr val="0B132B"/>
                  </a:solidFill>
                  <a:latin typeface="Inter" panose="02000503000000020004"/>
                  <a:ea typeface="Inter" panose="02000503000000020004"/>
                  <a:cs typeface="Inter" panose="02000503000000020004"/>
                  <a:sym typeface="Inter" panose="02000503000000020004"/>
                </a:rPr>
                <a:t>deeply</a:t>
              </a:r>
              <a:endParaRPr lang="en-US" altLang="en-US" sz="1000" dirty="0">
                <a:solidFill>
                  <a:srgbClr val="0B132B"/>
                </a:solidFill>
                <a:latin typeface="Inter" panose="02000503000000020004"/>
                <a:ea typeface="Inter" panose="02000503000000020004"/>
                <a:cs typeface="Inter" panose="02000503000000020004"/>
                <a:sym typeface="Inter" panose="02000503000000020004"/>
              </a:endParaRPr>
            </a:p>
          </p:txBody>
        </p:sp>
      </p:grpSp>
      <p:cxnSp>
        <p:nvCxnSpPr>
          <p:cNvPr id="93" name="Google Shape;93;p15"/>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grpSp>
        <p:nvGrpSpPr>
          <p:cNvPr id="237" name="Google Shape;237;p20"/>
          <p:cNvGrpSpPr/>
          <p:nvPr/>
        </p:nvGrpSpPr>
        <p:grpSpPr>
          <a:xfrm>
            <a:off x="4895850" y="1594485"/>
            <a:ext cx="3524325" cy="2304702"/>
            <a:chOff x="285750" y="238125"/>
            <a:chExt cx="3524400" cy="2471893"/>
          </a:xfrm>
        </p:grpSpPr>
        <p:sp>
          <p:nvSpPr>
            <p:cNvPr id="240" name="Google Shape;240;p20"/>
            <p:cNvSpPr txBox="1"/>
            <p:nvPr/>
          </p:nvSpPr>
          <p:spPr>
            <a:xfrm>
              <a:off x="285750" y="238125"/>
              <a:ext cx="3524400" cy="3810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600" b="1">
                  <a:solidFill>
                    <a:srgbClr val="111827"/>
                  </a:solidFill>
                  <a:latin typeface="Outfit"/>
                  <a:ea typeface="Outfit"/>
                  <a:cs typeface="Outfit"/>
                  <a:sym typeface="Outfit"/>
                </a:rPr>
                <a:t>Key Project Elements</a:t>
              </a:r>
            </a:p>
          </p:txBody>
        </p:sp>
        <p:sp>
          <p:nvSpPr>
            <p:cNvPr id="241" name="Google Shape;241;p20"/>
            <p:cNvSpPr/>
            <p:nvPr/>
          </p:nvSpPr>
          <p:spPr>
            <a:xfrm>
              <a:off x="285750" y="665190"/>
              <a:ext cx="304800" cy="304800"/>
            </a:xfrm>
            <a:prstGeom prst="ellipse">
              <a:avLst/>
            </a:prstGeom>
            <a:solidFill>
              <a:srgbClr val="FF6B6B"/>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242" name="Google Shape;242;p20"/>
            <p:cNvSpPr txBox="1"/>
            <p:nvPr/>
          </p:nvSpPr>
          <p:spPr>
            <a:xfrm>
              <a:off x="285750" y="655654"/>
              <a:ext cx="304800" cy="3048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000" b="1">
                  <a:solidFill>
                    <a:srgbClr val="FFFFFF"/>
                  </a:solidFill>
                  <a:latin typeface="Outfit"/>
                  <a:ea typeface="Outfit"/>
                  <a:cs typeface="Outfit"/>
                  <a:sym typeface="Outfit"/>
                </a:rPr>
                <a:t>1</a:t>
              </a:r>
            </a:p>
          </p:txBody>
        </p:sp>
        <p:sp>
          <p:nvSpPr>
            <p:cNvPr id="243" name="Google Shape;243;p20"/>
            <p:cNvSpPr txBox="1"/>
            <p:nvPr/>
          </p:nvSpPr>
          <p:spPr>
            <a:xfrm>
              <a:off x="714375" y="2043118"/>
              <a:ext cx="3095700" cy="666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100" b="1" dirty="0">
                  <a:solidFill>
                    <a:srgbClr val="111827"/>
                  </a:solidFill>
                  <a:latin typeface="DM Sans"/>
                  <a:ea typeface="DM Sans"/>
                  <a:cs typeface="DM Sans"/>
                  <a:sym typeface="DM Sans"/>
                </a:rPr>
                <a:t>Project Title, Role &amp; Tech Stack</a:t>
              </a:r>
              <a:endParaRPr sz="1100" b="1" dirty="0">
                <a:solidFill>
                  <a:srgbClr val="111827"/>
                </a:solidFill>
                <a:latin typeface="DM Sans"/>
                <a:ea typeface="DM Sans"/>
                <a:cs typeface="DM Sans"/>
                <a:sym typeface="DM Sans"/>
              </a:endParaRPr>
            </a:p>
            <a:p>
              <a:pPr marL="0" lvl="0" indent="0" algn="l" rtl="0">
                <a:spcBef>
                  <a:spcPts val="300"/>
                </a:spcBef>
                <a:spcAft>
                  <a:spcPts val="0"/>
                </a:spcAft>
                <a:buNone/>
              </a:pPr>
              <a:r>
                <a:rPr lang="en-GB" sz="1000" b="0" dirty="0">
                  <a:solidFill>
                    <a:srgbClr val="4B5563"/>
                  </a:solidFill>
                  <a:latin typeface="DM Sans Medium"/>
                  <a:ea typeface="DM Sans Medium"/>
                  <a:cs typeface="DM Sans Medium"/>
                  <a:sym typeface="DM Sans Medium"/>
                </a:rPr>
                <a:t>State what you built, your contribution, </a:t>
              </a:r>
              <a:r>
                <a:rPr lang="en-US" altLang="en-GB" sz="1000" b="0" dirty="0">
                  <a:solidFill>
                    <a:srgbClr val="4B5563"/>
                  </a:solidFill>
                  <a:latin typeface="DM Sans Medium"/>
                  <a:ea typeface="DM Sans Medium"/>
                  <a:cs typeface="DM Sans Medium"/>
                  <a:sym typeface="DM Sans Medium"/>
                </a:rPr>
                <a:t>experience </a:t>
              </a:r>
              <a:r>
                <a:rPr lang="en-GB" sz="1000" b="0" dirty="0">
                  <a:solidFill>
                    <a:srgbClr val="4B5563"/>
                  </a:solidFill>
                  <a:latin typeface="DM Sans Medium"/>
                  <a:ea typeface="DM Sans Medium"/>
                  <a:cs typeface="DM Sans Medium"/>
                  <a:sym typeface="DM Sans Medium"/>
                </a:rPr>
                <a:t>and languages or tools used (e.g., React, Node.js, MongoDB).</a:t>
              </a:r>
              <a:endParaRPr sz="1000" b="0" dirty="0">
                <a:solidFill>
                  <a:srgbClr val="4B5563"/>
                </a:solidFill>
                <a:latin typeface="DM Sans Medium"/>
                <a:ea typeface="DM Sans Medium"/>
                <a:cs typeface="DM Sans Medium"/>
                <a:sym typeface="DM Sans Medium"/>
              </a:endParaRPr>
            </a:p>
          </p:txBody>
        </p:sp>
        <p:sp>
          <p:nvSpPr>
            <p:cNvPr id="244" name="Google Shape;244;p20"/>
            <p:cNvSpPr/>
            <p:nvPr/>
          </p:nvSpPr>
          <p:spPr>
            <a:xfrm>
              <a:off x="285750" y="1361805"/>
              <a:ext cx="304800" cy="304800"/>
            </a:xfrm>
            <a:prstGeom prst="ellipse">
              <a:avLst/>
            </a:prstGeom>
            <a:solidFill>
              <a:srgbClr val="FBBF24"/>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245" name="Google Shape;245;p20"/>
            <p:cNvSpPr txBox="1"/>
            <p:nvPr/>
          </p:nvSpPr>
          <p:spPr>
            <a:xfrm>
              <a:off x="285750" y="1371340"/>
              <a:ext cx="304800" cy="3048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000" b="1">
                  <a:solidFill>
                    <a:srgbClr val="FFFFFF"/>
                  </a:solidFill>
                  <a:latin typeface="Outfit"/>
                  <a:ea typeface="Outfit"/>
                  <a:cs typeface="Outfit"/>
                  <a:sym typeface="Outfit"/>
                </a:rPr>
                <a:t>2</a:t>
              </a:r>
            </a:p>
          </p:txBody>
        </p:sp>
        <p:sp>
          <p:nvSpPr>
            <p:cNvPr id="246" name="Google Shape;246;p20"/>
            <p:cNvSpPr txBox="1"/>
            <p:nvPr/>
          </p:nvSpPr>
          <p:spPr>
            <a:xfrm>
              <a:off x="714375" y="619125"/>
              <a:ext cx="3095700" cy="666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100" b="1" dirty="0">
                  <a:solidFill>
                    <a:srgbClr val="111827"/>
                  </a:solidFill>
                  <a:latin typeface="DM Sans"/>
                  <a:ea typeface="DM Sans"/>
                  <a:cs typeface="DM Sans"/>
                  <a:sym typeface="DM Sans"/>
                </a:rPr>
                <a:t>Core Problem Solved</a:t>
              </a:r>
              <a:endParaRPr sz="1100" b="1" dirty="0">
                <a:solidFill>
                  <a:srgbClr val="111827"/>
                </a:solidFill>
                <a:latin typeface="DM Sans"/>
                <a:ea typeface="DM Sans"/>
                <a:cs typeface="DM Sans"/>
                <a:sym typeface="DM Sans"/>
              </a:endParaRPr>
            </a:p>
            <a:p>
              <a:pPr marL="0" lvl="0" indent="0" algn="l" rtl="0">
                <a:spcBef>
                  <a:spcPts val="300"/>
                </a:spcBef>
                <a:spcAft>
                  <a:spcPts val="0"/>
                </a:spcAft>
                <a:buNone/>
              </a:pPr>
              <a:r>
                <a:rPr lang="en-GB" sz="1100" b="0" dirty="0">
                  <a:solidFill>
                    <a:srgbClr val="4B5563"/>
                  </a:solidFill>
                  <a:latin typeface="DM Sans Medium"/>
                  <a:ea typeface="DM Sans Medium"/>
                  <a:cs typeface="DM Sans Medium"/>
                  <a:sym typeface="DM Sans Medium"/>
                </a:rPr>
                <a:t>Briefly explain the objective or the real-world problem that the project actively addresses.</a:t>
              </a:r>
              <a:endParaRPr sz="1100" b="0" dirty="0">
                <a:solidFill>
                  <a:srgbClr val="4B5563"/>
                </a:solidFill>
                <a:latin typeface="DM Sans Medium"/>
                <a:ea typeface="DM Sans Medium"/>
                <a:cs typeface="DM Sans Medium"/>
                <a:sym typeface="DM Sans Medium"/>
              </a:endParaRPr>
            </a:p>
          </p:txBody>
        </p:sp>
        <p:sp>
          <p:nvSpPr>
            <p:cNvPr id="247" name="Google Shape;247;p20"/>
            <p:cNvSpPr/>
            <p:nvPr/>
          </p:nvSpPr>
          <p:spPr>
            <a:xfrm>
              <a:off x="285750" y="2142875"/>
              <a:ext cx="304800" cy="304800"/>
            </a:xfrm>
            <a:prstGeom prst="ellipse">
              <a:avLst/>
            </a:prstGeom>
            <a:solidFill>
              <a:srgbClr val="34D399"/>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248" name="Google Shape;248;p20"/>
            <p:cNvSpPr txBox="1"/>
            <p:nvPr/>
          </p:nvSpPr>
          <p:spPr>
            <a:xfrm>
              <a:off x="285750" y="2142875"/>
              <a:ext cx="304800" cy="3048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000" b="1">
                  <a:solidFill>
                    <a:srgbClr val="FFFFFF"/>
                  </a:solidFill>
                  <a:latin typeface="Outfit"/>
                  <a:ea typeface="Outfit"/>
                  <a:cs typeface="Outfit"/>
                  <a:sym typeface="Outfit"/>
                </a:rPr>
                <a:t>3</a:t>
              </a:r>
              <a:endParaRPr lang="en-US" altLang="en-GB" sz="1000" b="1">
                <a:solidFill>
                  <a:srgbClr val="FFFFFF"/>
                </a:solidFill>
                <a:latin typeface="Outfit"/>
                <a:ea typeface="Outfit"/>
                <a:cs typeface="Outfit"/>
                <a:sym typeface="Outfit"/>
              </a:endParaRPr>
            </a:p>
          </p:txBody>
        </p:sp>
        <p:sp>
          <p:nvSpPr>
            <p:cNvPr id="249" name="Google Shape;249;p20"/>
            <p:cNvSpPr txBox="1"/>
            <p:nvPr/>
          </p:nvSpPr>
          <p:spPr>
            <a:xfrm>
              <a:off x="714384" y="1293095"/>
              <a:ext cx="3095691" cy="727378"/>
            </a:xfrm>
            <a:prstGeom prst="rect">
              <a:avLst/>
            </a:prstGeom>
            <a:noFill/>
            <a:ln>
              <a:noFill/>
            </a:ln>
          </p:spPr>
          <p:txBody>
            <a:bodyPr spcFirstLastPara="1" wrap="square" lIns="0" tIns="0" rIns="0" bIns="0" anchor="t" anchorCtr="0">
              <a:noAutofit/>
            </a:bodyPr>
            <a:lstStyle/>
            <a:p>
              <a:pPr marL="0" lvl="0" indent="0" algn="l" rtl="0">
                <a:spcBef>
                  <a:spcPts val="300"/>
                </a:spcBef>
                <a:spcAft>
                  <a:spcPts val="0"/>
                </a:spcAft>
                <a:buNone/>
              </a:pPr>
              <a:r>
                <a:rPr lang="en-US" sz="1100" b="1" dirty="0">
                  <a:solidFill>
                    <a:srgbClr val="111827"/>
                  </a:solidFill>
                  <a:latin typeface="DM Sans"/>
                  <a:ea typeface="DM Sans"/>
                  <a:cs typeface="DM Sans"/>
                  <a:sym typeface="DM Sans"/>
                </a:rPr>
                <a:t>Beneficiary</a:t>
              </a:r>
            </a:p>
            <a:p>
              <a:pPr marL="0" lvl="0" indent="0" algn="l" rtl="0">
                <a:spcBef>
                  <a:spcPts val="300"/>
                </a:spcBef>
                <a:spcAft>
                  <a:spcPts val="0"/>
                </a:spcAft>
                <a:buNone/>
              </a:pPr>
              <a:r>
                <a:rPr lang="en-US" altLang="en-GB" sz="1100" b="0" dirty="0">
                  <a:solidFill>
                    <a:srgbClr val="4B5563"/>
                  </a:solidFill>
                  <a:latin typeface="DM Sans Medium"/>
                  <a:ea typeface="DM Sans Medium"/>
                  <a:cs typeface="DM Sans Medium"/>
                  <a:sym typeface="DM Sans Medium"/>
                </a:rPr>
                <a:t>Who is benefitted by the project or who are the potential users of the project outcome.</a:t>
              </a:r>
            </a:p>
          </p:txBody>
        </p:sp>
      </p:grpSp>
      <p:sp>
        <p:nvSpPr>
          <p:cNvPr id="3" name="Google Shape;249;p20"/>
          <p:cNvSpPr txBox="1"/>
          <p:nvPr/>
        </p:nvSpPr>
        <p:spPr>
          <a:xfrm>
            <a:off x="5345430" y="4101465"/>
            <a:ext cx="3095700" cy="666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100" b="1" dirty="0">
                <a:solidFill>
                  <a:srgbClr val="111827"/>
                </a:solidFill>
                <a:latin typeface="DM Sans"/>
                <a:ea typeface="DM Sans"/>
                <a:cs typeface="DM Sans"/>
                <a:sym typeface="DM Sans"/>
              </a:rPr>
              <a:t>Quantifiable Impact</a:t>
            </a:r>
            <a:endParaRPr sz="1100" b="1" dirty="0">
              <a:solidFill>
                <a:srgbClr val="111827"/>
              </a:solidFill>
              <a:latin typeface="DM Sans"/>
              <a:ea typeface="DM Sans"/>
              <a:cs typeface="DM Sans"/>
              <a:sym typeface="DM Sans"/>
            </a:endParaRPr>
          </a:p>
          <a:p>
            <a:pPr marL="0" lvl="0" indent="0" algn="l" rtl="0">
              <a:spcBef>
                <a:spcPts val="300"/>
              </a:spcBef>
              <a:spcAft>
                <a:spcPts val="0"/>
              </a:spcAft>
              <a:buNone/>
            </a:pPr>
            <a:r>
              <a:rPr lang="en-GB" sz="1100" b="0" dirty="0">
                <a:solidFill>
                  <a:srgbClr val="4B5563"/>
                </a:solidFill>
                <a:latin typeface="DM Sans Medium"/>
                <a:ea typeface="DM Sans Medium"/>
                <a:cs typeface="DM Sans Medium"/>
                <a:sym typeface="DM Sans Medium"/>
              </a:rPr>
              <a:t>Highlight outcomes using metrics (e.g., 'Reduced load time by 20%' or 'Handled 500+ daily users').</a:t>
            </a:r>
            <a:endParaRPr sz="1100" b="0" dirty="0">
              <a:solidFill>
                <a:srgbClr val="4B5563"/>
              </a:solidFill>
              <a:latin typeface="DM Sans Medium"/>
              <a:ea typeface="DM Sans Medium"/>
              <a:cs typeface="DM Sans Medium"/>
              <a:sym typeface="DM Sans Medium"/>
            </a:endParaRPr>
          </a:p>
        </p:txBody>
      </p:sp>
      <p:sp>
        <p:nvSpPr>
          <p:cNvPr id="4" name="Google Shape;241;p20"/>
          <p:cNvSpPr/>
          <p:nvPr/>
        </p:nvSpPr>
        <p:spPr>
          <a:xfrm>
            <a:off x="4895850" y="4140234"/>
            <a:ext cx="304794" cy="284184"/>
          </a:xfrm>
          <a:prstGeom prst="ellipse">
            <a:avLst/>
          </a:prstGeom>
          <a:solidFill>
            <a:srgbClr val="FF6B6B"/>
          </a:solidFill>
          <a:ln w="19050"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sz="1600"/>
          </a:p>
        </p:txBody>
      </p:sp>
      <p:sp>
        <p:nvSpPr>
          <p:cNvPr id="2" name="Google Shape;248;p20"/>
          <p:cNvSpPr txBox="1"/>
          <p:nvPr/>
        </p:nvSpPr>
        <p:spPr>
          <a:xfrm>
            <a:off x="4895850" y="4135755"/>
            <a:ext cx="304800" cy="3048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altLang="en-GB" sz="1000" b="1">
                <a:solidFill>
                  <a:srgbClr val="FFFFFF"/>
                </a:solidFill>
                <a:latin typeface="Outfit"/>
                <a:ea typeface="Outfit"/>
                <a:cs typeface="Outfit"/>
                <a:sym typeface="Outfit"/>
              </a:rPr>
              <a:t>4</a:t>
            </a:r>
          </a:p>
        </p:txBody>
      </p:sp>
      <p:sp>
        <p:nvSpPr>
          <p:cNvPr id="5" name="Google Shape;294;p22"/>
          <p:cNvSpPr/>
          <p:nvPr/>
        </p:nvSpPr>
        <p:spPr>
          <a:xfrm>
            <a:off x="795978" y="2732154"/>
            <a:ext cx="123825" cy="108585"/>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3" name="Google Shape;296;p22"/>
          <p:cNvGrpSpPr/>
          <p:nvPr/>
        </p:nvGrpSpPr>
        <p:grpSpPr>
          <a:xfrm>
            <a:off x="396240" y="4126230"/>
            <a:ext cx="4222115" cy="914400"/>
            <a:chOff x="-93646" y="-23812"/>
            <a:chExt cx="8343900" cy="914400"/>
          </a:xfrm>
        </p:grpSpPr>
        <p:pic>
          <p:nvPicPr>
            <p:cNvPr id="14" name="Google Shape;297;p22"/>
            <p:cNvPicPr preferRelativeResize="0"/>
            <p:nvPr/>
          </p:nvPicPr>
          <p:blipFill rotWithShape="1">
            <a:blip r:embed="rId6"/>
            <a:srcRect/>
            <a:stretch>
              <a:fillRect/>
            </a:stretch>
          </p:blipFill>
          <p:spPr>
            <a:xfrm>
              <a:off x="-93646" y="-23812"/>
              <a:ext cx="8343900" cy="914400"/>
            </a:xfrm>
            <a:prstGeom prst="rect">
              <a:avLst/>
            </a:prstGeom>
            <a:noFill/>
            <a:ln>
              <a:noFill/>
            </a:ln>
          </p:spPr>
        </p:pic>
        <p:sp>
          <p:nvSpPr>
            <p:cNvPr id="15" name="Google Shape;298;p22"/>
            <p:cNvSpPr/>
            <p:nvPr/>
          </p:nvSpPr>
          <p:spPr>
            <a:xfrm>
              <a:off x="219714" y="142875"/>
              <a:ext cx="57300" cy="523800"/>
            </a:xfrm>
            <a:prstGeom prst="roundRect">
              <a:avLst>
                <a:gd name="adj" fmla="val 50000"/>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6" name="Google Shape;299;p22"/>
            <p:cNvGrpSpPr/>
            <p:nvPr/>
          </p:nvGrpSpPr>
          <p:grpSpPr>
            <a:xfrm>
              <a:off x="505586" y="252413"/>
              <a:ext cx="601102" cy="307975"/>
              <a:chOff x="200786" y="0"/>
              <a:chExt cx="601102" cy="307975"/>
            </a:xfrm>
          </p:grpSpPr>
          <p:sp>
            <p:nvSpPr>
              <p:cNvPr id="17" name="Google Shape;300;p22"/>
              <p:cNvSpPr/>
              <p:nvPr/>
            </p:nvSpPr>
            <p:spPr>
              <a:xfrm>
                <a:off x="200786" y="0"/>
                <a:ext cx="601102" cy="307975"/>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8" name="Google Shape;301;p22"/>
              <p:cNvSpPr/>
              <p:nvPr/>
            </p:nvSpPr>
            <p:spPr>
              <a:xfrm>
                <a:off x="377810" y="114300"/>
                <a:ext cx="244708"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19" name="Google Shape;302;p22"/>
            <p:cNvSpPr txBox="1"/>
            <p:nvPr/>
          </p:nvSpPr>
          <p:spPr>
            <a:xfrm>
              <a:off x="1308090" y="-317"/>
              <a:ext cx="6510476" cy="809625"/>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350" dirty="0">
                  <a:solidFill>
                    <a:srgbClr val="0B132B"/>
                  </a:solidFill>
                  <a:latin typeface="Inter" panose="02000503000000020004"/>
                  <a:ea typeface="Inter" panose="02000503000000020004"/>
                  <a:cs typeface="Inter" panose="02000503000000020004"/>
                  <a:sym typeface="Inter" panose="02000503000000020004"/>
                </a:rPr>
                <a:t>Avoid repeating the same skills across multiple projects.</a:t>
              </a:r>
              <a:endParaRPr sz="1350" dirty="0">
                <a:solidFill>
                  <a:srgbClr val="0B132B"/>
                </a:solidFill>
                <a:latin typeface="Inter" panose="02000503000000020004"/>
                <a:ea typeface="Inter" panose="02000503000000020004"/>
                <a:cs typeface="Inter" panose="02000503000000020004"/>
                <a:sym typeface="Inter" panose="02000503000000020004"/>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9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2" grpId="0"/>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BEB9F8F9-5FC2-F199-D82A-1EC3ACE035FA}"/>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7868FBB6-3E2E-78D3-9CDF-81699004679D}"/>
              </a:ext>
            </a:extLst>
          </p:cNvPr>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a:extLst>
              <a:ext uri="{FF2B5EF4-FFF2-40B4-BE49-F238E27FC236}">
                <a16:creationId xmlns:a16="http://schemas.microsoft.com/office/drawing/2014/main" id="{FD930803-13E7-F5F0-A435-C878E196C361}"/>
              </a:ext>
            </a:extLst>
          </p:cNvPr>
          <p:cNvPicPr preferRelativeResize="0"/>
          <p:nvPr/>
        </p:nvPicPr>
        <p:blipFill rotWithShape="1">
          <a:blip r:embed="rId3"/>
          <a:srcRect/>
          <a:stretch>
            <a:fillRect/>
          </a:stretch>
        </p:blipFill>
        <p:spPr>
          <a:xfrm>
            <a:off x="5080" y="5080"/>
            <a:ext cx="9138920" cy="5139055"/>
          </a:xfrm>
          <a:prstGeom prst="rect">
            <a:avLst/>
          </a:prstGeom>
          <a:noFill/>
          <a:ln>
            <a:noFill/>
          </a:ln>
        </p:spPr>
      </p:pic>
      <p:sp>
        <p:nvSpPr>
          <p:cNvPr id="284" name="Google Shape;284;p22">
            <a:extLst>
              <a:ext uri="{FF2B5EF4-FFF2-40B4-BE49-F238E27FC236}">
                <a16:creationId xmlns:a16="http://schemas.microsoft.com/office/drawing/2014/main" id="{B7A5BE89-1919-59AD-CE48-1D737798C75D}"/>
              </a:ext>
            </a:extLst>
          </p:cNvPr>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86" name="Google Shape;286;p22">
            <a:extLst>
              <a:ext uri="{FF2B5EF4-FFF2-40B4-BE49-F238E27FC236}">
                <a16:creationId xmlns:a16="http://schemas.microsoft.com/office/drawing/2014/main" id="{67E200AB-6FA9-4E9E-4504-633CAEEB9644}"/>
              </a:ext>
            </a:extLst>
          </p:cNvPr>
          <p:cNvPicPr preferRelativeResize="0"/>
          <p:nvPr/>
        </p:nvPicPr>
        <p:blipFill rotWithShape="1">
          <a:blip r:embed="rId4"/>
          <a:srcRect/>
          <a:stretch>
            <a:fillRect/>
          </a:stretch>
        </p:blipFill>
        <p:spPr>
          <a:xfrm>
            <a:off x="6848475" y="847725"/>
            <a:ext cx="2276400" cy="3448200"/>
          </a:xfrm>
          <a:prstGeom prst="rect">
            <a:avLst/>
          </a:prstGeom>
          <a:noFill/>
          <a:ln>
            <a:noFill/>
          </a:ln>
        </p:spPr>
      </p:pic>
      <p:sp>
        <p:nvSpPr>
          <p:cNvPr id="288" name="Google Shape;288;p22">
            <a:extLst>
              <a:ext uri="{FF2B5EF4-FFF2-40B4-BE49-F238E27FC236}">
                <a16:creationId xmlns:a16="http://schemas.microsoft.com/office/drawing/2014/main" id="{271AC1B7-82E4-E79C-D6DF-206957CB409F}"/>
              </a:ext>
            </a:extLst>
          </p:cNvPr>
          <p:cNvSpPr txBox="1"/>
          <p:nvPr/>
        </p:nvSpPr>
        <p:spPr>
          <a:xfrm>
            <a:off x="571500" y="381000"/>
            <a:ext cx="8001000"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dirty="0">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GB" sz="2700" b="0" i="0" u="none" strike="noStrike" dirty="0">
                <a:solidFill>
                  <a:srgbClr val="0B132B"/>
                </a:solidFill>
                <a:latin typeface="Poppins SemiBold"/>
                <a:ea typeface="Poppins SemiBold"/>
                <a:cs typeface="Poppins SemiBold"/>
                <a:sym typeface="Poppins SemiBold"/>
              </a:rPr>
              <a:t>Showcasing Your Projects for Impact</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668D8B42-E030-0104-E32F-D2BE9255FE0F}"/>
              </a:ext>
            </a:extLst>
          </p:cNvPr>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B6FB9C18-1709-DBB5-DC3F-1F060C8BADAC}"/>
              </a:ext>
            </a:extLst>
          </p:cNvPr>
          <p:cNvSpPr txBox="1"/>
          <p:nvPr/>
        </p:nvSpPr>
        <p:spPr>
          <a:xfrm>
            <a:off x="371437" y="1560709"/>
            <a:ext cx="8401125" cy="1384995"/>
          </a:xfrm>
          <a:prstGeom prst="rect">
            <a:avLst/>
          </a:prstGeom>
          <a:noFill/>
        </p:spPr>
        <p:txBody>
          <a:bodyPr wrap="square">
            <a:spAutoFit/>
          </a:bodyPr>
          <a:lstStyle/>
          <a:p>
            <a:pPr>
              <a:buNone/>
            </a:pPr>
            <a:r>
              <a:rPr lang="en-US" b="1" dirty="0"/>
              <a:t>Online Book Store Project – Typical Version</a:t>
            </a:r>
          </a:p>
          <a:p>
            <a:pPr>
              <a:buNone/>
            </a:pPr>
            <a:endParaRPr lang="en-US" b="1" dirty="0"/>
          </a:p>
          <a:p>
            <a:pPr>
              <a:buNone/>
            </a:pPr>
            <a:r>
              <a:rPr lang="en-US" dirty="0"/>
              <a:t>Developed an online book store web application where users can register, login, get books. The application also includes an admin module. Worked on database design, user modules, cart functionality and payment integration using HTML, CSS, JavaScript, React, Node.js, Express.js and MySQL. The application reduced the average book-search time by approximately 60% during testing.</a:t>
            </a:r>
          </a:p>
        </p:txBody>
      </p:sp>
      <p:sp>
        <p:nvSpPr>
          <p:cNvPr id="8" name="TextBox 7">
            <a:extLst>
              <a:ext uri="{FF2B5EF4-FFF2-40B4-BE49-F238E27FC236}">
                <a16:creationId xmlns:a16="http://schemas.microsoft.com/office/drawing/2014/main" id="{905CF1FA-2BDB-5093-BCEB-9446BEB24409}"/>
              </a:ext>
            </a:extLst>
          </p:cNvPr>
          <p:cNvSpPr txBox="1"/>
          <p:nvPr/>
        </p:nvSpPr>
        <p:spPr>
          <a:xfrm>
            <a:off x="302222" y="3165233"/>
            <a:ext cx="8401125" cy="1384995"/>
          </a:xfrm>
          <a:prstGeom prst="rect">
            <a:avLst/>
          </a:prstGeom>
          <a:noFill/>
        </p:spPr>
        <p:txBody>
          <a:bodyPr wrap="square">
            <a:spAutoFit/>
          </a:bodyPr>
          <a:lstStyle/>
          <a:p>
            <a:pPr>
              <a:buNone/>
            </a:pPr>
            <a:r>
              <a:rPr lang="en-US" b="1" dirty="0"/>
              <a:t>Online Book Store Project – Improved, Impact-Focused Version</a:t>
            </a:r>
          </a:p>
          <a:p>
            <a:pPr>
              <a:buNone/>
            </a:pPr>
            <a:endParaRPr lang="en-US" b="1" dirty="0"/>
          </a:p>
          <a:p>
            <a:pPr>
              <a:buNone/>
            </a:pPr>
            <a:r>
              <a:rPr lang="en-US" dirty="0"/>
              <a:t>Built an online bookstore for ABC School to simplify search and issue of books to their students. As a </a:t>
            </a:r>
            <a:r>
              <a:rPr lang="en-US" b="1" dirty="0"/>
              <a:t>Full Stack Developer</a:t>
            </a:r>
            <a:r>
              <a:rPr lang="en-US" dirty="0"/>
              <a:t>, developed the search, filtering, cart and online payment functionality using </a:t>
            </a:r>
            <a:r>
              <a:rPr lang="en-US" b="1" dirty="0"/>
              <a:t>React, Node.js and MySQL</a:t>
            </a:r>
            <a:r>
              <a:rPr lang="en-US" dirty="0"/>
              <a:t>. The application supported </a:t>
            </a:r>
            <a:r>
              <a:rPr lang="en-US" b="1" dirty="0"/>
              <a:t>1000+ books </a:t>
            </a:r>
            <a:r>
              <a:rPr lang="en-US" dirty="0"/>
              <a:t>and has currently serviced </a:t>
            </a:r>
            <a:r>
              <a:rPr lang="en-US" b="1" dirty="0"/>
              <a:t>1800 students in a 3-month </a:t>
            </a:r>
            <a:r>
              <a:rPr lang="en-US" dirty="0"/>
              <a:t>period.</a:t>
            </a:r>
          </a:p>
        </p:txBody>
      </p:sp>
    </p:spTree>
    <p:extLst>
      <p:ext uri="{BB962C8B-B14F-4D97-AF65-F5344CB8AC3E}">
        <p14:creationId xmlns:p14="http://schemas.microsoft.com/office/powerpoint/2010/main" val="933955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2">
          <a:extLst>
            <a:ext uri="{FF2B5EF4-FFF2-40B4-BE49-F238E27FC236}">
              <a16:creationId xmlns:a16="http://schemas.microsoft.com/office/drawing/2014/main" id="{0372935D-9E15-08B0-73DC-90D5DAC6209B}"/>
            </a:ext>
          </a:extLst>
        </p:cNvPr>
        <p:cNvGrpSpPr/>
        <p:nvPr/>
      </p:nvGrpSpPr>
      <p:grpSpPr>
        <a:xfrm>
          <a:off x="0" y="0"/>
          <a:ext cx="0" cy="0"/>
          <a:chOff x="0" y="0"/>
          <a:chExt cx="0" cy="0"/>
        </a:xfrm>
      </p:grpSpPr>
      <p:sp>
        <p:nvSpPr>
          <p:cNvPr id="283" name="Google Shape;283;p22">
            <a:extLst>
              <a:ext uri="{FF2B5EF4-FFF2-40B4-BE49-F238E27FC236}">
                <a16:creationId xmlns:a16="http://schemas.microsoft.com/office/drawing/2014/main" id="{DE003C16-EEE2-B5BA-682F-F2B1B159B736}"/>
              </a:ext>
            </a:extLst>
          </p:cNvPr>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80" name="Google Shape;80;p15">
            <a:extLst>
              <a:ext uri="{FF2B5EF4-FFF2-40B4-BE49-F238E27FC236}">
                <a16:creationId xmlns:a16="http://schemas.microsoft.com/office/drawing/2014/main" id="{94ED8463-E37D-E3F5-A0BC-4C15287511BB}"/>
              </a:ext>
            </a:extLst>
          </p:cNvPr>
          <p:cNvPicPr preferRelativeResize="0"/>
          <p:nvPr/>
        </p:nvPicPr>
        <p:blipFill rotWithShape="1">
          <a:blip r:embed="rId3"/>
          <a:srcRect/>
          <a:stretch>
            <a:fillRect/>
          </a:stretch>
        </p:blipFill>
        <p:spPr>
          <a:xfrm>
            <a:off x="5080" y="5080"/>
            <a:ext cx="9138920" cy="5139055"/>
          </a:xfrm>
          <a:prstGeom prst="rect">
            <a:avLst/>
          </a:prstGeom>
          <a:noFill/>
          <a:ln>
            <a:noFill/>
          </a:ln>
        </p:spPr>
      </p:pic>
      <p:sp>
        <p:nvSpPr>
          <p:cNvPr id="284" name="Google Shape;284;p22">
            <a:extLst>
              <a:ext uri="{FF2B5EF4-FFF2-40B4-BE49-F238E27FC236}">
                <a16:creationId xmlns:a16="http://schemas.microsoft.com/office/drawing/2014/main" id="{9F3D80D9-74A1-D464-4E93-8ACF088E491A}"/>
              </a:ext>
            </a:extLst>
          </p:cNvPr>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286" name="Google Shape;286;p22">
            <a:extLst>
              <a:ext uri="{FF2B5EF4-FFF2-40B4-BE49-F238E27FC236}">
                <a16:creationId xmlns:a16="http://schemas.microsoft.com/office/drawing/2014/main" id="{C776A9E6-A31F-EAD2-C571-5F98CA58585A}"/>
              </a:ext>
            </a:extLst>
          </p:cNvPr>
          <p:cNvPicPr preferRelativeResize="0"/>
          <p:nvPr/>
        </p:nvPicPr>
        <p:blipFill rotWithShape="1">
          <a:blip r:embed="rId4"/>
          <a:srcRect/>
          <a:stretch>
            <a:fillRect/>
          </a:stretch>
        </p:blipFill>
        <p:spPr>
          <a:xfrm>
            <a:off x="6848475" y="847725"/>
            <a:ext cx="2276400" cy="3448200"/>
          </a:xfrm>
          <a:prstGeom prst="rect">
            <a:avLst/>
          </a:prstGeom>
          <a:noFill/>
          <a:ln>
            <a:noFill/>
          </a:ln>
        </p:spPr>
      </p:pic>
      <p:sp>
        <p:nvSpPr>
          <p:cNvPr id="288" name="Google Shape;288;p22">
            <a:extLst>
              <a:ext uri="{FF2B5EF4-FFF2-40B4-BE49-F238E27FC236}">
                <a16:creationId xmlns:a16="http://schemas.microsoft.com/office/drawing/2014/main" id="{02329036-6311-FF33-7C91-6F92FDCCCFFC}"/>
              </a:ext>
            </a:extLst>
          </p:cNvPr>
          <p:cNvSpPr txBox="1"/>
          <p:nvPr/>
        </p:nvSpPr>
        <p:spPr>
          <a:xfrm>
            <a:off x="571500" y="381000"/>
            <a:ext cx="8001000" cy="10479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dirty="0">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GB" sz="2700" b="0" i="0" u="none" strike="noStrike" dirty="0">
                <a:solidFill>
                  <a:srgbClr val="0B132B"/>
                </a:solidFill>
                <a:latin typeface="Poppins SemiBold"/>
                <a:ea typeface="Poppins SemiBold"/>
                <a:cs typeface="Poppins SemiBold"/>
                <a:sym typeface="Poppins SemiBold"/>
              </a:rPr>
              <a:t>Showcasing Your Projects for Impact</a:t>
            </a:r>
            <a:endParaRPr sz="1800" b="1" i="0" u="none" strike="noStrike" dirty="0">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a:extLst>
              <a:ext uri="{FF2B5EF4-FFF2-40B4-BE49-F238E27FC236}">
                <a16:creationId xmlns:a16="http://schemas.microsoft.com/office/drawing/2014/main" id="{E1FEDCE1-E815-21D9-B9AE-AB92C7F14270}"/>
              </a:ext>
            </a:extLst>
          </p:cNvPr>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7" name="TextBox 6">
            <a:extLst>
              <a:ext uri="{FF2B5EF4-FFF2-40B4-BE49-F238E27FC236}">
                <a16:creationId xmlns:a16="http://schemas.microsoft.com/office/drawing/2014/main" id="{98D54481-BD27-FE40-DF4F-AC2169EF7008}"/>
              </a:ext>
            </a:extLst>
          </p:cNvPr>
          <p:cNvSpPr txBox="1"/>
          <p:nvPr/>
        </p:nvSpPr>
        <p:spPr>
          <a:xfrm>
            <a:off x="371437" y="1560709"/>
            <a:ext cx="8401125" cy="1384995"/>
          </a:xfrm>
          <a:prstGeom prst="rect">
            <a:avLst/>
          </a:prstGeom>
          <a:noFill/>
        </p:spPr>
        <p:txBody>
          <a:bodyPr wrap="square">
            <a:spAutoFit/>
          </a:bodyPr>
          <a:lstStyle/>
          <a:p>
            <a:r>
              <a:rPr lang="en-US" b="1" dirty="0"/>
              <a:t>Student Performance Prediction System (AI/ML Project) – Typical Version</a:t>
            </a:r>
          </a:p>
          <a:p>
            <a:endParaRPr lang="en-US" b="1" dirty="0"/>
          </a:p>
          <a:p>
            <a:r>
              <a:rPr lang="en-US" dirty="0"/>
              <a:t>Developed a ML project to predict student performance using Python, Pandas, NumPy and Scikit-learn. Collected and preprocessed the data, performed data analysis, implemented different machine learning algorithms and compared their accuracy. Used Random Forest to predict student performance and created graphs using Matplotlib.</a:t>
            </a:r>
          </a:p>
        </p:txBody>
      </p:sp>
      <p:sp>
        <p:nvSpPr>
          <p:cNvPr id="8" name="TextBox 7">
            <a:extLst>
              <a:ext uri="{FF2B5EF4-FFF2-40B4-BE49-F238E27FC236}">
                <a16:creationId xmlns:a16="http://schemas.microsoft.com/office/drawing/2014/main" id="{D34A8A30-4FCE-5020-B17A-64FAD9936E85}"/>
              </a:ext>
            </a:extLst>
          </p:cNvPr>
          <p:cNvSpPr txBox="1"/>
          <p:nvPr/>
        </p:nvSpPr>
        <p:spPr>
          <a:xfrm>
            <a:off x="302222" y="3165233"/>
            <a:ext cx="8401125" cy="1600438"/>
          </a:xfrm>
          <a:prstGeom prst="rect">
            <a:avLst/>
          </a:prstGeom>
          <a:noFill/>
        </p:spPr>
        <p:txBody>
          <a:bodyPr wrap="square">
            <a:spAutoFit/>
          </a:bodyPr>
          <a:lstStyle/>
          <a:p>
            <a:r>
              <a:rPr lang="en-US" b="1" dirty="0"/>
              <a:t>Student Performance Prediction System(AI/ML Project) – Improved, Impact-Focused Version</a:t>
            </a:r>
          </a:p>
          <a:p>
            <a:endParaRPr lang="en-US" b="1" dirty="0"/>
          </a:p>
          <a:p>
            <a:r>
              <a:rPr lang="en-US" dirty="0"/>
              <a:t>Developed a machine learning solution to identify students who may require additional academic support based on attendance, previous scores, study time and assignment completion. Processed </a:t>
            </a:r>
            <a:r>
              <a:rPr lang="en-US" b="1" dirty="0"/>
              <a:t>5,000+ student records</a:t>
            </a:r>
            <a:r>
              <a:rPr lang="en-US" dirty="0"/>
              <a:t>, performed data preprocessing &amp; feature selection, and implemented. Compared Logistic Regression, Decision Tree and Random Forest models using</a:t>
            </a:r>
            <a:r>
              <a:rPr lang="en-US" b="1" dirty="0"/>
              <a:t> Scikit-learn</a:t>
            </a:r>
            <a:r>
              <a:rPr lang="en-US" dirty="0"/>
              <a:t> and achieved prediction accuracy of </a:t>
            </a:r>
            <a:r>
              <a:rPr lang="en-US" b="1" dirty="0"/>
              <a:t>82% </a:t>
            </a:r>
            <a:r>
              <a:rPr lang="en-US" dirty="0"/>
              <a:t>using Random Forest model.</a:t>
            </a:r>
          </a:p>
        </p:txBody>
      </p:sp>
    </p:spTree>
    <p:extLst>
      <p:ext uri="{BB962C8B-B14F-4D97-AF65-F5344CB8AC3E}">
        <p14:creationId xmlns:p14="http://schemas.microsoft.com/office/powerpoint/2010/main" val="2909439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285"/>
        <p:cNvGrpSpPr/>
        <p:nvPr/>
      </p:nvGrpSpPr>
      <p:grpSpPr>
        <a:xfrm>
          <a:off x="0" y="0"/>
          <a:ext cx="0" cy="0"/>
          <a:chOff x="0" y="0"/>
          <a:chExt cx="0" cy="0"/>
        </a:xfrm>
      </p:grpSpPr>
      <p:pic>
        <p:nvPicPr>
          <p:cNvPr id="80" name="Google Shape;80;p15"/>
          <p:cNvPicPr preferRelativeResize="0"/>
          <p:nvPr/>
        </p:nvPicPr>
        <p:blipFill rotWithShape="1">
          <a:blip r:embed="rId3"/>
          <a:srcRect/>
          <a:stretch>
            <a:fillRect/>
          </a:stretch>
        </p:blipFill>
        <p:spPr>
          <a:xfrm>
            <a:off x="5080" y="5080"/>
            <a:ext cx="9138920" cy="5139055"/>
          </a:xfrm>
          <a:prstGeom prst="rect">
            <a:avLst/>
          </a:prstGeom>
          <a:noFill/>
          <a:ln>
            <a:noFill/>
          </a:ln>
        </p:spPr>
      </p:pic>
      <p:cxnSp>
        <p:nvCxnSpPr>
          <p:cNvPr id="288" name="Google Shape;288;p22"/>
          <p:cNvCxnSpPr/>
          <p:nvPr/>
        </p:nvCxnSpPr>
        <p:spPr>
          <a:xfrm>
            <a:off x="313055" y="118745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284" name="Google Shape;284;p22"/>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 name="Google Shape;288;p22"/>
          <p:cNvSpPr txBox="1"/>
          <p:nvPr/>
        </p:nvSpPr>
        <p:spPr>
          <a:xfrm>
            <a:off x="381000" y="288925"/>
            <a:ext cx="8001000" cy="88138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600"/>
              </a:spcBef>
              <a:spcAft>
                <a:spcPts val="600"/>
              </a:spcAft>
              <a:buNone/>
            </a:pPr>
            <a:r>
              <a:rPr lang="en-US" altLang="en-GB" sz="2400" b="0" i="0" u="none" strike="noStrike">
                <a:solidFill>
                  <a:srgbClr val="0B132B"/>
                </a:solidFill>
                <a:latin typeface="Poppins SemiBold"/>
                <a:ea typeface="Poppins SemiBold"/>
                <a:cs typeface="Poppins SemiBold"/>
                <a:sym typeface="Poppins SemiBold"/>
              </a:rPr>
              <a:t>Strategic Focus and Top-Value Entries</a:t>
            </a:r>
          </a:p>
        </p:txBody>
      </p:sp>
      <p:grpSp>
        <p:nvGrpSpPr>
          <p:cNvPr id="554" name="Google Shape;554;p30"/>
          <p:cNvGrpSpPr/>
          <p:nvPr/>
        </p:nvGrpSpPr>
        <p:grpSpPr>
          <a:xfrm>
            <a:off x="1224280" y="4352290"/>
            <a:ext cx="6933565" cy="606425"/>
            <a:chOff x="0" y="0"/>
            <a:chExt cx="8382000" cy="714375"/>
          </a:xfrm>
        </p:grpSpPr>
        <p:sp>
          <p:nvSpPr>
            <p:cNvPr id="8" name="Google Shape;556;p30"/>
            <p:cNvSpPr/>
            <p:nvPr/>
          </p:nvSpPr>
          <p:spPr>
            <a:xfrm>
              <a:off x="0" y="0"/>
              <a:ext cx="8382000" cy="666750"/>
            </a:xfrm>
            <a:prstGeom prst="roundRect">
              <a:avLst>
                <a:gd name="adj" fmla="val 16000"/>
              </a:avLst>
            </a:prstGeom>
            <a:solidFill>
              <a:srgbClr val="34D399"/>
            </a:solidFill>
            <a:ln w="28575" cap="flat" cmpd="sng">
              <a:solidFill>
                <a:srgbClr val="111827"/>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58" name="Google Shape;558;p30"/>
            <p:cNvSpPr txBox="1"/>
            <p:nvPr/>
          </p:nvSpPr>
          <p:spPr>
            <a:xfrm>
              <a:off x="281849" y="237876"/>
              <a:ext cx="7725353" cy="476499"/>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US" altLang="en-GB" sz="1200" b="1">
                  <a:solidFill>
                    <a:srgbClr val="111827"/>
                  </a:solidFill>
                  <a:latin typeface="DM Sans"/>
                  <a:ea typeface="DM Sans"/>
                  <a:cs typeface="DM Sans"/>
                  <a:sym typeface="DM Sans"/>
                </a:rPr>
                <a:t>P</a:t>
              </a:r>
              <a:r>
                <a:rPr lang="en-GB" sz="1200" b="1">
                  <a:solidFill>
                    <a:srgbClr val="111827"/>
                  </a:solidFill>
                  <a:latin typeface="DM Sans"/>
                  <a:ea typeface="DM Sans"/>
                  <a:cs typeface="DM Sans"/>
                  <a:sym typeface="DM Sans"/>
                </a:rPr>
                <a:t>rioritizing academic and professional milestones over generic personal details.</a:t>
              </a:r>
              <a:endParaRPr sz="1200" b="0">
                <a:solidFill>
                  <a:srgbClr val="4B5563"/>
                </a:solidFill>
                <a:latin typeface="DM Sans Medium"/>
                <a:ea typeface="DM Sans Medium"/>
                <a:cs typeface="DM Sans Medium"/>
                <a:sym typeface="DM Sans Medium"/>
              </a:endParaRPr>
            </a:p>
            <a:p>
              <a:pPr marL="0" lvl="0" indent="0" algn="ctr" rtl="0">
                <a:spcBef>
                  <a:spcPts val="0"/>
                </a:spcBef>
                <a:spcAft>
                  <a:spcPts val="0"/>
                </a:spcAft>
                <a:buNone/>
              </a:pPr>
              <a:endParaRPr lang="en-US" altLang="en-US" sz="1200" b="1">
                <a:solidFill>
                  <a:srgbClr val="111827"/>
                </a:solidFill>
                <a:latin typeface="DM Sans"/>
                <a:ea typeface="DM Sans"/>
                <a:cs typeface="DM Sans"/>
                <a:sym typeface="DM Sans"/>
              </a:endParaRPr>
            </a:p>
          </p:txBody>
        </p:sp>
      </p:grpSp>
      <p:grpSp>
        <p:nvGrpSpPr>
          <p:cNvPr id="4" name="Google Shape;304;p22"/>
          <p:cNvGrpSpPr/>
          <p:nvPr/>
        </p:nvGrpSpPr>
        <p:grpSpPr>
          <a:xfrm>
            <a:off x="1072515" y="1522730"/>
            <a:ext cx="3048000" cy="1944370"/>
            <a:chOff x="723900" y="857250"/>
            <a:chExt cx="3048000" cy="1944370"/>
          </a:xfrm>
        </p:grpSpPr>
        <p:sp>
          <p:nvSpPr>
            <p:cNvPr id="11" name="Google Shape;310;p22"/>
            <p:cNvSpPr txBox="1"/>
            <p:nvPr/>
          </p:nvSpPr>
          <p:spPr>
            <a:xfrm>
              <a:off x="723900" y="857250"/>
              <a:ext cx="3048000" cy="571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050" b="1">
                  <a:solidFill>
                    <a:srgbClr val="111827"/>
                  </a:solidFill>
                  <a:latin typeface="DM Sans"/>
                  <a:ea typeface="DM Sans"/>
                  <a:cs typeface="DM Sans"/>
                  <a:sym typeface="DM Sans"/>
                </a:rPr>
                <a:t>CGPA &amp; Coursework</a:t>
              </a:r>
              <a:endParaRPr sz="1050" b="1">
                <a:solidFill>
                  <a:srgbClr val="111827"/>
                </a:solidFill>
                <a:latin typeface="DM Sans"/>
                <a:ea typeface="DM Sans"/>
                <a:cs typeface="DM Sans"/>
                <a:sym typeface="DM Sans"/>
              </a:endParaRPr>
            </a:p>
            <a:p>
              <a:pPr marL="0" lvl="0" indent="0" algn="l" rtl="0">
                <a:spcBef>
                  <a:spcPts val="300"/>
                </a:spcBef>
                <a:spcAft>
                  <a:spcPts val="0"/>
                </a:spcAft>
                <a:buNone/>
              </a:pPr>
              <a:r>
                <a:rPr lang="en-GB" sz="975" b="0">
                  <a:solidFill>
                    <a:srgbClr val="4B5563"/>
                  </a:solidFill>
                  <a:latin typeface="DM Sans Medium"/>
                  <a:ea typeface="DM Sans Medium"/>
                  <a:cs typeface="DM Sans Medium"/>
                  <a:sym typeface="DM Sans Medium"/>
                </a:rPr>
                <a:t>Prominently display your CGPA/GPA, core courses, and academic achievements.</a:t>
              </a:r>
              <a:endParaRPr sz="975" b="0">
                <a:solidFill>
                  <a:srgbClr val="4B5563"/>
                </a:solidFill>
                <a:latin typeface="DM Sans Medium"/>
                <a:ea typeface="DM Sans Medium"/>
                <a:cs typeface="DM Sans Medium"/>
                <a:sym typeface="DM Sans Medium"/>
              </a:endParaRPr>
            </a:p>
          </p:txBody>
        </p:sp>
        <p:sp>
          <p:nvSpPr>
            <p:cNvPr id="14" name="Google Shape;313;p22"/>
            <p:cNvSpPr txBox="1"/>
            <p:nvPr/>
          </p:nvSpPr>
          <p:spPr>
            <a:xfrm>
              <a:off x="723900" y="1530350"/>
              <a:ext cx="3048000" cy="571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050" b="1">
                  <a:solidFill>
                    <a:srgbClr val="111827"/>
                  </a:solidFill>
                  <a:latin typeface="DM Sans"/>
                  <a:ea typeface="DM Sans"/>
                  <a:cs typeface="DM Sans"/>
                  <a:sym typeface="DM Sans"/>
                </a:rPr>
                <a:t>Competitions &amp; Hackathons</a:t>
              </a:r>
              <a:endParaRPr sz="1050" b="1">
                <a:solidFill>
                  <a:srgbClr val="111827"/>
                </a:solidFill>
                <a:latin typeface="DM Sans"/>
                <a:ea typeface="DM Sans"/>
                <a:cs typeface="DM Sans"/>
                <a:sym typeface="DM Sans"/>
              </a:endParaRPr>
            </a:p>
            <a:p>
              <a:pPr marL="0" lvl="0" indent="0" algn="l" rtl="0">
                <a:spcBef>
                  <a:spcPts val="300"/>
                </a:spcBef>
                <a:spcAft>
                  <a:spcPts val="0"/>
                </a:spcAft>
                <a:buNone/>
              </a:pPr>
              <a:r>
                <a:rPr lang="en-GB" sz="975">
                  <a:solidFill>
                    <a:srgbClr val="4B5563"/>
                  </a:solidFill>
                  <a:latin typeface="DM Sans Medium"/>
                  <a:ea typeface="DM Sans Medium"/>
                  <a:cs typeface="DM Sans Medium"/>
                  <a:sym typeface="DM Sans Medium"/>
                </a:rPr>
                <a:t>Showcase coding competitions and hackathon</a:t>
              </a:r>
              <a:r>
                <a:rPr lang="en-US" altLang="en-GB" sz="975">
                  <a:solidFill>
                    <a:srgbClr val="4B5563"/>
                  </a:solidFill>
                  <a:latin typeface="DM Sans Medium"/>
                  <a:ea typeface="DM Sans Medium"/>
                  <a:cs typeface="DM Sans Medium"/>
                  <a:sym typeface="DM Sans Medium"/>
                </a:rPr>
                <a:t>s, and paper presentation</a:t>
              </a:r>
              <a:r>
                <a:rPr lang="en-GB" sz="975">
                  <a:solidFill>
                    <a:srgbClr val="4B5563"/>
                  </a:solidFill>
                  <a:latin typeface="DM Sans Medium"/>
                  <a:ea typeface="DM Sans Medium"/>
                  <a:cs typeface="DM Sans Medium"/>
                  <a:sym typeface="DM Sans Medium"/>
                </a:rPr>
                <a:t>.</a:t>
              </a:r>
              <a:endParaRPr sz="975" b="0">
                <a:solidFill>
                  <a:srgbClr val="4B5563"/>
                </a:solidFill>
                <a:latin typeface="DM Sans Medium"/>
                <a:ea typeface="DM Sans Medium"/>
                <a:cs typeface="DM Sans Medium"/>
                <a:sym typeface="DM Sans Medium"/>
              </a:endParaRPr>
            </a:p>
          </p:txBody>
        </p:sp>
        <p:sp>
          <p:nvSpPr>
            <p:cNvPr id="17" name="Google Shape;316;p22"/>
            <p:cNvSpPr txBox="1"/>
            <p:nvPr/>
          </p:nvSpPr>
          <p:spPr>
            <a:xfrm>
              <a:off x="723900" y="2230120"/>
              <a:ext cx="3048000" cy="571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050" b="1">
                  <a:solidFill>
                    <a:srgbClr val="111827"/>
                  </a:solidFill>
                  <a:latin typeface="DM Sans"/>
                  <a:ea typeface="DM Sans"/>
                  <a:cs typeface="DM Sans"/>
                  <a:sym typeface="DM Sans"/>
                </a:rPr>
                <a:t>Leadership &amp; Open Source</a:t>
              </a:r>
              <a:endParaRPr sz="1050" b="1">
                <a:solidFill>
                  <a:srgbClr val="111827"/>
                </a:solidFill>
                <a:latin typeface="DM Sans"/>
                <a:ea typeface="DM Sans"/>
                <a:cs typeface="DM Sans"/>
                <a:sym typeface="DM Sans"/>
              </a:endParaRPr>
            </a:p>
            <a:p>
              <a:pPr marL="0" lvl="0" indent="0" algn="l" rtl="0">
                <a:spcBef>
                  <a:spcPts val="300"/>
                </a:spcBef>
                <a:spcAft>
                  <a:spcPts val="0"/>
                </a:spcAft>
                <a:buNone/>
              </a:pPr>
              <a:r>
                <a:rPr lang="en-GB" sz="975" b="0">
                  <a:solidFill>
                    <a:srgbClr val="4B5563"/>
                  </a:solidFill>
                  <a:latin typeface="DM Sans Medium"/>
                  <a:ea typeface="DM Sans Medium"/>
                  <a:cs typeface="DM Sans Medium"/>
                  <a:sym typeface="DM Sans Medium"/>
                </a:rPr>
                <a:t>Highlight open-source contributions or activities that demonstrate active technical passion.</a:t>
              </a:r>
              <a:endParaRPr sz="975" b="0">
                <a:solidFill>
                  <a:srgbClr val="4B5563"/>
                </a:solidFill>
                <a:latin typeface="DM Sans Medium"/>
                <a:ea typeface="DM Sans Medium"/>
                <a:cs typeface="DM Sans Medium"/>
                <a:sym typeface="DM Sans Medium"/>
              </a:endParaRPr>
            </a:p>
          </p:txBody>
        </p:sp>
      </p:grpSp>
      <p:grpSp>
        <p:nvGrpSpPr>
          <p:cNvPr id="19" name="Google Shape;304;p22"/>
          <p:cNvGrpSpPr/>
          <p:nvPr/>
        </p:nvGrpSpPr>
        <p:grpSpPr>
          <a:xfrm>
            <a:off x="5155565" y="1549400"/>
            <a:ext cx="3048000" cy="1271270"/>
            <a:chOff x="1262828" y="857250"/>
            <a:chExt cx="2509072" cy="1271270"/>
          </a:xfrm>
        </p:grpSpPr>
        <p:sp>
          <p:nvSpPr>
            <p:cNvPr id="22" name="Google Shape;310;p22"/>
            <p:cNvSpPr txBox="1"/>
            <p:nvPr/>
          </p:nvSpPr>
          <p:spPr>
            <a:xfrm>
              <a:off x="1262828" y="857250"/>
              <a:ext cx="2509072" cy="571500"/>
            </a:xfrm>
            <a:prstGeom prst="rect">
              <a:avLst/>
            </a:prstGeom>
            <a:noFill/>
            <a:ln>
              <a:noFill/>
            </a:ln>
          </p:spPr>
          <p:txBody>
            <a:bodyPr spcFirstLastPara="1" wrap="square" lIns="0" tIns="0" rIns="0" bIns="0" anchor="t" anchorCtr="0">
              <a:noAutofit/>
            </a:bodyPr>
            <a:lstStyle/>
            <a:p>
              <a:pPr marL="0" lvl="0" indent="0" algn="l" rtl="0">
                <a:spcBef>
                  <a:spcPts val="300"/>
                </a:spcBef>
                <a:spcAft>
                  <a:spcPts val="0"/>
                </a:spcAft>
                <a:buNone/>
              </a:pPr>
              <a:r>
                <a:rPr lang="en-GB" sz="1050" b="1">
                  <a:solidFill>
                    <a:srgbClr val="111827"/>
                  </a:solidFill>
                  <a:latin typeface="DM Sans"/>
                  <a:ea typeface="DM Sans"/>
                  <a:cs typeface="DM Sans"/>
                  <a:sym typeface="DM Sans"/>
                </a:rPr>
                <a:t>Minimize </a:t>
              </a:r>
              <a:r>
                <a:rPr lang="en-US" altLang="en-GB" sz="1050" b="1">
                  <a:solidFill>
                    <a:srgbClr val="111827"/>
                  </a:solidFill>
                  <a:latin typeface="DM Sans"/>
                  <a:ea typeface="DM Sans"/>
                  <a:cs typeface="DM Sans"/>
                  <a:sym typeface="DM Sans"/>
                </a:rPr>
                <a:t>Personal Info</a:t>
              </a:r>
              <a:endParaRPr lang="en-GB" sz="1050" b="1">
                <a:solidFill>
                  <a:srgbClr val="111827"/>
                </a:solidFill>
                <a:latin typeface="DM Sans"/>
                <a:ea typeface="DM Sans"/>
                <a:cs typeface="DM Sans"/>
                <a:sym typeface="DM Sans"/>
              </a:endParaRPr>
            </a:p>
            <a:p>
              <a:pPr marL="0" lvl="0" indent="0" algn="l" rtl="0">
                <a:spcBef>
                  <a:spcPts val="300"/>
                </a:spcBef>
                <a:spcAft>
                  <a:spcPts val="0"/>
                </a:spcAft>
                <a:buNone/>
              </a:pPr>
              <a:r>
                <a:rPr lang="en-US" sz="975" b="0">
                  <a:solidFill>
                    <a:srgbClr val="4B5563"/>
                  </a:solidFill>
                  <a:latin typeface="DM Sans Medium"/>
                  <a:ea typeface="DM Sans Medium"/>
                  <a:cs typeface="DM Sans Medium"/>
                  <a:sym typeface="DM Sans Medium"/>
                </a:rPr>
                <a:t>Minimize Personal Info like Place etc, Keep only those required for contact.</a:t>
              </a:r>
            </a:p>
          </p:txBody>
        </p:sp>
        <p:sp>
          <p:nvSpPr>
            <p:cNvPr id="25" name="Google Shape;313;p22"/>
            <p:cNvSpPr txBox="1"/>
            <p:nvPr/>
          </p:nvSpPr>
          <p:spPr>
            <a:xfrm>
              <a:off x="1263351" y="1557020"/>
              <a:ext cx="2508549" cy="571500"/>
            </a:xfrm>
            <a:prstGeom prst="rect">
              <a:avLst/>
            </a:prstGeom>
            <a:noFill/>
            <a:ln>
              <a:noFill/>
            </a:ln>
          </p:spPr>
          <p:txBody>
            <a:bodyPr spcFirstLastPara="1" wrap="square" lIns="0" tIns="0" rIns="0" bIns="0" anchor="t" anchorCtr="0">
              <a:noAutofit/>
            </a:bodyPr>
            <a:lstStyle/>
            <a:p>
              <a:pPr marL="0" lvl="0" indent="0" algn="l" rtl="0">
                <a:spcBef>
                  <a:spcPts val="300"/>
                </a:spcBef>
                <a:spcAft>
                  <a:spcPts val="0"/>
                </a:spcAft>
                <a:buNone/>
              </a:pPr>
              <a:r>
                <a:rPr lang="en-GB" sz="1050" b="1">
                  <a:solidFill>
                    <a:srgbClr val="111827"/>
                  </a:solidFill>
                  <a:latin typeface="DM Sans"/>
                  <a:ea typeface="DM Sans"/>
                  <a:cs typeface="DM Sans"/>
                  <a:sym typeface="DM Sans"/>
                </a:rPr>
                <a:t>Remove Obsolete Data</a:t>
              </a:r>
            </a:p>
            <a:p>
              <a:pPr marL="0" marR="0" lvl="0" indent="0" algn="l" rtl="0">
                <a:spcBef>
                  <a:spcPts val="600"/>
                </a:spcBef>
                <a:spcAft>
                  <a:spcPts val="0"/>
                </a:spcAft>
                <a:buFont typeface="Wingdings" panose="05000000000000000000" charset="0"/>
                <a:buNone/>
              </a:pPr>
              <a:r>
                <a:rPr lang="en-GB" sz="975">
                  <a:solidFill>
                    <a:srgbClr val="4B5563"/>
                  </a:solidFill>
                  <a:latin typeface="DM Sans Medium"/>
                  <a:ea typeface="DM Sans Medium"/>
                  <a:cs typeface="DM Sans Medium"/>
                  <a:sym typeface="DM Sans Medium"/>
                </a:rPr>
                <a:t>Exclude high school grades unless requested.</a:t>
              </a:r>
              <a:endParaRPr sz="975" b="0">
                <a:solidFill>
                  <a:srgbClr val="4B5563"/>
                </a:solidFill>
                <a:latin typeface="DM Sans Medium"/>
                <a:ea typeface="DM Sans Medium"/>
                <a:cs typeface="DM Sans Medium"/>
                <a:sym typeface="DM Sans Medium"/>
              </a:endParaRPr>
            </a:p>
          </p:txBody>
        </p:sp>
      </p:grpSp>
      <p:grpSp>
        <p:nvGrpSpPr>
          <p:cNvPr id="31" name="Group 30"/>
          <p:cNvGrpSpPr/>
          <p:nvPr/>
        </p:nvGrpSpPr>
        <p:grpSpPr>
          <a:xfrm>
            <a:off x="635635" y="1556385"/>
            <a:ext cx="303530" cy="264160"/>
            <a:chOff x="481" y="2988"/>
            <a:chExt cx="478" cy="416"/>
          </a:xfrm>
        </p:grpSpPr>
        <p:sp>
          <p:nvSpPr>
            <p:cNvPr id="29" name="Google Shape;293;p22"/>
            <p:cNvSpPr/>
            <p:nvPr/>
          </p:nvSpPr>
          <p:spPr>
            <a:xfrm>
              <a:off x="481" y="2988"/>
              <a:ext cx="479" cy="417"/>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0" name="Google Shape;294;p22"/>
            <p:cNvSpPr/>
            <p:nvPr/>
          </p:nvSpPr>
          <p:spPr>
            <a:xfrm>
              <a:off x="621" y="3108"/>
              <a:ext cx="195" cy="154"/>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32" name="Group 31"/>
          <p:cNvGrpSpPr/>
          <p:nvPr/>
        </p:nvGrpSpPr>
        <p:grpSpPr>
          <a:xfrm>
            <a:off x="638810" y="2194560"/>
            <a:ext cx="303530" cy="264160"/>
            <a:chOff x="481" y="2988"/>
            <a:chExt cx="478" cy="416"/>
          </a:xfrm>
        </p:grpSpPr>
        <p:sp>
          <p:nvSpPr>
            <p:cNvPr id="33" name="Google Shape;293;p22"/>
            <p:cNvSpPr/>
            <p:nvPr/>
          </p:nvSpPr>
          <p:spPr>
            <a:xfrm>
              <a:off x="481" y="2988"/>
              <a:ext cx="479" cy="417"/>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4" name="Google Shape;294;p22"/>
            <p:cNvSpPr/>
            <p:nvPr/>
          </p:nvSpPr>
          <p:spPr>
            <a:xfrm>
              <a:off x="621" y="3108"/>
              <a:ext cx="195" cy="154"/>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35" name="Group 34"/>
          <p:cNvGrpSpPr/>
          <p:nvPr/>
        </p:nvGrpSpPr>
        <p:grpSpPr>
          <a:xfrm>
            <a:off x="635635" y="2882265"/>
            <a:ext cx="303530" cy="264160"/>
            <a:chOff x="481" y="2988"/>
            <a:chExt cx="478" cy="416"/>
          </a:xfrm>
        </p:grpSpPr>
        <p:sp>
          <p:nvSpPr>
            <p:cNvPr id="36" name="Google Shape;293;p22"/>
            <p:cNvSpPr/>
            <p:nvPr/>
          </p:nvSpPr>
          <p:spPr>
            <a:xfrm>
              <a:off x="481" y="2988"/>
              <a:ext cx="479" cy="417"/>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7" name="Google Shape;294;p22"/>
            <p:cNvSpPr/>
            <p:nvPr/>
          </p:nvSpPr>
          <p:spPr>
            <a:xfrm>
              <a:off x="621" y="3108"/>
              <a:ext cx="195" cy="154"/>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41" name="Group 40"/>
          <p:cNvGrpSpPr/>
          <p:nvPr/>
        </p:nvGrpSpPr>
        <p:grpSpPr>
          <a:xfrm>
            <a:off x="4728210" y="1567815"/>
            <a:ext cx="303530" cy="264160"/>
            <a:chOff x="8891" y="5135"/>
            <a:chExt cx="478" cy="416"/>
          </a:xfrm>
        </p:grpSpPr>
        <p:sp>
          <p:nvSpPr>
            <p:cNvPr id="38" name="Google Shape;293;p22"/>
            <p:cNvSpPr/>
            <p:nvPr/>
          </p:nvSpPr>
          <p:spPr>
            <a:xfrm>
              <a:off x="8891" y="5135"/>
              <a:ext cx="479" cy="417"/>
            </a:xfrm>
            <a:prstGeom prst="ellipse">
              <a:avLst/>
            </a:prstGeom>
            <a:solidFill>
              <a:srgbClr val="FF00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12" name="Google Shape;612;p32"/>
            <p:cNvSpPr/>
            <p:nvPr/>
          </p:nvSpPr>
          <p:spPr>
            <a:xfrm>
              <a:off x="9058" y="5276"/>
              <a:ext cx="120" cy="154"/>
            </a:xfrm>
            <a:custGeom>
              <a:avLst/>
              <a:gdLst/>
              <a:ahLst/>
              <a:cxnLst/>
              <a:rect l="l" t="t" r="r" b="b"/>
              <a:pathLst>
                <a:path w="120000" h="120000" extrusionOk="0">
                  <a:moveTo>
                    <a:pt x="0" y="0"/>
                  </a:moveTo>
                  <a:lnTo>
                    <a:pt x="120000" y="120000"/>
                  </a:lnTo>
                  <a:moveTo>
                    <a:pt x="120000" y="0"/>
                  </a:moveTo>
                  <a:lnTo>
                    <a:pt x="0" y="120000"/>
                  </a:lnTo>
                </a:path>
              </a:pathLst>
            </a:custGeom>
            <a:solidFill>
              <a:schemeClr val="bg1"/>
            </a:solidFill>
            <a:ln w="28575" cap="rnd" cmpd="sng">
              <a:solidFill>
                <a:schemeClr val="bg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48" name="Group 47"/>
          <p:cNvGrpSpPr/>
          <p:nvPr/>
        </p:nvGrpSpPr>
        <p:grpSpPr>
          <a:xfrm>
            <a:off x="4728845" y="2236470"/>
            <a:ext cx="303530" cy="264160"/>
            <a:chOff x="8891" y="5135"/>
            <a:chExt cx="478" cy="416"/>
          </a:xfrm>
        </p:grpSpPr>
        <p:sp>
          <p:nvSpPr>
            <p:cNvPr id="49" name="Google Shape;293;p22"/>
            <p:cNvSpPr/>
            <p:nvPr/>
          </p:nvSpPr>
          <p:spPr>
            <a:xfrm>
              <a:off x="8891" y="5135"/>
              <a:ext cx="479" cy="417"/>
            </a:xfrm>
            <a:prstGeom prst="ellipse">
              <a:avLst/>
            </a:prstGeom>
            <a:solidFill>
              <a:srgbClr val="FF00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0" name="Google Shape;612;p32"/>
            <p:cNvSpPr/>
            <p:nvPr/>
          </p:nvSpPr>
          <p:spPr>
            <a:xfrm>
              <a:off x="9058" y="5276"/>
              <a:ext cx="120" cy="154"/>
            </a:xfrm>
            <a:custGeom>
              <a:avLst/>
              <a:gdLst/>
              <a:ahLst/>
              <a:cxnLst/>
              <a:rect l="l" t="t" r="r" b="b"/>
              <a:pathLst>
                <a:path w="120000" h="120000" extrusionOk="0">
                  <a:moveTo>
                    <a:pt x="0" y="0"/>
                  </a:moveTo>
                  <a:lnTo>
                    <a:pt x="120000" y="120000"/>
                  </a:lnTo>
                  <a:moveTo>
                    <a:pt x="120000" y="0"/>
                  </a:moveTo>
                  <a:lnTo>
                    <a:pt x="0" y="120000"/>
                  </a:lnTo>
                </a:path>
              </a:pathLst>
            </a:custGeom>
            <a:solidFill>
              <a:schemeClr val="bg1"/>
            </a:solidFill>
            <a:ln w="28575" cap="rnd" cmpd="sng">
              <a:solidFill>
                <a:schemeClr val="bg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51" name="Google Shape;310;p22"/>
          <p:cNvSpPr txBox="1"/>
          <p:nvPr/>
        </p:nvSpPr>
        <p:spPr>
          <a:xfrm>
            <a:off x="5155565" y="2856230"/>
            <a:ext cx="3048000" cy="571500"/>
          </a:xfrm>
          <a:prstGeom prst="rect">
            <a:avLst/>
          </a:prstGeom>
          <a:noFill/>
          <a:ln>
            <a:noFill/>
          </a:ln>
        </p:spPr>
        <p:txBody>
          <a:bodyPr spcFirstLastPara="1" wrap="square" lIns="0" tIns="0" rIns="0" bIns="0" anchor="t" anchorCtr="0">
            <a:noAutofit/>
          </a:bodyPr>
          <a:lstStyle/>
          <a:p>
            <a:pPr marL="0" lvl="0" indent="0" algn="l" rtl="0">
              <a:spcBef>
                <a:spcPts val="300"/>
              </a:spcBef>
              <a:spcAft>
                <a:spcPts val="0"/>
              </a:spcAft>
              <a:buNone/>
            </a:pPr>
            <a:r>
              <a:rPr lang="en-GB" sz="1050" b="1">
                <a:solidFill>
                  <a:srgbClr val="111827"/>
                </a:solidFill>
                <a:latin typeface="DM Sans"/>
                <a:ea typeface="DM Sans"/>
                <a:cs typeface="DM Sans"/>
                <a:sym typeface="DM Sans"/>
              </a:rPr>
              <a:t>Minimize Hobbies</a:t>
            </a:r>
          </a:p>
          <a:p>
            <a:pPr marL="0" lvl="0" indent="0" algn="l" rtl="0">
              <a:spcBef>
                <a:spcPts val="300"/>
              </a:spcBef>
              <a:spcAft>
                <a:spcPts val="0"/>
              </a:spcAft>
              <a:buNone/>
            </a:pPr>
            <a:r>
              <a:rPr lang="en-GB" sz="975">
                <a:solidFill>
                  <a:srgbClr val="4B5563"/>
                </a:solidFill>
                <a:latin typeface="DM Sans Medium"/>
                <a:ea typeface="DM Sans Medium"/>
                <a:cs typeface="DM Sans Medium"/>
                <a:sym typeface="DM Sans Medium"/>
              </a:rPr>
              <a:t>Omit generic hobbies. Only keep those showing leadership/tech passion</a:t>
            </a:r>
            <a:endParaRPr sz="975" b="0">
              <a:solidFill>
                <a:srgbClr val="4B5563"/>
              </a:solidFill>
              <a:latin typeface="DM Sans Medium"/>
              <a:ea typeface="DM Sans Medium"/>
              <a:cs typeface="DM Sans Medium"/>
              <a:sym typeface="DM Sans Medium"/>
            </a:endParaRPr>
          </a:p>
          <a:p>
            <a:pPr marL="0" lvl="0" indent="0" algn="l" rtl="0">
              <a:spcBef>
                <a:spcPts val="300"/>
              </a:spcBef>
              <a:spcAft>
                <a:spcPts val="0"/>
              </a:spcAft>
              <a:buNone/>
            </a:pPr>
            <a:endParaRPr sz="975" b="0">
              <a:solidFill>
                <a:srgbClr val="4B5563"/>
              </a:solidFill>
              <a:latin typeface="DM Sans Medium"/>
              <a:ea typeface="DM Sans Medium"/>
              <a:cs typeface="DM Sans Medium"/>
              <a:sym typeface="DM Sans Medium"/>
            </a:endParaRPr>
          </a:p>
        </p:txBody>
      </p:sp>
      <p:sp>
        <p:nvSpPr>
          <p:cNvPr id="53" name="Google Shape;293;p22"/>
          <p:cNvSpPr/>
          <p:nvPr/>
        </p:nvSpPr>
        <p:spPr>
          <a:xfrm>
            <a:off x="4728210" y="2856230"/>
            <a:ext cx="304165" cy="264795"/>
          </a:xfrm>
          <a:prstGeom prst="ellipse">
            <a:avLst/>
          </a:prstGeom>
          <a:solidFill>
            <a:srgbClr val="FF00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612;p32"/>
          <p:cNvSpPr/>
          <p:nvPr/>
        </p:nvSpPr>
        <p:spPr>
          <a:xfrm>
            <a:off x="4834255" y="2945765"/>
            <a:ext cx="76200" cy="97790"/>
          </a:xfrm>
          <a:custGeom>
            <a:avLst/>
            <a:gdLst/>
            <a:ahLst/>
            <a:cxnLst/>
            <a:rect l="l" t="t" r="r" b="b"/>
            <a:pathLst>
              <a:path w="120000" h="120000" extrusionOk="0">
                <a:moveTo>
                  <a:pt x="0" y="0"/>
                </a:moveTo>
                <a:lnTo>
                  <a:pt x="120000" y="120000"/>
                </a:lnTo>
                <a:moveTo>
                  <a:pt x="120000" y="0"/>
                </a:moveTo>
                <a:lnTo>
                  <a:pt x="0" y="120000"/>
                </a:lnTo>
              </a:path>
            </a:pathLst>
          </a:custGeom>
          <a:solidFill>
            <a:schemeClr val="bg1"/>
          </a:solidFill>
          <a:ln w="28575" cap="rnd" cmpd="sng">
            <a:solidFill>
              <a:schemeClr val="bg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55" name="Group 54"/>
          <p:cNvGrpSpPr/>
          <p:nvPr/>
        </p:nvGrpSpPr>
        <p:grpSpPr>
          <a:xfrm>
            <a:off x="635635" y="3564255"/>
            <a:ext cx="303530" cy="264160"/>
            <a:chOff x="481" y="2988"/>
            <a:chExt cx="478" cy="416"/>
          </a:xfrm>
        </p:grpSpPr>
        <p:sp>
          <p:nvSpPr>
            <p:cNvPr id="56" name="Google Shape;293;p22"/>
            <p:cNvSpPr/>
            <p:nvPr/>
          </p:nvSpPr>
          <p:spPr>
            <a:xfrm>
              <a:off x="481" y="2988"/>
              <a:ext cx="479" cy="417"/>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7" name="Google Shape;294;p22"/>
            <p:cNvSpPr/>
            <p:nvPr/>
          </p:nvSpPr>
          <p:spPr>
            <a:xfrm>
              <a:off x="621" y="3108"/>
              <a:ext cx="195" cy="154"/>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58" name="Google Shape;316;p22"/>
          <p:cNvSpPr txBox="1"/>
          <p:nvPr/>
        </p:nvSpPr>
        <p:spPr>
          <a:xfrm>
            <a:off x="1072515" y="3583940"/>
            <a:ext cx="3048000" cy="5715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US" sz="1050" b="1">
                <a:solidFill>
                  <a:srgbClr val="111827"/>
                </a:solidFill>
                <a:latin typeface="DM Sans"/>
                <a:ea typeface="DM Sans"/>
                <a:cs typeface="DM Sans"/>
                <a:sym typeface="DM Sans"/>
              </a:rPr>
              <a:t>GitHub URL</a:t>
            </a:r>
            <a:endParaRPr sz="1050" b="1">
              <a:solidFill>
                <a:srgbClr val="111827"/>
              </a:solidFill>
              <a:latin typeface="DM Sans"/>
              <a:ea typeface="DM Sans"/>
              <a:cs typeface="DM Sans"/>
              <a:sym typeface="DM Sans"/>
            </a:endParaRPr>
          </a:p>
          <a:p>
            <a:pPr marL="0" lvl="0" indent="0" algn="l" rtl="0">
              <a:spcBef>
                <a:spcPts val="300"/>
              </a:spcBef>
              <a:spcAft>
                <a:spcPts val="0"/>
              </a:spcAft>
              <a:buNone/>
            </a:pPr>
            <a:r>
              <a:rPr lang="en-US" altLang="en-GB" sz="975" b="0">
                <a:solidFill>
                  <a:srgbClr val="4B5563"/>
                </a:solidFill>
                <a:latin typeface="DM Sans Medium"/>
                <a:ea typeface="DM Sans Medium"/>
                <a:cs typeface="DM Sans Medium"/>
                <a:sym typeface="DM Sans Medium"/>
              </a:rPr>
              <a:t>Project source Code or any other code you developed of your interest </a:t>
            </a:r>
          </a:p>
        </p:txBody>
      </p:sp>
      <p:sp>
        <p:nvSpPr>
          <p:cNvPr id="59" name="Google Shape;310;p22"/>
          <p:cNvSpPr txBox="1"/>
          <p:nvPr/>
        </p:nvSpPr>
        <p:spPr>
          <a:xfrm>
            <a:off x="5158105" y="3489960"/>
            <a:ext cx="3048000" cy="571500"/>
          </a:xfrm>
          <a:prstGeom prst="rect">
            <a:avLst/>
          </a:prstGeom>
          <a:noFill/>
          <a:ln>
            <a:noFill/>
          </a:ln>
        </p:spPr>
        <p:txBody>
          <a:bodyPr spcFirstLastPara="1" wrap="square" lIns="0" tIns="0" rIns="0" bIns="0" anchor="t" anchorCtr="0">
            <a:noAutofit/>
          </a:bodyPr>
          <a:lstStyle/>
          <a:p>
            <a:pPr marL="0" lvl="0" indent="0" algn="l" rtl="0">
              <a:spcBef>
                <a:spcPts val="300"/>
              </a:spcBef>
              <a:spcAft>
                <a:spcPts val="0"/>
              </a:spcAft>
              <a:buNone/>
            </a:pPr>
            <a:r>
              <a:rPr lang="en-US" altLang="en-GB" sz="1050" b="1">
                <a:solidFill>
                  <a:srgbClr val="111827"/>
                </a:solidFill>
                <a:latin typeface="DM Sans"/>
                <a:ea typeface="DM Sans"/>
                <a:cs typeface="DM Sans"/>
                <a:sym typeface="DM Sans"/>
              </a:rPr>
              <a:t>Do NOT Repeat Yourself</a:t>
            </a:r>
            <a:endParaRPr lang="en-GB" sz="1050" b="1">
              <a:solidFill>
                <a:srgbClr val="111827"/>
              </a:solidFill>
              <a:latin typeface="DM Sans"/>
              <a:ea typeface="DM Sans"/>
              <a:cs typeface="DM Sans"/>
              <a:sym typeface="DM Sans"/>
            </a:endParaRPr>
          </a:p>
          <a:p>
            <a:pPr marL="0" lvl="0" indent="0" algn="l" rtl="0">
              <a:spcBef>
                <a:spcPts val="300"/>
              </a:spcBef>
              <a:spcAft>
                <a:spcPts val="0"/>
              </a:spcAft>
              <a:buNone/>
            </a:pPr>
            <a:r>
              <a:rPr lang="en-US" sz="975" b="0">
                <a:solidFill>
                  <a:srgbClr val="4B5563"/>
                </a:solidFill>
                <a:latin typeface="DM Sans Medium"/>
                <a:ea typeface="DM Sans Medium"/>
                <a:cs typeface="DM Sans Medium"/>
                <a:sym typeface="DM Sans Medium"/>
              </a:rPr>
              <a:t>Avoid repeating similar information across projects</a:t>
            </a:r>
            <a:endParaRPr sz="975" b="0">
              <a:solidFill>
                <a:srgbClr val="4B5563"/>
              </a:solidFill>
              <a:latin typeface="DM Sans Medium"/>
              <a:ea typeface="DM Sans Medium"/>
              <a:cs typeface="DM Sans Medium"/>
              <a:sym typeface="DM Sans Medium"/>
            </a:endParaRPr>
          </a:p>
          <a:p>
            <a:pPr marL="0" lvl="0" indent="0" algn="l" rtl="0">
              <a:spcBef>
                <a:spcPts val="300"/>
              </a:spcBef>
              <a:spcAft>
                <a:spcPts val="0"/>
              </a:spcAft>
              <a:buNone/>
            </a:pPr>
            <a:endParaRPr sz="975" b="0">
              <a:solidFill>
                <a:srgbClr val="4B5563"/>
              </a:solidFill>
              <a:latin typeface="DM Sans Medium"/>
              <a:ea typeface="DM Sans Medium"/>
              <a:cs typeface="DM Sans Medium"/>
              <a:sym typeface="DM Sans Medium"/>
            </a:endParaRPr>
          </a:p>
        </p:txBody>
      </p:sp>
      <p:sp>
        <p:nvSpPr>
          <p:cNvPr id="60" name="Google Shape;293;p22"/>
          <p:cNvSpPr/>
          <p:nvPr/>
        </p:nvSpPr>
        <p:spPr>
          <a:xfrm>
            <a:off x="4730750" y="3489960"/>
            <a:ext cx="304165" cy="264795"/>
          </a:xfrm>
          <a:prstGeom prst="ellipse">
            <a:avLst/>
          </a:prstGeom>
          <a:solidFill>
            <a:srgbClr val="FF00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2" name="Google Shape;612;p32"/>
          <p:cNvSpPr/>
          <p:nvPr/>
        </p:nvSpPr>
        <p:spPr>
          <a:xfrm>
            <a:off x="4843780" y="3571240"/>
            <a:ext cx="76200" cy="97790"/>
          </a:xfrm>
          <a:custGeom>
            <a:avLst/>
            <a:gdLst/>
            <a:ahLst/>
            <a:cxnLst/>
            <a:rect l="l" t="t" r="r" b="b"/>
            <a:pathLst>
              <a:path w="120000" h="120000" extrusionOk="0">
                <a:moveTo>
                  <a:pt x="0" y="0"/>
                </a:moveTo>
                <a:lnTo>
                  <a:pt x="120000" y="120000"/>
                </a:lnTo>
                <a:moveTo>
                  <a:pt x="120000" y="0"/>
                </a:moveTo>
                <a:lnTo>
                  <a:pt x="0" y="120000"/>
                </a:lnTo>
              </a:path>
            </a:pathLst>
          </a:custGeom>
          <a:solidFill>
            <a:schemeClr val="bg1"/>
          </a:solidFill>
          <a:ln w="28575" cap="rnd" cmpd="sng">
            <a:solidFill>
              <a:schemeClr val="bg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347"/>
        <p:cNvGrpSpPr/>
        <p:nvPr/>
      </p:nvGrpSpPr>
      <p:grpSpPr>
        <a:xfrm>
          <a:off x="0" y="0"/>
          <a:ext cx="0" cy="0"/>
          <a:chOff x="0" y="0"/>
          <a:chExt cx="0" cy="0"/>
        </a:xfrm>
      </p:grpSpPr>
      <p:grpSp>
        <p:nvGrpSpPr>
          <p:cNvPr id="348" name="Google Shape;348;p24"/>
          <p:cNvGrpSpPr/>
          <p:nvPr/>
        </p:nvGrpSpPr>
        <p:grpSpPr>
          <a:xfrm>
            <a:off x="-571500" y="0"/>
            <a:ext cx="9810750" cy="5905500"/>
            <a:chOff x="-571500" y="0"/>
            <a:chExt cx="9810750" cy="5905500"/>
          </a:xfrm>
        </p:grpSpPr>
        <p:sp>
          <p:nvSpPr>
            <p:cNvPr id="349" name="Google Shape;349;p24"/>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50" name="Google Shape;350;p24"/>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351" name="Google Shape;351;p24"/>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352" name="Google Shape;352;p24"/>
            <p:cNvSpPr/>
            <p:nvPr/>
          </p:nvSpPr>
          <p:spPr>
            <a:xfrm>
              <a:off x="6953250" y="0"/>
              <a:ext cx="2286000" cy="2286000"/>
            </a:xfrm>
            <a:prstGeom prst="ellipse">
              <a:avLst/>
            </a:prstGeom>
            <a:solidFill>
              <a:srgbClr val="FFC300">
                <a:alpha val="1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53" name="Google Shape;353;p24"/>
            <p:cNvSpPr/>
            <p:nvPr/>
          </p:nvSpPr>
          <p:spPr>
            <a:xfrm>
              <a:off x="-571500" y="2857500"/>
              <a:ext cx="3048000" cy="3048000"/>
            </a:xfrm>
            <a:prstGeom prst="ellipse">
              <a:avLst/>
            </a:prstGeom>
            <a:solidFill>
              <a:srgbClr val="FF5733">
                <a:alpha val="7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54" name="Google Shape;354;p24"/>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355" name="Google Shape;355;p24"/>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800" b="1" i="0" u="none" strike="noStrike">
                <a:solidFill>
                  <a:srgbClr val="FF5733"/>
                </a:solidFill>
                <a:latin typeface="Poppins" panose="00000800000000000000"/>
                <a:ea typeface="Poppins" panose="00000800000000000000"/>
                <a:cs typeface="Poppins" panose="00000800000000000000"/>
                <a:sym typeface="Poppins" panose="00000800000000000000"/>
              </a:rPr>
              <a:t>RESUME STRATEGY</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114300" indent="0" eaLnBrk="1" fontAlgn="auto" latinLnBrk="0" hangingPunct="1">
              <a:spcBef>
                <a:spcPts val="600"/>
              </a:spcBef>
              <a:spcAft>
                <a:spcPts val="600"/>
              </a:spcAft>
              <a:buNone/>
            </a:pPr>
            <a:r>
              <a:rPr lang="en-US" altLang="en-US" sz="2700">
                <a:sym typeface="+mn-ea"/>
              </a:rPr>
              <a:t>Common Resume Mistakes</a:t>
            </a:r>
            <a:endParaRPr sz="180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cxnSp>
        <p:nvCxnSpPr>
          <p:cNvPr id="93" name="Google Shape;93;p15"/>
          <p:cNvCxnSpPr/>
          <p:nvPr/>
        </p:nvCxnSpPr>
        <p:spPr>
          <a:xfrm>
            <a:off x="311785" y="1333500"/>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
        <p:nvSpPr>
          <p:cNvPr id="4" name="Text Placeholder 3"/>
          <p:cNvSpPr>
            <a:spLocks noGrp="1"/>
          </p:cNvSpPr>
          <p:nvPr>
            <p:ph type="body" idx="1"/>
          </p:nvPr>
        </p:nvSpPr>
        <p:spPr>
          <a:xfrm>
            <a:off x="311785" y="1638299"/>
            <a:ext cx="8520430" cy="3124201"/>
          </a:xfrm>
        </p:spPr>
        <p:txBody>
          <a:bodyPr>
            <a:normAutofit fontScale="87500" lnSpcReduction="20000"/>
          </a:bodyPr>
          <a:lstStyle/>
          <a:p>
            <a:pPr marL="114300" indent="0" eaLnBrk="1" fontAlgn="auto" latinLnBrk="0" hangingPunct="1">
              <a:spcBef>
                <a:spcPts val="1200"/>
              </a:spcBef>
              <a:spcAft>
                <a:spcPts val="1200"/>
              </a:spcAft>
              <a:buNone/>
            </a:pPr>
            <a:r>
              <a:rPr lang="en-US" altLang="en-US" sz="3200" dirty="0"/>
              <a:t>❌ Too many personal details</a:t>
            </a:r>
          </a:p>
          <a:p>
            <a:pPr marL="114300" indent="0" eaLnBrk="1" fontAlgn="auto" latinLnBrk="0" hangingPunct="1">
              <a:spcBef>
                <a:spcPts val="1200"/>
              </a:spcBef>
              <a:spcAft>
                <a:spcPts val="1200"/>
              </a:spcAft>
              <a:buNone/>
            </a:pPr>
            <a:r>
              <a:rPr lang="en-US" altLang="en-US" sz="3200" dirty="0"/>
              <a:t>❌ Complex design</a:t>
            </a:r>
          </a:p>
          <a:p>
            <a:pPr marL="114300" indent="0" eaLnBrk="1" fontAlgn="auto" latinLnBrk="0" hangingPunct="1">
              <a:spcBef>
                <a:spcPts val="1200"/>
              </a:spcBef>
              <a:spcAft>
                <a:spcPts val="1200"/>
              </a:spcAft>
              <a:buNone/>
            </a:pPr>
            <a:r>
              <a:rPr lang="en-US" altLang="en-US" sz="3200" dirty="0"/>
              <a:t>❌ Too many acronyms</a:t>
            </a:r>
          </a:p>
          <a:p>
            <a:pPr marL="114300" indent="0" eaLnBrk="1" fontAlgn="auto" latinLnBrk="0" hangingPunct="1">
              <a:spcBef>
                <a:spcPts val="1200"/>
              </a:spcBef>
              <a:spcAft>
                <a:spcPts val="1200"/>
              </a:spcAft>
              <a:buNone/>
            </a:pPr>
            <a:r>
              <a:rPr lang="en-US" altLang="en-US" sz="3200" dirty="0"/>
              <a:t>❌ Fake technologies</a:t>
            </a:r>
          </a:p>
          <a:p>
            <a:pPr marL="114300" indent="0" eaLnBrk="1" fontAlgn="auto" latinLnBrk="0" hangingPunct="1">
              <a:spcBef>
                <a:spcPts val="1200"/>
              </a:spcBef>
              <a:spcAft>
                <a:spcPts val="1200"/>
              </a:spcAft>
              <a:buNone/>
            </a:pPr>
            <a:r>
              <a:rPr lang="en-US" altLang="en-US" sz="3200" dirty="0"/>
              <a:t>❌ Mentioning tools without knowledge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grpSp>
        <p:nvGrpSpPr>
          <p:cNvPr id="379" name="Google Shape;379;p25"/>
          <p:cNvGrpSpPr/>
          <p:nvPr/>
        </p:nvGrpSpPr>
        <p:grpSpPr>
          <a:xfrm>
            <a:off x="0" y="0"/>
            <a:ext cx="9144150" cy="5143650"/>
            <a:chOff x="0" y="0"/>
            <a:chExt cx="9144150" cy="5143650"/>
          </a:xfrm>
        </p:grpSpPr>
        <p:sp>
          <p:nvSpPr>
            <p:cNvPr id="380" name="Google Shape;380;p25"/>
            <p:cNvSpPr/>
            <p:nvPr/>
          </p:nvSpPr>
          <p:spPr>
            <a:xfrm>
              <a:off x="0" y="0"/>
              <a:ext cx="9144000" cy="5143500"/>
            </a:xfrm>
            <a:prstGeom prst="rect">
              <a:avLst/>
            </a:prstGeom>
            <a:solidFill>
              <a:srgbClr val="F8F9F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381" name="Google Shape;381;p25"/>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382" name="Google Shape;382;p25"/>
            <p:cNvSpPr/>
            <p:nvPr/>
          </p:nvSpPr>
          <p:spPr>
            <a:xfrm>
              <a:off x="0" y="0"/>
              <a:ext cx="9144000" cy="76200"/>
            </a:xfrm>
            <a:prstGeom prst="rect">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83" name="Google Shape;383;p25"/>
            <p:cNvSpPr/>
            <p:nvPr/>
          </p:nvSpPr>
          <p:spPr>
            <a:xfrm>
              <a:off x="8667750" y="4667250"/>
              <a:ext cx="476400" cy="476400"/>
            </a:xfrm>
            <a:custGeom>
              <a:avLst/>
              <a:gdLst/>
              <a:ahLst/>
              <a:cxnLst/>
              <a:rect l="l" t="t" r="r" b="b"/>
              <a:pathLst>
                <a:path w="120000" h="120000" extrusionOk="0">
                  <a:moveTo>
                    <a:pt x="120000" y="120000"/>
                  </a:moveTo>
                  <a:lnTo>
                    <a:pt x="120000" y="0"/>
                  </a:lnTo>
                  <a:lnTo>
                    <a:pt x="0" y="120000"/>
                  </a:lnTo>
                  <a:close/>
                </a:path>
              </a:pathLst>
            </a:custGeom>
            <a:solidFill>
              <a:srgbClr val="FFC300">
                <a:alpha val="6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384" name="Google Shape;384;p25"/>
          <p:cNvSpPr txBox="1"/>
          <p:nvPr/>
        </p:nvSpPr>
        <p:spPr>
          <a:xfrm>
            <a:off x="571500" y="381000"/>
            <a:ext cx="8001000" cy="952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GB" sz="1530" b="1" i="0" u="none" strike="noStrike">
                <a:solidFill>
                  <a:srgbClr val="FF5733"/>
                </a:solidFill>
                <a:latin typeface="Poppins" panose="00000800000000000000"/>
                <a:ea typeface="Poppins" panose="00000800000000000000"/>
                <a:cs typeface="Poppins" panose="00000800000000000000"/>
                <a:sym typeface="Poppins" panose="00000800000000000000"/>
              </a:rPr>
              <a:t>PROACTIVE INTERVIEW STRATEGY</a:t>
            </a:r>
            <a:endParaRPr sz="1530" b="1" i="0" u="none" strike="noStrike">
              <a:solidFill>
                <a:srgbClr val="FF5733"/>
              </a:solidFill>
              <a:latin typeface="Poppins" panose="00000800000000000000"/>
              <a:ea typeface="Poppins" panose="00000800000000000000"/>
              <a:cs typeface="Poppins" panose="00000800000000000000"/>
              <a:sym typeface="Poppins" panose="00000800000000000000"/>
            </a:endParaRPr>
          </a:p>
          <a:p>
            <a:pPr marL="0" lvl="0" indent="0" algn="l" rtl="0">
              <a:spcBef>
                <a:spcPts val="300"/>
              </a:spcBef>
              <a:spcAft>
                <a:spcPts val="0"/>
              </a:spcAft>
              <a:buNone/>
            </a:pPr>
            <a:r>
              <a:rPr lang="en-GB" sz="2295" b="0" i="0" u="none" strike="noStrike">
                <a:solidFill>
                  <a:srgbClr val="0B132B"/>
                </a:solidFill>
                <a:latin typeface="Poppins SemiBold"/>
                <a:ea typeface="Poppins SemiBold"/>
                <a:cs typeface="Poppins SemiBold"/>
                <a:sym typeface="Poppins SemiBold"/>
              </a:rPr>
              <a:t>Steering the Conversation: Drive Your Own Interview</a:t>
            </a:r>
            <a:endParaRPr sz="1530" b="1" i="0" u="none" strike="noStrike">
              <a:solidFill>
                <a:srgbClr val="FF5733"/>
              </a:solidFill>
              <a:latin typeface="Poppins" panose="00000800000000000000"/>
              <a:ea typeface="Poppins" panose="00000800000000000000"/>
              <a:cs typeface="Poppins" panose="00000800000000000000"/>
              <a:sym typeface="Poppins" panose="00000800000000000000"/>
            </a:endParaRPr>
          </a:p>
        </p:txBody>
      </p:sp>
      <p:grpSp>
        <p:nvGrpSpPr>
          <p:cNvPr id="385" name="Google Shape;385;p25"/>
          <p:cNvGrpSpPr/>
          <p:nvPr/>
        </p:nvGrpSpPr>
        <p:grpSpPr>
          <a:xfrm>
            <a:off x="319088" y="1347788"/>
            <a:ext cx="8505900" cy="3457500"/>
            <a:chOff x="-252412" y="-176212"/>
            <a:chExt cx="8505900" cy="3457500"/>
          </a:xfrm>
        </p:grpSpPr>
        <p:grpSp>
          <p:nvGrpSpPr>
            <p:cNvPr id="386" name="Google Shape;386;p25"/>
            <p:cNvGrpSpPr/>
            <p:nvPr/>
          </p:nvGrpSpPr>
          <p:grpSpPr>
            <a:xfrm>
              <a:off x="-252412" y="-176212"/>
              <a:ext cx="8505900" cy="1362000"/>
              <a:chOff x="-252412" y="-176212"/>
              <a:chExt cx="8505900" cy="1362000"/>
            </a:xfrm>
          </p:grpSpPr>
          <p:pic>
            <p:nvPicPr>
              <p:cNvPr id="387" name="Google Shape;387;p25"/>
              <p:cNvPicPr preferRelativeResize="0"/>
              <p:nvPr/>
            </p:nvPicPr>
            <p:blipFill rotWithShape="1">
              <a:blip r:embed="rId4"/>
              <a:srcRect/>
              <a:stretch>
                <a:fillRect/>
              </a:stretch>
            </p:blipFill>
            <p:spPr>
              <a:xfrm>
                <a:off x="-252412" y="-176212"/>
                <a:ext cx="8505900" cy="1362000"/>
              </a:xfrm>
              <a:prstGeom prst="rect">
                <a:avLst/>
              </a:prstGeom>
              <a:noFill/>
              <a:ln>
                <a:noFill/>
              </a:ln>
            </p:spPr>
          </p:pic>
          <p:sp>
            <p:nvSpPr>
              <p:cNvPr id="388" name="Google Shape;388;p25"/>
              <p:cNvSpPr/>
              <p:nvPr/>
            </p:nvSpPr>
            <p:spPr>
              <a:xfrm>
                <a:off x="0" y="0"/>
                <a:ext cx="114300" cy="857400"/>
              </a:xfrm>
              <a:prstGeom prst="roundRect">
                <a:avLst>
                  <a:gd name="adj" fmla="val 50000"/>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389" name="Google Shape;389;p25"/>
              <p:cNvGrpSpPr/>
              <p:nvPr/>
            </p:nvGrpSpPr>
            <p:grpSpPr>
              <a:xfrm>
                <a:off x="304800" y="276225"/>
                <a:ext cx="304800" cy="304800"/>
                <a:chOff x="0" y="0"/>
                <a:chExt cx="304800" cy="304800"/>
              </a:xfrm>
            </p:grpSpPr>
            <p:sp>
              <p:nvSpPr>
                <p:cNvPr id="390" name="Google Shape;390;p25"/>
                <p:cNvSpPr/>
                <p:nvPr/>
              </p:nvSpPr>
              <p:spPr>
                <a:xfrm>
                  <a:off x="0" y="0"/>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91" name="Google Shape;391;p25"/>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392" name="Google Shape;392;p25"/>
              <p:cNvSpPr txBox="1"/>
              <p:nvPr/>
            </p:nvSpPr>
            <p:spPr>
              <a:xfrm>
                <a:off x="800100" y="0"/>
                <a:ext cx="6915300" cy="85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575" b="1">
                    <a:solidFill>
                      <a:srgbClr val="0B132B"/>
                    </a:solidFill>
                    <a:latin typeface="Inter" panose="02000503000000020004"/>
                    <a:ea typeface="Inter" panose="02000503000000020004"/>
                    <a:cs typeface="Inter" panose="02000503000000020004"/>
                    <a:sym typeface="Inter" panose="02000503000000020004"/>
                  </a:rPr>
                  <a:t>Anticipate questions</a:t>
                </a:r>
                <a:r>
                  <a:rPr lang="en-GB" sz="1425" b="0">
                    <a:solidFill>
                      <a:srgbClr val="4A5568"/>
                    </a:solidFill>
                    <a:latin typeface="Inter" panose="02000503000000020004"/>
                    <a:ea typeface="Inter" panose="02000503000000020004"/>
                    <a:cs typeface="Inter" panose="02000503000000020004"/>
                    <a:sym typeface="Inter" panose="02000503000000020004"/>
                  </a:rPr>
                  <a:t> based on your resume.</a:t>
                </a:r>
                <a:endParaRPr sz="1425" b="0">
                  <a:solidFill>
                    <a:srgbClr val="4A5568"/>
                  </a:solidFill>
                  <a:latin typeface="Inter" panose="02000503000000020004"/>
                  <a:ea typeface="Inter" panose="02000503000000020004"/>
                  <a:cs typeface="Inter" panose="02000503000000020004"/>
                  <a:sym typeface="Inter" panose="02000503000000020004"/>
                </a:endParaRPr>
              </a:p>
            </p:txBody>
          </p:sp>
        </p:grpSp>
        <p:grpSp>
          <p:nvGrpSpPr>
            <p:cNvPr id="393" name="Google Shape;393;p25"/>
            <p:cNvGrpSpPr/>
            <p:nvPr/>
          </p:nvGrpSpPr>
          <p:grpSpPr>
            <a:xfrm>
              <a:off x="-252412" y="871538"/>
              <a:ext cx="8505900" cy="1362000"/>
              <a:chOff x="-252412" y="-176212"/>
              <a:chExt cx="8505900" cy="1362000"/>
            </a:xfrm>
          </p:grpSpPr>
          <p:pic>
            <p:nvPicPr>
              <p:cNvPr id="394" name="Google Shape;394;p25"/>
              <p:cNvPicPr preferRelativeResize="0"/>
              <p:nvPr/>
            </p:nvPicPr>
            <p:blipFill rotWithShape="1">
              <a:blip r:embed="rId4"/>
              <a:srcRect/>
              <a:stretch>
                <a:fillRect/>
              </a:stretch>
            </p:blipFill>
            <p:spPr>
              <a:xfrm>
                <a:off x="-252412" y="-176212"/>
                <a:ext cx="8505900" cy="1362000"/>
              </a:xfrm>
              <a:prstGeom prst="rect">
                <a:avLst/>
              </a:prstGeom>
              <a:noFill/>
              <a:ln>
                <a:noFill/>
              </a:ln>
            </p:spPr>
          </p:pic>
          <p:sp>
            <p:nvSpPr>
              <p:cNvPr id="395" name="Google Shape;395;p25"/>
              <p:cNvSpPr/>
              <p:nvPr/>
            </p:nvSpPr>
            <p:spPr>
              <a:xfrm>
                <a:off x="0" y="0"/>
                <a:ext cx="114300" cy="8574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396" name="Google Shape;396;p25"/>
              <p:cNvGrpSpPr/>
              <p:nvPr/>
            </p:nvGrpSpPr>
            <p:grpSpPr>
              <a:xfrm>
                <a:off x="304800" y="276225"/>
                <a:ext cx="304800" cy="304800"/>
                <a:chOff x="0" y="0"/>
                <a:chExt cx="304800" cy="304800"/>
              </a:xfrm>
            </p:grpSpPr>
            <p:sp>
              <p:nvSpPr>
                <p:cNvPr id="397" name="Google Shape;397;p25"/>
                <p:cNvSpPr/>
                <p:nvPr/>
              </p:nvSpPr>
              <p:spPr>
                <a:xfrm>
                  <a:off x="0" y="0"/>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98" name="Google Shape;398;p25"/>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399" name="Google Shape;399;p25"/>
              <p:cNvSpPr txBox="1"/>
              <p:nvPr/>
            </p:nvSpPr>
            <p:spPr>
              <a:xfrm>
                <a:off x="800100" y="0"/>
                <a:ext cx="6915300" cy="85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575" b="1" dirty="0">
                    <a:solidFill>
                      <a:srgbClr val="0B132B"/>
                    </a:solidFill>
                    <a:latin typeface="Inter" panose="02000503000000020004"/>
                    <a:ea typeface="Inter" panose="02000503000000020004"/>
                    <a:cs typeface="Inter" panose="02000503000000020004"/>
                    <a:sym typeface="Inter" panose="02000503000000020004"/>
                  </a:rPr>
                  <a:t>Pivot answers</a:t>
                </a:r>
                <a:r>
                  <a:rPr lang="en-GB" sz="1425" b="0" dirty="0">
                    <a:solidFill>
                      <a:srgbClr val="4A5568"/>
                    </a:solidFill>
                    <a:latin typeface="Inter" panose="02000503000000020004"/>
                    <a:ea typeface="Inter" panose="02000503000000020004"/>
                    <a:cs typeface="Inter" panose="02000503000000020004"/>
                    <a:sym typeface="Inter" panose="02000503000000020004"/>
                  </a:rPr>
                  <a:t> to highlight your strongest skills.</a:t>
                </a:r>
                <a:endParaRPr sz="1425" b="0" dirty="0">
                  <a:solidFill>
                    <a:srgbClr val="4A5568"/>
                  </a:solidFill>
                  <a:latin typeface="Inter" panose="02000503000000020004"/>
                  <a:ea typeface="Inter" panose="02000503000000020004"/>
                  <a:cs typeface="Inter" panose="02000503000000020004"/>
                  <a:sym typeface="Inter" panose="02000503000000020004"/>
                </a:endParaRPr>
              </a:p>
            </p:txBody>
          </p:sp>
        </p:grpSp>
        <p:grpSp>
          <p:nvGrpSpPr>
            <p:cNvPr id="400" name="Google Shape;400;p25"/>
            <p:cNvGrpSpPr/>
            <p:nvPr/>
          </p:nvGrpSpPr>
          <p:grpSpPr>
            <a:xfrm>
              <a:off x="-252412" y="1919288"/>
              <a:ext cx="8505900" cy="1362000"/>
              <a:chOff x="-252412" y="-176212"/>
              <a:chExt cx="8505900" cy="1362000"/>
            </a:xfrm>
          </p:grpSpPr>
          <p:pic>
            <p:nvPicPr>
              <p:cNvPr id="401" name="Google Shape;401;p25"/>
              <p:cNvPicPr preferRelativeResize="0"/>
              <p:nvPr/>
            </p:nvPicPr>
            <p:blipFill rotWithShape="1">
              <a:blip r:embed="rId4"/>
              <a:srcRect/>
              <a:stretch>
                <a:fillRect/>
              </a:stretch>
            </p:blipFill>
            <p:spPr>
              <a:xfrm>
                <a:off x="-252412" y="-176212"/>
                <a:ext cx="8505900" cy="1362000"/>
              </a:xfrm>
              <a:prstGeom prst="rect">
                <a:avLst/>
              </a:prstGeom>
              <a:noFill/>
              <a:ln>
                <a:noFill/>
              </a:ln>
            </p:spPr>
          </p:pic>
          <p:sp>
            <p:nvSpPr>
              <p:cNvPr id="402" name="Google Shape;402;p25"/>
              <p:cNvSpPr/>
              <p:nvPr/>
            </p:nvSpPr>
            <p:spPr>
              <a:xfrm>
                <a:off x="0" y="0"/>
                <a:ext cx="114300" cy="857400"/>
              </a:xfrm>
              <a:prstGeom prst="roundRect">
                <a:avLst>
                  <a:gd name="adj" fmla="val 50000"/>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403" name="Google Shape;403;p25"/>
              <p:cNvGrpSpPr/>
              <p:nvPr/>
            </p:nvGrpSpPr>
            <p:grpSpPr>
              <a:xfrm>
                <a:off x="304800" y="276225"/>
                <a:ext cx="304800" cy="304800"/>
                <a:chOff x="0" y="0"/>
                <a:chExt cx="304800" cy="304800"/>
              </a:xfrm>
            </p:grpSpPr>
            <p:sp>
              <p:nvSpPr>
                <p:cNvPr id="404" name="Google Shape;404;p25"/>
                <p:cNvSpPr/>
                <p:nvPr/>
              </p:nvSpPr>
              <p:spPr>
                <a:xfrm>
                  <a:off x="0" y="0"/>
                  <a:ext cx="304800" cy="304800"/>
                </a:xfrm>
                <a:prstGeom prst="ellipse">
                  <a:avLst/>
                </a:prstGeom>
                <a:solidFill>
                  <a:srgbClr val="00B05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05" name="Google Shape;405;p25"/>
                <p:cNvSpPr/>
                <p:nvPr/>
              </p:nvSpPr>
              <p:spPr>
                <a:xfrm>
                  <a:off x="95250" y="114300"/>
                  <a:ext cx="114300" cy="76200"/>
                </a:xfrm>
                <a:custGeom>
                  <a:avLst/>
                  <a:gdLst/>
                  <a:ahLst/>
                  <a:cxnLst/>
                  <a:rect l="l" t="t" r="r" b="b"/>
                  <a:pathLst>
                    <a:path w="120000" h="120000" extrusionOk="0">
                      <a:moveTo>
                        <a:pt x="0" y="60000"/>
                      </a:moveTo>
                      <a:lnTo>
                        <a:pt x="40000"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406" name="Google Shape;406;p25"/>
              <p:cNvSpPr txBox="1"/>
              <p:nvPr/>
            </p:nvSpPr>
            <p:spPr>
              <a:xfrm>
                <a:off x="800100" y="0"/>
                <a:ext cx="6915300" cy="85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1575" b="1">
                    <a:solidFill>
                      <a:srgbClr val="0B132B"/>
                    </a:solidFill>
                    <a:latin typeface="Inter" panose="02000503000000020004"/>
                    <a:ea typeface="Inter" panose="02000503000000020004"/>
                    <a:cs typeface="Inter" panose="02000503000000020004"/>
                    <a:sym typeface="Inter" panose="02000503000000020004"/>
                  </a:rPr>
                  <a:t>Guide the interviewer</a:t>
                </a:r>
                <a:r>
                  <a:rPr lang="en-GB" sz="1425" b="0">
                    <a:solidFill>
                      <a:srgbClr val="4A5568"/>
                    </a:solidFill>
                    <a:latin typeface="Inter" panose="02000503000000020004"/>
                    <a:ea typeface="Inter" panose="02000503000000020004"/>
                    <a:cs typeface="Inter" panose="02000503000000020004"/>
                    <a:sym typeface="Inter" panose="02000503000000020004"/>
                  </a:rPr>
                  <a:t> toward your areas of expertise.</a:t>
                </a:r>
                <a:endParaRPr sz="1425" b="0">
                  <a:solidFill>
                    <a:srgbClr val="4A5568"/>
                  </a:solidFill>
                  <a:latin typeface="Inter" panose="02000503000000020004"/>
                  <a:ea typeface="Inter" panose="02000503000000020004"/>
                  <a:cs typeface="Inter" panose="02000503000000020004"/>
                  <a:sym typeface="Inter" panose="02000503000000020004"/>
                </a:endParaRPr>
              </a:p>
            </p:txBody>
          </p:sp>
        </p:grpSp>
      </p:grpSp>
      <p:cxnSp>
        <p:nvCxnSpPr>
          <p:cNvPr id="93" name="Google Shape;93;p15"/>
          <p:cNvCxnSpPr/>
          <p:nvPr/>
        </p:nvCxnSpPr>
        <p:spPr>
          <a:xfrm>
            <a:off x="285750" y="1209675"/>
            <a:ext cx="8382000" cy="0"/>
          </a:xfrm>
          <a:prstGeom prst="straightConnector1">
            <a:avLst/>
          </a:prstGeom>
          <a:solidFill>
            <a:srgbClr val="FFFFFF"/>
          </a:solidFill>
          <a:ln w="38100" cap="flat" cmpd="sng">
            <a:solidFill>
              <a:srgbClr val="111827"/>
            </a:solidFill>
            <a:prstDash val="solid"/>
            <a:round/>
            <a:headEnd type="none" w="sm" len="sm"/>
            <a:tailEnd type="none" w="sm" len="sm"/>
          </a:ln>
        </p:spPr>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grpSp>
        <p:nvGrpSpPr>
          <p:cNvPr id="698" name="Google Shape;698;p35"/>
          <p:cNvGrpSpPr/>
          <p:nvPr/>
        </p:nvGrpSpPr>
        <p:grpSpPr>
          <a:xfrm>
            <a:off x="0" y="0"/>
            <a:ext cx="9144000" cy="5143650"/>
            <a:chOff x="0" y="0"/>
            <a:chExt cx="9144000" cy="5143650"/>
          </a:xfrm>
        </p:grpSpPr>
        <p:sp>
          <p:nvSpPr>
            <p:cNvPr id="699" name="Google Shape;699;p35"/>
            <p:cNvSpPr/>
            <p:nvPr/>
          </p:nvSpPr>
          <p:spPr>
            <a:xfrm>
              <a:off x="0" y="0"/>
              <a:ext cx="9144000" cy="5143500"/>
            </a:xfrm>
            <a:prstGeom prst="rect">
              <a:avLst/>
            </a:prstGeom>
            <a:solidFill>
              <a:srgbClr val="0B132B"/>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700" name="Google Shape;700;p35"/>
            <p:cNvPicPr preferRelativeResize="0"/>
            <p:nvPr/>
          </p:nvPicPr>
          <p:blipFill rotWithShape="1">
            <a:blip r:embed="rId3"/>
            <a:srcRect/>
            <a:stretch>
              <a:fillRect/>
            </a:stretch>
          </p:blipFill>
          <p:spPr>
            <a:xfrm>
              <a:off x="4763" y="4763"/>
              <a:ext cx="8982000" cy="4981500"/>
            </a:xfrm>
            <a:prstGeom prst="rect">
              <a:avLst/>
            </a:prstGeom>
            <a:noFill/>
            <a:ln>
              <a:noFill/>
            </a:ln>
          </p:spPr>
        </p:pic>
        <p:sp>
          <p:nvSpPr>
            <p:cNvPr id="701" name="Google Shape;701;p35"/>
            <p:cNvSpPr/>
            <p:nvPr/>
          </p:nvSpPr>
          <p:spPr>
            <a:xfrm>
              <a:off x="7239000" y="0"/>
              <a:ext cx="1905000" cy="1905000"/>
            </a:xfrm>
            <a:custGeom>
              <a:avLst/>
              <a:gdLst/>
              <a:ahLst/>
              <a:cxnLst/>
              <a:rect l="l" t="t" r="r" b="b"/>
              <a:pathLst>
                <a:path w="120000" h="120000" extrusionOk="0">
                  <a:moveTo>
                    <a:pt x="120000" y="0"/>
                  </a:moveTo>
                  <a:lnTo>
                    <a:pt x="120000" y="120000"/>
                  </a:lnTo>
                  <a:cubicBezTo>
                    <a:pt x="120000" y="53726"/>
                    <a:pt x="66274" y="0"/>
                    <a:pt x="0" y="0"/>
                  </a:cubicBezTo>
                  <a:close/>
                </a:path>
              </a:pathLst>
            </a:custGeom>
            <a:solidFill>
              <a:srgbClr val="FFC300">
                <a:alpha val="8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02" name="Google Shape;702;p35"/>
            <p:cNvSpPr/>
            <p:nvPr/>
          </p:nvSpPr>
          <p:spPr>
            <a:xfrm>
              <a:off x="0" y="2762250"/>
              <a:ext cx="2381400" cy="2381400"/>
            </a:xfrm>
            <a:custGeom>
              <a:avLst/>
              <a:gdLst/>
              <a:ahLst/>
              <a:cxnLst/>
              <a:rect l="l" t="t" r="r" b="b"/>
              <a:pathLst>
                <a:path w="120000" h="120000" extrusionOk="0">
                  <a:moveTo>
                    <a:pt x="0" y="120000"/>
                  </a:moveTo>
                  <a:lnTo>
                    <a:pt x="120000" y="120000"/>
                  </a:lnTo>
                  <a:lnTo>
                    <a:pt x="0" y="0"/>
                  </a:lnTo>
                  <a:close/>
                </a:path>
              </a:pathLst>
            </a:custGeom>
            <a:solidFill>
              <a:srgbClr val="2D68FE">
                <a:alpha val="89999"/>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sp>
        <p:nvSpPr>
          <p:cNvPr id="703" name="Google Shape;703;p35"/>
          <p:cNvSpPr txBox="1"/>
          <p:nvPr/>
        </p:nvSpPr>
        <p:spPr>
          <a:xfrm>
            <a:off x="571500" y="428625"/>
            <a:ext cx="8001000" cy="666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2700" b="0">
                <a:solidFill>
                  <a:srgbClr val="FFFFFF"/>
                </a:solidFill>
                <a:latin typeface="Poppins ExtraBold"/>
                <a:ea typeface="Poppins ExtraBold"/>
                <a:cs typeface="Poppins ExtraBold"/>
                <a:sym typeface="Poppins ExtraBold"/>
              </a:rPr>
              <a:t>Final Takeaways, Q&amp;A, and Next Steps</a:t>
            </a:r>
            <a:endParaRPr sz="2700" b="0">
              <a:solidFill>
                <a:srgbClr val="FFFFFF"/>
              </a:solidFill>
              <a:latin typeface="Poppins ExtraBold"/>
              <a:ea typeface="Poppins ExtraBold"/>
              <a:cs typeface="Poppins ExtraBold"/>
              <a:sym typeface="Poppins ExtraBold"/>
            </a:endParaRPr>
          </a:p>
        </p:txBody>
      </p:sp>
      <p:grpSp>
        <p:nvGrpSpPr>
          <p:cNvPr id="704" name="Google Shape;704;p35"/>
          <p:cNvGrpSpPr/>
          <p:nvPr/>
        </p:nvGrpSpPr>
        <p:grpSpPr>
          <a:xfrm>
            <a:off x="752475" y="1228725"/>
            <a:ext cx="8015363" cy="3729113"/>
            <a:chOff x="752475" y="1228725"/>
            <a:chExt cx="8015363" cy="3729113"/>
          </a:xfrm>
        </p:grpSpPr>
        <p:pic>
          <p:nvPicPr>
            <p:cNvPr id="705" name="Google Shape;705;p35"/>
            <p:cNvPicPr preferRelativeResize="0"/>
            <p:nvPr/>
          </p:nvPicPr>
          <p:blipFill rotWithShape="1">
            <a:blip r:embed="rId4"/>
            <a:srcRect/>
            <a:stretch>
              <a:fillRect/>
            </a:stretch>
          </p:blipFill>
          <p:spPr>
            <a:xfrm>
              <a:off x="752475" y="1228725"/>
              <a:ext cx="7639200" cy="3352800"/>
            </a:xfrm>
            <a:prstGeom prst="rect">
              <a:avLst/>
            </a:prstGeom>
            <a:noFill/>
            <a:ln>
              <a:noFill/>
            </a:ln>
          </p:spPr>
        </p:pic>
        <p:sp>
          <p:nvSpPr>
            <p:cNvPr id="706" name="Google Shape;706;p35"/>
            <p:cNvSpPr/>
            <p:nvPr/>
          </p:nvSpPr>
          <p:spPr>
            <a:xfrm>
              <a:off x="1047750" y="1428750"/>
              <a:ext cx="733590" cy="628650"/>
            </a:xfrm>
            <a:custGeom>
              <a:avLst/>
              <a:gdLst/>
              <a:ahLst/>
              <a:cxnLst/>
              <a:rect l="l" t="t" r="r" b="b"/>
              <a:pathLst>
                <a:path w="120000" h="120000" extrusionOk="0">
                  <a:moveTo>
                    <a:pt x="0" y="40000"/>
                  </a:moveTo>
                  <a:quadBezTo>
                    <a:pt x="17143" y="0"/>
                    <a:pt x="51429" y="0"/>
                  </a:quadBezTo>
                  <a:lnTo>
                    <a:pt x="51429" y="40000"/>
                  </a:lnTo>
                  <a:quadBezTo>
                    <a:pt x="34286" y="40000"/>
                    <a:pt x="34286" y="60000"/>
                  </a:quadBezTo>
                  <a:lnTo>
                    <a:pt x="51429" y="60000"/>
                  </a:lnTo>
                  <a:lnTo>
                    <a:pt x="51429" y="120000"/>
                  </a:lnTo>
                  <a:lnTo>
                    <a:pt x="0" y="120000"/>
                  </a:lnTo>
                  <a:close/>
                  <a:moveTo>
                    <a:pt x="68571" y="40000"/>
                  </a:moveTo>
                  <a:quadBezTo>
                    <a:pt x="85714" y="0"/>
                    <a:pt x="120000" y="0"/>
                  </a:quadBezTo>
                  <a:lnTo>
                    <a:pt x="120000" y="40000"/>
                  </a:lnTo>
                  <a:quadBezTo>
                    <a:pt x="102857" y="40000"/>
                    <a:pt x="102857" y="60000"/>
                  </a:quadBezTo>
                  <a:lnTo>
                    <a:pt x="120000" y="60000"/>
                  </a:lnTo>
                  <a:lnTo>
                    <a:pt x="120000" y="120000"/>
                  </a:lnTo>
                  <a:lnTo>
                    <a:pt x="68571" y="120000"/>
                  </a:lnTo>
                  <a:close/>
                </a:path>
              </a:pathLst>
            </a:custGeom>
            <a:solidFill>
              <a:srgbClr val="FFC300">
                <a:alpha val="25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07" name="Google Shape;707;p35"/>
            <p:cNvSpPr txBox="1"/>
            <p:nvPr/>
          </p:nvSpPr>
          <p:spPr>
            <a:xfrm>
              <a:off x="1524000" y="1524000"/>
              <a:ext cx="6096000" cy="8097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GB" sz="1950" b="0" i="1">
                  <a:solidFill>
                    <a:srgbClr val="FFFFFF"/>
                  </a:solidFill>
                  <a:latin typeface="Poppins SemiBold"/>
                  <a:ea typeface="Poppins SemiBold"/>
                  <a:cs typeface="Poppins SemiBold"/>
                  <a:sym typeface="Poppins SemiBold"/>
                </a:rPr>
                <a:t>"Your resume is your roadmap; own it."</a:t>
              </a:r>
              <a:endParaRPr sz="1950" b="0" i="1">
                <a:solidFill>
                  <a:srgbClr val="FFFFFF"/>
                </a:solidFill>
                <a:latin typeface="Poppins SemiBold"/>
                <a:ea typeface="Poppins SemiBold"/>
                <a:cs typeface="Poppins SemiBold"/>
                <a:sym typeface="Poppins SemiBold"/>
              </a:endParaRPr>
            </a:p>
          </p:txBody>
        </p:sp>
        <p:sp>
          <p:nvSpPr>
            <p:cNvPr id="708" name="Google Shape;708;p35"/>
            <p:cNvSpPr/>
            <p:nvPr/>
          </p:nvSpPr>
          <p:spPr>
            <a:xfrm>
              <a:off x="1714500" y="2476500"/>
              <a:ext cx="5715000" cy="28500"/>
            </a:xfrm>
            <a:prstGeom prst="roundRect">
              <a:avLst>
                <a:gd name="adj" fmla="val 50000"/>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709" name="Google Shape;709;p35"/>
            <p:cNvGrpSpPr/>
            <p:nvPr/>
          </p:nvGrpSpPr>
          <p:grpSpPr>
            <a:xfrm>
              <a:off x="1047750" y="2809875"/>
              <a:ext cx="2190750" cy="1428900"/>
              <a:chOff x="0" y="0"/>
              <a:chExt cx="2190750" cy="1428900"/>
            </a:xfrm>
          </p:grpSpPr>
          <p:sp>
            <p:nvSpPr>
              <p:cNvPr id="710" name="Google Shape;710;p35"/>
              <p:cNvSpPr/>
              <p:nvPr/>
            </p:nvSpPr>
            <p:spPr>
              <a:xfrm>
                <a:off x="0" y="0"/>
                <a:ext cx="381000" cy="381000"/>
              </a:xfrm>
              <a:prstGeom prst="ellipse">
                <a:avLst/>
              </a:prstGeom>
              <a:solidFill>
                <a:srgbClr val="2D68FE"/>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11" name="Google Shape;711;p35"/>
              <p:cNvSpPr/>
              <p:nvPr/>
            </p:nvSpPr>
            <p:spPr>
              <a:xfrm>
                <a:off x="123825" y="142875"/>
                <a:ext cx="133500" cy="95400"/>
              </a:xfrm>
              <a:custGeom>
                <a:avLst/>
                <a:gdLst/>
                <a:ahLst/>
                <a:cxnLst/>
                <a:rect l="l" t="t" r="r" b="b"/>
                <a:pathLst>
                  <a:path w="120000" h="120000" extrusionOk="0">
                    <a:moveTo>
                      <a:pt x="0" y="60000"/>
                    </a:moveTo>
                    <a:lnTo>
                      <a:pt x="42857"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12" name="Google Shape;712;p35"/>
              <p:cNvSpPr txBox="1"/>
              <p:nvPr/>
            </p:nvSpPr>
            <p:spPr>
              <a:xfrm>
                <a:off x="476250" y="0"/>
                <a:ext cx="1714500" cy="1428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050" b="1">
                    <a:solidFill>
                      <a:srgbClr val="FFC300"/>
                    </a:solidFill>
                    <a:latin typeface="Poppins" panose="00000800000000000000"/>
                    <a:ea typeface="Poppins" panose="00000800000000000000"/>
                    <a:cs typeface="Poppins" panose="00000800000000000000"/>
                    <a:sym typeface="Poppins" panose="00000800000000000000"/>
                  </a:rPr>
                  <a:t>Takeaway 1</a:t>
                </a:r>
                <a:endParaRPr sz="1050" b="1">
                  <a:solidFill>
                    <a:srgbClr val="FFC300"/>
                  </a:solidFill>
                  <a:latin typeface="Poppins" panose="00000800000000000000"/>
                  <a:ea typeface="Poppins" panose="00000800000000000000"/>
                  <a:cs typeface="Poppins" panose="00000800000000000000"/>
                  <a:sym typeface="Poppins" panose="00000800000000000000"/>
                </a:endParaRPr>
              </a:p>
              <a:p>
                <a:pPr marL="0" lvl="0" indent="0" algn="l" rtl="0">
                  <a:spcBef>
                    <a:spcPts val="450"/>
                  </a:spcBef>
                  <a:spcAft>
                    <a:spcPts val="0"/>
                  </a:spcAft>
                  <a:buNone/>
                </a:pPr>
                <a:r>
                  <a:rPr lang="en-GB" sz="1125" b="0">
                    <a:solidFill>
                      <a:srgbClr val="F8F9FA"/>
                    </a:solidFill>
                    <a:latin typeface="Inter" panose="02000503000000020004"/>
                    <a:ea typeface="Inter" panose="02000503000000020004"/>
                    <a:cs typeface="Inter" panose="02000503000000020004"/>
                    <a:sym typeface="Inter" panose="02000503000000020004"/>
                  </a:rPr>
                  <a:t>Preparation builds confidence.</a:t>
                </a:r>
                <a:endParaRPr sz="1125" b="0">
                  <a:solidFill>
                    <a:srgbClr val="F8F9FA"/>
                  </a:solidFill>
                  <a:latin typeface="Inter" panose="02000503000000020004"/>
                  <a:ea typeface="Inter" panose="02000503000000020004"/>
                  <a:cs typeface="Inter" panose="02000503000000020004"/>
                  <a:sym typeface="Inter" panose="02000503000000020004"/>
                </a:endParaRPr>
              </a:p>
            </p:txBody>
          </p:sp>
        </p:grpSp>
        <p:grpSp>
          <p:nvGrpSpPr>
            <p:cNvPr id="713" name="Google Shape;713;p35"/>
            <p:cNvGrpSpPr/>
            <p:nvPr/>
          </p:nvGrpSpPr>
          <p:grpSpPr>
            <a:xfrm>
              <a:off x="3476625" y="2809875"/>
              <a:ext cx="2190750" cy="1428900"/>
              <a:chOff x="0" y="0"/>
              <a:chExt cx="2190750" cy="1428900"/>
            </a:xfrm>
          </p:grpSpPr>
          <p:sp>
            <p:nvSpPr>
              <p:cNvPr id="714" name="Google Shape;714;p35"/>
              <p:cNvSpPr/>
              <p:nvPr/>
            </p:nvSpPr>
            <p:spPr>
              <a:xfrm>
                <a:off x="0" y="0"/>
                <a:ext cx="381000" cy="381000"/>
              </a:xfrm>
              <a:prstGeom prst="ellipse">
                <a:avLst/>
              </a:prstGeom>
              <a:solidFill>
                <a:srgbClr val="FF5733"/>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15" name="Google Shape;715;p35"/>
              <p:cNvSpPr/>
              <p:nvPr/>
            </p:nvSpPr>
            <p:spPr>
              <a:xfrm>
                <a:off x="123825" y="142875"/>
                <a:ext cx="133500" cy="95400"/>
              </a:xfrm>
              <a:custGeom>
                <a:avLst/>
                <a:gdLst/>
                <a:ahLst/>
                <a:cxnLst/>
                <a:rect l="l" t="t" r="r" b="b"/>
                <a:pathLst>
                  <a:path w="120000" h="120000" extrusionOk="0">
                    <a:moveTo>
                      <a:pt x="0" y="60000"/>
                    </a:moveTo>
                    <a:lnTo>
                      <a:pt x="42857" y="120000"/>
                    </a:lnTo>
                    <a:lnTo>
                      <a:pt x="120000" y="0"/>
                    </a:lnTo>
                  </a:path>
                </a:pathLst>
              </a:custGeom>
              <a:solidFill>
                <a:srgbClr val="000000">
                  <a:alpha val="0"/>
                </a:srgbClr>
              </a:solidFill>
              <a:ln w="28575" cap="rnd" cmpd="sng">
                <a:solidFill>
                  <a:srgbClr val="FFFFFF"/>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16" name="Google Shape;716;p35"/>
              <p:cNvSpPr txBox="1"/>
              <p:nvPr/>
            </p:nvSpPr>
            <p:spPr>
              <a:xfrm>
                <a:off x="476250" y="0"/>
                <a:ext cx="1714500" cy="1428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050" b="1">
                    <a:solidFill>
                      <a:srgbClr val="FFC300"/>
                    </a:solidFill>
                    <a:latin typeface="Poppins" panose="00000800000000000000"/>
                    <a:ea typeface="Poppins" panose="00000800000000000000"/>
                    <a:cs typeface="Poppins" panose="00000800000000000000"/>
                    <a:sym typeface="Poppins" panose="00000800000000000000"/>
                  </a:rPr>
                  <a:t>Takeaway 2</a:t>
                </a:r>
                <a:endParaRPr sz="1050" b="1">
                  <a:solidFill>
                    <a:srgbClr val="FFC300"/>
                  </a:solidFill>
                  <a:latin typeface="Poppins" panose="00000800000000000000"/>
                  <a:ea typeface="Poppins" panose="00000800000000000000"/>
                  <a:cs typeface="Poppins" panose="00000800000000000000"/>
                  <a:sym typeface="Poppins" panose="00000800000000000000"/>
                </a:endParaRPr>
              </a:p>
              <a:p>
                <a:pPr marL="0" lvl="0" indent="0" algn="l" rtl="0">
                  <a:spcBef>
                    <a:spcPts val="450"/>
                  </a:spcBef>
                  <a:spcAft>
                    <a:spcPts val="0"/>
                  </a:spcAft>
                  <a:buNone/>
                </a:pPr>
                <a:r>
                  <a:rPr lang="en-GB" sz="1125" b="0">
                    <a:solidFill>
                      <a:srgbClr val="F8F9FA"/>
                    </a:solidFill>
                    <a:latin typeface="Inter" panose="02000503000000020004"/>
                    <a:ea typeface="Inter" panose="02000503000000020004"/>
                    <a:cs typeface="Inter" panose="02000503000000020004"/>
                    <a:sym typeface="Inter" panose="02000503000000020004"/>
                  </a:rPr>
                  <a:t>Practice consistently.</a:t>
                </a:r>
                <a:endParaRPr sz="1125" b="0">
                  <a:solidFill>
                    <a:srgbClr val="F8F9FA"/>
                  </a:solidFill>
                  <a:latin typeface="Inter" panose="02000503000000020004"/>
                  <a:ea typeface="Inter" panose="02000503000000020004"/>
                  <a:cs typeface="Inter" panose="02000503000000020004"/>
                  <a:sym typeface="Inter" panose="02000503000000020004"/>
                </a:endParaRPr>
              </a:p>
            </p:txBody>
          </p:sp>
        </p:grpSp>
        <p:grpSp>
          <p:nvGrpSpPr>
            <p:cNvPr id="717" name="Google Shape;717;p35"/>
            <p:cNvGrpSpPr/>
            <p:nvPr/>
          </p:nvGrpSpPr>
          <p:grpSpPr>
            <a:xfrm>
              <a:off x="5905500" y="2809875"/>
              <a:ext cx="2190750" cy="1428900"/>
              <a:chOff x="0" y="0"/>
              <a:chExt cx="2190750" cy="1428900"/>
            </a:xfrm>
          </p:grpSpPr>
          <p:sp>
            <p:nvSpPr>
              <p:cNvPr id="718" name="Google Shape;718;p35"/>
              <p:cNvSpPr/>
              <p:nvPr/>
            </p:nvSpPr>
            <p:spPr>
              <a:xfrm>
                <a:off x="0" y="0"/>
                <a:ext cx="381000" cy="381000"/>
              </a:xfrm>
              <a:prstGeom prst="ellipse">
                <a:avLst/>
              </a:prstGeom>
              <a:solidFill>
                <a:srgbClr val="FFC300"/>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719" name="Google Shape;719;p35"/>
              <p:cNvSpPr txBox="1"/>
              <p:nvPr/>
            </p:nvSpPr>
            <p:spPr>
              <a:xfrm>
                <a:off x="95250" y="47625"/>
                <a:ext cx="190500" cy="2859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GB" sz="1500" b="0">
                    <a:solidFill>
                      <a:srgbClr val="0B132B"/>
                    </a:solidFill>
                    <a:latin typeface="Poppins ExtraBold"/>
                    <a:ea typeface="Poppins ExtraBold"/>
                    <a:cs typeface="Poppins ExtraBold"/>
                    <a:sym typeface="Poppins ExtraBold"/>
                  </a:rPr>
                  <a:t>?</a:t>
                </a:r>
                <a:endParaRPr sz="1500" b="0">
                  <a:solidFill>
                    <a:srgbClr val="0B132B"/>
                  </a:solidFill>
                  <a:latin typeface="Poppins ExtraBold"/>
                  <a:ea typeface="Poppins ExtraBold"/>
                  <a:cs typeface="Poppins ExtraBold"/>
                  <a:sym typeface="Poppins ExtraBold"/>
                </a:endParaRPr>
              </a:p>
            </p:txBody>
          </p:sp>
          <p:sp>
            <p:nvSpPr>
              <p:cNvPr id="720" name="Google Shape;720;p35"/>
              <p:cNvSpPr txBox="1"/>
              <p:nvPr/>
            </p:nvSpPr>
            <p:spPr>
              <a:xfrm>
                <a:off x="476250" y="0"/>
                <a:ext cx="1714500" cy="14289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050" b="1">
                    <a:solidFill>
                      <a:srgbClr val="FFC300"/>
                    </a:solidFill>
                    <a:latin typeface="Poppins" panose="00000800000000000000"/>
                    <a:ea typeface="Poppins" panose="00000800000000000000"/>
                    <a:cs typeface="Poppins" panose="00000800000000000000"/>
                    <a:sym typeface="Poppins" panose="00000800000000000000"/>
                  </a:rPr>
                  <a:t>Next Step</a:t>
                </a:r>
                <a:endParaRPr sz="1050" b="1">
                  <a:solidFill>
                    <a:srgbClr val="FFC300"/>
                  </a:solidFill>
                  <a:latin typeface="Poppins" panose="00000800000000000000"/>
                  <a:ea typeface="Poppins" panose="00000800000000000000"/>
                  <a:cs typeface="Poppins" panose="00000800000000000000"/>
                  <a:sym typeface="Poppins" panose="00000800000000000000"/>
                </a:endParaRPr>
              </a:p>
              <a:p>
                <a:pPr marL="0" lvl="0" indent="0" algn="l" rtl="0">
                  <a:spcBef>
                    <a:spcPts val="450"/>
                  </a:spcBef>
                  <a:spcAft>
                    <a:spcPts val="0"/>
                  </a:spcAft>
                  <a:buNone/>
                </a:pPr>
                <a:r>
                  <a:rPr lang="en-GB" sz="1125" b="0">
                    <a:solidFill>
                      <a:srgbClr val="F8F9FA"/>
                    </a:solidFill>
                    <a:latin typeface="Inter" panose="02000503000000020004"/>
                    <a:ea typeface="Inter" panose="02000503000000020004"/>
                    <a:cs typeface="Inter" panose="02000503000000020004"/>
                    <a:sym typeface="Inter" panose="02000503000000020004"/>
                  </a:rPr>
                  <a:t>Open floor for Questions.</a:t>
                </a:r>
                <a:endParaRPr sz="1125" b="0">
                  <a:solidFill>
                    <a:srgbClr val="F8F9FA"/>
                  </a:solidFill>
                  <a:latin typeface="Inter" panose="02000503000000020004"/>
                  <a:ea typeface="Inter" panose="02000503000000020004"/>
                  <a:cs typeface="Inter" panose="02000503000000020004"/>
                  <a:sym typeface="Inter" panose="02000503000000020004"/>
                </a:endParaRPr>
              </a:p>
            </p:txBody>
          </p:sp>
        </p:grpSp>
        <p:pic>
          <p:nvPicPr>
            <p:cNvPr id="721" name="Google Shape;721;p35"/>
            <p:cNvPicPr preferRelativeResize="0"/>
            <p:nvPr/>
          </p:nvPicPr>
          <p:blipFill rotWithShape="1">
            <a:blip r:embed="rId5"/>
            <a:srcRect/>
            <a:stretch>
              <a:fillRect/>
            </a:stretch>
          </p:blipFill>
          <p:spPr>
            <a:xfrm>
              <a:off x="7038975" y="3228975"/>
              <a:ext cx="1352700" cy="1352700"/>
            </a:xfrm>
            <a:prstGeom prst="rect">
              <a:avLst/>
            </a:prstGeom>
            <a:noFill/>
            <a:ln>
              <a:noFill/>
            </a:ln>
          </p:spPr>
        </p:pic>
        <p:pic>
          <p:nvPicPr>
            <p:cNvPr id="722" name="Google Shape;722;p35"/>
            <p:cNvPicPr preferRelativeResize="0"/>
            <p:nvPr/>
          </p:nvPicPr>
          <p:blipFill rotWithShape="1">
            <a:blip r:embed="rId6"/>
            <a:srcRect/>
            <a:stretch>
              <a:fillRect/>
            </a:stretch>
          </p:blipFill>
          <p:spPr>
            <a:xfrm>
              <a:off x="6662738" y="2852738"/>
              <a:ext cx="2105100" cy="2105100"/>
            </a:xfrm>
            <a:prstGeom prst="rect">
              <a:avLst/>
            </a:prstGeom>
            <a:noFill/>
            <a:ln>
              <a:noFill/>
            </a:ln>
          </p:spPr>
        </p:pic>
      </p:gr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8313</TotalTime>
  <Words>2267</Words>
  <Application>Microsoft Office PowerPoint</Application>
  <PresentationFormat>On-screen Show (16:9)</PresentationFormat>
  <Paragraphs>419</Paragraphs>
  <Slides>34</Slides>
  <Notes>27</Notes>
  <HiddenSlides>2</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34</vt:i4>
      </vt:variant>
    </vt:vector>
  </HeadingPairs>
  <TitlesOfParts>
    <vt:vector size="46" baseType="lpstr">
      <vt:lpstr>Poppins SemiBold</vt:lpstr>
      <vt:lpstr>Wingdings</vt:lpstr>
      <vt:lpstr>Inter SemiBold</vt:lpstr>
      <vt:lpstr>Poppins</vt:lpstr>
      <vt:lpstr>DM Sans Medium</vt:lpstr>
      <vt:lpstr>Arial</vt:lpstr>
      <vt:lpstr>Inter</vt:lpstr>
      <vt:lpstr>Arial Bold</vt:lpstr>
      <vt:lpstr>Poppins ExtraBold</vt:lpstr>
      <vt:lpstr>Outfit</vt:lpstr>
      <vt:lpstr>DM Sans</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Brinda Dorairaj</cp:lastModifiedBy>
  <cp:revision>120</cp:revision>
  <dcterms:created xsi:type="dcterms:W3CDTF">2026-07-14T11:05:57Z</dcterms:created>
  <dcterms:modified xsi:type="dcterms:W3CDTF">2026-09-06T03:14:51Z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1033-12.1.26015.26015</vt:lpwstr>
  </property>
  <property fmtid="{D5CDD505-2E9C-101B-9397-08002B2CF9AE}" pid="3" name="ICV">
    <vt:lpwstr>FF9D48A7EA6D578457BA4C6A6DBA8B1F_42</vt:lpwstr>
  </property>
</Properties>
</file>