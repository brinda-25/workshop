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embeddedFontLst>
    <p:embeddedFont>
      <p:font typeface="Inter"/>
      <p:bold r:id="rId8"/>
      <p:boldItalic r:id="rId9"/>
    </p:embeddedFont>
    <p:embeddedFont>
      <p:font typeface="Inter ExtraBold"/>
      <p:bold r:id="rId10"/>
      <p:boldItalic r:id="rId1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InterExtraBold-boldItalic.fntdata"/><Relationship Id="rId10" Type="http://schemas.openxmlformats.org/officeDocument/2006/relationships/font" Target="fonts/InterExtraBold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Inter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font" Target="fonts/Inter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fa19c8d546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3fa19c8d546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fa19c8d546_0_9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fa19c8d546_0_9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fa19c8d546_11_0)">
  <p:cSld name="Generated (g3fa19c8d546_11_0)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5" name="Google Shape;3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" name="Google Shape;40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" name="Google Shape;4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4" name="Google Shape;4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5.jpg"/><Relationship Id="rId5" Type="http://schemas.openxmlformats.org/officeDocument/2006/relationships/image" Target="../media/image2.jpg"/><Relationship Id="rId6" Type="http://schemas.openxmlformats.org/officeDocument/2006/relationships/image" Target="../media/image3.jpg"/><Relationship Id="rId7" Type="http://schemas.openxmlformats.org/officeDocument/2006/relationships/image" Target="../media/image6.jpg"/><Relationship Id="rId8" Type="http://schemas.openxmlformats.org/officeDocument/2006/relationships/image" Target="../media/image4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/>
        </p:nvSpPr>
        <p:spPr>
          <a:xfrm>
            <a:off x="381000" y="381000"/>
            <a:ext cx="8382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Gourmet Grocery</a:t>
            </a:r>
            <a:endParaRPr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rgbClr val="1F2937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Fresh Fruit &amp; Vegetable Portal</a:t>
            </a:r>
            <a:endParaRPr b="0" sz="2400">
              <a:solidFill>
                <a:srgbClr val="1F2937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grpSp>
        <p:nvGrpSpPr>
          <p:cNvPr id="56" name="Google Shape;56;p14"/>
          <p:cNvGrpSpPr/>
          <p:nvPr/>
        </p:nvGrpSpPr>
        <p:grpSpPr>
          <a:xfrm>
            <a:off x="381000" y="1333500"/>
            <a:ext cx="1524000" cy="3048000"/>
            <a:chOff x="0" y="0"/>
            <a:chExt cx="1524000" cy="3048000"/>
          </a:xfrm>
        </p:grpSpPr>
        <p:sp>
          <p:nvSpPr>
            <p:cNvPr id="57" name="Google Shape;57;p14"/>
            <p:cNvSpPr/>
            <p:nvPr/>
          </p:nvSpPr>
          <p:spPr>
            <a:xfrm>
              <a:off x="0" y="0"/>
              <a:ext cx="1524000" cy="3048000"/>
            </a:xfrm>
            <a:prstGeom prst="roundRect">
              <a:avLst>
                <a:gd fmla="val 10000" name="adj"/>
              </a:avLst>
            </a:prstGeom>
            <a:solidFill>
              <a:srgbClr val="FFFFFF"/>
            </a:solidFill>
            <a:ln cap="flat" cmpd="sng" w="14300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A pristine, glossy red apple resting on a clean, bright white background, studio lighting, e-commerce product style." id="58" name="Google Shape;58;p14"/>
            <p:cNvPicPr preferRelativeResize="0"/>
            <p:nvPr/>
          </p:nvPicPr>
          <p:blipFill rotWithShape="1">
            <a:blip r:embed="rId4">
              <a:alphaModFix/>
            </a:blip>
            <a:srcRect b="0" l="8466" r="8457" t="0"/>
            <a:stretch/>
          </p:blipFill>
          <p:spPr>
            <a:xfrm>
              <a:off x="76200" y="112106"/>
              <a:ext cx="1371600" cy="1238400"/>
            </a:xfrm>
            <a:prstGeom prst="roundRect">
              <a:avLst>
                <a:gd fmla="val 7692" name="adj"/>
              </a:avLst>
            </a:prstGeom>
            <a:noFill/>
            <a:ln>
              <a:noFill/>
            </a:ln>
          </p:spPr>
        </p:pic>
        <p:sp>
          <p:nvSpPr>
            <p:cNvPr id="59" name="Google Shape;59;p14"/>
            <p:cNvSpPr txBox="1"/>
            <p:nvPr/>
          </p:nvSpPr>
          <p:spPr>
            <a:xfrm>
              <a:off x="76200" y="1390650"/>
              <a:ext cx="1371600" cy="1581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47625" lIns="0" spcFirstLastPara="1" rIns="0" wrap="square" tIns="476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0055FF"/>
                  </a:solidFill>
                  <a:latin typeface="Inter"/>
                  <a:ea typeface="Inter"/>
                  <a:cs typeface="Inter"/>
                  <a:sym typeface="Inter"/>
                </a:rPr>
                <a:t>Fresh Fruit</a:t>
              </a:r>
              <a:endParaRPr b="1" sz="1200">
                <a:solidFill>
                  <a:srgbClr val="0055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1F2937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Crisp Apples</a:t>
              </a:r>
              <a:endParaRPr b="1" sz="1000">
                <a:solidFill>
                  <a:srgbClr val="0055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800">
                  <a:solidFill>
                    <a:srgbClr val="10B981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₹</a:t>
              </a:r>
              <a:r>
                <a:rPr lang="en" sz="1800">
                  <a:solidFill>
                    <a:srgbClr val="10B981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5</a:t>
              </a:r>
              <a:r>
                <a:rPr b="0" lang="en" sz="1800">
                  <a:solidFill>
                    <a:srgbClr val="10B981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</a:t>
              </a:r>
              <a:r>
                <a:rPr b="0" lang="en" sz="1100">
                  <a:solidFill>
                    <a:srgbClr val="6B7280"/>
                  </a:solidFill>
                  <a:latin typeface="Inter"/>
                  <a:ea typeface="Inter"/>
                  <a:cs typeface="Inter"/>
                  <a:sym typeface="Inter"/>
                </a:rPr>
                <a:t> / kg</a:t>
              </a:r>
              <a:endParaRPr b="1" sz="1000">
                <a:solidFill>
                  <a:srgbClr val="0055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Add to Cart</a:t>
              </a:r>
              <a:endParaRPr b="1" sz="1000">
                <a:solidFill>
                  <a:srgbClr val="0055FF"/>
                </a:solidFill>
                <a:highlight>
                  <a:srgbClr val="10B981"/>
                </a:highlight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60" name="Google Shape;60;p14"/>
          <p:cNvGrpSpPr/>
          <p:nvPr/>
        </p:nvGrpSpPr>
        <p:grpSpPr>
          <a:xfrm>
            <a:off x="2095500" y="1333500"/>
            <a:ext cx="1524000" cy="3048000"/>
            <a:chOff x="0" y="0"/>
            <a:chExt cx="1524000" cy="3048000"/>
          </a:xfrm>
        </p:grpSpPr>
        <p:sp>
          <p:nvSpPr>
            <p:cNvPr id="61" name="Google Shape;61;p14"/>
            <p:cNvSpPr/>
            <p:nvPr/>
          </p:nvSpPr>
          <p:spPr>
            <a:xfrm>
              <a:off x="0" y="0"/>
              <a:ext cx="1524000" cy="3048000"/>
            </a:xfrm>
            <a:prstGeom prst="roundRect">
              <a:avLst>
                <a:gd fmla="val 10000" name="adj"/>
              </a:avLst>
            </a:prstGeom>
            <a:solidFill>
              <a:srgbClr val="FFFFFF"/>
            </a:solidFill>
            <a:ln cap="flat" cmpd="sng" w="14300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A ripe, juicy Alphonso mango on a clean white background, vibrant yellow-orange skin, professional product shot." id="62" name="Google Shape;62;p14"/>
            <p:cNvPicPr preferRelativeResize="0"/>
            <p:nvPr/>
          </p:nvPicPr>
          <p:blipFill rotWithShape="1">
            <a:blip r:embed="rId5">
              <a:alphaModFix/>
            </a:blip>
            <a:srcRect b="0" l="8466" r="8457" t="0"/>
            <a:stretch/>
          </p:blipFill>
          <p:spPr>
            <a:xfrm>
              <a:off x="76200" y="76200"/>
              <a:ext cx="1371600" cy="1238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3" name="Google Shape;63;p14"/>
            <p:cNvSpPr txBox="1"/>
            <p:nvPr/>
          </p:nvSpPr>
          <p:spPr>
            <a:xfrm>
              <a:off x="76200" y="1390650"/>
              <a:ext cx="1371600" cy="1581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47625" lIns="0" spcFirstLastPara="1" rIns="0" wrap="square" tIns="476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0055FF"/>
                  </a:solidFill>
                  <a:latin typeface="Inter"/>
                  <a:ea typeface="Inter"/>
                  <a:cs typeface="Inter"/>
                  <a:sym typeface="Inter"/>
                </a:rPr>
                <a:t>Fresh Fruit</a:t>
              </a:r>
              <a:endParaRPr b="1" sz="1200">
                <a:solidFill>
                  <a:srgbClr val="0055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1F2937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Sweet Mangos</a:t>
              </a:r>
              <a:endParaRPr b="1" sz="1000">
                <a:solidFill>
                  <a:srgbClr val="0055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800">
                  <a:solidFill>
                    <a:srgbClr val="10B981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₹345</a:t>
              </a:r>
              <a:r>
                <a:rPr b="0" lang="en" sz="1100">
                  <a:solidFill>
                    <a:srgbClr val="6B7280"/>
                  </a:solidFill>
                  <a:latin typeface="Inter"/>
                  <a:ea typeface="Inter"/>
                  <a:cs typeface="Inter"/>
                  <a:sym typeface="Inter"/>
                </a:rPr>
                <a:t> / kg</a:t>
              </a:r>
              <a:endParaRPr b="1" sz="1000">
                <a:solidFill>
                  <a:srgbClr val="0055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Add to Cart</a:t>
              </a:r>
              <a:endParaRPr b="1" sz="1000">
                <a:solidFill>
                  <a:srgbClr val="0055FF"/>
                </a:solidFill>
                <a:highlight>
                  <a:srgbClr val="10B981"/>
                </a:highlight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64" name="Google Shape;64;p14"/>
          <p:cNvGrpSpPr/>
          <p:nvPr/>
        </p:nvGrpSpPr>
        <p:grpSpPr>
          <a:xfrm>
            <a:off x="3810000" y="1333500"/>
            <a:ext cx="1524000" cy="3048000"/>
            <a:chOff x="0" y="0"/>
            <a:chExt cx="1524000" cy="3048000"/>
          </a:xfrm>
        </p:grpSpPr>
        <p:sp>
          <p:nvSpPr>
            <p:cNvPr id="65" name="Google Shape;65;p14"/>
            <p:cNvSpPr/>
            <p:nvPr/>
          </p:nvSpPr>
          <p:spPr>
            <a:xfrm>
              <a:off x="0" y="0"/>
              <a:ext cx="1524000" cy="3048000"/>
            </a:xfrm>
            <a:prstGeom prst="roundRect">
              <a:avLst>
                <a:gd fmla="val 10000" name="adj"/>
              </a:avLst>
            </a:prstGeom>
            <a:solidFill>
              <a:srgbClr val="FFFFFF"/>
            </a:solidFill>
            <a:ln cap="flat" cmpd="sng" w="14300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A small bunch of fresh yellow bananas on a solid white background, commercial studio lighting." id="66" name="Google Shape;66;p14"/>
            <p:cNvPicPr preferRelativeResize="0"/>
            <p:nvPr/>
          </p:nvPicPr>
          <p:blipFill rotWithShape="1">
            <a:blip r:embed="rId6">
              <a:alphaModFix/>
            </a:blip>
            <a:srcRect b="0" l="8466" r="8457" t="0"/>
            <a:stretch/>
          </p:blipFill>
          <p:spPr>
            <a:xfrm>
              <a:off x="76200" y="76200"/>
              <a:ext cx="1371600" cy="1238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7" name="Google Shape;67;p14"/>
            <p:cNvSpPr txBox="1"/>
            <p:nvPr/>
          </p:nvSpPr>
          <p:spPr>
            <a:xfrm>
              <a:off x="76200" y="1390650"/>
              <a:ext cx="1371600" cy="1581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47625" lIns="0" spcFirstLastPara="1" rIns="0" wrap="square" tIns="476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0055FF"/>
                  </a:solidFill>
                  <a:latin typeface="Inter"/>
                  <a:ea typeface="Inter"/>
                  <a:cs typeface="Inter"/>
                  <a:sym typeface="Inter"/>
                </a:rPr>
                <a:t>Fresh Fruit</a:t>
              </a:r>
              <a:endParaRPr b="1" sz="1200">
                <a:solidFill>
                  <a:srgbClr val="0055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1F2937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Organic Bananas</a:t>
              </a:r>
              <a:endParaRPr b="1" sz="1000">
                <a:solidFill>
                  <a:srgbClr val="0055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800">
                  <a:solidFill>
                    <a:srgbClr val="10B981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₹152</a:t>
              </a:r>
              <a:r>
                <a:rPr b="0" lang="en" sz="1100">
                  <a:solidFill>
                    <a:srgbClr val="6B7280"/>
                  </a:solidFill>
                  <a:latin typeface="Inter"/>
                  <a:ea typeface="Inter"/>
                  <a:cs typeface="Inter"/>
                  <a:sym typeface="Inter"/>
                </a:rPr>
                <a:t> / kg</a:t>
              </a:r>
              <a:endParaRPr b="1" sz="1000">
                <a:solidFill>
                  <a:srgbClr val="0055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Add to Cart</a:t>
              </a:r>
              <a:endParaRPr b="1" sz="1000">
                <a:solidFill>
                  <a:srgbClr val="0055FF"/>
                </a:solidFill>
                <a:highlight>
                  <a:srgbClr val="10B981"/>
                </a:highlight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68" name="Google Shape;68;p14"/>
          <p:cNvGrpSpPr/>
          <p:nvPr/>
        </p:nvGrpSpPr>
        <p:grpSpPr>
          <a:xfrm>
            <a:off x="5524500" y="1333500"/>
            <a:ext cx="1524000" cy="3048000"/>
            <a:chOff x="0" y="0"/>
            <a:chExt cx="1524000" cy="3048000"/>
          </a:xfrm>
        </p:grpSpPr>
        <p:sp>
          <p:nvSpPr>
            <p:cNvPr id="69" name="Google Shape;69;p14"/>
            <p:cNvSpPr/>
            <p:nvPr/>
          </p:nvSpPr>
          <p:spPr>
            <a:xfrm>
              <a:off x="0" y="0"/>
              <a:ext cx="1524000" cy="3048000"/>
            </a:xfrm>
            <a:prstGeom prst="roundRect">
              <a:avLst>
                <a:gd fmla="val 10000" name="adj"/>
              </a:avLst>
            </a:prstGeom>
            <a:solidFill>
              <a:srgbClr val="FFFFFF"/>
            </a:solidFill>
            <a:ln cap="flat" cmpd="sng" w="14300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Fresh white button mushrooms on a clean, solid white background, high-end commercial food photography." id="70" name="Google Shape;70;p14"/>
            <p:cNvPicPr preferRelativeResize="0"/>
            <p:nvPr/>
          </p:nvPicPr>
          <p:blipFill rotWithShape="1">
            <a:blip r:embed="rId7">
              <a:alphaModFix/>
            </a:blip>
            <a:srcRect b="0" l="8466" r="8457" t="0"/>
            <a:stretch/>
          </p:blipFill>
          <p:spPr>
            <a:xfrm>
              <a:off x="76200" y="76200"/>
              <a:ext cx="1371600" cy="1238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1" name="Google Shape;71;p14"/>
            <p:cNvSpPr txBox="1"/>
            <p:nvPr/>
          </p:nvSpPr>
          <p:spPr>
            <a:xfrm>
              <a:off x="76200" y="1390650"/>
              <a:ext cx="1371600" cy="1581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47625" lIns="0" spcFirstLastPara="1" rIns="0" wrap="square" tIns="476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0055FF"/>
                  </a:solidFill>
                  <a:latin typeface="Inter"/>
                  <a:ea typeface="Inter"/>
                  <a:cs typeface="Inter"/>
                  <a:sym typeface="Inter"/>
                </a:rPr>
                <a:t>Dairy and Eggs</a:t>
              </a:r>
              <a:endParaRPr b="1" sz="1200">
                <a:solidFill>
                  <a:srgbClr val="0055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1F2937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Button Mushrooms</a:t>
              </a:r>
              <a:endParaRPr b="1" sz="1000">
                <a:solidFill>
                  <a:srgbClr val="0055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800">
                  <a:solidFill>
                    <a:srgbClr val="10B981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₹299</a:t>
              </a:r>
              <a:r>
                <a:rPr b="0" lang="en" sz="1100">
                  <a:solidFill>
                    <a:srgbClr val="6B7280"/>
                  </a:solidFill>
                  <a:latin typeface="Inter"/>
                  <a:ea typeface="Inter"/>
                  <a:cs typeface="Inter"/>
                  <a:sym typeface="Inter"/>
                </a:rPr>
                <a:t> / pack</a:t>
              </a:r>
              <a:endParaRPr b="1" sz="1000">
                <a:solidFill>
                  <a:srgbClr val="0055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Add to Cart</a:t>
              </a:r>
              <a:endParaRPr b="1" sz="1000">
                <a:solidFill>
                  <a:srgbClr val="0055FF"/>
                </a:solidFill>
                <a:highlight>
                  <a:srgbClr val="10B981"/>
                </a:highlight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72" name="Google Shape;72;p14"/>
          <p:cNvGrpSpPr/>
          <p:nvPr/>
        </p:nvGrpSpPr>
        <p:grpSpPr>
          <a:xfrm>
            <a:off x="7239000" y="1333500"/>
            <a:ext cx="1524000" cy="3048000"/>
            <a:chOff x="0" y="0"/>
            <a:chExt cx="1524000" cy="3048000"/>
          </a:xfrm>
        </p:grpSpPr>
        <p:sp>
          <p:nvSpPr>
            <p:cNvPr id="73" name="Google Shape;73;p14"/>
            <p:cNvSpPr/>
            <p:nvPr/>
          </p:nvSpPr>
          <p:spPr>
            <a:xfrm>
              <a:off x="0" y="0"/>
              <a:ext cx="1524000" cy="3048000"/>
            </a:xfrm>
            <a:prstGeom prst="roundRect">
              <a:avLst>
                <a:gd fmla="val 10000" name="adj"/>
              </a:avLst>
            </a:prstGeom>
            <a:solidFill>
              <a:srgbClr val="FFFFFF"/>
            </a:solidFill>
            <a:ln cap="flat" cmpd="sng" w="14300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A fresh, vibrant green broccoli head on a clean white background, professional studio product lighting." id="74" name="Google Shape;74;p14"/>
            <p:cNvPicPr preferRelativeResize="0"/>
            <p:nvPr/>
          </p:nvPicPr>
          <p:blipFill rotWithShape="1">
            <a:blip r:embed="rId8">
              <a:alphaModFix/>
            </a:blip>
            <a:srcRect b="0" l="8466" r="8457" t="0"/>
            <a:stretch/>
          </p:blipFill>
          <p:spPr>
            <a:xfrm>
              <a:off x="76200" y="76200"/>
              <a:ext cx="1371600" cy="1238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5" name="Google Shape;75;p14"/>
            <p:cNvSpPr txBox="1"/>
            <p:nvPr/>
          </p:nvSpPr>
          <p:spPr>
            <a:xfrm>
              <a:off x="76200" y="1390650"/>
              <a:ext cx="1371600" cy="1581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47625" lIns="0" spcFirstLastPara="1" rIns="0" wrap="square" tIns="476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0055FF"/>
                  </a:solidFill>
                  <a:latin typeface="Inter"/>
                  <a:ea typeface="Inter"/>
                  <a:cs typeface="Inter"/>
                  <a:sym typeface="Inter"/>
                </a:rPr>
                <a:t>Vegetables</a:t>
              </a:r>
              <a:endParaRPr b="1" sz="1200">
                <a:solidFill>
                  <a:srgbClr val="0055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1F2937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Fresh Broccoli</a:t>
              </a:r>
              <a:endParaRPr b="1" sz="1000">
                <a:solidFill>
                  <a:srgbClr val="0055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800">
                  <a:solidFill>
                    <a:srgbClr val="10B981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₹249</a:t>
              </a:r>
              <a:r>
                <a:rPr b="0" lang="en" sz="1100">
                  <a:solidFill>
                    <a:srgbClr val="6B7280"/>
                  </a:solidFill>
                  <a:latin typeface="Inter"/>
                  <a:ea typeface="Inter"/>
                  <a:cs typeface="Inter"/>
                  <a:sym typeface="Inter"/>
                </a:rPr>
                <a:t> / head</a:t>
              </a:r>
              <a:endParaRPr b="1" sz="1000">
                <a:solidFill>
                  <a:srgbClr val="0055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Add to Cart</a:t>
              </a:r>
              <a:endParaRPr b="1" sz="1000">
                <a:solidFill>
                  <a:srgbClr val="0055FF"/>
                </a:solidFill>
                <a:highlight>
                  <a:srgbClr val="10B981"/>
                </a:highlight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76" name="Google Shape;76;p14"/>
          <p:cNvGrpSpPr/>
          <p:nvPr/>
        </p:nvGrpSpPr>
        <p:grpSpPr>
          <a:xfrm>
            <a:off x="457200" y="1409700"/>
            <a:ext cx="1104900" cy="228600"/>
            <a:chOff x="0" y="0"/>
            <a:chExt cx="1104900" cy="228600"/>
          </a:xfrm>
        </p:grpSpPr>
        <p:sp>
          <p:nvSpPr>
            <p:cNvPr id="77" name="Google Shape;77;p14"/>
            <p:cNvSpPr/>
            <p:nvPr/>
          </p:nvSpPr>
          <p:spPr>
            <a:xfrm>
              <a:off x="0" y="0"/>
              <a:ext cx="1104900" cy="228600"/>
            </a:xfrm>
            <a:prstGeom prst="roundRect">
              <a:avLst>
                <a:gd fmla="val 50000" name="adj"/>
              </a:avLst>
            </a:prstGeom>
            <a:solidFill>
              <a:srgbClr val="DC262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14"/>
            <p:cNvSpPr txBox="1"/>
            <p:nvPr/>
          </p:nvSpPr>
          <p:spPr>
            <a:xfrm>
              <a:off x="0" y="0"/>
              <a:ext cx="1104900" cy="228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Kashmir Special</a:t>
              </a:r>
              <a:endParaRPr b="1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79" name="Google Shape;79;p14"/>
          <p:cNvGrpSpPr/>
          <p:nvPr/>
        </p:nvGrpSpPr>
        <p:grpSpPr>
          <a:xfrm>
            <a:off x="2171700" y="1409700"/>
            <a:ext cx="1104900" cy="228600"/>
            <a:chOff x="0" y="0"/>
            <a:chExt cx="1104900" cy="228600"/>
          </a:xfrm>
        </p:grpSpPr>
        <p:sp>
          <p:nvSpPr>
            <p:cNvPr id="80" name="Google Shape;80;p14"/>
            <p:cNvSpPr/>
            <p:nvPr/>
          </p:nvSpPr>
          <p:spPr>
            <a:xfrm>
              <a:off x="0" y="0"/>
              <a:ext cx="1104900" cy="228600"/>
            </a:xfrm>
            <a:prstGeom prst="roundRect">
              <a:avLst>
                <a:gd fmla="val 50000" name="adj"/>
              </a:avLst>
            </a:prstGeom>
            <a:solidFill>
              <a:srgbClr val="EA580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14"/>
            <p:cNvSpPr txBox="1"/>
            <p:nvPr/>
          </p:nvSpPr>
          <p:spPr>
            <a:xfrm>
              <a:off x="0" y="0"/>
              <a:ext cx="1104900" cy="228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Winter Special</a:t>
              </a:r>
              <a:endParaRPr b="1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82" name="Google Shape;82;p14"/>
          <p:cNvGrpSpPr/>
          <p:nvPr/>
        </p:nvGrpSpPr>
        <p:grpSpPr>
          <a:xfrm>
            <a:off x="3886200" y="1409700"/>
            <a:ext cx="1104900" cy="228600"/>
            <a:chOff x="0" y="0"/>
            <a:chExt cx="1104900" cy="228600"/>
          </a:xfrm>
        </p:grpSpPr>
        <p:sp>
          <p:nvSpPr>
            <p:cNvPr id="83" name="Google Shape;83;p14"/>
            <p:cNvSpPr/>
            <p:nvPr/>
          </p:nvSpPr>
          <p:spPr>
            <a:xfrm>
              <a:off x="0" y="0"/>
              <a:ext cx="1104900" cy="228600"/>
            </a:xfrm>
            <a:prstGeom prst="roundRect">
              <a:avLst>
                <a:gd fmla="val 50000" name="adj"/>
              </a:avLst>
            </a:prstGeom>
            <a:solidFill>
              <a:srgbClr val="D9770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14"/>
            <p:cNvSpPr txBox="1"/>
            <p:nvPr/>
          </p:nvSpPr>
          <p:spPr>
            <a:xfrm>
              <a:off x="0" y="0"/>
              <a:ext cx="1104900" cy="228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Premium Choice</a:t>
              </a:r>
              <a:endParaRPr b="1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85" name="Google Shape;85;p14"/>
          <p:cNvGrpSpPr/>
          <p:nvPr/>
        </p:nvGrpSpPr>
        <p:grpSpPr>
          <a:xfrm>
            <a:off x="5600700" y="1409700"/>
            <a:ext cx="1104900" cy="228600"/>
            <a:chOff x="0" y="0"/>
            <a:chExt cx="1104900" cy="228600"/>
          </a:xfrm>
        </p:grpSpPr>
        <p:sp>
          <p:nvSpPr>
            <p:cNvPr id="86" name="Google Shape;86;p14"/>
            <p:cNvSpPr/>
            <p:nvPr/>
          </p:nvSpPr>
          <p:spPr>
            <a:xfrm>
              <a:off x="0" y="0"/>
              <a:ext cx="1104900" cy="228600"/>
            </a:xfrm>
            <a:prstGeom prst="roundRect">
              <a:avLst>
                <a:gd fmla="val 50000" name="adj"/>
              </a:avLst>
            </a:prstGeom>
            <a:solidFill>
              <a:srgbClr val="4B556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14"/>
            <p:cNvSpPr txBox="1"/>
            <p:nvPr/>
          </p:nvSpPr>
          <p:spPr>
            <a:xfrm>
              <a:off x="0" y="0"/>
              <a:ext cx="1104900" cy="228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Farm Fresh</a:t>
              </a:r>
              <a:endParaRPr b="1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88" name="Google Shape;88;p14"/>
          <p:cNvGrpSpPr/>
          <p:nvPr/>
        </p:nvGrpSpPr>
        <p:grpSpPr>
          <a:xfrm>
            <a:off x="7315200" y="1409700"/>
            <a:ext cx="1104900" cy="228600"/>
            <a:chOff x="0" y="0"/>
            <a:chExt cx="1104900" cy="228600"/>
          </a:xfrm>
        </p:grpSpPr>
        <p:sp>
          <p:nvSpPr>
            <p:cNvPr id="89" name="Google Shape;89;p14"/>
            <p:cNvSpPr/>
            <p:nvPr/>
          </p:nvSpPr>
          <p:spPr>
            <a:xfrm>
              <a:off x="0" y="0"/>
              <a:ext cx="1104900" cy="228600"/>
            </a:xfrm>
            <a:prstGeom prst="roundRect">
              <a:avLst>
                <a:gd fmla="val 50000" name="adj"/>
              </a:avLst>
            </a:prstGeom>
            <a:solidFill>
              <a:srgbClr val="16A3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14"/>
            <p:cNvSpPr txBox="1"/>
            <p:nvPr/>
          </p:nvSpPr>
          <p:spPr>
            <a:xfrm>
              <a:off x="0" y="0"/>
              <a:ext cx="1104900" cy="228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High Nutrient</a:t>
              </a:r>
              <a:endParaRPr b="1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5"/>
          <p:cNvSpPr txBox="1"/>
          <p:nvPr/>
        </p:nvSpPr>
        <p:spPr>
          <a:xfrm>
            <a:off x="381000" y="381000"/>
            <a:ext cx="8382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WealthOS Advisor Portal</a:t>
            </a:r>
            <a:endParaRPr b="1" sz="1100">
              <a:solidFill>
                <a:srgbClr val="10B98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rgbClr val="1F2937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Client Portfolio Management</a:t>
            </a:r>
            <a:endParaRPr b="0" sz="2400">
              <a:solidFill>
                <a:srgbClr val="1F2937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grpSp>
        <p:nvGrpSpPr>
          <p:cNvPr id="97" name="Google Shape;97;p15"/>
          <p:cNvGrpSpPr/>
          <p:nvPr/>
        </p:nvGrpSpPr>
        <p:grpSpPr>
          <a:xfrm>
            <a:off x="381000" y="1333500"/>
            <a:ext cx="5334000" cy="3048000"/>
            <a:chOff x="0" y="0"/>
            <a:chExt cx="5334000" cy="3048000"/>
          </a:xfrm>
        </p:grpSpPr>
        <p:sp>
          <p:nvSpPr>
            <p:cNvPr id="98" name="Google Shape;98;p15"/>
            <p:cNvSpPr/>
            <p:nvPr/>
          </p:nvSpPr>
          <p:spPr>
            <a:xfrm>
              <a:off x="0" y="0"/>
              <a:ext cx="5334000" cy="3048000"/>
            </a:xfrm>
            <a:prstGeom prst="roundRect">
              <a:avLst>
                <a:gd fmla="val 3750" name="adj"/>
              </a:avLst>
            </a:prstGeom>
            <a:solidFill>
              <a:srgbClr val="FFFFFF"/>
            </a:solidFill>
            <a:ln cap="flat" cmpd="sng" w="14300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A clean, high-resolution dashboard screenshot of a financial SaaS application. The screen displays a professional wealth management portal featuring interactive stock charts, colored donut graphs representing asset allocation, a modern line graph tracking historical balance performance over time, and clean tables with financial metrics. The user interface uses a light theme with subtle dark grey text and crisp emerald green accent colors." id="99" name="Google Shape;99;p15"/>
            <p:cNvPicPr preferRelativeResize="0"/>
            <p:nvPr/>
          </p:nvPicPr>
          <p:blipFill rotWithShape="1">
            <a:blip r:embed="rId3">
              <a:alphaModFix/>
            </a:blip>
            <a:srcRect b="0" l="778" r="787" t="0"/>
            <a:stretch/>
          </p:blipFill>
          <p:spPr>
            <a:xfrm>
              <a:off x="0" y="0"/>
              <a:ext cx="5334000" cy="3048000"/>
            </a:xfrm>
            <a:prstGeom prst="roundRect">
              <a:avLst>
                <a:gd fmla="val 3750" name="adj"/>
              </a:avLst>
            </a:prstGeom>
            <a:noFill/>
            <a:ln>
              <a:noFill/>
            </a:ln>
          </p:spPr>
        </p:pic>
        <p:sp>
          <p:nvSpPr>
            <p:cNvPr id="100" name="Google Shape;100;p15"/>
            <p:cNvSpPr/>
            <p:nvPr/>
          </p:nvSpPr>
          <p:spPr>
            <a:xfrm>
              <a:off x="0" y="0"/>
              <a:ext cx="5334000" cy="3048000"/>
            </a:xfrm>
            <a:prstGeom prst="roundRect">
              <a:avLst>
                <a:gd fmla="val 3750" name="adj"/>
              </a:avLst>
            </a:prstGeom>
            <a:solidFill>
              <a:srgbClr val="000000">
                <a:alpha val="0"/>
              </a:srgbClr>
            </a:solidFill>
            <a:ln cap="flat" cmpd="sng" w="14300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1" name="Google Shape;101;p15"/>
          <p:cNvGrpSpPr/>
          <p:nvPr/>
        </p:nvGrpSpPr>
        <p:grpSpPr>
          <a:xfrm>
            <a:off x="5905500" y="1333500"/>
            <a:ext cx="2857500" cy="3048000"/>
            <a:chOff x="0" y="0"/>
            <a:chExt cx="2857500" cy="3048000"/>
          </a:xfrm>
        </p:grpSpPr>
        <p:sp>
          <p:nvSpPr>
            <p:cNvPr id="102" name="Google Shape;102;p15"/>
            <p:cNvSpPr/>
            <p:nvPr/>
          </p:nvSpPr>
          <p:spPr>
            <a:xfrm>
              <a:off x="0" y="0"/>
              <a:ext cx="2857500" cy="3048000"/>
            </a:xfrm>
            <a:prstGeom prst="roundRect">
              <a:avLst>
                <a:gd fmla="val 4000" name="adj"/>
              </a:avLst>
            </a:prstGeom>
            <a:solidFill>
              <a:srgbClr val="FFFFFF"/>
            </a:solidFill>
            <a:ln cap="flat" cmpd="sng" w="14300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15"/>
            <p:cNvSpPr txBox="1"/>
            <p:nvPr/>
          </p:nvSpPr>
          <p:spPr>
            <a:xfrm>
              <a:off x="152400" y="152400"/>
              <a:ext cx="2552700" cy="274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1F2937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Holdings &amp; Allocation</a:t>
              </a:r>
              <a:endParaRPr b="0" sz="1400">
                <a:solidFill>
                  <a:srgbClr val="1F293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1F2937"/>
                  </a:solidFill>
                  <a:latin typeface="Inter"/>
                  <a:ea typeface="Inter"/>
                  <a:cs typeface="Inter"/>
                  <a:sym typeface="Inter"/>
                </a:rPr>
                <a:t>Vanguard S&amp;P 500 ETF </a:t>
              </a:r>
              <a:r>
                <a:rPr b="0" lang="en" sz="1100">
                  <a:solidFill>
                    <a:srgbClr val="6B7280"/>
                  </a:solidFill>
                  <a:latin typeface="Inter"/>
                  <a:ea typeface="Inter"/>
                  <a:cs typeface="Inter"/>
                  <a:sym typeface="Inter"/>
                </a:rPr>
                <a:t>(VOO)</a:t>
              </a:r>
              <a:endParaRPr b="1" sz="110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6B7280"/>
                  </a:solidFill>
                  <a:latin typeface="Inter"/>
                  <a:ea typeface="Inter"/>
                  <a:cs typeface="Inter"/>
                  <a:sym typeface="Inter"/>
                </a:rPr>
                <a:t>Allocation: </a:t>
              </a:r>
              <a:r>
                <a:rPr b="1" lang="en" sz="1000">
                  <a:solidFill>
                    <a:srgbClr val="10B981"/>
                  </a:solidFill>
                  <a:latin typeface="Inter"/>
                  <a:ea typeface="Inter"/>
                  <a:cs typeface="Inter"/>
                  <a:sym typeface="Inter"/>
                </a:rPr>
                <a:t>45.0%</a:t>
              </a:r>
              <a:r>
                <a:rPr lang="en" sz="1000">
                  <a:solidFill>
                    <a:srgbClr val="6B7280"/>
                  </a:solidFill>
                  <a:latin typeface="Inter"/>
                  <a:ea typeface="Inter"/>
                  <a:cs typeface="Inter"/>
                  <a:sym typeface="Inter"/>
                </a:rPr>
                <a:t> • Value: $148,500</a:t>
              </a:r>
              <a:endParaRPr sz="100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1F2937"/>
                  </a:solidFill>
                  <a:latin typeface="Inter"/>
                  <a:ea typeface="Inter"/>
                  <a:cs typeface="Inter"/>
                  <a:sym typeface="Inter"/>
                </a:rPr>
                <a:t>Apple Inc. </a:t>
              </a:r>
              <a:r>
                <a:rPr b="0" lang="en" sz="1100">
                  <a:solidFill>
                    <a:srgbClr val="6B7280"/>
                  </a:solidFill>
                  <a:latin typeface="Inter"/>
                  <a:ea typeface="Inter"/>
                  <a:cs typeface="Inter"/>
                  <a:sym typeface="Inter"/>
                </a:rPr>
                <a:t>(AAPL)</a:t>
              </a:r>
              <a:endParaRPr b="1" sz="110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6B7280"/>
                  </a:solidFill>
                  <a:latin typeface="Inter"/>
                  <a:ea typeface="Inter"/>
                  <a:cs typeface="Inter"/>
                  <a:sym typeface="Inter"/>
                </a:rPr>
                <a:t>Allocation: </a:t>
              </a:r>
              <a:r>
                <a:rPr b="1" lang="en" sz="1000">
                  <a:solidFill>
                    <a:srgbClr val="10B981"/>
                  </a:solidFill>
                  <a:latin typeface="Inter"/>
                  <a:ea typeface="Inter"/>
                  <a:cs typeface="Inter"/>
                  <a:sym typeface="Inter"/>
                </a:rPr>
                <a:t>20.0%</a:t>
              </a:r>
              <a:r>
                <a:rPr lang="en" sz="1000">
                  <a:solidFill>
                    <a:srgbClr val="6B7280"/>
                  </a:solidFill>
                  <a:latin typeface="Inter"/>
                  <a:ea typeface="Inter"/>
                  <a:cs typeface="Inter"/>
                  <a:sym typeface="Inter"/>
                </a:rPr>
                <a:t> • Value: $66,000</a:t>
              </a:r>
              <a:endParaRPr sz="100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1F2937"/>
                  </a:solidFill>
                  <a:latin typeface="Inter"/>
                  <a:ea typeface="Inter"/>
                  <a:cs typeface="Inter"/>
                  <a:sym typeface="Inter"/>
                </a:rPr>
                <a:t>Tesla Inc. </a:t>
              </a:r>
              <a:r>
                <a:rPr b="0" lang="en" sz="1100">
                  <a:solidFill>
                    <a:srgbClr val="6B7280"/>
                  </a:solidFill>
                  <a:latin typeface="Inter"/>
                  <a:ea typeface="Inter"/>
                  <a:cs typeface="Inter"/>
                  <a:sym typeface="Inter"/>
                </a:rPr>
                <a:t>(TSLA)</a:t>
              </a:r>
              <a:endParaRPr b="1" sz="110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6B7280"/>
                  </a:solidFill>
                  <a:latin typeface="Inter"/>
                  <a:ea typeface="Inter"/>
                  <a:cs typeface="Inter"/>
                  <a:sym typeface="Inter"/>
                </a:rPr>
                <a:t>Allocation: </a:t>
              </a:r>
              <a:r>
                <a:rPr b="1" lang="en" sz="1000">
                  <a:solidFill>
                    <a:srgbClr val="10B981"/>
                  </a:solidFill>
                  <a:latin typeface="Inter"/>
                  <a:ea typeface="Inter"/>
                  <a:cs typeface="Inter"/>
                  <a:sym typeface="Inter"/>
                </a:rPr>
                <a:t>15.0%</a:t>
              </a:r>
              <a:r>
                <a:rPr lang="en" sz="1000">
                  <a:solidFill>
                    <a:srgbClr val="6B7280"/>
                  </a:solidFill>
                  <a:latin typeface="Inter"/>
                  <a:ea typeface="Inter"/>
                  <a:cs typeface="Inter"/>
                  <a:sym typeface="Inter"/>
                </a:rPr>
                <a:t> • Value: $49,500</a:t>
              </a:r>
              <a:endParaRPr sz="100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1F2937"/>
                  </a:solidFill>
                  <a:latin typeface="Inter"/>
                  <a:ea typeface="Inter"/>
                  <a:cs typeface="Inter"/>
                  <a:sym typeface="Inter"/>
                </a:rPr>
                <a:t>iShares 20+ Yr Treasury </a:t>
              </a:r>
              <a:r>
                <a:rPr b="0" lang="en" sz="1100">
                  <a:solidFill>
                    <a:srgbClr val="6B7280"/>
                  </a:solidFill>
                  <a:latin typeface="Inter"/>
                  <a:ea typeface="Inter"/>
                  <a:cs typeface="Inter"/>
                  <a:sym typeface="Inter"/>
                </a:rPr>
                <a:t>(TLT)</a:t>
              </a:r>
              <a:endParaRPr b="1" sz="110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6B7280"/>
                  </a:solidFill>
                  <a:latin typeface="Inter"/>
                  <a:ea typeface="Inter"/>
                  <a:cs typeface="Inter"/>
                  <a:sym typeface="Inter"/>
                </a:rPr>
                <a:t>Allocation: </a:t>
              </a:r>
              <a:r>
                <a:rPr b="1" lang="en" sz="1000">
                  <a:solidFill>
                    <a:srgbClr val="10B981"/>
                  </a:solidFill>
                  <a:latin typeface="Inter"/>
                  <a:ea typeface="Inter"/>
                  <a:cs typeface="Inter"/>
                  <a:sym typeface="Inter"/>
                </a:rPr>
                <a:t>12.0%</a:t>
              </a:r>
              <a:r>
                <a:rPr lang="en" sz="1000">
                  <a:solidFill>
                    <a:srgbClr val="6B7280"/>
                  </a:solidFill>
                  <a:latin typeface="Inter"/>
                  <a:ea typeface="Inter"/>
                  <a:cs typeface="Inter"/>
                  <a:sym typeface="Inter"/>
                </a:rPr>
                <a:t> • Value: $39,600</a:t>
              </a:r>
              <a:endParaRPr sz="100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1F2937"/>
                  </a:solidFill>
                  <a:latin typeface="Inter"/>
                  <a:ea typeface="Inter"/>
                  <a:cs typeface="Inter"/>
                  <a:sym typeface="Inter"/>
                </a:rPr>
                <a:t>Cash &amp; Equivalents</a:t>
              </a:r>
              <a:endParaRPr b="1" sz="110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6B7280"/>
                  </a:solidFill>
                  <a:latin typeface="Inter"/>
                  <a:ea typeface="Inter"/>
                  <a:cs typeface="Inter"/>
                  <a:sym typeface="Inter"/>
                </a:rPr>
                <a:t>Allocation: </a:t>
              </a:r>
              <a:r>
                <a:rPr b="1" lang="en" sz="1000">
                  <a:solidFill>
                    <a:srgbClr val="10B981"/>
                  </a:solidFill>
                  <a:latin typeface="Inter"/>
                  <a:ea typeface="Inter"/>
                  <a:cs typeface="Inter"/>
                  <a:sym typeface="Inter"/>
                </a:rPr>
                <a:t>8.0%</a:t>
              </a:r>
              <a:r>
                <a:rPr lang="en" sz="1000">
                  <a:solidFill>
                    <a:srgbClr val="6B7280"/>
                  </a:solidFill>
                  <a:latin typeface="Inter"/>
                  <a:ea typeface="Inter"/>
                  <a:cs typeface="Inter"/>
                  <a:sym typeface="Inter"/>
                </a:rPr>
                <a:t> • Value: $26,400</a:t>
              </a:r>
              <a:endParaRPr sz="100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