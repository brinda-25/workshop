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74" r:id="rId8"/>
    <p:sldId id="275" r:id="rId9"/>
    <p:sldId id="260" r:id="rId10"/>
    <p:sldId id="261" r:id="rId11"/>
    <p:sldId id="262" r:id="rId12"/>
    <p:sldId id="276" r:id="rId13"/>
    <p:sldId id="263" r:id="rId14"/>
    <p:sldId id="278" r:id="rId15"/>
    <p:sldId id="277" r:id="rId16"/>
    <p:sldId id="264" r:id="rId17"/>
    <p:sldId id="279" r:id="rId18"/>
    <p:sldId id="280" r:id="rId19"/>
    <p:sldId id="265" r:id="rId20"/>
    <p:sldId id="266" r:id="rId21"/>
    <p:sldId id="267" r:id="rId22"/>
    <p:sldId id="281" r:id="rId23"/>
    <p:sldId id="268" r:id="rId24"/>
    <p:sldId id="282" r:id="rId25"/>
    <p:sldId id="283" r:id="rId26"/>
    <p:sldId id="284" r:id="rId27"/>
    <p:sldId id="285" r:id="rId28"/>
    <p:sldId id="269" r:id="rId29"/>
    <p:sldId id="270" r:id="rId30"/>
    <p:sldId id="271" r:id="rId31"/>
    <p:sldId id="286" r:id="rId32"/>
    <p:sldId id="287" r:id="rId33"/>
    <p:sldId id="288" r:id="rId34"/>
    <p:sldId id="289" r:id="rId35"/>
    <p:sldId id="272" r:id="rId36"/>
    <p:sldId id="273" r:id="rId37"/>
  </p:sldIdLst>
  <p:sldSz cx="12192000" cy="6858000"/>
  <p:notesSz cx="6858000" cy="9144000"/>
  <p:embeddedFontLst>
    <p:embeddedFont>
      <p:font typeface="Inter" panose="02000503000000020004"/>
      <p:regular r:id="rId41"/>
    </p:embeddedFont>
    <p:embeddedFont>
      <p:font typeface="Inter Black"/>
      <p:regular r:id="rId42"/>
    </p:embeddedFont>
    <p:embeddedFont>
      <p:font typeface="JetBrains Mono" panose="02000009000000000000"/>
      <p:regular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2160" userDrawn="1">
          <p15:clr>
            <a:srgbClr val="000000"/>
          </p15:clr>
        </p15:guide>
        <p15:guide id="2" pos="288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59" d="100"/>
          <a:sy n="59" d="100"/>
        </p:scale>
        <p:origin x="868"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font" Target="fonts/font3.fntdata"/><Relationship Id="rId42" Type="http://schemas.openxmlformats.org/officeDocument/2006/relationships/font" Target="fonts/font2.fntdata"/><Relationship Id="rId41" Type="http://schemas.openxmlformats.org/officeDocument/2006/relationships/font" Target="fonts/font1.fntdata"/><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6" name="Google Shape;1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6" name="Google Shape;1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6" name="Google Shape;1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7"/>
        <p:cNvGrpSpPr/>
        <p:nvPr/>
      </p:nvGrpSpPr>
      <p:grpSpPr>
        <a:xfrm>
          <a:off x="0" y="0"/>
          <a:ext cx="0" cy="0"/>
          <a:chOff x="0" y="0"/>
          <a:chExt cx="0" cy="0"/>
        </a:xfrm>
      </p:grpSpPr>
      <p:sp>
        <p:nvSpPr>
          <p:cNvPr id="138" name="Google Shape;13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9" name="Google Shape;13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6"/>
        <p:cNvGrpSpPr/>
        <p:nvPr/>
      </p:nvGrpSpPr>
      <p:grpSpPr>
        <a:xfrm>
          <a:off x="0" y="0"/>
          <a:ext cx="0" cy="0"/>
          <a:chOff x="0" y="0"/>
          <a:chExt cx="0" cy="0"/>
        </a:xfrm>
      </p:grpSpPr>
      <p:sp>
        <p:nvSpPr>
          <p:cNvPr id="147" name="Google Shape;14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2"/>
        <p:cNvGrpSpPr/>
        <p:nvPr/>
      </p:nvGrpSpPr>
      <p:grpSpPr>
        <a:xfrm>
          <a:off x="0" y="0"/>
          <a:ext cx="0" cy="0"/>
          <a:chOff x="0" y="0"/>
          <a:chExt cx="0" cy="0"/>
        </a:xfrm>
      </p:grpSpPr>
      <p:sp>
        <p:nvSpPr>
          <p:cNvPr id="173" name="Google Shape;17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4" name="Google Shape;174;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2"/>
        <p:cNvGrpSpPr/>
        <p:nvPr/>
      </p:nvGrpSpPr>
      <p:grpSpPr>
        <a:xfrm>
          <a:off x="0" y="0"/>
          <a:ext cx="0" cy="0"/>
          <a:chOff x="0" y="0"/>
          <a:chExt cx="0" cy="0"/>
        </a:xfrm>
      </p:grpSpPr>
      <p:sp>
        <p:nvSpPr>
          <p:cNvPr id="173" name="Google Shape;17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4" name="Google Shape;17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8"/>
        <p:cNvGrpSpPr/>
        <p:nvPr/>
      </p:nvGrpSpPr>
      <p:grpSpPr>
        <a:xfrm>
          <a:off x="0" y="0"/>
          <a:ext cx="0" cy="0"/>
          <a:chOff x="0" y="0"/>
          <a:chExt cx="0" cy="0"/>
        </a:xfrm>
      </p:grpSpPr>
      <p:sp>
        <p:nvSpPr>
          <p:cNvPr id="199" name="Google Shape;19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0" name="Google Shape;20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8"/>
        <p:cNvGrpSpPr/>
        <p:nvPr/>
      </p:nvGrpSpPr>
      <p:grpSpPr>
        <a:xfrm>
          <a:off x="0" y="0"/>
          <a:ext cx="0" cy="0"/>
          <a:chOff x="0" y="0"/>
          <a:chExt cx="0" cy="0"/>
        </a:xfrm>
      </p:grpSpPr>
      <p:sp>
        <p:nvSpPr>
          <p:cNvPr id="199" name="Google Shape;19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0" name="Google Shape;20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8"/>
        <p:cNvGrpSpPr/>
        <p:nvPr/>
      </p:nvGrpSpPr>
      <p:grpSpPr>
        <a:xfrm>
          <a:off x="0" y="0"/>
          <a:ext cx="0" cy="0"/>
          <a:chOff x="0" y="0"/>
          <a:chExt cx="0" cy="0"/>
        </a:xfrm>
      </p:grpSpPr>
      <p:sp>
        <p:nvSpPr>
          <p:cNvPr id="199" name="Google Shape;19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0" name="Google Shape;20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4"/>
        <p:cNvGrpSpPr/>
        <p:nvPr/>
      </p:nvGrpSpPr>
      <p:grpSpPr>
        <a:xfrm>
          <a:off x="0" y="0"/>
          <a:ext cx="0" cy="0"/>
          <a:chOff x="0" y="0"/>
          <a:chExt cx="0" cy="0"/>
        </a:xfrm>
      </p:grpSpPr>
      <p:sp>
        <p:nvSpPr>
          <p:cNvPr id="225" name="Google Shape;22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26" name="Google Shape;22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4"/>
        <p:cNvGrpSpPr/>
        <p:nvPr/>
      </p:nvGrpSpPr>
      <p:grpSpPr>
        <a:xfrm>
          <a:off x="0" y="0"/>
          <a:ext cx="0" cy="0"/>
          <a:chOff x="0" y="0"/>
          <a:chExt cx="0" cy="0"/>
        </a:xfrm>
      </p:grpSpPr>
      <p:sp>
        <p:nvSpPr>
          <p:cNvPr id="225" name="Google Shape;22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26" name="Google Shape;22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4"/>
        <p:cNvGrpSpPr/>
        <p:nvPr/>
      </p:nvGrpSpPr>
      <p:grpSpPr>
        <a:xfrm>
          <a:off x="0" y="0"/>
          <a:ext cx="0" cy="0"/>
          <a:chOff x="0" y="0"/>
          <a:chExt cx="0" cy="0"/>
        </a:xfrm>
      </p:grpSpPr>
      <p:sp>
        <p:nvSpPr>
          <p:cNvPr id="225" name="Google Shape;22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26" name="Google Shape;22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7"/>
        <p:cNvGrpSpPr/>
        <p:nvPr/>
      </p:nvGrpSpPr>
      <p:grpSpPr>
        <a:xfrm>
          <a:off x="0" y="0"/>
          <a:ext cx="0" cy="0"/>
          <a:chOff x="0" y="0"/>
          <a:chExt cx="0" cy="0"/>
        </a:xfrm>
      </p:grpSpPr>
      <p:sp>
        <p:nvSpPr>
          <p:cNvPr id="238" name="Google Shape;23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39" name="Google Shape;23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6"/>
        <p:cNvGrpSpPr/>
        <p:nvPr/>
      </p:nvGrpSpPr>
      <p:grpSpPr>
        <a:xfrm>
          <a:off x="0" y="0"/>
          <a:ext cx="0" cy="0"/>
          <a:chOff x="0" y="0"/>
          <a:chExt cx="0" cy="0"/>
        </a:xfrm>
      </p:grpSpPr>
      <p:sp>
        <p:nvSpPr>
          <p:cNvPr id="247" name="Google Shape;2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48" name="Google Shape;248;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2"/>
        <p:cNvGrpSpPr/>
        <p:nvPr/>
      </p:nvGrpSpPr>
      <p:grpSpPr>
        <a:xfrm>
          <a:off x="0" y="0"/>
          <a:ext cx="0" cy="0"/>
          <a:chOff x="0" y="0"/>
          <a:chExt cx="0" cy="0"/>
        </a:xfrm>
      </p:grpSpPr>
      <p:sp>
        <p:nvSpPr>
          <p:cNvPr id="273" name="Google Shape;27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4" name="Google Shape;274;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2"/>
        <p:cNvGrpSpPr/>
        <p:nvPr/>
      </p:nvGrpSpPr>
      <p:grpSpPr>
        <a:xfrm>
          <a:off x="0" y="0"/>
          <a:ext cx="0" cy="0"/>
          <a:chOff x="0" y="0"/>
          <a:chExt cx="0" cy="0"/>
        </a:xfrm>
      </p:grpSpPr>
      <p:sp>
        <p:nvSpPr>
          <p:cNvPr id="273" name="Google Shape;27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4" name="Google Shape;27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8"/>
        <p:cNvGrpSpPr/>
        <p:nvPr/>
      </p:nvGrpSpPr>
      <p:grpSpPr>
        <a:xfrm>
          <a:off x="0" y="0"/>
          <a:ext cx="0" cy="0"/>
          <a:chOff x="0" y="0"/>
          <a:chExt cx="0" cy="0"/>
        </a:xfrm>
      </p:grpSpPr>
      <p:sp>
        <p:nvSpPr>
          <p:cNvPr id="299" name="Google Shape;29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0" name="Google Shape;300;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8"/>
        <p:cNvGrpSpPr/>
        <p:nvPr/>
      </p:nvGrpSpPr>
      <p:grpSpPr>
        <a:xfrm>
          <a:off x="0" y="0"/>
          <a:ext cx="0" cy="0"/>
          <a:chOff x="0" y="0"/>
          <a:chExt cx="0" cy="0"/>
        </a:xfrm>
      </p:grpSpPr>
      <p:sp>
        <p:nvSpPr>
          <p:cNvPr id="299" name="Google Shape;29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0" name="Google Shape;30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8"/>
        <p:cNvGrpSpPr/>
        <p:nvPr/>
      </p:nvGrpSpPr>
      <p:grpSpPr>
        <a:xfrm>
          <a:off x="0" y="0"/>
          <a:ext cx="0" cy="0"/>
          <a:chOff x="0" y="0"/>
          <a:chExt cx="0" cy="0"/>
        </a:xfrm>
      </p:grpSpPr>
      <p:sp>
        <p:nvSpPr>
          <p:cNvPr id="299" name="Google Shape;29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0" name="Google Shape;30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4"/>
        <p:cNvGrpSpPr/>
        <p:nvPr/>
      </p:nvGrpSpPr>
      <p:grpSpPr>
        <a:xfrm>
          <a:off x="0" y="0"/>
          <a:ext cx="0" cy="0"/>
          <a:chOff x="0" y="0"/>
          <a:chExt cx="0" cy="0"/>
        </a:xfrm>
      </p:grpSpPr>
      <p:sp>
        <p:nvSpPr>
          <p:cNvPr id="225" name="Google Shape;22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26" name="Google Shape;22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4"/>
        <p:cNvGrpSpPr/>
        <p:nvPr/>
      </p:nvGrpSpPr>
      <p:grpSpPr>
        <a:xfrm>
          <a:off x="0" y="0"/>
          <a:ext cx="0" cy="0"/>
          <a:chOff x="0" y="0"/>
          <a:chExt cx="0" cy="0"/>
        </a:xfrm>
      </p:grpSpPr>
      <p:sp>
        <p:nvSpPr>
          <p:cNvPr id="225" name="Google Shape;22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26" name="Google Shape;22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4"/>
        <p:cNvGrpSpPr/>
        <p:nvPr/>
      </p:nvGrpSpPr>
      <p:grpSpPr>
        <a:xfrm>
          <a:off x="0" y="0"/>
          <a:ext cx="0" cy="0"/>
          <a:chOff x="0" y="0"/>
          <a:chExt cx="0" cy="0"/>
        </a:xfrm>
      </p:grpSpPr>
      <p:sp>
        <p:nvSpPr>
          <p:cNvPr id="325" name="Google Shape;32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26" name="Google Shape;32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3"/>
        <p:cNvGrpSpPr/>
        <p:nvPr/>
      </p:nvGrpSpPr>
      <p:grpSpPr>
        <a:xfrm>
          <a:off x="0" y="0"/>
          <a:ext cx="0" cy="0"/>
          <a:chOff x="0" y="0"/>
          <a:chExt cx="0" cy="0"/>
        </a:xfrm>
      </p:grpSpPr>
      <p:sp>
        <p:nvSpPr>
          <p:cNvPr id="334" name="Google Shape;33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35" name="Google Shape;335;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9"/>
        <p:cNvGrpSpPr/>
        <p:nvPr/>
      </p:nvGrpSpPr>
      <p:grpSpPr>
        <a:xfrm>
          <a:off x="0" y="0"/>
          <a:ext cx="0" cy="0"/>
          <a:chOff x="0" y="0"/>
          <a:chExt cx="0" cy="0"/>
        </a:xfrm>
      </p:grpSpPr>
      <p:sp>
        <p:nvSpPr>
          <p:cNvPr id="360" name="Google Shape;36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61" name="Google Shape;36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9"/>
        <p:cNvGrpSpPr/>
        <p:nvPr/>
      </p:nvGrpSpPr>
      <p:grpSpPr>
        <a:xfrm>
          <a:off x="0" y="0"/>
          <a:ext cx="0" cy="0"/>
          <a:chOff x="0" y="0"/>
          <a:chExt cx="0" cy="0"/>
        </a:xfrm>
      </p:grpSpPr>
      <p:sp>
        <p:nvSpPr>
          <p:cNvPr id="360" name="Google Shape;36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61" name="Google Shape;36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9"/>
        <p:cNvGrpSpPr/>
        <p:nvPr/>
      </p:nvGrpSpPr>
      <p:grpSpPr>
        <a:xfrm>
          <a:off x="0" y="0"/>
          <a:ext cx="0" cy="0"/>
          <a:chOff x="0" y="0"/>
          <a:chExt cx="0" cy="0"/>
        </a:xfrm>
      </p:grpSpPr>
      <p:sp>
        <p:nvSpPr>
          <p:cNvPr id="360" name="Google Shape;36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61" name="Google Shape;36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9"/>
        <p:cNvGrpSpPr/>
        <p:nvPr/>
      </p:nvGrpSpPr>
      <p:grpSpPr>
        <a:xfrm>
          <a:off x="0" y="0"/>
          <a:ext cx="0" cy="0"/>
          <a:chOff x="0" y="0"/>
          <a:chExt cx="0" cy="0"/>
        </a:xfrm>
      </p:grpSpPr>
      <p:sp>
        <p:nvSpPr>
          <p:cNvPr id="360" name="Google Shape;36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61" name="Google Shape;36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9"/>
        <p:cNvGrpSpPr/>
        <p:nvPr/>
      </p:nvGrpSpPr>
      <p:grpSpPr>
        <a:xfrm>
          <a:off x="0" y="0"/>
          <a:ext cx="0" cy="0"/>
          <a:chOff x="0" y="0"/>
          <a:chExt cx="0" cy="0"/>
        </a:xfrm>
      </p:grpSpPr>
      <p:sp>
        <p:nvSpPr>
          <p:cNvPr id="360" name="Google Shape;36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61" name="Google Shape;36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85"/>
        <p:cNvGrpSpPr/>
        <p:nvPr/>
      </p:nvGrpSpPr>
      <p:grpSpPr>
        <a:xfrm>
          <a:off x="0" y="0"/>
          <a:ext cx="0" cy="0"/>
          <a:chOff x="0" y="0"/>
          <a:chExt cx="0" cy="0"/>
        </a:xfrm>
      </p:grpSpPr>
      <p:sp>
        <p:nvSpPr>
          <p:cNvPr id="386" name="Google Shape;38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87" name="Google Shape;38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94"/>
        <p:cNvGrpSpPr/>
        <p:nvPr/>
      </p:nvGrpSpPr>
      <p:grpSpPr>
        <a:xfrm>
          <a:off x="0" y="0"/>
          <a:ext cx="0" cy="0"/>
          <a:chOff x="0" y="0"/>
          <a:chExt cx="0" cy="0"/>
        </a:xfrm>
      </p:grpSpPr>
      <p:sp>
        <p:nvSpPr>
          <p:cNvPr id="395" name="Google Shape;395;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96" name="Google Shape;39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90204"/>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9pPr>
          </a:lstStyle>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9.pn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1.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85" name="Google Shape;85;p13"/>
          <p:cNvSpPr txBox="1"/>
          <p:nvPr/>
        </p:nvSpPr>
        <p:spPr>
          <a:xfrm>
            <a:off x="1575434" y="1831627"/>
            <a:ext cx="9041130" cy="115379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500" b="1" i="0" u="none" strike="noStrike" cap="none">
                <a:solidFill>
                  <a:srgbClr val="38BDF8"/>
                </a:solidFill>
                <a:latin typeface="Inter" panose="02000503000000020004"/>
                <a:ea typeface="Inter" panose="02000503000000020004"/>
                <a:cs typeface="Inter" panose="02000503000000020004"/>
                <a:sym typeface="Inter" panose="02000503000000020004"/>
              </a:rPr>
              <a:t>Technical Interview</a:t>
            </a:r>
            <a:endParaRPr lang="en-US" sz="7500" b="1" i="0" u="none" strike="noStrike" cap="none">
              <a:solidFill>
                <a:srgbClr val="38BDF8"/>
              </a:solidFill>
              <a:latin typeface="Inter" panose="02000503000000020004"/>
              <a:ea typeface="Inter" panose="02000503000000020004"/>
              <a:cs typeface="Inter" panose="02000503000000020004"/>
              <a:sym typeface="Inter" panose="02000503000000020004"/>
            </a:endParaRPr>
          </a:p>
        </p:txBody>
      </p:sp>
      <p:sp>
        <p:nvSpPr>
          <p:cNvPr id="86" name="Google Shape;86;p13"/>
          <p:cNvSpPr txBox="1"/>
          <p:nvPr/>
        </p:nvSpPr>
        <p:spPr>
          <a:xfrm>
            <a:off x="2915602" y="2984152"/>
            <a:ext cx="6360795" cy="571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750" b="1" i="0" u="none" strike="noStrike" cap="none">
                <a:solidFill>
                  <a:srgbClr val="F8FAFC"/>
                </a:solidFill>
                <a:latin typeface="Inter" panose="02000503000000020004"/>
                <a:ea typeface="Inter" panose="02000503000000020004"/>
                <a:cs typeface="Inter" panose="02000503000000020004"/>
                <a:sym typeface="Inter" panose="02000503000000020004"/>
              </a:rPr>
              <a:t>Undergraduate Level Quiz</a:t>
            </a:r>
            <a:endParaRPr lang="en-US" sz="3750" b="1" i="0" u="none" strike="noStrike" cap="none">
              <a:solidFill>
                <a:srgbClr val="F8FAFC"/>
              </a:solidFill>
              <a:latin typeface="Inter" panose="02000503000000020004"/>
              <a:ea typeface="Inter" panose="02000503000000020004"/>
              <a:cs typeface="Inter" panose="02000503000000020004"/>
              <a:sym typeface="Inter" panose="02000503000000020004"/>
            </a:endParaRPr>
          </a:p>
        </p:txBody>
      </p:sp>
      <p:sp>
        <p:nvSpPr>
          <p:cNvPr id="87" name="Google Shape;87;p13"/>
          <p:cNvSpPr/>
          <p:nvPr/>
        </p:nvSpPr>
        <p:spPr>
          <a:xfrm>
            <a:off x="5381625" y="3841402"/>
            <a:ext cx="1428750" cy="76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 name="Google Shape;88;p13"/>
          <p:cNvSpPr txBox="1"/>
          <p:nvPr/>
        </p:nvSpPr>
        <p:spPr>
          <a:xfrm>
            <a:off x="3400425" y="4431952"/>
            <a:ext cx="53911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rPr>
              <a:t>Data Structures | OOP | DBMS | Machine Learning</a:t>
            </a:r>
            <a:endPar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94" name="Google Shape;94;p14"/>
          <p:cNvSpPr/>
          <p:nvPr/>
        </p:nvSpPr>
        <p:spPr>
          <a:xfrm>
            <a:off x="0" y="0"/>
            <a:ext cx="12192000" cy="6858000"/>
          </a:xfrm>
          <a:prstGeom prst="rect">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 name="Google Shape;95;p14"/>
          <p:cNvSpPr txBox="1"/>
          <p:nvPr/>
        </p:nvSpPr>
        <p:spPr>
          <a:xfrm>
            <a:off x="5638800" y="1932319"/>
            <a:ext cx="91440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1" i="0" u="none" strike="noStrike" cap="none" dirty="0">
                <a:solidFill>
                  <a:srgbClr val="38BDF8"/>
                </a:solidFill>
                <a:latin typeface="Inter" panose="02000503000000020004"/>
                <a:ea typeface="Inter" panose="02000503000000020004"/>
                <a:cs typeface="Inter" panose="02000503000000020004"/>
                <a:sym typeface="Inter" panose="02000503000000020004"/>
              </a:rPr>
              <a:t>PART 01</a:t>
            </a:r>
            <a:endParaRPr dirty="0"/>
          </a:p>
        </p:txBody>
      </p:sp>
      <p:sp>
        <p:nvSpPr>
          <p:cNvPr id="96" name="Google Shape;96;p14"/>
          <p:cNvSpPr txBox="1"/>
          <p:nvPr/>
        </p:nvSpPr>
        <p:spPr>
          <a:xfrm>
            <a:off x="405288" y="2940248"/>
            <a:ext cx="11381422" cy="923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dirty="0">
                <a:solidFill>
                  <a:srgbClr val="F8FAFC"/>
                </a:solidFill>
                <a:latin typeface="Inter" panose="02000503000000020004"/>
                <a:ea typeface="Inter" panose="02000503000000020004"/>
                <a:cs typeface="Inter" panose="02000503000000020004"/>
                <a:sym typeface="Inter" panose="02000503000000020004"/>
              </a:rPr>
              <a:t>Data Structures &amp; Algorithms</a:t>
            </a:r>
            <a:endParaRPr dirty="0"/>
          </a:p>
        </p:txBody>
      </p:sp>
      <p:sp>
        <p:nvSpPr>
          <p:cNvPr id="97" name="Google Shape;97;p14"/>
          <p:cNvSpPr/>
          <p:nvPr/>
        </p:nvSpPr>
        <p:spPr>
          <a:xfrm>
            <a:off x="5381625" y="4149923"/>
            <a:ext cx="1428750" cy="76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01"/>
        <p:cNvGrpSpPr/>
        <p:nvPr/>
      </p:nvGrpSpPr>
      <p:grpSpPr>
        <a:xfrm>
          <a:off x="0" y="0"/>
          <a:ext cx="0" cy="0"/>
          <a:chOff x="0" y="0"/>
          <a:chExt cx="0" cy="0"/>
        </a:xfrm>
      </p:grpSpPr>
      <p:pic>
        <p:nvPicPr>
          <p:cNvPr id="102" name="Google Shape;102;p15"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03" name="Google Shape;103;p15" descr="image.png"/>
          <p:cNvPicPr preferRelativeResize="0"/>
          <p:nvPr/>
        </p:nvPicPr>
        <p:blipFill rotWithShape="1">
          <a:blip r:embed="rId2"/>
          <a:srcRect/>
          <a:stretch>
            <a:fillRect/>
          </a:stretch>
        </p:blipFill>
        <p:spPr>
          <a:xfrm>
            <a:off x="571500" y="6871989"/>
            <a:ext cx="11049000" cy="838200"/>
          </a:xfrm>
          <a:prstGeom prst="rect">
            <a:avLst/>
          </a:prstGeom>
          <a:noFill/>
          <a:ln>
            <a:noFill/>
          </a:ln>
        </p:spPr>
      </p:pic>
      <p:sp>
        <p:nvSpPr>
          <p:cNvPr id="104" name="Google Shape;104;p15"/>
          <p:cNvSpPr txBox="1"/>
          <p:nvPr/>
        </p:nvSpPr>
        <p:spPr>
          <a:xfrm>
            <a:off x="571500" y="2043261"/>
            <a:ext cx="11049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Which data structure is used by the compiler to manage function calls and local variables?</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105" name="Google Shape;105;p15"/>
          <p:cNvSpPr txBox="1"/>
          <p:nvPr/>
        </p:nvSpPr>
        <p:spPr>
          <a:xfrm>
            <a:off x="6657975" y="7129164"/>
            <a:ext cx="1076325"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B) Stack</a:t>
            </a:r>
            <a:endParaRPr lang="en-US" sz="2100" b="0" i="0" u="none" strike="noStrike" cap="none">
              <a:solidFill>
                <a:srgbClr val="FEF08A"/>
              </a:solidFill>
              <a:latin typeface="Inter Black"/>
              <a:ea typeface="Inter Black"/>
              <a:cs typeface="Inter Black"/>
              <a:sym typeface="Inter Black"/>
            </a:endParaRPr>
          </a:p>
        </p:txBody>
      </p:sp>
      <p:sp>
        <p:nvSpPr>
          <p:cNvPr id="106" name="Google Shape;106;p15"/>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7" name="Google Shape;107;p15"/>
          <p:cNvSpPr txBox="1"/>
          <p:nvPr/>
        </p:nvSpPr>
        <p:spPr>
          <a:xfrm>
            <a:off x="1600200" y="3037582"/>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Queue</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108" name="Google Shape;108;p15"/>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9" name="Google Shape;109;p15"/>
          <p:cNvSpPr txBox="1"/>
          <p:nvPr/>
        </p:nvSpPr>
        <p:spPr>
          <a:xfrm>
            <a:off x="1600200" y="3946177"/>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B) Stack</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110" name="Google Shape;110;p15"/>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1" name="Google Shape;111;p15"/>
          <p:cNvSpPr txBox="1"/>
          <p:nvPr/>
        </p:nvSpPr>
        <p:spPr>
          <a:xfrm>
            <a:off x="1600200" y="4854773"/>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C) Tree</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112" name="Google Shape;112;p15"/>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3" name="Google Shape;113;p15"/>
          <p:cNvSpPr txBox="1"/>
          <p:nvPr/>
        </p:nvSpPr>
        <p:spPr>
          <a:xfrm>
            <a:off x="1600200" y="5763369"/>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D) Linked List</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114" name="Google Shape;114;p15"/>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5" name="Google Shape;115;p15"/>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6" name="Google Shape;116;p15"/>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7" name="Google Shape;117;p15"/>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18" name="Google Shape;118;p15" descr="image.png"/>
          <p:cNvPicPr preferRelativeResize="0"/>
          <p:nvPr/>
        </p:nvPicPr>
        <p:blipFill rotWithShape="1">
          <a:blip r:embed="rId3"/>
          <a:srcRect/>
          <a:stretch>
            <a:fillRect/>
          </a:stretch>
        </p:blipFill>
        <p:spPr>
          <a:xfrm>
            <a:off x="1247775" y="3129855"/>
            <a:ext cx="171450" cy="200025"/>
          </a:xfrm>
          <a:prstGeom prst="rect">
            <a:avLst/>
          </a:prstGeom>
          <a:noFill/>
          <a:ln>
            <a:noFill/>
          </a:ln>
        </p:spPr>
      </p:pic>
      <p:pic>
        <p:nvPicPr>
          <p:cNvPr id="119" name="Google Shape;119;p15" descr="image.png"/>
          <p:cNvPicPr preferRelativeResize="0"/>
          <p:nvPr/>
        </p:nvPicPr>
        <p:blipFill rotWithShape="1">
          <a:blip r:embed="rId3"/>
          <a:srcRect/>
          <a:stretch>
            <a:fillRect/>
          </a:stretch>
        </p:blipFill>
        <p:spPr>
          <a:xfrm>
            <a:off x="1247775" y="4038451"/>
            <a:ext cx="171450" cy="200025"/>
          </a:xfrm>
          <a:prstGeom prst="rect">
            <a:avLst/>
          </a:prstGeom>
          <a:noFill/>
          <a:ln>
            <a:noFill/>
          </a:ln>
        </p:spPr>
      </p:pic>
      <p:pic>
        <p:nvPicPr>
          <p:cNvPr id="120" name="Google Shape;120;p15" descr="image.png"/>
          <p:cNvPicPr preferRelativeResize="0"/>
          <p:nvPr/>
        </p:nvPicPr>
        <p:blipFill rotWithShape="1">
          <a:blip r:embed="rId3"/>
          <a:srcRect/>
          <a:stretch>
            <a:fillRect/>
          </a:stretch>
        </p:blipFill>
        <p:spPr>
          <a:xfrm>
            <a:off x="1247775" y="4947046"/>
            <a:ext cx="171450" cy="200025"/>
          </a:xfrm>
          <a:prstGeom prst="rect">
            <a:avLst/>
          </a:prstGeom>
          <a:noFill/>
          <a:ln>
            <a:noFill/>
          </a:ln>
        </p:spPr>
      </p:pic>
      <p:pic>
        <p:nvPicPr>
          <p:cNvPr id="121" name="Google Shape;121;p15" descr="image.png"/>
          <p:cNvPicPr preferRelativeResize="0"/>
          <p:nvPr/>
        </p:nvPicPr>
        <p:blipFill rotWithShape="1">
          <a:blip r:embed="rId3"/>
          <a:srcRect/>
          <a:stretch>
            <a:fillRect/>
          </a:stretch>
        </p:blipFill>
        <p:spPr>
          <a:xfrm>
            <a:off x="1247775" y="5855642"/>
            <a:ext cx="171450" cy="200025"/>
          </a:xfrm>
          <a:prstGeom prst="rect">
            <a:avLst/>
          </a:prstGeom>
          <a:noFill/>
          <a:ln>
            <a:noFill/>
          </a:ln>
        </p:spPr>
      </p:pic>
      <p:sp>
        <p:nvSpPr>
          <p:cNvPr id="122" name="Google Shape;122;p15"/>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FUNCTION CALL MANAGEMENT</a:t>
            </a:r>
            <a:endPar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endParaRPr>
          </a:p>
        </p:txBody>
      </p:sp>
      <p:sp>
        <p:nvSpPr>
          <p:cNvPr id="123" name="Google Shape;123;p15"/>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108"/>
                                        </p:tgtEl>
                                        <p:attrNameLst>
                                          <p:attrName>fillcolor</p:attrName>
                                        </p:attrNameLst>
                                      </p:cBhvr>
                                      <p:to>
                                        <a:srgbClr val="00B050"/>
                                      </p:to>
                                    </p:animClr>
                                    <p:set>
                                      <p:cBhvr>
                                        <p:cTn id="7" dur="2000" fill="hold"/>
                                        <p:tgtEl>
                                          <p:spTgt spid="108"/>
                                        </p:tgtEl>
                                        <p:attrNameLst>
                                          <p:attrName>fill.type</p:attrName>
                                        </p:attrNameLst>
                                      </p:cBhvr>
                                      <p:to>
                                        <p:strVal val="solid"/>
                                      </p:to>
                                    </p:set>
                                    <p:set>
                                      <p:cBhvr>
                                        <p:cTn id="8" dur="2000" fill="hold"/>
                                        <p:tgtEl>
                                          <p:spTgt spid="10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27"/>
        <p:cNvGrpSpPr/>
        <p:nvPr/>
      </p:nvGrpSpPr>
      <p:grpSpPr>
        <a:xfrm>
          <a:off x="0" y="0"/>
          <a:ext cx="0" cy="0"/>
          <a:chOff x="0" y="0"/>
          <a:chExt cx="0" cy="0"/>
        </a:xfrm>
      </p:grpSpPr>
      <p:pic>
        <p:nvPicPr>
          <p:cNvPr id="128" name="Google Shape;128;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29" name="Google Shape;129;p16" descr="image.png"/>
          <p:cNvPicPr preferRelativeResize="0"/>
          <p:nvPr/>
        </p:nvPicPr>
        <p:blipFill rotWithShape="1">
          <a:blip r:embed="rId2"/>
          <a:srcRect/>
          <a:stretch>
            <a:fillRect/>
          </a:stretch>
        </p:blipFill>
        <p:spPr>
          <a:xfrm>
            <a:off x="571500" y="1814661"/>
            <a:ext cx="5334000" cy="4727971"/>
          </a:xfrm>
          <a:prstGeom prst="rect">
            <a:avLst/>
          </a:prstGeom>
          <a:noFill/>
          <a:ln>
            <a:noFill/>
          </a:ln>
        </p:spPr>
      </p:pic>
      <p:pic>
        <p:nvPicPr>
          <p:cNvPr id="130" name="Google Shape;130;p16" descr="image.png"/>
          <p:cNvPicPr preferRelativeResize="0"/>
          <p:nvPr/>
        </p:nvPicPr>
        <p:blipFill rotWithShape="1">
          <a:blip r:embed="rId3"/>
          <a:srcRect/>
          <a:stretch>
            <a:fillRect/>
          </a:stretch>
        </p:blipFill>
        <p:spPr>
          <a:xfrm>
            <a:off x="6286500" y="1814661"/>
            <a:ext cx="5334000" cy="4727971"/>
          </a:xfrm>
          <a:prstGeom prst="rect">
            <a:avLst/>
          </a:prstGeom>
          <a:noFill/>
          <a:ln>
            <a:noFill/>
          </a:ln>
        </p:spPr>
      </p:pic>
      <p:pic>
        <p:nvPicPr>
          <p:cNvPr id="131" name="Google Shape;131;p16" descr="image.png"/>
          <p:cNvPicPr preferRelativeResize="0"/>
          <p:nvPr/>
        </p:nvPicPr>
        <p:blipFill rotWithShape="1">
          <a:blip r:embed="rId4"/>
          <a:srcRect/>
          <a:stretch>
            <a:fillRect/>
          </a:stretch>
        </p:blipFill>
        <p:spPr>
          <a:xfrm>
            <a:off x="6677025" y="4266158"/>
            <a:ext cx="4552950" cy="838200"/>
          </a:xfrm>
          <a:prstGeom prst="rect">
            <a:avLst/>
          </a:prstGeom>
          <a:noFill/>
          <a:ln>
            <a:noFill/>
          </a:ln>
        </p:spPr>
      </p:pic>
      <p:sp>
        <p:nvSpPr>
          <p:cNvPr id="132" name="Google Shape;132;p16"/>
          <p:cNvSpPr txBox="1"/>
          <p:nvPr/>
        </p:nvSpPr>
        <p:spPr>
          <a:xfrm>
            <a:off x="962025" y="2471886"/>
            <a:ext cx="4552950" cy="34135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100" b="0" i="1" u="none" strike="noStrike" cap="none">
                <a:solidFill>
                  <a:srgbClr val="E2E8F0"/>
                </a:solidFill>
                <a:latin typeface="JetBrains Mono" panose="02000009000000000000"/>
                <a:ea typeface="JetBrains Mono" panose="02000009000000000000"/>
                <a:cs typeface="JetBrains Mono" panose="02000009000000000000"/>
                <a:sym typeface="JetBrains Mono" panose="02000009000000000000"/>
              </a:rPr>
              <a:t>"I operate under a very strict rule: 'First In, First Out'. If you want to insert something, you have to do it at my Rear, but if you want to remove something, you must take it from my Front."</a:t>
            </a:r>
            <a:endParaRPr lang="en-US" sz="2100" b="0" i="1" u="none" strike="noStrike" cap="none">
              <a:solidFill>
                <a:srgbClr val="E2E8F0"/>
              </a:solidFill>
              <a:latin typeface="JetBrains Mono" panose="02000009000000000000"/>
              <a:ea typeface="JetBrains Mono" panose="02000009000000000000"/>
              <a:cs typeface="JetBrains Mono" panose="02000009000000000000"/>
              <a:sym typeface="JetBrains Mono" panose="02000009000000000000"/>
            </a:endParaRPr>
          </a:p>
        </p:txBody>
      </p:sp>
      <p:sp>
        <p:nvSpPr>
          <p:cNvPr id="133" name="Google Shape;133;p16"/>
          <p:cNvSpPr txBox="1"/>
          <p:nvPr/>
        </p:nvSpPr>
        <p:spPr>
          <a:xfrm>
            <a:off x="6677025" y="3481387"/>
            <a:ext cx="45529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rPr>
              <a:t>Who am I?</a:t>
            </a:r>
            <a:endPar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endParaRPr>
          </a:p>
        </p:txBody>
      </p:sp>
      <p:sp>
        <p:nvSpPr>
          <p:cNvPr id="134" name="Google Shape;134;p16"/>
          <p:cNvSpPr txBox="1"/>
          <p:nvPr/>
        </p:nvSpPr>
        <p:spPr>
          <a:xfrm>
            <a:off x="8939212" y="4523333"/>
            <a:ext cx="1260702" cy="33169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FEF08A"/>
                </a:solidFill>
                <a:latin typeface="Inter Black"/>
                <a:ea typeface="Inter Black"/>
                <a:cs typeface="Inter Black"/>
                <a:sym typeface="Inter Black"/>
              </a:rPr>
              <a:t>Queue</a:t>
            </a:r>
            <a:endParaRPr dirty="0"/>
          </a:p>
        </p:txBody>
      </p:sp>
      <p:sp>
        <p:nvSpPr>
          <p:cNvPr id="135" name="Google Shape;135;p16"/>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IDENTIFY THE STRUCTURE</a:t>
            </a:r>
            <a:endPar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endParaRPr>
          </a:p>
        </p:txBody>
      </p:sp>
      <p:sp>
        <p:nvSpPr>
          <p:cNvPr id="136" name="Google Shape;136;p16"/>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29" name="Google Shape;129;p16" descr="image.png"/>
          <p:cNvPicPr preferRelativeResize="0"/>
          <p:nvPr/>
        </p:nvPicPr>
        <p:blipFill rotWithShape="1">
          <a:blip r:embed="rId2"/>
          <a:srcRect/>
          <a:stretch>
            <a:fillRect/>
          </a:stretch>
        </p:blipFill>
        <p:spPr>
          <a:xfrm>
            <a:off x="571500" y="1814661"/>
            <a:ext cx="5334000" cy="4727971"/>
          </a:xfrm>
          <a:prstGeom prst="rect">
            <a:avLst/>
          </a:prstGeom>
          <a:noFill/>
          <a:ln>
            <a:noFill/>
          </a:ln>
        </p:spPr>
      </p:pic>
      <p:pic>
        <p:nvPicPr>
          <p:cNvPr id="130" name="Google Shape;130;p16" descr="image.png"/>
          <p:cNvPicPr preferRelativeResize="0"/>
          <p:nvPr/>
        </p:nvPicPr>
        <p:blipFill rotWithShape="1">
          <a:blip r:embed="rId3"/>
          <a:srcRect/>
          <a:stretch>
            <a:fillRect/>
          </a:stretch>
        </p:blipFill>
        <p:spPr>
          <a:xfrm>
            <a:off x="6286500" y="1814661"/>
            <a:ext cx="5334000" cy="4727971"/>
          </a:xfrm>
          <a:prstGeom prst="rect">
            <a:avLst/>
          </a:prstGeom>
          <a:noFill/>
          <a:ln>
            <a:noFill/>
          </a:ln>
        </p:spPr>
      </p:pic>
      <p:pic>
        <p:nvPicPr>
          <p:cNvPr id="131" name="Google Shape;131;p16" descr="image.png"/>
          <p:cNvPicPr preferRelativeResize="0"/>
          <p:nvPr/>
        </p:nvPicPr>
        <p:blipFill rotWithShape="1">
          <a:blip r:embed="rId4"/>
          <a:srcRect/>
          <a:stretch>
            <a:fillRect/>
          </a:stretch>
        </p:blipFill>
        <p:spPr>
          <a:xfrm>
            <a:off x="6677025" y="4266158"/>
            <a:ext cx="4552950" cy="838200"/>
          </a:xfrm>
          <a:prstGeom prst="rect">
            <a:avLst/>
          </a:prstGeom>
          <a:noFill/>
          <a:ln>
            <a:noFill/>
          </a:ln>
        </p:spPr>
      </p:pic>
      <p:sp>
        <p:nvSpPr>
          <p:cNvPr id="132" name="Google Shape;132;p16"/>
          <p:cNvSpPr txBox="1"/>
          <p:nvPr/>
        </p:nvSpPr>
        <p:spPr>
          <a:xfrm>
            <a:off x="962025" y="1894944"/>
            <a:ext cx="4552950" cy="46535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100" b="0" i="1" u="none" strike="noStrike" cap="none" dirty="0">
                <a:solidFill>
                  <a:srgbClr val="E2E8F0"/>
                </a:solidFill>
                <a:latin typeface="JetBrains Mono" panose="02000009000000000000"/>
                <a:ea typeface="JetBrains Mono" panose="02000009000000000000"/>
                <a:cs typeface="JetBrains Mono" panose="02000009000000000000"/>
                <a:sym typeface="JetBrains Mono" panose="02000009000000000000"/>
              </a:rPr>
              <a:t>"I am a searching algorithm. I am simple but not very efficient for large datasets. I start at the very beginning of a collection and check every single item one by one until I find a match or run out of elements. Who am I?"</a:t>
            </a:r>
            <a:endParaRPr dirty="0"/>
          </a:p>
        </p:txBody>
      </p:sp>
      <p:sp>
        <p:nvSpPr>
          <p:cNvPr id="133" name="Google Shape;133;p16"/>
          <p:cNvSpPr txBox="1"/>
          <p:nvPr/>
        </p:nvSpPr>
        <p:spPr>
          <a:xfrm>
            <a:off x="6677025" y="3481387"/>
            <a:ext cx="45529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rPr>
              <a:t>Who am I?</a:t>
            </a:r>
            <a:endPar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endParaRPr>
          </a:p>
        </p:txBody>
      </p:sp>
      <p:sp>
        <p:nvSpPr>
          <p:cNvPr id="134" name="Google Shape;134;p16"/>
          <p:cNvSpPr txBox="1"/>
          <p:nvPr/>
        </p:nvSpPr>
        <p:spPr>
          <a:xfrm>
            <a:off x="8939211" y="4523333"/>
            <a:ext cx="1848531"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FEF08A"/>
                </a:solidFill>
                <a:latin typeface="Inter Black"/>
                <a:ea typeface="Inter Black"/>
                <a:cs typeface="Inter Black"/>
                <a:sym typeface="Inter Black"/>
              </a:rPr>
              <a:t>Linear Search</a:t>
            </a:r>
            <a:endParaRPr dirty="0"/>
          </a:p>
        </p:txBody>
      </p:sp>
      <p:sp>
        <p:nvSpPr>
          <p:cNvPr id="135" name="Google Shape;135;p16"/>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IDENTIFY </a:t>
            </a:r>
            <a:r>
              <a:rPr lang="en-US" sz="3300" b="1" dirty="0">
                <a:solidFill>
                  <a:srgbClr val="38BDF8"/>
                </a:solidFill>
                <a:latin typeface="Inter" panose="02000503000000020004"/>
                <a:ea typeface="Inter" panose="02000503000000020004"/>
                <a:cs typeface="Inter" panose="02000503000000020004"/>
                <a:sym typeface="Inter" panose="02000503000000020004"/>
              </a:rPr>
              <a:t>ME</a:t>
            </a:r>
            <a:endParaRPr dirty="0"/>
          </a:p>
        </p:txBody>
      </p:sp>
      <p:sp>
        <p:nvSpPr>
          <p:cNvPr id="136" name="Google Shape;136;p16"/>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29" name="Google Shape;129;p16" descr="image.png"/>
          <p:cNvPicPr preferRelativeResize="0"/>
          <p:nvPr/>
        </p:nvPicPr>
        <p:blipFill rotWithShape="1">
          <a:blip r:embed="rId2"/>
          <a:srcRect/>
          <a:stretch>
            <a:fillRect/>
          </a:stretch>
        </p:blipFill>
        <p:spPr>
          <a:xfrm>
            <a:off x="571500" y="1814661"/>
            <a:ext cx="5334000" cy="4727971"/>
          </a:xfrm>
          <a:prstGeom prst="rect">
            <a:avLst/>
          </a:prstGeom>
          <a:noFill/>
          <a:ln>
            <a:noFill/>
          </a:ln>
        </p:spPr>
      </p:pic>
      <p:pic>
        <p:nvPicPr>
          <p:cNvPr id="130" name="Google Shape;130;p16" descr="image.png"/>
          <p:cNvPicPr preferRelativeResize="0"/>
          <p:nvPr/>
        </p:nvPicPr>
        <p:blipFill rotWithShape="1">
          <a:blip r:embed="rId3"/>
          <a:srcRect/>
          <a:stretch>
            <a:fillRect/>
          </a:stretch>
        </p:blipFill>
        <p:spPr>
          <a:xfrm>
            <a:off x="6286500" y="1814661"/>
            <a:ext cx="5334000" cy="4727971"/>
          </a:xfrm>
          <a:prstGeom prst="rect">
            <a:avLst/>
          </a:prstGeom>
          <a:noFill/>
          <a:ln>
            <a:noFill/>
          </a:ln>
        </p:spPr>
      </p:pic>
      <p:pic>
        <p:nvPicPr>
          <p:cNvPr id="131" name="Google Shape;131;p16" descr="image.png"/>
          <p:cNvPicPr preferRelativeResize="0"/>
          <p:nvPr/>
        </p:nvPicPr>
        <p:blipFill rotWithShape="1">
          <a:blip r:embed="rId4"/>
          <a:srcRect/>
          <a:stretch>
            <a:fillRect/>
          </a:stretch>
        </p:blipFill>
        <p:spPr>
          <a:xfrm>
            <a:off x="6477000" y="4331464"/>
            <a:ext cx="4552950" cy="838200"/>
          </a:xfrm>
          <a:prstGeom prst="rect">
            <a:avLst/>
          </a:prstGeom>
          <a:noFill/>
          <a:ln>
            <a:noFill/>
          </a:ln>
        </p:spPr>
      </p:pic>
      <p:sp>
        <p:nvSpPr>
          <p:cNvPr id="132" name="Google Shape;132;p16"/>
          <p:cNvSpPr txBox="1"/>
          <p:nvPr/>
        </p:nvSpPr>
        <p:spPr>
          <a:xfrm>
            <a:off x="962025" y="1894944"/>
            <a:ext cx="4552950" cy="465358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100" b="0" i="1" u="none" strike="noStrike" cap="none" dirty="0">
                <a:solidFill>
                  <a:srgbClr val="E2E8F0"/>
                </a:solidFill>
                <a:latin typeface="JetBrains Mono" panose="02000009000000000000"/>
                <a:ea typeface="JetBrains Mono" panose="02000009000000000000"/>
                <a:cs typeface="JetBrains Mono" panose="02000009000000000000"/>
                <a:sym typeface="JetBrains Mono" panose="02000009000000000000"/>
              </a:rPr>
              <a:t>"I am a self-referential linear data structure. Unlike arrays, my elements are not stored in contiguous memory locations. Instead, each of my nodes holds a piece of data and a pointer pointing to the next node in line. Who am I?</a:t>
            </a:r>
            <a:endParaRPr dirty="0"/>
          </a:p>
        </p:txBody>
      </p:sp>
      <p:sp>
        <p:nvSpPr>
          <p:cNvPr id="133" name="Google Shape;133;p16"/>
          <p:cNvSpPr txBox="1"/>
          <p:nvPr/>
        </p:nvSpPr>
        <p:spPr>
          <a:xfrm>
            <a:off x="6677025" y="3481387"/>
            <a:ext cx="45529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rPr>
              <a:t>Who am I?</a:t>
            </a:r>
            <a:endPar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endParaRPr>
          </a:p>
        </p:txBody>
      </p:sp>
      <p:sp>
        <p:nvSpPr>
          <p:cNvPr id="134" name="Google Shape;134;p16"/>
          <p:cNvSpPr txBox="1"/>
          <p:nvPr/>
        </p:nvSpPr>
        <p:spPr>
          <a:xfrm>
            <a:off x="8939211" y="4523333"/>
            <a:ext cx="1848531" cy="64633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FEF08A"/>
                </a:solidFill>
                <a:latin typeface="Inter Black"/>
                <a:ea typeface="Inter Black"/>
                <a:cs typeface="Inter Black"/>
                <a:sym typeface="Inter Black"/>
              </a:rPr>
              <a:t>Singly Linked List</a:t>
            </a:r>
            <a:endParaRPr dirty="0"/>
          </a:p>
        </p:txBody>
      </p:sp>
      <p:sp>
        <p:nvSpPr>
          <p:cNvPr id="135" name="Google Shape;135;p16"/>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IDENTIFY </a:t>
            </a:r>
            <a:r>
              <a:rPr lang="en-US" sz="3300" b="1" dirty="0">
                <a:solidFill>
                  <a:srgbClr val="38BDF8"/>
                </a:solidFill>
                <a:latin typeface="Inter" panose="02000503000000020004"/>
                <a:ea typeface="Inter" panose="02000503000000020004"/>
                <a:cs typeface="Inter" panose="02000503000000020004"/>
                <a:sym typeface="Inter" panose="02000503000000020004"/>
              </a:rPr>
              <a:t>ME</a:t>
            </a:r>
            <a:endParaRPr dirty="0"/>
          </a:p>
        </p:txBody>
      </p:sp>
      <p:sp>
        <p:nvSpPr>
          <p:cNvPr id="136" name="Google Shape;136;p16"/>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40"/>
        <p:cNvGrpSpPr/>
        <p:nvPr/>
      </p:nvGrpSpPr>
      <p:grpSpPr>
        <a:xfrm>
          <a:off x="0" y="0"/>
          <a:ext cx="0" cy="0"/>
          <a:chOff x="0" y="0"/>
          <a:chExt cx="0" cy="0"/>
        </a:xfrm>
      </p:grpSpPr>
      <p:pic>
        <p:nvPicPr>
          <p:cNvPr id="141" name="Google Shape;141;p17"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42" name="Google Shape;142;p17"/>
          <p:cNvSpPr/>
          <p:nvPr/>
        </p:nvSpPr>
        <p:spPr>
          <a:xfrm>
            <a:off x="0" y="0"/>
            <a:ext cx="12192000" cy="6858000"/>
          </a:xfrm>
          <a:prstGeom prst="rect">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3" name="Google Shape;143;p17"/>
          <p:cNvSpPr txBox="1"/>
          <p:nvPr/>
        </p:nvSpPr>
        <p:spPr>
          <a:xfrm>
            <a:off x="5614987" y="1513901"/>
            <a:ext cx="962025"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1" i="0" u="none" strike="noStrike" cap="none" dirty="0">
                <a:solidFill>
                  <a:srgbClr val="38BDF8"/>
                </a:solidFill>
                <a:latin typeface="Inter" panose="02000503000000020004"/>
                <a:ea typeface="Inter" panose="02000503000000020004"/>
                <a:cs typeface="Inter" panose="02000503000000020004"/>
                <a:sym typeface="Inter" panose="02000503000000020004"/>
              </a:rPr>
              <a:t>PART 02</a:t>
            </a:r>
            <a:endParaRPr dirty="0"/>
          </a:p>
        </p:txBody>
      </p:sp>
      <p:sp>
        <p:nvSpPr>
          <p:cNvPr id="144" name="Google Shape;144;p17"/>
          <p:cNvSpPr txBox="1"/>
          <p:nvPr/>
        </p:nvSpPr>
        <p:spPr>
          <a:xfrm>
            <a:off x="295275" y="2478285"/>
            <a:ext cx="11601450" cy="1847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F8FAFC"/>
                </a:solidFill>
                <a:latin typeface="Inter" panose="02000503000000020004"/>
                <a:ea typeface="Inter" panose="02000503000000020004"/>
                <a:cs typeface="Inter" panose="02000503000000020004"/>
                <a:sym typeface="Inter" panose="02000503000000020004"/>
              </a:rPr>
              <a:t>Object-Oriented Programming</a:t>
            </a:r>
            <a:endParaRPr lang="en-US" sz="6000" b="1" i="0" u="none" strike="noStrike" cap="none">
              <a:solidFill>
                <a:srgbClr val="F8FAFC"/>
              </a:solidFill>
              <a:latin typeface="Inter" panose="02000503000000020004"/>
              <a:ea typeface="Inter" panose="02000503000000020004"/>
              <a:cs typeface="Inter" panose="02000503000000020004"/>
              <a:sym typeface="Inter" panose="02000503000000020004"/>
            </a:endParaRPr>
          </a:p>
        </p:txBody>
      </p:sp>
      <p:sp>
        <p:nvSpPr>
          <p:cNvPr id="145" name="Google Shape;145;p17"/>
          <p:cNvSpPr/>
          <p:nvPr/>
        </p:nvSpPr>
        <p:spPr>
          <a:xfrm>
            <a:off x="5381625" y="4611885"/>
            <a:ext cx="1428750" cy="76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49"/>
        <p:cNvGrpSpPr/>
        <p:nvPr/>
      </p:nvGrpSpPr>
      <p:grpSpPr>
        <a:xfrm>
          <a:off x="0" y="0"/>
          <a:ext cx="0" cy="0"/>
          <a:chOff x="0" y="0"/>
          <a:chExt cx="0" cy="0"/>
        </a:xfrm>
      </p:grpSpPr>
      <p:pic>
        <p:nvPicPr>
          <p:cNvPr id="150" name="Google Shape;150;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51" name="Google Shape;151;p18" descr="image.png"/>
          <p:cNvPicPr preferRelativeResize="0"/>
          <p:nvPr/>
        </p:nvPicPr>
        <p:blipFill rotWithShape="1">
          <a:blip r:embed="rId2"/>
          <a:srcRect/>
          <a:stretch>
            <a:fillRect/>
          </a:stretch>
        </p:blipFill>
        <p:spPr>
          <a:xfrm>
            <a:off x="571500" y="6871989"/>
            <a:ext cx="11049000" cy="838200"/>
          </a:xfrm>
          <a:prstGeom prst="rect">
            <a:avLst/>
          </a:prstGeom>
          <a:noFill/>
          <a:ln>
            <a:noFill/>
          </a:ln>
        </p:spPr>
      </p:pic>
      <p:sp>
        <p:nvSpPr>
          <p:cNvPr id="152" name="Google Shape;152;p18"/>
          <p:cNvSpPr txBox="1"/>
          <p:nvPr/>
        </p:nvSpPr>
        <p:spPr>
          <a:xfrm>
            <a:off x="571500" y="2043261"/>
            <a:ext cx="11049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Wrapping data and methods together into a single unit is known as:</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153" name="Google Shape;153;p18"/>
          <p:cNvSpPr txBox="1"/>
          <p:nvPr/>
        </p:nvSpPr>
        <p:spPr>
          <a:xfrm>
            <a:off x="6091237" y="7129164"/>
            <a:ext cx="220980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C) Encapsulation</a:t>
            </a:r>
            <a:endParaRPr lang="en-US" sz="2100" b="0" i="0" u="none" strike="noStrike" cap="none">
              <a:solidFill>
                <a:srgbClr val="FEF08A"/>
              </a:solidFill>
              <a:latin typeface="Inter Black"/>
              <a:ea typeface="Inter Black"/>
              <a:cs typeface="Inter Black"/>
              <a:sym typeface="Inter Black"/>
            </a:endParaRPr>
          </a:p>
        </p:txBody>
      </p:sp>
      <p:sp>
        <p:nvSpPr>
          <p:cNvPr id="154" name="Google Shape;154;p18"/>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5" name="Google Shape;155;p18"/>
          <p:cNvSpPr txBox="1"/>
          <p:nvPr/>
        </p:nvSpPr>
        <p:spPr>
          <a:xfrm>
            <a:off x="1600200" y="3037582"/>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Inheritance</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156" name="Google Shape;156;p18"/>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7" name="Google Shape;157;p18"/>
          <p:cNvSpPr txBox="1"/>
          <p:nvPr/>
        </p:nvSpPr>
        <p:spPr>
          <a:xfrm>
            <a:off x="1600200" y="3946177"/>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B) Polymorphism</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158" name="Google Shape;158;p18"/>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9" name="Google Shape;159;p18"/>
          <p:cNvSpPr txBox="1"/>
          <p:nvPr/>
        </p:nvSpPr>
        <p:spPr>
          <a:xfrm>
            <a:off x="1600200" y="4854773"/>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C) Encapsulation</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160" name="Google Shape;160;p18"/>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1" name="Google Shape;161;p18"/>
          <p:cNvSpPr txBox="1"/>
          <p:nvPr/>
        </p:nvSpPr>
        <p:spPr>
          <a:xfrm>
            <a:off x="1600200" y="5763369"/>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D) Abstraction</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162" name="Google Shape;162;p18"/>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3" name="Google Shape;163;p18"/>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4" name="Google Shape;164;p18"/>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5" name="Google Shape;165;p18"/>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6" name="Google Shape;166;p18" descr="image.png"/>
          <p:cNvPicPr preferRelativeResize="0"/>
          <p:nvPr/>
        </p:nvPicPr>
        <p:blipFill rotWithShape="1">
          <a:blip r:embed="rId3"/>
          <a:srcRect/>
          <a:stretch>
            <a:fillRect/>
          </a:stretch>
        </p:blipFill>
        <p:spPr>
          <a:xfrm>
            <a:off x="1247775" y="3129855"/>
            <a:ext cx="171450" cy="200025"/>
          </a:xfrm>
          <a:prstGeom prst="rect">
            <a:avLst/>
          </a:prstGeom>
          <a:noFill/>
          <a:ln>
            <a:noFill/>
          </a:ln>
        </p:spPr>
      </p:pic>
      <p:pic>
        <p:nvPicPr>
          <p:cNvPr id="167" name="Google Shape;167;p18" descr="image.png"/>
          <p:cNvPicPr preferRelativeResize="0"/>
          <p:nvPr/>
        </p:nvPicPr>
        <p:blipFill rotWithShape="1">
          <a:blip r:embed="rId3"/>
          <a:srcRect/>
          <a:stretch>
            <a:fillRect/>
          </a:stretch>
        </p:blipFill>
        <p:spPr>
          <a:xfrm>
            <a:off x="1247775" y="4038451"/>
            <a:ext cx="171450" cy="200025"/>
          </a:xfrm>
          <a:prstGeom prst="rect">
            <a:avLst/>
          </a:prstGeom>
          <a:noFill/>
          <a:ln>
            <a:noFill/>
          </a:ln>
        </p:spPr>
      </p:pic>
      <p:pic>
        <p:nvPicPr>
          <p:cNvPr id="168" name="Google Shape;168;p18" descr="image.png"/>
          <p:cNvPicPr preferRelativeResize="0"/>
          <p:nvPr/>
        </p:nvPicPr>
        <p:blipFill rotWithShape="1">
          <a:blip r:embed="rId3"/>
          <a:srcRect/>
          <a:stretch>
            <a:fillRect/>
          </a:stretch>
        </p:blipFill>
        <p:spPr>
          <a:xfrm>
            <a:off x="1247775" y="4947046"/>
            <a:ext cx="171450" cy="200025"/>
          </a:xfrm>
          <a:prstGeom prst="rect">
            <a:avLst/>
          </a:prstGeom>
          <a:noFill/>
          <a:ln>
            <a:noFill/>
          </a:ln>
        </p:spPr>
      </p:pic>
      <p:pic>
        <p:nvPicPr>
          <p:cNvPr id="169" name="Google Shape;169;p18" descr="image.png"/>
          <p:cNvPicPr preferRelativeResize="0"/>
          <p:nvPr/>
        </p:nvPicPr>
        <p:blipFill rotWithShape="1">
          <a:blip r:embed="rId3"/>
          <a:srcRect/>
          <a:stretch>
            <a:fillRect/>
          </a:stretch>
        </p:blipFill>
        <p:spPr>
          <a:xfrm>
            <a:off x="1247775" y="5855642"/>
            <a:ext cx="171450" cy="200025"/>
          </a:xfrm>
          <a:prstGeom prst="rect">
            <a:avLst/>
          </a:prstGeom>
          <a:noFill/>
          <a:ln>
            <a:noFill/>
          </a:ln>
        </p:spPr>
      </p:pic>
      <p:sp>
        <p:nvSpPr>
          <p:cNvPr id="170" name="Google Shape;170;p18"/>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CORE PRINCIPLES</a:t>
            </a:r>
            <a:endPar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endParaRPr>
          </a:p>
        </p:txBody>
      </p:sp>
      <p:sp>
        <p:nvSpPr>
          <p:cNvPr id="171" name="Google Shape;171;p18"/>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158"/>
                                        </p:tgtEl>
                                        <p:attrNameLst>
                                          <p:attrName>fillcolor</p:attrName>
                                        </p:attrNameLst>
                                      </p:cBhvr>
                                      <p:to>
                                        <a:srgbClr val="00B050"/>
                                      </p:to>
                                    </p:animClr>
                                    <p:set>
                                      <p:cBhvr>
                                        <p:cTn id="7" dur="2000" fill="hold"/>
                                        <p:tgtEl>
                                          <p:spTgt spid="158"/>
                                        </p:tgtEl>
                                        <p:attrNameLst>
                                          <p:attrName>fill.type</p:attrName>
                                        </p:attrNameLst>
                                      </p:cBhvr>
                                      <p:to>
                                        <p:strVal val="solid"/>
                                      </p:to>
                                    </p:set>
                                    <p:set>
                                      <p:cBhvr>
                                        <p:cTn id="8" dur="2000" fill="hold"/>
                                        <p:tgtEl>
                                          <p:spTgt spid="15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175"/>
        <p:cNvGrpSpPr/>
        <p:nvPr/>
      </p:nvGrpSpPr>
      <p:grpSpPr>
        <a:xfrm>
          <a:off x="0" y="0"/>
          <a:ext cx="0" cy="0"/>
          <a:chOff x="0" y="0"/>
          <a:chExt cx="0" cy="0"/>
        </a:xfrm>
      </p:grpSpPr>
      <p:pic>
        <p:nvPicPr>
          <p:cNvPr id="176" name="Google Shape;176;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77" name="Google Shape;177;p19" descr="image.png"/>
          <p:cNvPicPr preferRelativeResize="0"/>
          <p:nvPr/>
        </p:nvPicPr>
        <p:blipFill rotWithShape="1">
          <a:blip r:embed="rId2"/>
          <a:srcRect/>
          <a:stretch>
            <a:fillRect/>
          </a:stretch>
        </p:blipFill>
        <p:spPr>
          <a:xfrm>
            <a:off x="571500" y="7237660"/>
            <a:ext cx="11049000" cy="838200"/>
          </a:xfrm>
          <a:prstGeom prst="rect">
            <a:avLst/>
          </a:prstGeom>
          <a:noFill/>
          <a:ln>
            <a:noFill/>
          </a:ln>
        </p:spPr>
      </p:pic>
      <p:sp>
        <p:nvSpPr>
          <p:cNvPr id="178" name="Google Shape;178;p19"/>
          <p:cNvSpPr txBox="1"/>
          <p:nvPr/>
        </p:nvSpPr>
        <p:spPr>
          <a:xfrm>
            <a:off x="571500" y="2043261"/>
            <a:ext cx="11049000"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Which concept allows a subclass to provide a specific implementation of a method already defined in its superclass?</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179" name="Google Shape;179;p19"/>
          <p:cNvSpPr txBox="1"/>
          <p:nvPr/>
        </p:nvSpPr>
        <p:spPr>
          <a:xfrm>
            <a:off x="5791200" y="7494835"/>
            <a:ext cx="2809875"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B) Method Overriding</a:t>
            </a:r>
            <a:endParaRPr lang="en-US" sz="2100" b="0" i="0" u="none" strike="noStrike" cap="none">
              <a:solidFill>
                <a:srgbClr val="FEF08A"/>
              </a:solidFill>
              <a:latin typeface="Inter Black"/>
              <a:ea typeface="Inter Black"/>
              <a:cs typeface="Inter Black"/>
              <a:sym typeface="Inter Black"/>
            </a:endParaRPr>
          </a:p>
        </p:txBody>
      </p:sp>
      <p:sp>
        <p:nvSpPr>
          <p:cNvPr id="180" name="Google Shape;180;p19"/>
          <p:cNvSpPr/>
          <p:nvPr/>
        </p:nvSpPr>
        <p:spPr>
          <a:xfrm>
            <a:off x="952500" y="321275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1" name="Google Shape;181;p19"/>
          <p:cNvSpPr txBox="1"/>
          <p:nvPr/>
        </p:nvSpPr>
        <p:spPr>
          <a:xfrm>
            <a:off x="1600200" y="3403252"/>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Method Overloading</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182" name="Google Shape;182;p19"/>
          <p:cNvSpPr/>
          <p:nvPr/>
        </p:nvSpPr>
        <p:spPr>
          <a:xfrm>
            <a:off x="952500" y="4121348"/>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3" name="Google Shape;183;p19"/>
          <p:cNvSpPr txBox="1"/>
          <p:nvPr/>
        </p:nvSpPr>
        <p:spPr>
          <a:xfrm>
            <a:off x="1600200" y="4311848"/>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B) Method Overriding</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184" name="Google Shape;184;p19"/>
          <p:cNvSpPr/>
          <p:nvPr/>
        </p:nvSpPr>
        <p:spPr>
          <a:xfrm>
            <a:off x="952500" y="5029944"/>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19"/>
          <p:cNvSpPr txBox="1"/>
          <p:nvPr/>
        </p:nvSpPr>
        <p:spPr>
          <a:xfrm>
            <a:off x="1600200" y="5220444"/>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C) Composition</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186" name="Google Shape;186;p19"/>
          <p:cNvSpPr/>
          <p:nvPr/>
        </p:nvSpPr>
        <p:spPr>
          <a:xfrm>
            <a:off x="952500" y="593853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7" name="Google Shape;187;p19"/>
          <p:cNvSpPr txBox="1"/>
          <p:nvPr/>
        </p:nvSpPr>
        <p:spPr>
          <a:xfrm>
            <a:off x="1600200" y="6129039"/>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D) Encapsulation</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188" name="Google Shape;188;p19"/>
          <p:cNvSpPr/>
          <p:nvPr/>
        </p:nvSpPr>
        <p:spPr>
          <a:xfrm>
            <a:off x="952500" y="3968948"/>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9" name="Google Shape;189;p19"/>
          <p:cNvSpPr/>
          <p:nvPr/>
        </p:nvSpPr>
        <p:spPr>
          <a:xfrm>
            <a:off x="952500" y="487754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0" name="Google Shape;190;p19"/>
          <p:cNvSpPr/>
          <p:nvPr/>
        </p:nvSpPr>
        <p:spPr>
          <a:xfrm>
            <a:off x="952500" y="578613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1" name="Google Shape;191;p19"/>
          <p:cNvSpPr/>
          <p:nvPr/>
        </p:nvSpPr>
        <p:spPr>
          <a:xfrm>
            <a:off x="952500" y="6694735"/>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2" name="Google Shape;192;p19" descr="image.png"/>
          <p:cNvPicPr preferRelativeResize="0"/>
          <p:nvPr/>
        </p:nvPicPr>
        <p:blipFill rotWithShape="1">
          <a:blip r:embed="rId3"/>
          <a:srcRect/>
          <a:stretch>
            <a:fillRect/>
          </a:stretch>
        </p:blipFill>
        <p:spPr>
          <a:xfrm>
            <a:off x="1247775" y="3495526"/>
            <a:ext cx="171450" cy="200025"/>
          </a:xfrm>
          <a:prstGeom prst="rect">
            <a:avLst/>
          </a:prstGeom>
          <a:noFill/>
          <a:ln>
            <a:noFill/>
          </a:ln>
        </p:spPr>
      </p:pic>
      <p:pic>
        <p:nvPicPr>
          <p:cNvPr id="193" name="Google Shape;193;p19" descr="image.png"/>
          <p:cNvPicPr preferRelativeResize="0"/>
          <p:nvPr/>
        </p:nvPicPr>
        <p:blipFill rotWithShape="1">
          <a:blip r:embed="rId3"/>
          <a:srcRect/>
          <a:stretch>
            <a:fillRect/>
          </a:stretch>
        </p:blipFill>
        <p:spPr>
          <a:xfrm>
            <a:off x="1247775" y="4404121"/>
            <a:ext cx="171450" cy="200025"/>
          </a:xfrm>
          <a:prstGeom prst="rect">
            <a:avLst/>
          </a:prstGeom>
          <a:noFill/>
          <a:ln>
            <a:noFill/>
          </a:ln>
        </p:spPr>
      </p:pic>
      <p:pic>
        <p:nvPicPr>
          <p:cNvPr id="194" name="Google Shape;194;p19" descr="image.png"/>
          <p:cNvPicPr preferRelativeResize="0"/>
          <p:nvPr/>
        </p:nvPicPr>
        <p:blipFill rotWithShape="1">
          <a:blip r:embed="rId3"/>
          <a:srcRect/>
          <a:stretch>
            <a:fillRect/>
          </a:stretch>
        </p:blipFill>
        <p:spPr>
          <a:xfrm>
            <a:off x="1247775" y="5312717"/>
            <a:ext cx="171450" cy="200025"/>
          </a:xfrm>
          <a:prstGeom prst="rect">
            <a:avLst/>
          </a:prstGeom>
          <a:noFill/>
          <a:ln>
            <a:noFill/>
          </a:ln>
        </p:spPr>
      </p:pic>
      <p:pic>
        <p:nvPicPr>
          <p:cNvPr id="195" name="Google Shape;195;p19" descr="image.png"/>
          <p:cNvPicPr preferRelativeResize="0"/>
          <p:nvPr/>
        </p:nvPicPr>
        <p:blipFill rotWithShape="1">
          <a:blip r:embed="rId3"/>
          <a:srcRect/>
          <a:stretch>
            <a:fillRect/>
          </a:stretch>
        </p:blipFill>
        <p:spPr>
          <a:xfrm>
            <a:off x="1247775" y="6221313"/>
            <a:ext cx="171450" cy="200025"/>
          </a:xfrm>
          <a:prstGeom prst="rect">
            <a:avLst/>
          </a:prstGeom>
          <a:noFill/>
          <a:ln>
            <a:noFill/>
          </a:ln>
        </p:spPr>
      </p:pic>
      <p:sp>
        <p:nvSpPr>
          <p:cNvPr id="196" name="Google Shape;196;p19"/>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METHOD REDEFINITION</a:t>
            </a:r>
            <a:endPar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endParaRPr>
          </a:p>
        </p:txBody>
      </p:sp>
      <p:sp>
        <p:nvSpPr>
          <p:cNvPr id="197" name="Google Shape;197;p19"/>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182"/>
                                        </p:tgtEl>
                                        <p:attrNameLst>
                                          <p:attrName>fillcolor</p:attrName>
                                        </p:attrNameLst>
                                      </p:cBhvr>
                                      <p:to>
                                        <a:srgbClr val="00B050"/>
                                      </p:to>
                                    </p:animClr>
                                    <p:set>
                                      <p:cBhvr>
                                        <p:cTn id="7" dur="2000" fill="hold"/>
                                        <p:tgtEl>
                                          <p:spTgt spid="182"/>
                                        </p:tgtEl>
                                        <p:attrNameLst>
                                          <p:attrName>fill.type</p:attrName>
                                        </p:attrNameLst>
                                      </p:cBhvr>
                                      <p:to>
                                        <p:strVal val="solid"/>
                                      </p:to>
                                    </p:set>
                                    <p:set>
                                      <p:cBhvr>
                                        <p:cTn id="8" dur="2000" fill="hold"/>
                                        <p:tgtEl>
                                          <p:spTgt spid="18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77" name="Google Shape;177;p19" descr="image.png"/>
          <p:cNvPicPr preferRelativeResize="0"/>
          <p:nvPr/>
        </p:nvPicPr>
        <p:blipFill rotWithShape="1">
          <a:blip r:embed="rId2"/>
          <a:srcRect/>
          <a:stretch>
            <a:fillRect/>
          </a:stretch>
        </p:blipFill>
        <p:spPr>
          <a:xfrm>
            <a:off x="571500" y="7237660"/>
            <a:ext cx="11049000" cy="838200"/>
          </a:xfrm>
          <a:prstGeom prst="rect">
            <a:avLst/>
          </a:prstGeom>
          <a:noFill/>
          <a:ln>
            <a:noFill/>
          </a:ln>
        </p:spPr>
      </p:pic>
      <p:sp>
        <p:nvSpPr>
          <p:cNvPr id="178" name="Google Shape;178;p19"/>
          <p:cNvSpPr txBox="1"/>
          <p:nvPr/>
        </p:nvSpPr>
        <p:spPr>
          <a:xfrm>
            <a:off x="571500" y="2043261"/>
            <a:ext cx="11049000"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What is method overloading?</a:t>
            </a:r>
            <a:endParaRPr dirty="0"/>
          </a:p>
        </p:txBody>
      </p:sp>
      <p:sp>
        <p:nvSpPr>
          <p:cNvPr id="179" name="Google Shape;179;p19"/>
          <p:cNvSpPr txBox="1"/>
          <p:nvPr/>
        </p:nvSpPr>
        <p:spPr>
          <a:xfrm>
            <a:off x="5791200" y="7494835"/>
            <a:ext cx="2809875"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B) Method Overriding</a:t>
            </a:r>
            <a:endParaRPr lang="en-US" sz="2100" b="0" i="0" u="none" strike="noStrike" cap="none">
              <a:solidFill>
                <a:srgbClr val="FEF08A"/>
              </a:solidFill>
              <a:latin typeface="Inter Black"/>
              <a:ea typeface="Inter Black"/>
              <a:cs typeface="Inter Black"/>
              <a:sym typeface="Inter Black"/>
            </a:endParaRPr>
          </a:p>
        </p:txBody>
      </p:sp>
      <p:sp>
        <p:nvSpPr>
          <p:cNvPr id="180" name="Google Shape;180;p19"/>
          <p:cNvSpPr/>
          <p:nvPr/>
        </p:nvSpPr>
        <p:spPr>
          <a:xfrm>
            <a:off x="952500" y="321275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1" name="Google Shape;181;p19"/>
          <p:cNvSpPr txBox="1"/>
          <p:nvPr/>
        </p:nvSpPr>
        <p:spPr>
          <a:xfrm>
            <a:off x="1600200" y="3374013"/>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Same method with different implementation in child class</a:t>
            </a:r>
            <a:endParaRPr dirty="0"/>
          </a:p>
        </p:txBody>
      </p:sp>
      <p:sp>
        <p:nvSpPr>
          <p:cNvPr id="182" name="Google Shape;182;p19"/>
          <p:cNvSpPr/>
          <p:nvPr/>
        </p:nvSpPr>
        <p:spPr>
          <a:xfrm>
            <a:off x="952500" y="4121348"/>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3" name="Google Shape;183;p19"/>
          <p:cNvSpPr txBox="1"/>
          <p:nvPr/>
        </p:nvSpPr>
        <p:spPr>
          <a:xfrm>
            <a:off x="1600200" y="4282609"/>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 Same method name with different parameters</a:t>
            </a:r>
            <a:endParaRPr dirty="0"/>
          </a:p>
        </p:txBody>
      </p:sp>
      <p:sp>
        <p:nvSpPr>
          <p:cNvPr id="184" name="Google Shape;184;p19"/>
          <p:cNvSpPr/>
          <p:nvPr/>
        </p:nvSpPr>
        <p:spPr>
          <a:xfrm>
            <a:off x="952500" y="5029944"/>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19"/>
          <p:cNvSpPr txBox="1"/>
          <p:nvPr/>
        </p:nvSpPr>
        <p:spPr>
          <a:xfrm>
            <a:off x="1600200" y="5191205"/>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Multiple classes with same name</a:t>
            </a:r>
            <a:endParaRPr dirty="0"/>
          </a:p>
        </p:txBody>
      </p:sp>
      <p:sp>
        <p:nvSpPr>
          <p:cNvPr id="186" name="Google Shape;186;p19"/>
          <p:cNvSpPr/>
          <p:nvPr/>
        </p:nvSpPr>
        <p:spPr>
          <a:xfrm>
            <a:off x="952500" y="593853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7" name="Google Shape;187;p19"/>
          <p:cNvSpPr txBox="1"/>
          <p:nvPr/>
        </p:nvSpPr>
        <p:spPr>
          <a:xfrm>
            <a:off x="1600200" y="6099800"/>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Multiple objects</a:t>
            </a:r>
            <a:endParaRPr dirty="0"/>
          </a:p>
        </p:txBody>
      </p:sp>
      <p:sp>
        <p:nvSpPr>
          <p:cNvPr id="188" name="Google Shape;188;p19"/>
          <p:cNvSpPr/>
          <p:nvPr/>
        </p:nvSpPr>
        <p:spPr>
          <a:xfrm>
            <a:off x="952500" y="3968948"/>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9" name="Google Shape;189;p19"/>
          <p:cNvSpPr/>
          <p:nvPr/>
        </p:nvSpPr>
        <p:spPr>
          <a:xfrm>
            <a:off x="952500" y="487754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0" name="Google Shape;190;p19"/>
          <p:cNvSpPr/>
          <p:nvPr/>
        </p:nvSpPr>
        <p:spPr>
          <a:xfrm>
            <a:off x="952500" y="578613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1" name="Google Shape;191;p19"/>
          <p:cNvSpPr/>
          <p:nvPr/>
        </p:nvSpPr>
        <p:spPr>
          <a:xfrm>
            <a:off x="952500" y="6694735"/>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2" name="Google Shape;192;p19" descr="image.png"/>
          <p:cNvPicPr preferRelativeResize="0"/>
          <p:nvPr/>
        </p:nvPicPr>
        <p:blipFill rotWithShape="1">
          <a:blip r:embed="rId3"/>
          <a:srcRect/>
          <a:stretch>
            <a:fillRect/>
          </a:stretch>
        </p:blipFill>
        <p:spPr>
          <a:xfrm>
            <a:off x="1247775" y="3495526"/>
            <a:ext cx="171450" cy="200025"/>
          </a:xfrm>
          <a:prstGeom prst="rect">
            <a:avLst/>
          </a:prstGeom>
          <a:noFill/>
          <a:ln>
            <a:noFill/>
          </a:ln>
        </p:spPr>
      </p:pic>
      <p:pic>
        <p:nvPicPr>
          <p:cNvPr id="193" name="Google Shape;193;p19" descr="image.png"/>
          <p:cNvPicPr preferRelativeResize="0"/>
          <p:nvPr/>
        </p:nvPicPr>
        <p:blipFill rotWithShape="1">
          <a:blip r:embed="rId3"/>
          <a:srcRect/>
          <a:stretch>
            <a:fillRect/>
          </a:stretch>
        </p:blipFill>
        <p:spPr>
          <a:xfrm>
            <a:off x="1247775" y="4404121"/>
            <a:ext cx="171450" cy="200025"/>
          </a:xfrm>
          <a:prstGeom prst="rect">
            <a:avLst/>
          </a:prstGeom>
          <a:noFill/>
          <a:ln>
            <a:noFill/>
          </a:ln>
        </p:spPr>
      </p:pic>
      <p:pic>
        <p:nvPicPr>
          <p:cNvPr id="194" name="Google Shape;194;p19" descr="image.png"/>
          <p:cNvPicPr preferRelativeResize="0"/>
          <p:nvPr/>
        </p:nvPicPr>
        <p:blipFill rotWithShape="1">
          <a:blip r:embed="rId3"/>
          <a:srcRect/>
          <a:stretch>
            <a:fillRect/>
          </a:stretch>
        </p:blipFill>
        <p:spPr>
          <a:xfrm>
            <a:off x="1247775" y="5312717"/>
            <a:ext cx="171450" cy="200025"/>
          </a:xfrm>
          <a:prstGeom prst="rect">
            <a:avLst/>
          </a:prstGeom>
          <a:noFill/>
          <a:ln>
            <a:noFill/>
          </a:ln>
        </p:spPr>
      </p:pic>
      <p:pic>
        <p:nvPicPr>
          <p:cNvPr id="195" name="Google Shape;195;p19" descr="image.png"/>
          <p:cNvPicPr preferRelativeResize="0"/>
          <p:nvPr/>
        </p:nvPicPr>
        <p:blipFill rotWithShape="1">
          <a:blip r:embed="rId3"/>
          <a:srcRect/>
          <a:stretch>
            <a:fillRect/>
          </a:stretch>
        </p:blipFill>
        <p:spPr>
          <a:xfrm>
            <a:off x="1247775" y="6221313"/>
            <a:ext cx="171450" cy="200025"/>
          </a:xfrm>
          <a:prstGeom prst="rect">
            <a:avLst/>
          </a:prstGeom>
          <a:noFill/>
          <a:ln>
            <a:noFill/>
          </a:ln>
        </p:spPr>
      </p:pic>
      <p:sp>
        <p:nvSpPr>
          <p:cNvPr id="196" name="Google Shape;196;p19"/>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METHOD REDEFINITION</a:t>
            </a:r>
            <a:endPar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endParaRPr>
          </a:p>
        </p:txBody>
      </p:sp>
      <p:sp>
        <p:nvSpPr>
          <p:cNvPr id="197" name="Google Shape;197;p19"/>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182"/>
                                        </p:tgtEl>
                                        <p:attrNameLst>
                                          <p:attrName>fillcolor</p:attrName>
                                        </p:attrNameLst>
                                      </p:cBhvr>
                                      <p:to>
                                        <a:srgbClr val="00B050"/>
                                      </p:to>
                                    </p:animClr>
                                    <p:set>
                                      <p:cBhvr>
                                        <p:cTn id="7" dur="2000" fill="hold"/>
                                        <p:tgtEl>
                                          <p:spTgt spid="182"/>
                                        </p:tgtEl>
                                        <p:attrNameLst>
                                          <p:attrName>fill.type</p:attrName>
                                        </p:attrNameLst>
                                      </p:cBhvr>
                                      <p:to>
                                        <p:strVal val="solid"/>
                                      </p:to>
                                    </p:set>
                                    <p:set>
                                      <p:cBhvr>
                                        <p:cTn id="8" dur="2000" fill="hold"/>
                                        <p:tgtEl>
                                          <p:spTgt spid="18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01"/>
        <p:cNvGrpSpPr/>
        <p:nvPr/>
      </p:nvGrpSpPr>
      <p:grpSpPr>
        <a:xfrm>
          <a:off x="0" y="0"/>
          <a:ext cx="0" cy="0"/>
          <a:chOff x="0" y="0"/>
          <a:chExt cx="0" cy="0"/>
        </a:xfrm>
      </p:grpSpPr>
      <p:pic>
        <p:nvPicPr>
          <p:cNvPr id="202" name="Google Shape;202;p20"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03" name="Google Shape;203;p20" descr="image.png"/>
          <p:cNvPicPr preferRelativeResize="0"/>
          <p:nvPr/>
        </p:nvPicPr>
        <p:blipFill rotWithShape="1">
          <a:blip r:embed="rId2"/>
          <a:srcRect/>
          <a:stretch>
            <a:fillRect/>
          </a:stretch>
        </p:blipFill>
        <p:spPr>
          <a:xfrm>
            <a:off x="571500" y="6871989"/>
            <a:ext cx="11049000" cy="838200"/>
          </a:xfrm>
          <a:prstGeom prst="rect">
            <a:avLst/>
          </a:prstGeom>
          <a:noFill/>
          <a:ln>
            <a:noFill/>
          </a:ln>
        </p:spPr>
      </p:pic>
      <p:sp>
        <p:nvSpPr>
          <p:cNvPr id="204" name="Google Shape;204;p20"/>
          <p:cNvSpPr txBox="1"/>
          <p:nvPr/>
        </p:nvSpPr>
        <p:spPr>
          <a:xfrm>
            <a:off x="571500" y="2043261"/>
            <a:ext cx="11049000" cy="443198"/>
          </a:xfrm>
          <a:prstGeom prst="rect">
            <a:avLst/>
          </a:prstGeom>
          <a:noFill/>
          <a:ln>
            <a:noFill/>
          </a:ln>
        </p:spPr>
        <p:txBody>
          <a:bodyPr spcFirstLastPara="1" wrap="square" lIns="0" tIns="0" rIns="0" bIns="0" anchor="t" anchorCtr="0">
            <a:spAutoFit/>
          </a:bodyPr>
          <a:lstStyle/>
          <a:p>
            <a:pPr lvl="0">
              <a:lnSpc>
                <a:spcPct val="160000"/>
              </a:lnSpc>
            </a:pPr>
            <a:r>
              <a:rPr lang="en-US" sz="1800" dirty="0">
                <a:solidFill>
                  <a:srgbClr val="CBD5E1"/>
                </a:solidFill>
                <a:latin typeface="Inter" panose="02000503000000020004"/>
                <a:ea typeface="Inter" panose="02000503000000020004"/>
                <a:cs typeface="Inter" panose="02000503000000020004"/>
                <a:sym typeface="Inter" panose="02000503000000020004"/>
              </a:rPr>
              <a:t>Which OOP pillar is primarily used to eliminate redundant code by reusing existing code structures?</a:t>
            </a:r>
            <a:endParaRPr dirty="0"/>
          </a:p>
        </p:txBody>
      </p:sp>
      <p:sp>
        <p:nvSpPr>
          <p:cNvPr id="205" name="Google Shape;205;p20"/>
          <p:cNvSpPr txBox="1"/>
          <p:nvPr/>
        </p:nvSpPr>
        <p:spPr>
          <a:xfrm>
            <a:off x="6724650" y="7129164"/>
            <a:ext cx="942975"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C) final</a:t>
            </a:r>
            <a:endParaRPr lang="en-US" sz="2100" b="0" i="0" u="none" strike="noStrike" cap="none">
              <a:solidFill>
                <a:srgbClr val="FEF08A"/>
              </a:solidFill>
              <a:latin typeface="Inter Black"/>
              <a:ea typeface="Inter Black"/>
              <a:cs typeface="Inter Black"/>
              <a:sym typeface="Inter Black"/>
            </a:endParaRPr>
          </a:p>
        </p:txBody>
      </p:sp>
      <p:sp>
        <p:nvSpPr>
          <p:cNvPr id="206" name="Google Shape;206;p20"/>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7" name="Google Shape;207;p20"/>
          <p:cNvSpPr txBox="1"/>
          <p:nvPr/>
        </p:nvSpPr>
        <p:spPr>
          <a:xfrm>
            <a:off x="1600200" y="3008343"/>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Abstraction</a:t>
            </a:r>
            <a:endParaRPr dirty="0"/>
          </a:p>
        </p:txBody>
      </p:sp>
      <p:sp>
        <p:nvSpPr>
          <p:cNvPr id="208" name="Google Shape;208;p20"/>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9" name="Google Shape;209;p20"/>
          <p:cNvSpPr txBox="1"/>
          <p:nvPr/>
        </p:nvSpPr>
        <p:spPr>
          <a:xfrm>
            <a:off x="1600200" y="3916938"/>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 Polymorphism</a:t>
            </a:r>
            <a:endParaRPr dirty="0"/>
          </a:p>
        </p:txBody>
      </p:sp>
      <p:sp>
        <p:nvSpPr>
          <p:cNvPr id="210" name="Google Shape;210;p20"/>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20"/>
          <p:cNvSpPr txBox="1"/>
          <p:nvPr/>
        </p:nvSpPr>
        <p:spPr>
          <a:xfrm>
            <a:off x="1600200" y="4825534"/>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Inheritance</a:t>
            </a:r>
            <a:endParaRPr dirty="0"/>
          </a:p>
        </p:txBody>
      </p:sp>
      <p:sp>
        <p:nvSpPr>
          <p:cNvPr id="212" name="Google Shape;212;p20"/>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3" name="Google Shape;213;p20"/>
          <p:cNvSpPr txBox="1"/>
          <p:nvPr/>
        </p:nvSpPr>
        <p:spPr>
          <a:xfrm>
            <a:off x="1600200" y="5734130"/>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Encapsulation</a:t>
            </a:r>
            <a:endParaRPr dirty="0"/>
          </a:p>
        </p:txBody>
      </p:sp>
      <p:sp>
        <p:nvSpPr>
          <p:cNvPr id="214" name="Google Shape;214;p20"/>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5" name="Google Shape;215;p20"/>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20"/>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7" name="Google Shape;217;p20"/>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8" name="Google Shape;218;p20" descr="image.png"/>
          <p:cNvPicPr preferRelativeResize="0"/>
          <p:nvPr/>
        </p:nvPicPr>
        <p:blipFill rotWithShape="1">
          <a:blip r:embed="rId3"/>
          <a:srcRect/>
          <a:stretch>
            <a:fillRect/>
          </a:stretch>
        </p:blipFill>
        <p:spPr>
          <a:xfrm>
            <a:off x="1247775" y="3129855"/>
            <a:ext cx="171450" cy="200025"/>
          </a:xfrm>
          <a:prstGeom prst="rect">
            <a:avLst/>
          </a:prstGeom>
          <a:noFill/>
          <a:ln>
            <a:noFill/>
          </a:ln>
        </p:spPr>
      </p:pic>
      <p:pic>
        <p:nvPicPr>
          <p:cNvPr id="219" name="Google Shape;219;p20" descr="image.png"/>
          <p:cNvPicPr preferRelativeResize="0"/>
          <p:nvPr/>
        </p:nvPicPr>
        <p:blipFill rotWithShape="1">
          <a:blip r:embed="rId3"/>
          <a:srcRect/>
          <a:stretch>
            <a:fillRect/>
          </a:stretch>
        </p:blipFill>
        <p:spPr>
          <a:xfrm>
            <a:off x="1247775" y="4038451"/>
            <a:ext cx="171450" cy="200025"/>
          </a:xfrm>
          <a:prstGeom prst="rect">
            <a:avLst/>
          </a:prstGeom>
          <a:noFill/>
          <a:ln>
            <a:noFill/>
          </a:ln>
        </p:spPr>
      </p:pic>
      <p:pic>
        <p:nvPicPr>
          <p:cNvPr id="220" name="Google Shape;220;p20" descr="image.png"/>
          <p:cNvPicPr preferRelativeResize="0"/>
          <p:nvPr/>
        </p:nvPicPr>
        <p:blipFill rotWithShape="1">
          <a:blip r:embed="rId3"/>
          <a:srcRect/>
          <a:stretch>
            <a:fillRect/>
          </a:stretch>
        </p:blipFill>
        <p:spPr>
          <a:xfrm>
            <a:off x="1247775" y="4947046"/>
            <a:ext cx="171450" cy="200025"/>
          </a:xfrm>
          <a:prstGeom prst="rect">
            <a:avLst/>
          </a:prstGeom>
          <a:noFill/>
          <a:ln>
            <a:noFill/>
          </a:ln>
        </p:spPr>
      </p:pic>
      <p:pic>
        <p:nvPicPr>
          <p:cNvPr id="221" name="Google Shape;221;p20" descr="image.png"/>
          <p:cNvPicPr preferRelativeResize="0"/>
          <p:nvPr/>
        </p:nvPicPr>
        <p:blipFill rotWithShape="1">
          <a:blip r:embed="rId3"/>
          <a:srcRect/>
          <a:stretch>
            <a:fillRect/>
          </a:stretch>
        </p:blipFill>
        <p:spPr>
          <a:xfrm>
            <a:off x="1247775" y="5855642"/>
            <a:ext cx="171450" cy="200025"/>
          </a:xfrm>
          <a:prstGeom prst="rect">
            <a:avLst/>
          </a:prstGeom>
          <a:noFill/>
          <a:ln>
            <a:noFill/>
          </a:ln>
        </p:spPr>
      </p:pic>
      <p:sp>
        <p:nvSpPr>
          <p:cNvPr id="222" name="Google Shape;222;p20"/>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REDUNDANT CODE</a:t>
            </a:r>
            <a:endParaRPr dirty="0"/>
          </a:p>
        </p:txBody>
      </p:sp>
      <p:sp>
        <p:nvSpPr>
          <p:cNvPr id="223" name="Google Shape;223;p20"/>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10"/>
                                        </p:tgtEl>
                                        <p:attrNameLst>
                                          <p:attrName>fillcolor</p:attrName>
                                        </p:attrNameLst>
                                      </p:cBhvr>
                                      <p:to>
                                        <a:srgbClr val="00B050"/>
                                      </p:to>
                                    </p:animClr>
                                    <p:set>
                                      <p:cBhvr>
                                        <p:cTn id="7" dur="2000" fill="hold"/>
                                        <p:tgtEl>
                                          <p:spTgt spid="210"/>
                                        </p:tgtEl>
                                        <p:attrNameLst>
                                          <p:attrName>fill.type</p:attrName>
                                        </p:attrNameLst>
                                      </p:cBhvr>
                                      <p:to>
                                        <p:strVal val="solid"/>
                                      </p:to>
                                    </p:set>
                                    <p:set>
                                      <p:cBhvr>
                                        <p:cTn id="8" dur="2000" fill="hold"/>
                                        <p:tgtEl>
                                          <p:spTgt spid="21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2" name="Google Shape;202;p20"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03" name="Google Shape;203;p20" descr="image.png"/>
          <p:cNvPicPr preferRelativeResize="0"/>
          <p:nvPr/>
        </p:nvPicPr>
        <p:blipFill rotWithShape="1">
          <a:blip r:embed="rId2"/>
          <a:srcRect/>
          <a:stretch>
            <a:fillRect/>
          </a:stretch>
        </p:blipFill>
        <p:spPr>
          <a:xfrm>
            <a:off x="571500" y="6871989"/>
            <a:ext cx="11049000" cy="838200"/>
          </a:xfrm>
          <a:prstGeom prst="rect">
            <a:avLst/>
          </a:prstGeom>
          <a:noFill/>
          <a:ln>
            <a:noFill/>
          </a:ln>
        </p:spPr>
      </p:pic>
      <p:sp>
        <p:nvSpPr>
          <p:cNvPr id="204" name="Google Shape;204;p20"/>
          <p:cNvSpPr txBox="1"/>
          <p:nvPr/>
        </p:nvSpPr>
        <p:spPr>
          <a:xfrm>
            <a:off x="571500" y="2043261"/>
            <a:ext cx="11049000" cy="443198"/>
          </a:xfrm>
          <a:prstGeom prst="rect">
            <a:avLst/>
          </a:prstGeom>
          <a:noFill/>
          <a:ln>
            <a:noFill/>
          </a:ln>
        </p:spPr>
        <p:txBody>
          <a:bodyPr spcFirstLastPara="1" wrap="square" lIns="0" tIns="0" rIns="0" bIns="0" anchor="t" anchorCtr="0">
            <a:spAutoFit/>
          </a:bodyPr>
          <a:lstStyle/>
          <a:p>
            <a:pPr lvl="0">
              <a:lnSpc>
                <a:spcPct val="160000"/>
              </a:lnSpc>
            </a:pPr>
            <a:r>
              <a:rPr lang="en-US" sz="1800" dirty="0">
                <a:solidFill>
                  <a:srgbClr val="CBD5E1"/>
                </a:solidFill>
                <a:latin typeface="Inter" panose="02000503000000020004"/>
                <a:ea typeface="Inter" panose="02000503000000020004"/>
                <a:sym typeface="Inter" panose="02000503000000020004"/>
              </a:rPr>
              <a:t>What is an abstract method in JAVA ?</a:t>
            </a:r>
            <a:endParaRPr dirty="0"/>
          </a:p>
        </p:txBody>
      </p:sp>
      <p:sp>
        <p:nvSpPr>
          <p:cNvPr id="205" name="Google Shape;205;p20"/>
          <p:cNvSpPr txBox="1"/>
          <p:nvPr/>
        </p:nvSpPr>
        <p:spPr>
          <a:xfrm>
            <a:off x="6724650" y="7129164"/>
            <a:ext cx="942975"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C) final</a:t>
            </a:r>
            <a:endParaRPr lang="en-US" sz="2100" b="0" i="0" u="none" strike="noStrike" cap="none">
              <a:solidFill>
                <a:srgbClr val="FEF08A"/>
              </a:solidFill>
              <a:latin typeface="Inter Black"/>
              <a:ea typeface="Inter Black"/>
              <a:cs typeface="Inter Black"/>
              <a:sym typeface="Inter Black"/>
            </a:endParaRPr>
          </a:p>
        </p:txBody>
      </p:sp>
      <p:sp>
        <p:nvSpPr>
          <p:cNvPr id="206" name="Google Shape;206;p20"/>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7" name="Google Shape;207;p20"/>
          <p:cNvSpPr txBox="1"/>
          <p:nvPr/>
        </p:nvSpPr>
        <p:spPr>
          <a:xfrm>
            <a:off x="1600200" y="3008343"/>
            <a:ext cx="9734550" cy="443198"/>
          </a:xfrm>
          <a:prstGeom prst="rect">
            <a:avLst/>
          </a:prstGeom>
          <a:noFill/>
          <a:ln>
            <a:noFill/>
          </a:ln>
        </p:spPr>
        <p:txBody>
          <a:bodyPr spcFirstLastPara="1" wrap="square" lIns="0" tIns="0" rIns="0" bIns="0" anchor="ctr" anchorCtr="0">
            <a:spAutoFit/>
          </a:bodyPr>
          <a:lstStyle/>
          <a:p>
            <a:pPr lvl="0">
              <a:lnSpc>
                <a:spcPct val="160000"/>
              </a:lnSpc>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a:t>
            </a:r>
            <a:r>
              <a:rPr lang="en-US" sz="1800" dirty="0">
                <a:solidFill>
                  <a:srgbClr val="CBD5E1"/>
                </a:solidFill>
                <a:latin typeface="Inter" panose="02000503000000020004"/>
                <a:ea typeface="Inter" panose="02000503000000020004"/>
                <a:cs typeface="Inter" panose="02000503000000020004"/>
                <a:sym typeface="Inter" panose="02000503000000020004"/>
              </a:rPr>
              <a:t>A function that cannot be overridden</a:t>
            </a:r>
            <a:endParaRPr dirty="0"/>
          </a:p>
        </p:txBody>
      </p:sp>
      <p:sp>
        <p:nvSpPr>
          <p:cNvPr id="208" name="Google Shape;208;p20"/>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9" name="Google Shape;209;p20"/>
          <p:cNvSpPr txBox="1"/>
          <p:nvPr/>
        </p:nvSpPr>
        <p:spPr>
          <a:xfrm>
            <a:off x="1600200" y="3916938"/>
            <a:ext cx="10134600" cy="443198"/>
          </a:xfrm>
          <a:prstGeom prst="rect">
            <a:avLst/>
          </a:prstGeom>
          <a:noFill/>
          <a:ln>
            <a:noFill/>
          </a:ln>
        </p:spPr>
        <p:txBody>
          <a:bodyPr spcFirstLastPara="1" wrap="square" lIns="0" tIns="0" rIns="0" bIns="0" anchor="ctr" anchorCtr="0">
            <a:spAutoFit/>
          </a:bodyPr>
          <a:lstStyle/>
          <a:p>
            <a:pPr lvl="0">
              <a:lnSpc>
                <a:spcPct val="160000"/>
              </a:lnSpc>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 </a:t>
            </a:r>
            <a:r>
              <a:rPr lang="en-US" sz="1800" dirty="0">
                <a:solidFill>
                  <a:srgbClr val="CBD5E1"/>
                </a:solidFill>
                <a:latin typeface="Inter" panose="02000503000000020004"/>
                <a:ea typeface="Inter" panose="02000503000000020004"/>
                <a:cs typeface="Inter" panose="02000503000000020004"/>
                <a:sym typeface="Inter" panose="02000503000000020004"/>
              </a:rPr>
              <a:t>A function with no implementation in the base class, forcing derived classes to implement</a:t>
            </a:r>
            <a:endParaRPr dirty="0"/>
          </a:p>
        </p:txBody>
      </p:sp>
      <p:sp>
        <p:nvSpPr>
          <p:cNvPr id="210" name="Google Shape;210;p20"/>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20"/>
          <p:cNvSpPr txBox="1"/>
          <p:nvPr/>
        </p:nvSpPr>
        <p:spPr>
          <a:xfrm>
            <a:off x="1600200" y="4825534"/>
            <a:ext cx="9734550" cy="443198"/>
          </a:xfrm>
          <a:prstGeom prst="rect">
            <a:avLst/>
          </a:prstGeom>
          <a:noFill/>
          <a:ln>
            <a:noFill/>
          </a:ln>
        </p:spPr>
        <p:txBody>
          <a:bodyPr spcFirstLastPara="1" wrap="square" lIns="0" tIns="0" rIns="0" bIns="0" anchor="ctr" anchorCtr="0">
            <a:spAutoFit/>
          </a:bodyPr>
          <a:lstStyle/>
          <a:p>
            <a:pPr lvl="0">
              <a:lnSpc>
                <a:spcPct val="160000"/>
              </a:lnSpc>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a:t>
            </a:r>
            <a:r>
              <a:rPr lang="en-US" sz="1800" dirty="0">
                <a:solidFill>
                  <a:srgbClr val="CBD5E1"/>
                </a:solidFill>
                <a:latin typeface="Inter" panose="02000503000000020004"/>
                <a:ea typeface="Inter" panose="02000503000000020004"/>
                <a:cs typeface="Inter" panose="02000503000000020004"/>
                <a:sym typeface="Inter" panose="02000503000000020004"/>
              </a:rPr>
              <a:t>A function that can only access private data members</a:t>
            </a:r>
            <a:endParaRPr dirty="0"/>
          </a:p>
        </p:txBody>
      </p:sp>
      <p:sp>
        <p:nvSpPr>
          <p:cNvPr id="212" name="Google Shape;212;p20"/>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3" name="Google Shape;213;p20"/>
          <p:cNvSpPr txBox="1"/>
          <p:nvPr/>
        </p:nvSpPr>
        <p:spPr>
          <a:xfrm>
            <a:off x="1600200" y="5734130"/>
            <a:ext cx="9734550" cy="443198"/>
          </a:xfrm>
          <a:prstGeom prst="rect">
            <a:avLst/>
          </a:prstGeom>
          <a:noFill/>
          <a:ln>
            <a:noFill/>
          </a:ln>
        </p:spPr>
        <p:txBody>
          <a:bodyPr spcFirstLastPara="1" wrap="square" lIns="0" tIns="0" rIns="0" bIns="0" anchor="ctr" anchorCtr="0">
            <a:spAutoFit/>
          </a:bodyPr>
          <a:lstStyle/>
          <a:p>
            <a:pPr lvl="0">
              <a:lnSpc>
                <a:spcPct val="160000"/>
              </a:lnSpc>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a:t>
            </a:r>
            <a:r>
              <a:rPr lang="en-US" sz="1800" dirty="0">
                <a:solidFill>
                  <a:srgbClr val="CBD5E1"/>
                </a:solidFill>
                <a:latin typeface="Inter" panose="02000503000000020004"/>
                <a:ea typeface="Inter" panose="02000503000000020004"/>
                <a:cs typeface="Inter" panose="02000503000000020004"/>
                <a:sym typeface="Inter" panose="02000503000000020004"/>
              </a:rPr>
              <a:t>A function that belongs to a class rather than an object instance</a:t>
            </a:r>
            <a:endParaRPr dirty="0"/>
          </a:p>
        </p:txBody>
      </p:sp>
      <p:sp>
        <p:nvSpPr>
          <p:cNvPr id="214" name="Google Shape;214;p20"/>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5" name="Google Shape;215;p20"/>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20"/>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7" name="Google Shape;217;p20"/>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8" name="Google Shape;218;p20" descr="image.png"/>
          <p:cNvPicPr preferRelativeResize="0"/>
          <p:nvPr/>
        </p:nvPicPr>
        <p:blipFill rotWithShape="1">
          <a:blip r:embed="rId3"/>
          <a:srcRect/>
          <a:stretch>
            <a:fillRect/>
          </a:stretch>
        </p:blipFill>
        <p:spPr>
          <a:xfrm>
            <a:off x="1247775" y="3129855"/>
            <a:ext cx="171450" cy="200025"/>
          </a:xfrm>
          <a:prstGeom prst="rect">
            <a:avLst/>
          </a:prstGeom>
          <a:noFill/>
          <a:ln>
            <a:noFill/>
          </a:ln>
        </p:spPr>
      </p:pic>
      <p:pic>
        <p:nvPicPr>
          <p:cNvPr id="219" name="Google Shape;219;p20" descr="image.png"/>
          <p:cNvPicPr preferRelativeResize="0"/>
          <p:nvPr/>
        </p:nvPicPr>
        <p:blipFill rotWithShape="1">
          <a:blip r:embed="rId3"/>
          <a:srcRect/>
          <a:stretch>
            <a:fillRect/>
          </a:stretch>
        </p:blipFill>
        <p:spPr>
          <a:xfrm>
            <a:off x="1247775" y="4038451"/>
            <a:ext cx="171450" cy="200025"/>
          </a:xfrm>
          <a:prstGeom prst="rect">
            <a:avLst/>
          </a:prstGeom>
          <a:noFill/>
          <a:ln>
            <a:noFill/>
          </a:ln>
        </p:spPr>
      </p:pic>
      <p:pic>
        <p:nvPicPr>
          <p:cNvPr id="220" name="Google Shape;220;p20" descr="image.png"/>
          <p:cNvPicPr preferRelativeResize="0"/>
          <p:nvPr/>
        </p:nvPicPr>
        <p:blipFill rotWithShape="1">
          <a:blip r:embed="rId3"/>
          <a:srcRect/>
          <a:stretch>
            <a:fillRect/>
          </a:stretch>
        </p:blipFill>
        <p:spPr>
          <a:xfrm>
            <a:off x="1247775" y="4947046"/>
            <a:ext cx="171450" cy="200025"/>
          </a:xfrm>
          <a:prstGeom prst="rect">
            <a:avLst/>
          </a:prstGeom>
          <a:noFill/>
          <a:ln>
            <a:noFill/>
          </a:ln>
        </p:spPr>
      </p:pic>
      <p:pic>
        <p:nvPicPr>
          <p:cNvPr id="221" name="Google Shape;221;p20" descr="image.png"/>
          <p:cNvPicPr preferRelativeResize="0"/>
          <p:nvPr/>
        </p:nvPicPr>
        <p:blipFill rotWithShape="1">
          <a:blip r:embed="rId3"/>
          <a:srcRect/>
          <a:stretch>
            <a:fillRect/>
          </a:stretch>
        </p:blipFill>
        <p:spPr>
          <a:xfrm>
            <a:off x="1247775" y="5855642"/>
            <a:ext cx="171450" cy="200025"/>
          </a:xfrm>
          <a:prstGeom prst="rect">
            <a:avLst/>
          </a:prstGeom>
          <a:noFill/>
          <a:ln>
            <a:noFill/>
          </a:ln>
        </p:spPr>
      </p:pic>
      <p:sp>
        <p:nvSpPr>
          <p:cNvPr id="222" name="Google Shape;222;p20"/>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ABSTRACT METHOD</a:t>
            </a:r>
            <a:endParaRPr dirty="0"/>
          </a:p>
        </p:txBody>
      </p:sp>
      <p:sp>
        <p:nvSpPr>
          <p:cNvPr id="223" name="Google Shape;223;p20"/>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08"/>
                                        </p:tgtEl>
                                        <p:attrNameLst>
                                          <p:attrName>fillcolor</p:attrName>
                                        </p:attrNameLst>
                                      </p:cBhvr>
                                      <p:to>
                                        <a:srgbClr val="00B050"/>
                                      </p:to>
                                    </p:animClr>
                                    <p:set>
                                      <p:cBhvr>
                                        <p:cTn id="7" dur="2000" fill="hold"/>
                                        <p:tgtEl>
                                          <p:spTgt spid="208"/>
                                        </p:tgtEl>
                                        <p:attrNameLst>
                                          <p:attrName>fill.type</p:attrName>
                                        </p:attrNameLst>
                                      </p:cBhvr>
                                      <p:to>
                                        <p:strVal val="solid"/>
                                      </p:to>
                                    </p:set>
                                    <p:set>
                                      <p:cBhvr>
                                        <p:cTn id="8" dur="2000" fill="hold"/>
                                        <p:tgtEl>
                                          <p:spTgt spid="208"/>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2" name="Google Shape;202;p20"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03" name="Google Shape;203;p20" descr="image.png"/>
          <p:cNvPicPr preferRelativeResize="0"/>
          <p:nvPr/>
        </p:nvPicPr>
        <p:blipFill rotWithShape="1">
          <a:blip r:embed="rId2"/>
          <a:srcRect/>
          <a:stretch>
            <a:fillRect/>
          </a:stretch>
        </p:blipFill>
        <p:spPr>
          <a:xfrm>
            <a:off x="571500" y="6871989"/>
            <a:ext cx="11049000" cy="838200"/>
          </a:xfrm>
          <a:prstGeom prst="rect">
            <a:avLst/>
          </a:prstGeom>
          <a:noFill/>
          <a:ln>
            <a:noFill/>
          </a:ln>
        </p:spPr>
      </p:pic>
      <p:sp>
        <p:nvSpPr>
          <p:cNvPr id="204" name="Google Shape;204;p20"/>
          <p:cNvSpPr txBox="1"/>
          <p:nvPr/>
        </p:nvSpPr>
        <p:spPr>
          <a:xfrm>
            <a:off x="571500" y="2043261"/>
            <a:ext cx="11049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Which keyword prevents a method from being overridden in Java?</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205" name="Google Shape;205;p20"/>
          <p:cNvSpPr txBox="1"/>
          <p:nvPr/>
        </p:nvSpPr>
        <p:spPr>
          <a:xfrm>
            <a:off x="6724650" y="7129164"/>
            <a:ext cx="942975"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C) final</a:t>
            </a:r>
            <a:endParaRPr lang="en-US" sz="2100" b="0" i="0" u="none" strike="noStrike" cap="none">
              <a:solidFill>
                <a:srgbClr val="FEF08A"/>
              </a:solidFill>
              <a:latin typeface="Inter Black"/>
              <a:ea typeface="Inter Black"/>
              <a:cs typeface="Inter Black"/>
              <a:sym typeface="Inter Black"/>
            </a:endParaRPr>
          </a:p>
        </p:txBody>
      </p:sp>
      <p:sp>
        <p:nvSpPr>
          <p:cNvPr id="206" name="Google Shape;206;p20"/>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7" name="Google Shape;207;p20"/>
          <p:cNvSpPr txBox="1"/>
          <p:nvPr/>
        </p:nvSpPr>
        <p:spPr>
          <a:xfrm>
            <a:off x="1600200" y="3037582"/>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static</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208" name="Google Shape;208;p20"/>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9" name="Google Shape;209;p20"/>
          <p:cNvSpPr txBox="1"/>
          <p:nvPr/>
        </p:nvSpPr>
        <p:spPr>
          <a:xfrm>
            <a:off x="1600200" y="3946177"/>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B) private</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210" name="Google Shape;210;p20"/>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20"/>
          <p:cNvSpPr txBox="1"/>
          <p:nvPr/>
        </p:nvSpPr>
        <p:spPr>
          <a:xfrm>
            <a:off x="1600200" y="4854773"/>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C) final</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212" name="Google Shape;212;p20"/>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3" name="Google Shape;213;p20"/>
          <p:cNvSpPr txBox="1"/>
          <p:nvPr/>
        </p:nvSpPr>
        <p:spPr>
          <a:xfrm>
            <a:off x="1600200" y="5763369"/>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D) public</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214" name="Google Shape;214;p20"/>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5" name="Google Shape;215;p20"/>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20"/>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7" name="Google Shape;217;p20"/>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8" name="Google Shape;218;p20" descr="image.png"/>
          <p:cNvPicPr preferRelativeResize="0"/>
          <p:nvPr/>
        </p:nvPicPr>
        <p:blipFill rotWithShape="1">
          <a:blip r:embed="rId3"/>
          <a:srcRect/>
          <a:stretch>
            <a:fillRect/>
          </a:stretch>
        </p:blipFill>
        <p:spPr>
          <a:xfrm>
            <a:off x="1247775" y="3129855"/>
            <a:ext cx="171450" cy="200025"/>
          </a:xfrm>
          <a:prstGeom prst="rect">
            <a:avLst/>
          </a:prstGeom>
          <a:noFill/>
          <a:ln>
            <a:noFill/>
          </a:ln>
        </p:spPr>
      </p:pic>
      <p:pic>
        <p:nvPicPr>
          <p:cNvPr id="219" name="Google Shape;219;p20" descr="image.png"/>
          <p:cNvPicPr preferRelativeResize="0"/>
          <p:nvPr/>
        </p:nvPicPr>
        <p:blipFill rotWithShape="1">
          <a:blip r:embed="rId3"/>
          <a:srcRect/>
          <a:stretch>
            <a:fillRect/>
          </a:stretch>
        </p:blipFill>
        <p:spPr>
          <a:xfrm>
            <a:off x="1247775" y="4038451"/>
            <a:ext cx="171450" cy="200025"/>
          </a:xfrm>
          <a:prstGeom prst="rect">
            <a:avLst/>
          </a:prstGeom>
          <a:noFill/>
          <a:ln>
            <a:noFill/>
          </a:ln>
        </p:spPr>
      </p:pic>
      <p:pic>
        <p:nvPicPr>
          <p:cNvPr id="220" name="Google Shape;220;p20" descr="image.png"/>
          <p:cNvPicPr preferRelativeResize="0"/>
          <p:nvPr/>
        </p:nvPicPr>
        <p:blipFill rotWithShape="1">
          <a:blip r:embed="rId3"/>
          <a:srcRect/>
          <a:stretch>
            <a:fillRect/>
          </a:stretch>
        </p:blipFill>
        <p:spPr>
          <a:xfrm>
            <a:off x="1247775" y="4947046"/>
            <a:ext cx="171450" cy="200025"/>
          </a:xfrm>
          <a:prstGeom prst="rect">
            <a:avLst/>
          </a:prstGeom>
          <a:noFill/>
          <a:ln>
            <a:noFill/>
          </a:ln>
        </p:spPr>
      </p:pic>
      <p:pic>
        <p:nvPicPr>
          <p:cNvPr id="221" name="Google Shape;221;p20" descr="image.png"/>
          <p:cNvPicPr preferRelativeResize="0"/>
          <p:nvPr/>
        </p:nvPicPr>
        <p:blipFill rotWithShape="1">
          <a:blip r:embed="rId3"/>
          <a:srcRect/>
          <a:stretch>
            <a:fillRect/>
          </a:stretch>
        </p:blipFill>
        <p:spPr>
          <a:xfrm>
            <a:off x="1247775" y="5855642"/>
            <a:ext cx="171450" cy="200025"/>
          </a:xfrm>
          <a:prstGeom prst="rect">
            <a:avLst/>
          </a:prstGeom>
          <a:noFill/>
          <a:ln>
            <a:noFill/>
          </a:ln>
        </p:spPr>
      </p:pic>
      <p:sp>
        <p:nvSpPr>
          <p:cNvPr id="222" name="Google Shape;222;p20"/>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JAVA KEYWORDS</a:t>
            </a:r>
            <a:endPar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endParaRPr>
          </a:p>
        </p:txBody>
      </p:sp>
      <p:sp>
        <p:nvSpPr>
          <p:cNvPr id="223" name="Google Shape;223;p20"/>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10"/>
                                        </p:tgtEl>
                                        <p:attrNameLst>
                                          <p:attrName>fillcolor</p:attrName>
                                        </p:attrNameLst>
                                      </p:cBhvr>
                                      <p:to>
                                        <a:srgbClr val="00B050"/>
                                      </p:to>
                                    </p:animClr>
                                    <p:set>
                                      <p:cBhvr>
                                        <p:cTn id="7" dur="2000" fill="hold"/>
                                        <p:tgtEl>
                                          <p:spTgt spid="210"/>
                                        </p:tgtEl>
                                        <p:attrNameLst>
                                          <p:attrName>fill.type</p:attrName>
                                        </p:attrNameLst>
                                      </p:cBhvr>
                                      <p:to>
                                        <p:strVal val="solid"/>
                                      </p:to>
                                    </p:set>
                                    <p:set>
                                      <p:cBhvr>
                                        <p:cTn id="8" dur="2000" fill="hold"/>
                                        <p:tgtEl>
                                          <p:spTgt spid="21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27"/>
        <p:cNvGrpSpPr/>
        <p:nvPr/>
      </p:nvGrpSpPr>
      <p:grpSpPr>
        <a:xfrm>
          <a:off x="0" y="0"/>
          <a:ext cx="0" cy="0"/>
          <a:chOff x="0" y="0"/>
          <a:chExt cx="0" cy="0"/>
        </a:xfrm>
      </p:grpSpPr>
      <p:pic>
        <p:nvPicPr>
          <p:cNvPr id="228" name="Google Shape;228;p21"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29" name="Google Shape;229;p21" descr="image.png"/>
          <p:cNvPicPr preferRelativeResize="0"/>
          <p:nvPr/>
        </p:nvPicPr>
        <p:blipFill rotWithShape="1">
          <a:blip r:embed="rId2"/>
          <a:srcRect/>
          <a:stretch>
            <a:fillRect/>
          </a:stretch>
        </p:blipFill>
        <p:spPr>
          <a:xfrm>
            <a:off x="571500" y="2326630"/>
            <a:ext cx="5334000" cy="3447901"/>
          </a:xfrm>
          <a:prstGeom prst="rect">
            <a:avLst/>
          </a:prstGeom>
          <a:noFill/>
          <a:ln>
            <a:noFill/>
          </a:ln>
        </p:spPr>
      </p:pic>
      <p:pic>
        <p:nvPicPr>
          <p:cNvPr id="230" name="Google Shape;230;p21" descr="image.png"/>
          <p:cNvPicPr preferRelativeResize="0"/>
          <p:nvPr/>
        </p:nvPicPr>
        <p:blipFill rotWithShape="1">
          <a:blip r:embed="rId3"/>
          <a:srcRect/>
          <a:stretch>
            <a:fillRect/>
          </a:stretch>
        </p:blipFill>
        <p:spPr>
          <a:xfrm>
            <a:off x="6286500" y="2326630"/>
            <a:ext cx="5334000" cy="3447901"/>
          </a:xfrm>
          <a:prstGeom prst="rect">
            <a:avLst/>
          </a:prstGeom>
          <a:noFill/>
          <a:ln>
            <a:noFill/>
          </a:ln>
        </p:spPr>
      </p:pic>
      <p:pic>
        <p:nvPicPr>
          <p:cNvPr id="231" name="Google Shape;231;p21" descr="image.png"/>
          <p:cNvPicPr preferRelativeResize="0"/>
          <p:nvPr/>
        </p:nvPicPr>
        <p:blipFill rotWithShape="1">
          <a:blip r:embed="rId4"/>
          <a:srcRect/>
          <a:stretch>
            <a:fillRect/>
          </a:stretch>
        </p:blipFill>
        <p:spPr>
          <a:xfrm>
            <a:off x="6677025" y="4138166"/>
            <a:ext cx="4552950" cy="838200"/>
          </a:xfrm>
          <a:prstGeom prst="rect">
            <a:avLst/>
          </a:prstGeom>
          <a:noFill/>
          <a:ln>
            <a:noFill/>
          </a:ln>
        </p:spPr>
      </p:pic>
      <p:sp>
        <p:nvSpPr>
          <p:cNvPr id="232" name="Google Shape;232;p21"/>
          <p:cNvSpPr txBox="1"/>
          <p:nvPr/>
        </p:nvSpPr>
        <p:spPr>
          <a:xfrm>
            <a:off x="962025" y="2983855"/>
            <a:ext cx="4552950" cy="213345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100" b="0" i="1" u="none" strike="noStrike" cap="none">
                <a:solidFill>
                  <a:srgbClr val="E2E8F0"/>
                </a:solidFill>
                <a:latin typeface="JetBrains Mono" panose="02000009000000000000"/>
                <a:ea typeface="JetBrains Mono" panose="02000009000000000000"/>
                <a:cs typeface="JetBrains Mono" panose="02000009000000000000"/>
                <a:sym typeface="JetBrains Mono" panose="02000009000000000000"/>
              </a:rPr>
              <a:t>"I define what an object should do, not how. Classes implement me. I enable pure abstraction and have no physical existence."</a:t>
            </a:r>
            <a:endParaRPr lang="en-US" sz="2100" b="0" i="1" u="none" strike="noStrike" cap="none">
              <a:solidFill>
                <a:srgbClr val="E2E8F0"/>
              </a:solidFill>
              <a:latin typeface="JetBrains Mono" panose="02000009000000000000"/>
              <a:ea typeface="JetBrains Mono" panose="02000009000000000000"/>
              <a:cs typeface="JetBrains Mono" panose="02000009000000000000"/>
              <a:sym typeface="JetBrains Mono" panose="02000009000000000000"/>
            </a:endParaRPr>
          </a:p>
        </p:txBody>
      </p:sp>
      <p:sp>
        <p:nvSpPr>
          <p:cNvPr id="233" name="Google Shape;233;p21"/>
          <p:cNvSpPr txBox="1"/>
          <p:nvPr/>
        </p:nvSpPr>
        <p:spPr>
          <a:xfrm>
            <a:off x="6677025" y="3353395"/>
            <a:ext cx="45529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rPr>
              <a:t>Who am I?</a:t>
            </a:r>
            <a:endPar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endParaRPr>
          </a:p>
        </p:txBody>
      </p:sp>
      <p:sp>
        <p:nvSpPr>
          <p:cNvPr id="234" name="Google Shape;234;p21"/>
          <p:cNvSpPr txBox="1"/>
          <p:nvPr/>
        </p:nvSpPr>
        <p:spPr>
          <a:xfrm>
            <a:off x="8863012" y="4395340"/>
            <a:ext cx="1576388"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FEF08A"/>
                </a:solidFill>
                <a:latin typeface="Inter Black"/>
                <a:ea typeface="Inter Black"/>
                <a:cs typeface="Inter Black"/>
                <a:sym typeface="Inter Black"/>
              </a:rPr>
              <a:t>Interface</a:t>
            </a:r>
            <a:endParaRPr dirty="0"/>
          </a:p>
        </p:txBody>
      </p:sp>
      <p:sp>
        <p:nvSpPr>
          <p:cNvPr id="235" name="Google Shape;235;p21"/>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IDENTIFY THE COMPONENT</a:t>
            </a:r>
            <a:endPar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endParaRPr>
          </a:p>
        </p:txBody>
      </p:sp>
      <p:sp>
        <p:nvSpPr>
          <p:cNvPr id="236" name="Google Shape;236;p21"/>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21"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29" name="Google Shape;229;p21" descr="image.png"/>
          <p:cNvPicPr preferRelativeResize="0"/>
          <p:nvPr/>
        </p:nvPicPr>
        <p:blipFill rotWithShape="1">
          <a:blip r:embed="rId2"/>
          <a:srcRect/>
          <a:stretch>
            <a:fillRect/>
          </a:stretch>
        </p:blipFill>
        <p:spPr>
          <a:xfrm>
            <a:off x="571500" y="2326630"/>
            <a:ext cx="5334000" cy="3447901"/>
          </a:xfrm>
          <a:prstGeom prst="rect">
            <a:avLst/>
          </a:prstGeom>
          <a:noFill/>
          <a:ln>
            <a:noFill/>
          </a:ln>
        </p:spPr>
      </p:pic>
      <p:pic>
        <p:nvPicPr>
          <p:cNvPr id="230" name="Google Shape;230;p21" descr="image.png"/>
          <p:cNvPicPr preferRelativeResize="0"/>
          <p:nvPr/>
        </p:nvPicPr>
        <p:blipFill rotWithShape="1">
          <a:blip r:embed="rId3"/>
          <a:srcRect/>
          <a:stretch>
            <a:fillRect/>
          </a:stretch>
        </p:blipFill>
        <p:spPr>
          <a:xfrm>
            <a:off x="6286500" y="2326630"/>
            <a:ext cx="5334000" cy="3447901"/>
          </a:xfrm>
          <a:prstGeom prst="rect">
            <a:avLst/>
          </a:prstGeom>
          <a:noFill/>
          <a:ln>
            <a:noFill/>
          </a:ln>
        </p:spPr>
      </p:pic>
      <p:sp>
        <p:nvSpPr>
          <p:cNvPr id="232" name="Google Shape;232;p21"/>
          <p:cNvSpPr txBox="1"/>
          <p:nvPr/>
        </p:nvSpPr>
        <p:spPr>
          <a:xfrm>
            <a:off x="962025" y="2210964"/>
            <a:ext cx="4552950" cy="361945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100" b="0" i="1" u="none" strike="noStrike" cap="none" dirty="0">
                <a:solidFill>
                  <a:srgbClr val="E2E8F0"/>
                </a:solidFill>
                <a:latin typeface="JetBrains Mono" panose="02000009000000000000"/>
                <a:ea typeface="JetBrains Mono" panose="02000009000000000000"/>
                <a:cs typeface="JetBrains Mono" panose="02000009000000000000"/>
                <a:sym typeface="JetBrains Mono" panose="02000009000000000000"/>
              </a:rPr>
              <a:t>"I am a design blueprint. I define the properties and behaviors that my instances will possess, but I don't occupy any memory myself until an object is created from me. Who am I?"</a:t>
            </a:r>
            <a:endParaRPr dirty="0"/>
          </a:p>
        </p:txBody>
      </p:sp>
      <p:sp>
        <p:nvSpPr>
          <p:cNvPr id="233" name="Google Shape;233;p21"/>
          <p:cNvSpPr txBox="1"/>
          <p:nvPr/>
        </p:nvSpPr>
        <p:spPr>
          <a:xfrm>
            <a:off x="6677025" y="3353395"/>
            <a:ext cx="45529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rPr>
              <a:t>Who am I?</a:t>
            </a:r>
            <a:endPar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endParaRPr>
          </a:p>
        </p:txBody>
      </p:sp>
      <p:sp>
        <p:nvSpPr>
          <p:cNvPr id="234" name="Google Shape;234;p21"/>
          <p:cNvSpPr txBox="1"/>
          <p:nvPr/>
        </p:nvSpPr>
        <p:spPr>
          <a:xfrm>
            <a:off x="8863012" y="4395340"/>
            <a:ext cx="1576388"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FEF08A"/>
                </a:solidFill>
                <a:latin typeface="Inter Black"/>
                <a:ea typeface="Inter Black"/>
                <a:cs typeface="Inter Black"/>
                <a:sym typeface="Inter Black"/>
              </a:rPr>
              <a:t>Class</a:t>
            </a:r>
            <a:endParaRPr dirty="0"/>
          </a:p>
        </p:txBody>
      </p:sp>
      <p:sp>
        <p:nvSpPr>
          <p:cNvPr id="235" name="Google Shape;235;p21"/>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IDENTIFY </a:t>
            </a:r>
            <a:r>
              <a:rPr lang="en-US" sz="3300" b="1" dirty="0">
                <a:solidFill>
                  <a:srgbClr val="38BDF8"/>
                </a:solidFill>
                <a:latin typeface="Inter" panose="02000503000000020004"/>
                <a:ea typeface="Inter" panose="02000503000000020004"/>
                <a:cs typeface="Inter" panose="02000503000000020004"/>
                <a:sym typeface="Inter" panose="02000503000000020004"/>
              </a:rPr>
              <a:t>ME</a:t>
            </a:r>
            <a:endParaRPr dirty="0"/>
          </a:p>
        </p:txBody>
      </p:sp>
      <p:sp>
        <p:nvSpPr>
          <p:cNvPr id="236" name="Google Shape;236;p21"/>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Google Shape;131;p16" descr="image.png"/>
          <p:cNvPicPr preferRelativeResize="0"/>
          <p:nvPr/>
        </p:nvPicPr>
        <p:blipFill rotWithShape="1">
          <a:blip r:embed="rId4"/>
          <a:srcRect/>
          <a:stretch>
            <a:fillRect/>
          </a:stretch>
        </p:blipFill>
        <p:spPr>
          <a:xfrm>
            <a:off x="6586536" y="4116050"/>
            <a:ext cx="4552950" cy="838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21"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29" name="Google Shape;229;p21" descr="image.png"/>
          <p:cNvPicPr preferRelativeResize="0"/>
          <p:nvPr/>
        </p:nvPicPr>
        <p:blipFill rotWithShape="1">
          <a:blip r:embed="rId2"/>
          <a:srcRect/>
          <a:stretch>
            <a:fillRect/>
          </a:stretch>
        </p:blipFill>
        <p:spPr>
          <a:xfrm>
            <a:off x="571500" y="2326630"/>
            <a:ext cx="5334000" cy="3447901"/>
          </a:xfrm>
          <a:prstGeom prst="rect">
            <a:avLst/>
          </a:prstGeom>
          <a:noFill/>
          <a:ln>
            <a:noFill/>
          </a:ln>
        </p:spPr>
      </p:pic>
      <p:pic>
        <p:nvPicPr>
          <p:cNvPr id="230" name="Google Shape;230;p21" descr="image.png"/>
          <p:cNvPicPr preferRelativeResize="0"/>
          <p:nvPr/>
        </p:nvPicPr>
        <p:blipFill rotWithShape="1">
          <a:blip r:embed="rId3"/>
          <a:srcRect/>
          <a:stretch>
            <a:fillRect/>
          </a:stretch>
        </p:blipFill>
        <p:spPr>
          <a:xfrm>
            <a:off x="6286500" y="2326630"/>
            <a:ext cx="5334000" cy="3447901"/>
          </a:xfrm>
          <a:prstGeom prst="rect">
            <a:avLst/>
          </a:prstGeom>
          <a:noFill/>
          <a:ln>
            <a:noFill/>
          </a:ln>
        </p:spPr>
      </p:pic>
      <p:sp>
        <p:nvSpPr>
          <p:cNvPr id="232" name="Google Shape;232;p21"/>
          <p:cNvSpPr txBox="1"/>
          <p:nvPr/>
        </p:nvSpPr>
        <p:spPr>
          <a:xfrm>
            <a:off x="962025" y="2210964"/>
            <a:ext cx="4552950" cy="361945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100" b="0" i="1" u="none" strike="noStrike" cap="none" dirty="0">
                <a:solidFill>
                  <a:srgbClr val="E2E8F0"/>
                </a:solidFill>
                <a:latin typeface="JetBrains Mono" panose="02000009000000000000"/>
                <a:ea typeface="JetBrains Mono" panose="02000009000000000000"/>
                <a:cs typeface="JetBrains Mono" panose="02000009000000000000"/>
                <a:sym typeface="JetBrains Mono" panose="02000009000000000000"/>
              </a:rPr>
              <a:t>“I am a special type of member function. I have the exact same name as my class, I have no return type, and I am automatically triggered the moment an object is born into memory. Who am I"</a:t>
            </a:r>
            <a:endParaRPr dirty="0"/>
          </a:p>
        </p:txBody>
      </p:sp>
      <p:sp>
        <p:nvSpPr>
          <p:cNvPr id="233" name="Google Shape;233;p21"/>
          <p:cNvSpPr txBox="1"/>
          <p:nvPr/>
        </p:nvSpPr>
        <p:spPr>
          <a:xfrm>
            <a:off x="6677025" y="3353395"/>
            <a:ext cx="45529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rPr>
              <a:t>Who am I?</a:t>
            </a:r>
            <a:endPar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endParaRPr>
          </a:p>
        </p:txBody>
      </p:sp>
      <p:sp>
        <p:nvSpPr>
          <p:cNvPr id="234" name="Google Shape;234;p21"/>
          <p:cNvSpPr txBox="1"/>
          <p:nvPr/>
        </p:nvSpPr>
        <p:spPr>
          <a:xfrm>
            <a:off x="8863012" y="4395340"/>
            <a:ext cx="1576388"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FEF08A"/>
                </a:solidFill>
                <a:latin typeface="Inter Black"/>
                <a:ea typeface="Inter Black"/>
                <a:cs typeface="Inter Black"/>
                <a:sym typeface="Inter Black"/>
              </a:rPr>
              <a:t>Constructor</a:t>
            </a:r>
            <a:endParaRPr dirty="0"/>
          </a:p>
        </p:txBody>
      </p:sp>
      <p:sp>
        <p:nvSpPr>
          <p:cNvPr id="235" name="Google Shape;235;p21"/>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IDENTIFY </a:t>
            </a:r>
            <a:r>
              <a:rPr lang="en-US" sz="3300" b="1" dirty="0">
                <a:solidFill>
                  <a:srgbClr val="38BDF8"/>
                </a:solidFill>
                <a:latin typeface="Inter" panose="02000503000000020004"/>
                <a:ea typeface="Inter" panose="02000503000000020004"/>
                <a:cs typeface="Inter" panose="02000503000000020004"/>
                <a:sym typeface="Inter" panose="02000503000000020004"/>
              </a:rPr>
              <a:t>ME</a:t>
            </a:r>
            <a:endParaRPr dirty="0"/>
          </a:p>
        </p:txBody>
      </p:sp>
      <p:sp>
        <p:nvSpPr>
          <p:cNvPr id="236" name="Google Shape;236;p21"/>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Google Shape;131;p16" descr="image.png"/>
          <p:cNvPicPr preferRelativeResize="0"/>
          <p:nvPr/>
        </p:nvPicPr>
        <p:blipFill rotWithShape="1">
          <a:blip r:embed="rId4"/>
          <a:srcRect/>
          <a:stretch>
            <a:fillRect/>
          </a:stretch>
        </p:blipFill>
        <p:spPr>
          <a:xfrm>
            <a:off x="6586536" y="4116050"/>
            <a:ext cx="4552950" cy="838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40"/>
        <p:cNvGrpSpPr/>
        <p:nvPr/>
      </p:nvGrpSpPr>
      <p:grpSpPr>
        <a:xfrm>
          <a:off x="0" y="0"/>
          <a:ext cx="0" cy="0"/>
          <a:chOff x="0" y="0"/>
          <a:chExt cx="0" cy="0"/>
        </a:xfrm>
      </p:grpSpPr>
      <p:pic>
        <p:nvPicPr>
          <p:cNvPr id="241" name="Google Shape;241;p22"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42" name="Google Shape;242;p22"/>
          <p:cNvSpPr/>
          <p:nvPr/>
        </p:nvSpPr>
        <p:spPr>
          <a:xfrm>
            <a:off x="0" y="-5018"/>
            <a:ext cx="12192000" cy="6858000"/>
          </a:xfrm>
          <a:prstGeom prst="rect">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3" name="Google Shape;243;p22"/>
          <p:cNvSpPr txBox="1"/>
          <p:nvPr/>
        </p:nvSpPr>
        <p:spPr>
          <a:xfrm>
            <a:off x="5610225" y="1492129"/>
            <a:ext cx="9715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1" i="0" u="none" strike="noStrike" cap="none" dirty="0">
                <a:solidFill>
                  <a:srgbClr val="38BDF8"/>
                </a:solidFill>
                <a:latin typeface="Inter" panose="02000503000000020004"/>
                <a:ea typeface="Inter" panose="02000503000000020004"/>
                <a:cs typeface="Inter" panose="02000503000000020004"/>
                <a:sym typeface="Inter" panose="02000503000000020004"/>
              </a:rPr>
              <a:t>PART 03</a:t>
            </a:r>
            <a:endParaRPr dirty="0"/>
          </a:p>
        </p:txBody>
      </p:sp>
      <p:sp>
        <p:nvSpPr>
          <p:cNvPr id="244" name="Google Shape;244;p22"/>
          <p:cNvSpPr txBox="1"/>
          <p:nvPr/>
        </p:nvSpPr>
        <p:spPr>
          <a:xfrm>
            <a:off x="295275" y="2478285"/>
            <a:ext cx="11601450" cy="1847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F8FAFC"/>
                </a:solidFill>
                <a:latin typeface="Inter" panose="02000503000000020004"/>
                <a:ea typeface="Inter" panose="02000503000000020004"/>
                <a:cs typeface="Inter" panose="02000503000000020004"/>
                <a:sym typeface="Inter" panose="02000503000000020004"/>
              </a:rPr>
              <a:t>Database Management Systems</a:t>
            </a:r>
            <a:endParaRPr lang="en-US" sz="6000" b="1" i="0" u="none" strike="noStrike" cap="none">
              <a:solidFill>
                <a:srgbClr val="F8FAFC"/>
              </a:solidFill>
              <a:latin typeface="Inter" panose="02000503000000020004"/>
              <a:ea typeface="Inter" panose="02000503000000020004"/>
              <a:cs typeface="Inter" panose="02000503000000020004"/>
              <a:sym typeface="Inter" panose="02000503000000020004"/>
            </a:endParaRPr>
          </a:p>
        </p:txBody>
      </p:sp>
      <p:sp>
        <p:nvSpPr>
          <p:cNvPr id="245" name="Google Shape;245;p22"/>
          <p:cNvSpPr/>
          <p:nvPr/>
        </p:nvSpPr>
        <p:spPr>
          <a:xfrm>
            <a:off x="5381625" y="4611885"/>
            <a:ext cx="1428750" cy="76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49"/>
        <p:cNvGrpSpPr/>
        <p:nvPr/>
      </p:nvGrpSpPr>
      <p:grpSpPr>
        <a:xfrm>
          <a:off x="0" y="0"/>
          <a:ext cx="0" cy="0"/>
          <a:chOff x="0" y="0"/>
          <a:chExt cx="0" cy="0"/>
        </a:xfrm>
      </p:grpSpPr>
      <p:pic>
        <p:nvPicPr>
          <p:cNvPr id="250" name="Google Shape;250;p23"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51" name="Google Shape;251;p23" descr="image.png"/>
          <p:cNvPicPr preferRelativeResize="0"/>
          <p:nvPr/>
        </p:nvPicPr>
        <p:blipFill rotWithShape="1">
          <a:blip r:embed="rId2"/>
          <a:srcRect/>
          <a:stretch>
            <a:fillRect/>
          </a:stretch>
        </p:blipFill>
        <p:spPr>
          <a:xfrm>
            <a:off x="571500" y="7237660"/>
            <a:ext cx="11049000" cy="838200"/>
          </a:xfrm>
          <a:prstGeom prst="rect">
            <a:avLst/>
          </a:prstGeom>
          <a:noFill/>
          <a:ln>
            <a:noFill/>
          </a:ln>
        </p:spPr>
      </p:pic>
      <p:sp>
        <p:nvSpPr>
          <p:cNvPr id="252" name="Google Shape;252;p23"/>
          <p:cNvSpPr txBox="1"/>
          <p:nvPr/>
        </p:nvSpPr>
        <p:spPr>
          <a:xfrm>
            <a:off x="571500" y="2043261"/>
            <a:ext cx="11049000"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Which ACID property guarantees that once a transaction is committed, its updates will survive system crashes?</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253" name="Google Shape;253;p23"/>
          <p:cNvSpPr txBox="1"/>
          <p:nvPr/>
        </p:nvSpPr>
        <p:spPr>
          <a:xfrm>
            <a:off x="6376987" y="7494835"/>
            <a:ext cx="163830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D) Durability</a:t>
            </a:r>
            <a:endParaRPr lang="en-US" sz="2100" b="0" i="0" u="none" strike="noStrike" cap="none">
              <a:solidFill>
                <a:srgbClr val="FEF08A"/>
              </a:solidFill>
              <a:latin typeface="Inter Black"/>
              <a:ea typeface="Inter Black"/>
              <a:cs typeface="Inter Black"/>
              <a:sym typeface="Inter Black"/>
            </a:endParaRPr>
          </a:p>
        </p:txBody>
      </p:sp>
      <p:sp>
        <p:nvSpPr>
          <p:cNvPr id="254" name="Google Shape;254;p23"/>
          <p:cNvSpPr/>
          <p:nvPr/>
        </p:nvSpPr>
        <p:spPr>
          <a:xfrm>
            <a:off x="952500" y="321275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5" name="Google Shape;255;p23"/>
          <p:cNvSpPr txBox="1"/>
          <p:nvPr/>
        </p:nvSpPr>
        <p:spPr>
          <a:xfrm>
            <a:off x="1600200" y="3403252"/>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Atomicity</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256" name="Google Shape;256;p23"/>
          <p:cNvSpPr/>
          <p:nvPr/>
        </p:nvSpPr>
        <p:spPr>
          <a:xfrm>
            <a:off x="952500" y="4121348"/>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23"/>
          <p:cNvSpPr txBox="1"/>
          <p:nvPr/>
        </p:nvSpPr>
        <p:spPr>
          <a:xfrm>
            <a:off x="1600200" y="4311848"/>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B) Consistency</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258" name="Google Shape;258;p23"/>
          <p:cNvSpPr/>
          <p:nvPr/>
        </p:nvSpPr>
        <p:spPr>
          <a:xfrm>
            <a:off x="952500" y="5029944"/>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9" name="Google Shape;259;p23"/>
          <p:cNvSpPr txBox="1"/>
          <p:nvPr/>
        </p:nvSpPr>
        <p:spPr>
          <a:xfrm>
            <a:off x="1600200" y="5220444"/>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C) Isolation</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260" name="Google Shape;260;p23"/>
          <p:cNvSpPr/>
          <p:nvPr/>
        </p:nvSpPr>
        <p:spPr>
          <a:xfrm>
            <a:off x="952500" y="593853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23"/>
          <p:cNvSpPr txBox="1"/>
          <p:nvPr/>
        </p:nvSpPr>
        <p:spPr>
          <a:xfrm>
            <a:off x="1600200" y="6129039"/>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D) Durability</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262" name="Google Shape;262;p23"/>
          <p:cNvSpPr/>
          <p:nvPr/>
        </p:nvSpPr>
        <p:spPr>
          <a:xfrm>
            <a:off x="952500" y="3968948"/>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23"/>
          <p:cNvSpPr/>
          <p:nvPr/>
        </p:nvSpPr>
        <p:spPr>
          <a:xfrm>
            <a:off x="952500" y="487754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3"/>
          <p:cNvSpPr/>
          <p:nvPr/>
        </p:nvSpPr>
        <p:spPr>
          <a:xfrm>
            <a:off x="952500" y="578613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5" name="Google Shape;265;p23"/>
          <p:cNvSpPr/>
          <p:nvPr/>
        </p:nvSpPr>
        <p:spPr>
          <a:xfrm>
            <a:off x="952500" y="6694735"/>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66" name="Google Shape;266;p23" descr="image.png"/>
          <p:cNvPicPr preferRelativeResize="0"/>
          <p:nvPr/>
        </p:nvPicPr>
        <p:blipFill rotWithShape="1">
          <a:blip r:embed="rId3"/>
          <a:srcRect/>
          <a:stretch>
            <a:fillRect/>
          </a:stretch>
        </p:blipFill>
        <p:spPr>
          <a:xfrm>
            <a:off x="1247775" y="3495526"/>
            <a:ext cx="171450" cy="200025"/>
          </a:xfrm>
          <a:prstGeom prst="rect">
            <a:avLst/>
          </a:prstGeom>
          <a:noFill/>
          <a:ln>
            <a:noFill/>
          </a:ln>
        </p:spPr>
      </p:pic>
      <p:pic>
        <p:nvPicPr>
          <p:cNvPr id="267" name="Google Shape;267;p23" descr="image.png"/>
          <p:cNvPicPr preferRelativeResize="0"/>
          <p:nvPr/>
        </p:nvPicPr>
        <p:blipFill rotWithShape="1">
          <a:blip r:embed="rId3"/>
          <a:srcRect/>
          <a:stretch>
            <a:fillRect/>
          </a:stretch>
        </p:blipFill>
        <p:spPr>
          <a:xfrm>
            <a:off x="1247775" y="4404121"/>
            <a:ext cx="171450" cy="200025"/>
          </a:xfrm>
          <a:prstGeom prst="rect">
            <a:avLst/>
          </a:prstGeom>
          <a:noFill/>
          <a:ln>
            <a:noFill/>
          </a:ln>
        </p:spPr>
      </p:pic>
      <p:pic>
        <p:nvPicPr>
          <p:cNvPr id="268" name="Google Shape;268;p23" descr="image.png"/>
          <p:cNvPicPr preferRelativeResize="0"/>
          <p:nvPr/>
        </p:nvPicPr>
        <p:blipFill rotWithShape="1">
          <a:blip r:embed="rId3"/>
          <a:srcRect/>
          <a:stretch>
            <a:fillRect/>
          </a:stretch>
        </p:blipFill>
        <p:spPr>
          <a:xfrm>
            <a:off x="1247775" y="5312717"/>
            <a:ext cx="171450" cy="200025"/>
          </a:xfrm>
          <a:prstGeom prst="rect">
            <a:avLst/>
          </a:prstGeom>
          <a:noFill/>
          <a:ln>
            <a:noFill/>
          </a:ln>
        </p:spPr>
      </p:pic>
      <p:pic>
        <p:nvPicPr>
          <p:cNvPr id="269" name="Google Shape;269;p23" descr="image.png"/>
          <p:cNvPicPr preferRelativeResize="0"/>
          <p:nvPr/>
        </p:nvPicPr>
        <p:blipFill rotWithShape="1">
          <a:blip r:embed="rId3"/>
          <a:srcRect/>
          <a:stretch>
            <a:fillRect/>
          </a:stretch>
        </p:blipFill>
        <p:spPr>
          <a:xfrm>
            <a:off x="1247775" y="6221313"/>
            <a:ext cx="171450" cy="200025"/>
          </a:xfrm>
          <a:prstGeom prst="rect">
            <a:avLst/>
          </a:prstGeom>
          <a:noFill/>
          <a:ln>
            <a:noFill/>
          </a:ln>
        </p:spPr>
      </p:pic>
      <p:sp>
        <p:nvSpPr>
          <p:cNvPr id="270" name="Google Shape;270;p23"/>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ACID PROPERTIES</a:t>
            </a:r>
            <a:endPar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endParaRPr>
          </a:p>
        </p:txBody>
      </p:sp>
      <p:sp>
        <p:nvSpPr>
          <p:cNvPr id="271" name="Google Shape;271;p23"/>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60"/>
                                        </p:tgtEl>
                                        <p:attrNameLst>
                                          <p:attrName>fillcolor</p:attrName>
                                        </p:attrNameLst>
                                      </p:cBhvr>
                                      <p:to>
                                        <a:srgbClr val="00B050"/>
                                      </p:to>
                                    </p:animClr>
                                    <p:set>
                                      <p:cBhvr>
                                        <p:cTn id="7" dur="2000" fill="hold"/>
                                        <p:tgtEl>
                                          <p:spTgt spid="260"/>
                                        </p:tgtEl>
                                        <p:attrNameLst>
                                          <p:attrName>fill.type</p:attrName>
                                        </p:attrNameLst>
                                      </p:cBhvr>
                                      <p:to>
                                        <p:strVal val="solid"/>
                                      </p:to>
                                    </p:set>
                                    <p:set>
                                      <p:cBhvr>
                                        <p:cTn id="8" dur="2000" fill="hold"/>
                                        <p:tgtEl>
                                          <p:spTgt spid="26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275"/>
        <p:cNvGrpSpPr/>
        <p:nvPr/>
      </p:nvGrpSpPr>
      <p:grpSpPr>
        <a:xfrm>
          <a:off x="0" y="0"/>
          <a:ext cx="0" cy="0"/>
          <a:chOff x="0" y="0"/>
          <a:chExt cx="0" cy="0"/>
        </a:xfrm>
      </p:grpSpPr>
      <p:pic>
        <p:nvPicPr>
          <p:cNvPr id="276" name="Google Shape;276;p24"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77" name="Google Shape;277;p24" descr="image.png"/>
          <p:cNvPicPr preferRelativeResize="0"/>
          <p:nvPr/>
        </p:nvPicPr>
        <p:blipFill rotWithShape="1">
          <a:blip r:embed="rId2"/>
          <a:srcRect/>
          <a:stretch>
            <a:fillRect/>
          </a:stretch>
        </p:blipFill>
        <p:spPr>
          <a:xfrm>
            <a:off x="571500" y="6871989"/>
            <a:ext cx="11049000" cy="838200"/>
          </a:xfrm>
          <a:prstGeom prst="rect">
            <a:avLst/>
          </a:prstGeom>
          <a:noFill/>
          <a:ln>
            <a:noFill/>
          </a:ln>
        </p:spPr>
      </p:pic>
      <p:sp>
        <p:nvSpPr>
          <p:cNvPr id="278" name="Google Shape;278;p24"/>
          <p:cNvSpPr txBox="1"/>
          <p:nvPr/>
        </p:nvSpPr>
        <p:spPr>
          <a:xfrm>
            <a:off x="571500" y="2043261"/>
            <a:ext cx="11049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Which of the following SQL commands belongs to the Data Definition Language (DDL) subset?</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279" name="Google Shape;279;p24"/>
          <p:cNvSpPr txBox="1"/>
          <p:nvPr/>
        </p:nvSpPr>
        <p:spPr>
          <a:xfrm>
            <a:off x="6481762" y="7129164"/>
            <a:ext cx="142875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C) CREATE</a:t>
            </a:r>
            <a:endParaRPr lang="en-US" sz="2100" b="0" i="0" u="none" strike="noStrike" cap="none">
              <a:solidFill>
                <a:srgbClr val="FEF08A"/>
              </a:solidFill>
              <a:latin typeface="Inter Black"/>
              <a:ea typeface="Inter Black"/>
              <a:cs typeface="Inter Black"/>
              <a:sym typeface="Inter Black"/>
            </a:endParaRPr>
          </a:p>
        </p:txBody>
      </p:sp>
      <p:sp>
        <p:nvSpPr>
          <p:cNvPr id="280" name="Google Shape;280;p24"/>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1" name="Google Shape;281;p24"/>
          <p:cNvSpPr txBox="1"/>
          <p:nvPr/>
        </p:nvSpPr>
        <p:spPr>
          <a:xfrm>
            <a:off x="1600200" y="3037582"/>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SELECT</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282" name="Google Shape;282;p24"/>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3" name="Google Shape;283;p24"/>
          <p:cNvSpPr txBox="1"/>
          <p:nvPr/>
        </p:nvSpPr>
        <p:spPr>
          <a:xfrm>
            <a:off x="1600200" y="3946177"/>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B) UPDATE</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284" name="Google Shape;284;p24"/>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5" name="Google Shape;285;p24"/>
          <p:cNvSpPr txBox="1"/>
          <p:nvPr/>
        </p:nvSpPr>
        <p:spPr>
          <a:xfrm>
            <a:off x="1600200" y="4854773"/>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C) CREATE</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286" name="Google Shape;286;p24"/>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7" name="Google Shape;287;p24"/>
          <p:cNvSpPr txBox="1"/>
          <p:nvPr/>
        </p:nvSpPr>
        <p:spPr>
          <a:xfrm>
            <a:off x="1600200" y="5763369"/>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D) INSERT</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288" name="Google Shape;288;p24"/>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9" name="Google Shape;289;p24"/>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0" name="Google Shape;290;p24"/>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1" name="Google Shape;291;p24"/>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92" name="Google Shape;292;p24" descr="image.png"/>
          <p:cNvPicPr preferRelativeResize="0"/>
          <p:nvPr/>
        </p:nvPicPr>
        <p:blipFill rotWithShape="1">
          <a:blip r:embed="rId3"/>
          <a:srcRect/>
          <a:stretch>
            <a:fillRect/>
          </a:stretch>
        </p:blipFill>
        <p:spPr>
          <a:xfrm>
            <a:off x="1247775" y="3129855"/>
            <a:ext cx="171450" cy="200025"/>
          </a:xfrm>
          <a:prstGeom prst="rect">
            <a:avLst/>
          </a:prstGeom>
          <a:noFill/>
          <a:ln>
            <a:noFill/>
          </a:ln>
        </p:spPr>
      </p:pic>
      <p:pic>
        <p:nvPicPr>
          <p:cNvPr id="293" name="Google Shape;293;p24" descr="image.png"/>
          <p:cNvPicPr preferRelativeResize="0"/>
          <p:nvPr/>
        </p:nvPicPr>
        <p:blipFill rotWithShape="1">
          <a:blip r:embed="rId3"/>
          <a:srcRect/>
          <a:stretch>
            <a:fillRect/>
          </a:stretch>
        </p:blipFill>
        <p:spPr>
          <a:xfrm>
            <a:off x="1247775" y="4038451"/>
            <a:ext cx="171450" cy="200025"/>
          </a:xfrm>
          <a:prstGeom prst="rect">
            <a:avLst/>
          </a:prstGeom>
          <a:noFill/>
          <a:ln>
            <a:noFill/>
          </a:ln>
        </p:spPr>
      </p:pic>
      <p:pic>
        <p:nvPicPr>
          <p:cNvPr id="294" name="Google Shape;294;p24" descr="image.png"/>
          <p:cNvPicPr preferRelativeResize="0"/>
          <p:nvPr/>
        </p:nvPicPr>
        <p:blipFill rotWithShape="1">
          <a:blip r:embed="rId3"/>
          <a:srcRect/>
          <a:stretch>
            <a:fillRect/>
          </a:stretch>
        </p:blipFill>
        <p:spPr>
          <a:xfrm>
            <a:off x="1247775" y="4947046"/>
            <a:ext cx="171450" cy="200025"/>
          </a:xfrm>
          <a:prstGeom prst="rect">
            <a:avLst/>
          </a:prstGeom>
          <a:noFill/>
          <a:ln>
            <a:noFill/>
          </a:ln>
        </p:spPr>
      </p:pic>
      <p:pic>
        <p:nvPicPr>
          <p:cNvPr id="295" name="Google Shape;295;p24" descr="image.png"/>
          <p:cNvPicPr preferRelativeResize="0"/>
          <p:nvPr/>
        </p:nvPicPr>
        <p:blipFill rotWithShape="1">
          <a:blip r:embed="rId3"/>
          <a:srcRect/>
          <a:stretch>
            <a:fillRect/>
          </a:stretch>
        </p:blipFill>
        <p:spPr>
          <a:xfrm>
            <a:off x="1247775" y="5855642"/>
            <a:ext cx="171450" cy="200025"/>
          </a:xfrm>
          <a:prstGeom prst="rect">
            <a:avLst/>
          </a:prstGeom>
          <a:noFill/>
          <a:ln>
            <a:noFill/>
          </a:ln>
        </p:spPr>
      </p:pic>
      <p:sp>
        <p:nvSpPr>
          <p:cNvPr id="296" name="Google Shape;296;p24"/>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SQL SUBSETS</a:t>
            </a:r>
            <a:endPar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endParaRPr>
          </a:p>
        </p:txBody>
      </p:sp>
      <p:sp>
        <p:nvSpPr>
          <p:cNvPr id="297" name="Google Shape;297;p24"/>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84"/>
                                        </p:tgtEl>
                                        <p:attrNameLst>
                                          <p:attrName>fillcolor</p:attrName>
                                        </p:attrNameLst>
                                      </p:cBhvr>
                                      <p:to>
                                        <a:srgbClr val="00B050"/>
                                      </p:to>
                                    </p:animClr>
                                    <p:set>
                                      <p:cBhvr>
                                        <p:cTn id="7" dur="2000" fill="hold"/>
                                        <p:tgtEl>
                                          <p:spTgt spid="284"/>
                                        </p:tgtEl>
                                        <p:attrNameLst>
                                          <p:attrName>fill.type</p:attrName>
                                        </p:attrNameLst>
                                      </p:cBhvr>
                                      <p:to>
                                        <p:strVal val="solid"/>
                                      </p:to>
                                    </p:set>
                                    <p:set>
                                      <p:cBhvr>
                                        <p:cTn id="8" dur="2000" fill="hold"/>
                                        <p:tgtEl>
                                          <p:spTgt spid="28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pic>
        <p:nvPicPr>
          <p:cNvPr id="276" name="Google Shape;276;p24"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77" name="Google Shape;277;p24" descr="image.png"/>
          <p:cNvPicPr preferRelativeResize="0"/>
          <p:nvPr/>
        </p:nvPicPr>
        <p:blipFill rotWithShape="1">
          <a:blip r:embed="rId2"/>
          <a:srcRect/>
          <a:stretch>
            <a:fillRect/>
          </a:stretch>
        </p:blipFill>
        <p:spPr>
          <a:xfrm>
            <a:off x="571500" y="6871989"/>
            <a:ext cx="11049000" cy="838200"/>
          </a:xfrm>
          <a:prstGeom prst="rect">
            <a:avLst/>
          </a:prstGeom>
          <a:noFill/>
          <a:ln>
            <a:noFill/>
          </a:ln>
        </p:spPr>
      </p:pic>
      <p:sp>
        <p:nvSpPr>
          <p:cNvPr id="278" name="Google Shape;278;p24"/>
          <p:cNvSpPr txBox="1"/>
          <p:nvPr/>
        </p:nvSpPr>
        <p:spPr>
          <a:xfrm>
            <a:off x="571500" y="2043261"/>
            <a:ext cx="11049000"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In database transaction management, what does the "I" stand for in the ACID properties?</a:t>
            </a:r>
            <a:endParaRPr dirty="0"/>
          </a:p>
        </p:txBody>
      </p:sp>
      <p:sp>
        <p:nvSpPr>
          <p:cNvPr id="279" name="Google Shape;279;p24"/>
          <p:cNvSpPr txBox="1"/>
          <p:nvPr/>
        </p:nvSpPr>
        <p:spPr>
          <a:xfrm>
            <a:off x="6481762" y="7129164"/>
            <a:ext cx="142875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C) CREATE</a:t>
            </a:r>
            <a:endParaRPr lang="en-US" sz="2100" b="0" i="0" u="none" strike="noStrike" cap="none">
              <a:solidFill>
                <a:srgbClr val="FEF08A"/>
              </a:solidFill>
              <a:latin typeface="Inter Black"/>
              <a:ea typeface="Inter Black"/>
              <a:cs typeface="Inter Black"/>
              <a:sym typeface="Inter Black"/>
            </a:endParaRPr>
          </a:p>
        </p:txBody>
      </p:sp>
      <p:sp>
        <p:nvSpPr>
          <p:cNvPr id="280" name="Google Shape;280;p24"/>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1" name="Google Shape;281;p24"/>
          <p:cNvSpPr txBox="1"/>
          <p:nvPr/>
        </p:nvSpPr>
        <p:spPr>
          <a:xfrm>
            <a:off x="1600200" y="3008343"/>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Indexes</a:t>
            </a:r>
            <a:endParaRPr dirty="0"/>
          </a:p>
        </p:txBody>
      </p:sp>
      <p:sp>
        <p:nvSpPr>
          <p:cNvPr id="282" name="Google Shape;282;p24"/>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3" name="Google Shape;283;p24"/>
          <p:cNvSpPr txBox="1"/>
          <p:nvPr/>
        </p:nvSpPr>
        <p:spPr>
          <a:xfrm>
            <a:off x="1600200" y="3916938"/>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 Integrity</a:t>
            </a:r>
            <a:endParaRPr dirty="0"/>
          </a:p>
        </p:txBody>
      </p:sp>
      <p:sp>
        <p:nvSpPr>
          <p:cNvPr id="284" name="Google Shape;284;p24"/>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5" name="Google Shape;285;p24"/>
          <p:cNvSpPr txBox="1"/>
          <p:nvPr/>
        </p:nvSpPr>
        <p:spPr>
          <a:xfrm>
            <a:off x="1600200" y="4825534"/>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Isolation</a:t>
            </a:r>
            <a:endParaRPr dirty="0"/>
          </a:p>
        </p:txBody>
      </p:sp>
      <p:sp>
        <p:nvSpPr>
          <p:cNvPr id="286" name="Google Shape;286;p24"/>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7" name="Google Shape;287;p24"/>
          <p:cNvSpPr txBox="1"/>
          <p:nvPr/>
        </p:nvSpPr>
        <p:spPr>
          <a:xfrm>
            <a:off x="1600200" y="5734130"/>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Iteration</a:t>
            </a:r>
            <a:endParaRPr dirty="0"/>
          </a:p>
        </p:txBody>
      </p:sp>
      <p:sp>
        <p:nvSpPr>
          <p:cNvPr id="288" name="Google Shape;288;p24"/>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9" name="Google Shape;289;p24"/>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0" name="Google Shape;290;p24"/>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1" name="Google Shape;291;p24"/>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92" name="Google Shape;292;p24" descr="image.png"/>
          <p:cNvPicPr preferRelativeResize="0"/>
          <p:nvPr/>
        </p:nvPicPr>
        <p:blipFill rotWithShape="1">
          <a:blip r:embed="rId3"/>
          <a:srcRect/>
          <a:stretch>
            <a:fillRect/>
          </a:stretch>
        </p:blipFill>
        <p:spPr>
          <a:xfrm>
            <a:off x="1247775" y="3129855"/>
            <a:ext cx="171450" cy="200025"/>
          </a:xfrm>
          <a:prstGeom prst="rect">
            <a:avLst/>
          </a:prstGeom>
          <a:noFill/>
          <a:ln>
            <a:noFill/>
          </a:ln>
        </p:spPr>
      </p:pic>
      <p:pic>
        <p:nvPicPr>
          <p:cNvPr id="293" name="Google Shape;293;p24" descr="image.png"/>
          <p:cNvPicPr preferRelativeResize="0"/>
          <p:nvPr/>
        </p:nvPicPr>
        <p:blipFill rotWithShape="1">
          <a:blip r:embed="rId3"/>
          <a:srcRect/>
          <a:stretch>
            <a:fillRect/>
          </a:stretch>
        </p:blipFill>
        <p:spPr>
          <a:xfrm>
            <a:off x="1247775" y="4038451"/>
            <a:ext cx="171450" cy="200025"/>
          </a:xfrm>
          <a:prstGeom prst="rect">
            <a:avLst/>
          </a:prstGeom>
          <a:noFill/>
          <a:ln>
            <a:noFill/>
          </a:ln>
        </p:spPr>
      </p:pic>
      <p:pic>
        <p:nvPicPr>
          <p:cNvPr id="294" name="Google Shape;294;p24" descr="image.png"/>
          <p:cNvPicPr preferRelativeResize="0"/>
          <p:nvPr/>
        </p:nvPicPr>
        <p:blipFill rotWithShape="1">
          <a:blip r:embed="rId3"/>
          <a:srcRect/>
          <a:stretch>
            <a:fillRect/>
          </a:stretch>
        </p:blipFill>
        <p:spPr>
          <a:xfrm>
            <a:off x="1247775" y="4947046"/>
            <a:ext cx="171450" cy="200025"/>
          </a:xfrm>
          <a:prstGeom prst="rect">
            <a:avLst/>
          </a:prstGeom>
          <a:noFill/>
          <a:ln>
            <a:noFill/>
          </a:ln>
        </p:spPr>
      </p:pic>
      <p:pic>
        <p:nvPicPr>
          <p:cNvPr id="295" name="Google Shape;295;p24" descr="image.png"/>
          <p:cNvPicPr preferRelativeResize="0"/>
          <p:nvPr/>
        </p:nvPicPr>
        <p:blipFill rotWithShape="1">
          <a:blip r:embed="rId3"/>
          <a:srcRect/>
          <a:stretch>
            <a:fillRect/>
          </a:stretch>
        </p:blipFill>
        <p:spPr>
          <a:xfrm>
            <a:off x="1247775" y="5855642"/>
            <a:ext cx="171450" cy="200025"/>
          </a:xfrm>
          <a:prstGeom prst="rect">
            <a:avLst/>
          </a:prstGeom>
          <a:noFill/>
          <a:ln>
            <a:noFill/>
          </a:ln>
        </p:spPr>
      </p:pic>
      <p:sp>
        <p:nvSpPr>
          <p:cNvPr id="296" name="Google Shape;296;p24"/>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ACID</a:t>
            </a:r>
            <a:endParaRPr dirty="0"/>
          </a:p>
        </p:txBody>
      </p:sp>
      <p:sp>
        <p:nvSpPr>
          <p:cNvPr id="297" name="Google Shape;297;p24"/>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284"/>
                                        </p:tgtEl>
                                        <p:attrNameLst>
                                          <p:attrName>fillcolor</p:attrName>
                                        </p:attrNameLst>
                                      </p:cBhvr>
                                      <p:to>
                                        <a:srgbClr val="00B050"/>
                                      </p:to>
                                    </p:animClr>
                                    <p:set>
                                      <p:cBhvr>
                                        <p:cTn id="7" dur="2000" fill="hold"/>
                                        <p:tgtEl>
                                          <p:spTgt spid="284"/>
                                        </p:tgtEl>
                                        <p:attrNameLst>
                                          <p:attrName>fill.type</p:attrName>
                                        </p:attrNameLst>
                                      </p:cBhvr>
                                      <p:to>
                                        <p:strVal val="solid"/>
                                      </p:to>
                                    </p:set>
                                    <p:set>
                                      <p:cBhvr>
                                        <p:cTn id="8" dur="2000" fill="hold"/>
                                        <p:tgtEl>
                                          <p:spTgt spid="28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301"/>
        <p:cNvGrpSpPr/>
        <p:nvPr/>
      </p:nvGrpSpPr>
      <p:grpSpPr>
        <a:xfrm>
          <a:off x="0" y="0"/>
          <a:ext cx="0" cy="0"/>
          <a:chOff x="0" y="0"/>
          <a:chExt cx="0" cy="0"/>
        </a:xfrm>
      </p:grpSpPr>
      <p:pic>
        <p:nvPicPr>
          <p:cNvPr id="302" name="Google Shape;302;p25"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03" name="Google Shape;303;p25" descr="image.png"/>
          <p:cNvPicPr preferRelativeResize="0"/>
          <p:nvPr/>
        </p:nvPicPr>
        <p:blipFill rotWithShape="1">
          <a:blip r:embed="rId2"/>
          <a:srcRect/>
          <a:stretch>
            <a:fillRect/>
          </a:stretch>
        </p:blipFill>
        <p:spPr>
          <a:xfrm>
            <a:off x="571500" y="6871989"/>
            <a:ext cx="11049000" cy="838200"/>
          </a:xfrm>
          <a:prstGeom prst="rect">
            <a:avLst/>
          </a:prstGeom>
          <a:noFill/>
          <a:ln>
            <a:noFill/>
          </a:ln>
        </p:spPr>
      </p:pic>
      <p:sp>
        <p:nvSpPr>
          <p:cNvPr id="304" name="Google Shape;304;p25"/>
          <p:cNvSpPr txBox="1"/>
          <p:nvPr/>
        </p:nvSpPr>
        <p:spPr>
          <a:xfrm>
            <a:off x="571500" y="2043261"/>
            <a:ext cx="11049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Identify the ODD database term regarding concurrency control:</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305" name="Google Shape;305;p25"/>
          <p:cNvSpPr txBox="1"/>
          <p:nvPr/>
        </p:nvSpPr>
        <p:spPr>
          <a:xfrm>
            <a:off x="6338887" y="7129164"/>
            <a:ext cx="171450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D) Outer Join</a:t>
            </a:r>
            <a:endParaRPr lang="en-US" sz="2100" b="0" i="0" u="none" strike="noStrike" cap="none">
              <a:solidFill>
                <a:srgbClr val="FEF08A"/>
              </a:solidFill>
              <a:latin typeface="Inter Black"/>
              <a:ea typeface="Inter Black"/>
              <a:cs typeface="Inter Black"/>
              <a:sym typeface="Inter Black"/>
            </a:endParaRPr>
          </a:p>
        </p:txBody>
      </p:sp>
      <p:sp>
        <p:nvSpPr>
          <p:cNvPr id="306" name="Google Shape;306;p25"/>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7" name="Google Shape;307;p25"/>
          <p:cNvSpPr txBox="1"/>
          <p:nvPr/>
        </p:nvSpPr>
        <p:spPr>
          <a:xfrm>
            <a:off x="1600200" y="3037582"/>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Deadlock</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308" name="Google Shape;308;p25"/>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9" name="Google Shape;309;p25"/>
          <p:cNvSpPr txBox="1"/>
          <p:nvPr/>
        </p:nvSpPr>
        <p:spPr>
          <a:xfrm>
            <a:off x="1600200" y="3946177"/>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B) Shared Lock</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310" name="Google Shape;310;p25"/>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1" name="Google Shape;311;p25"/>
          <p:cNvSpPr txBox="1"/>
          <p:nvPr/>
        </p:nvSpPr>
        <p:spPr>
          <a:xfrm>
            <a:off x="1600200" y="4854773"/>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C) Exclusive Lock</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312" name="Google Shape;312;p25"/>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3" name="Google Shape;313;p25"/>
          <p:cNvSpPr txBox="1"/>
          <p:nvPr/>
        </p:nvSpPr>
        <p:spPr>
          <a:xfrm>
            <a:off x="1600200" y="5763369"/>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D) Outer Join</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314" name="Google Shape;314;p25"/>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5" name="Google Shape;315;p25"/>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6" name="Google Shape;316;p25"/>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7" name="Google Shape;317;p25"/>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18" name="Google Shape;318;p25" descr="image.png"/>
          <p:cNvPicPr preferRelativeResize="0"/>
          <p:nvPr/>
        </p:nvPicPr>
        <p:blipFill rotWithShape="1">
          <a:blip r:embed="rId3"/>
          <a:srcRect/>
          <a:stretch>
            <a:fillRect/>
          </a:stretch>
        </p:blipFill>
        <p:spPr>
          <a:xfrm>
            <a:off x="1247775" y="3129855"/>
            <a:ext cx="171450" cy="200025"/>
          </a:xfrm>
          <a:prstGeom prst="rect">
            <a:avLst/>
          </a:prstGeom>
          <a:noFill/>
          <a:ln>
            <a:noFill/>
          </a:ln>
        </p:spPr>
      </p:pic>
      <p:pic>
        <p:nvPicPr>
          <p:cNvPr id="319" name="Google Shape;319;p25" descr="image.png"/>
          <p:cNvPicPr preferRelativeResize="0"/>
          <p:nvPr/>
        </p:nvPicPr>
        <p:blipFill rotWithShape="1">
          <a:blip r:embed="rId3"/>
          <a:srcRect/>
          <a:stretch>
            <a:fillRect/>
          </a:stretch>
        </p:blipFill>
        <p:spPr>
          <a:xfrm>
            <a:off x="1247775" y="4038451"/>
            <a:ext cx="171450" cy="200025"/>
          </a:xfrm>
          <a:prstGeom prst="rect">
            <a:avLst/>
          </a:prstGeom>
          <a:noFill/>
          <a:ln>
            <a:noFill/>
          </a:ln>
        </p:spPr>
      </p:pic>
      <p:pic>
        <p:nvPicPr>
          <p:cNvPr id="320" name="Google Shape;320;p25" descr="image.png"/>
          <p:cNvPicPr preferRelativeResize="0"/>
          <p:nvPr/>
        </p:nvPicPr>
        <p:blipFill rotWithShape="1">
          <a:blip r:embed="rId3"/>
          <a:srcRect/>
          <a:stretch>
            <a:fillRect/>
          </a:stretch>
        </p:blipFill>
        <p:spPr>
          <a:xfrm>
            <a:off x="1247775" y="4947046"/>
            <a:ext cx="171450" cy="200025"/>
          </a:xfrm>
          <a:prstGeom prst="rect">
            <a:avLst/>
          </a:prstGeom>
          <a:noFill/>
          <a:ln>
            <a:noFill/>
          </a:ln>
        </p:spPr>
      </p:pic>
      <p:pic>
        <p:nvPicPr>
          <p:cNvPr id="321" name="Google Shape;321;p25" descr="image.png"/>
          <p:cNvPicPr preferRelativeResize="0"/>
          <p:nvPr/>
        </p:nvPicPr>
        <p:blipFill rotWithShape="1">
          <a:blip r:embed="rId3"/>
          <a:srcRect/>
          <a:stretch>
            <a:fillRect/>
          </a:stretch>
        </p:blipFill>
        <p:spPr>
          <a:xfrm>
            <a:off x="1247775" y="5855642"/>
            <a:ext cx="171450" cy="200025"/>
          </a:xfrm>
          <a:prstGeom prst="rect">
            <a:avLst/>
          </a:prstGeom>
          <a:noFill/>
          <a:ln>
            <a:noFill/>
          </a:ln>
        </p:spPr>
      </p:pic>
      <p:sp>
        <p:nvSpPr>
          <p:cNvPr id="322" name="Google Shape;322;p25"/>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ODD ONE OUT</a:t>
            </a:r>
            <a:endPar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endParaRPr>
          </a:p>
        </p:txBody>
      </p:sp>
      <p:sp>
        <p:nvSpPr>
          <p:cNvPr id="323" name="Google Shape;323;p25"/>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12"/>
                                        </p:tgtEl>
                                        <p:attrNameLst>
                                          <p:attrName>fillcolor</p:attrName>
                                        </p:attrNameLst>
                                      </p:cBhvr>
                                      <p:to>
                                        <a:srgbClr val="00B050"/>
                                      </p:to>
                                    </p:animClr>
                                    <p:set>
                                      <p:cBhvr>
                                        <p:cTn id="7" dur="2000" fill="hold"/>
                                        <p:tgtEl>
                                          <p:spTgt spid="312"/>
                                        </p:tgtEl>
                                        <p:attrNameLst>
                                          <p:attrName>fill.type</p:attrName>
                                        </p:attrNameLst>
                                      </p:cBhvr>
                                      <p:to>
                                        <p:strVal val="solid"/>
                                      </p:to>
                                    </p:set>
                                    <p:set>
                                      <p:cBhvr>
                                        <p:cTn id="8" dur="2000" fill="hold"/>
                                        <p:tgtEl>
                                          <p:spTgt spid="3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pic>
        <p:nvPicPr>
          <p:cNvPr id="302" name="Google Shape;302;p25"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03" name="Google Shape;303;p25" descr="image.png"/>
          <p:cNvPicPr preferRelativeResize="0"/>
          <p:nvPr/>
        </p:nvPicPr>
        <p:blipFill rotWithShape="1">
          <a:blip r:embed="rId2"/>
          <a:srcRect/>
          <a:stretch>
            <a:fillRect/>
          </a:stretch>
        </p:blipFill>
        <p:spPr>
          <a:xfrm>
            <a:off x="571500" y="6871989"/>
            <a:ext cx="11049000" cy="838200"/>
          </a:xfrm>
          <a:prstGeom prst="rect">
            <a:avLst/>
          </a:prstGeom>
          <a:noFill/>
          <a:ln>
            <a:noFill/>
          </a:ln>
        </p:spPr>
      </p:pic>
      <p:sp>
        <p:nvSpPr>
          <p:cNvPr id="304" name="Google Shape;304;p25"/>
          <p:cNvSpPr txBox="1"/>
          <p:nvPr/>
        </p:nvSpPr>
        <p:spPr>
          <a:xfrm>
            <a:off x="571500" y="2043261"/>
            <a:ext cx="11049000"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Which JOIN returns only matching records from both tables?</a:t>
            </a:r>
            <a:endParaRPr dirty="0"/>
          </a:p>
        </p:txBody>
      </p:sp>
      <p:sp>
        <p:nvSpPr>
          <p:cNvPr id="305" name="Google Shape;305;p25"/>
          <p:cNvSpPr txBox="1"/>
          <p:nvPr/>
        </p:nvSpPr>
        <p:spPr>
          <a:xfrm>
            <a:off x="6338887" y="7129164"/>
            <a:ext cx="171450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D) Outer Join</a:t>
            </a:r>
            <a:endParaRPr lang="en-US" sz="2100" b="0" i="0" u="none" strike="noStrike" cap="none">
              <a:solidFill>
                <a:srgbClr val="FEF08A"/>
              </a:solidFill>
              <a:latin typeface="Inter Black"/>
              <a:ea typeface="Inter Black"/>
              <a:cs typeface="Inter Black"/>
              <a:sym typeface="Inter Black"/>
            </a:endParaRPr>
          </a:p>
        </p:txBody>
      </p:sp>
      <p:sp>
        <p:nvSpPr>
          <p:cNvPr id="306" name="Google Shape;306;p25"/>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7" name="Google Shape;307;p25"/>
          <p:cNvSpPr txBox="1"/>
          <p:nvPr/>
        </p:nvSpPr>
        <p:spPr>
          <a:xfrm>
            <a:off x="1600200" y="3008343"/>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LEFT JOIN</a:t>
            </a:r>
            <a:endParaRPr dirty="0"/>
          </a:p>
        </p:txBody>
      </p:sp>
      <p:sp>
        <p:nvSpPr>
          <p:cNvPr id="308" name="Google Shape;308;p25"/>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9" name="Google Shape;309;p25"/>
          <p:cNvSpPr txBox="1"/>
          <p:nvPr/>
        </p:nvSpPr>
        <p:spPr>
          <a:xfrm>
            <a:off x="1600200" y="3916938"/>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 RIGHT JOIN</a:t>
            </a:r>
            <a:endParaRPr dirty="0"/>
          </a:p>
        </p:txBody>
      </p:sp>
      <p:sp>
        <p:nvSpPr>
          <p:cNvPr id="310" name="Google Shape;310;p25"/>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1" name="Google Shape;311;p25"/>
          <p:cNvSpPr txBox="1"/>
          <p:nvPr/>
        </p:nvSpPr>
        <p:spPr>
          <a:xfrm>
            <a:off x="1600200" y="4825534"/>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INNER JOIN</a:t>
            </a:r>
            <a:endParaRPr dirty="0"/>
          </a:p>
        </p:txBody>
      </p:sp>
      <p:sp>
        <p:nvSpPr>
          <p:cNvPr id="312" name="Google Shape;312;p25"/>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3" name="Google Shape;313;p25"/>
          <p:cNvSpPr txBox="1"/>
          <p:nvPr/>
        </p:nvSpPr>
        <p:spPr>
          <a:xfrm>
            <a:off x="1600200" y="5734130"/>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FULL JOIN</a:t>
            </a:r>
            <a:endParaRPr dirty="0"/>
          </a:p>
        </p:txBody>
      </p:sp>
      <p:sp>
        <p:nvSpPr>
          <p:cNvPr id="314" name="Google Shape;314;p25"/>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5" name="Google Shape;315;p25"/>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6" name="Google Shape;316;p25"/>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7" name="Google Shape;317;p25"/>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18" name="Google Shape;318;p25" descr="image.png"/>
          <p:cNvPicPr preferRelativeResize="0"/>
          <p:nvPr/>
        </p:nvPicPr>
        <p:blipFill rotWithShape="1">
          <a:blip r:embed="rId3"/>
          <a:srcRect/>
          <a:stretch>
            <a:fillRect/>
          </a:stretch>
        </p:blipFill>
        <p:spPr>
          <a:xfrm>
            <a:off x="1247775" y="3129855"/>
            <a:ext cx="171450" cy="200025"/>
          </a:xfrm>
          <a:prstGeom prst="rect">
            <a:avLst/>
          </a:prstGeom>
          <a:noFill/>
          <a:ln>
            <a:noFill/>
          </a:ln>
        </p:spPr>
      </p:pic>
      <p:pic>
        <p:nvPicPr>
          <p:cNvPr id="319" name="Google Shape;319;p25" descr="image.png"/>
          <p:cNvPicPr preferRelativeResize="0"/>
          <p:nvPr/>
        </p:nvPicPr>
        <p:blipFill rotWithShape="1">
          <a:blip r:embed="rId3"/>
          <a:srcRect/>
          <a:stretch>
            <a:fillRect/>
          </a:stretch>
        </p:blipFill>
        <p:spPr>
          <a:xfrm>
            <a:off x="1247775" y="4038451"/>
            <a:ext cx="171450" cy="200025"/>
          </a:xfrm>
          <a:prstGeom prst="rect">
            <a:avLst/>
          </a:prstGeom>
          <a:noFill/>
          <a:ln>
            <a:noFill/>
          </a:ln>
        </p:spPr>
      </p:pic>
      <p:pic>
        <p:nvPicPr>
          <p:cNvPr id="320" name="Google Shape;320;p25" descr="image.png"/>
          <p:cNvPicPr preferRelativeResize="0"/>
          <p:nvPr/>
        </p:nvPicPr>
        <p:blipFill rotWithShape="1">
          <a:blip r:embed="rId3"/>
          <a:srcRect/>
          <a:stretch>
            <a:fillRect/>
          </a:stretch>
        </p:blipFill>
        <p:spPr>
          <a:xfrm>
            <a:off x="1247775" y="4947046"/>
            <a:ext cx="171450" cy="200025"/>
          </a:xfrm>
          <a:prstGeom prst="rect">
            <a:avLst/>
          </a:prstGeom>
          <a:noFill/>
          <a:ln>
            <a:noFill/>
          </a:ln>
        </p:spPr>
      </p:pic>
      <p:pic>
        <p:nvPicPr>
          <p:cNvPr id="321" name="Google Shape;321;p25" descr="image.png"/>
          <p:cNvPicPr preferRelativeResize="0"/>
          <p:nvPr/>
        </p:nvPicPr>
        <p:blipFill rotWithShape="1">
          <a:blip r:embed="rId3"/>
          <a:srcRect/>
          <a:stretch>
            <a:fillRect/>
          </a:stretch>
        </p:blipFill>
        <p:spPr>
          <a:xfrm>
            <a:off x="1247775" y="5855642"/>
            <a:ext cx="171450" cy="200025"/>
          </a:xfrm>
          <a:prstGeom prst="rect">
            <a:avLst/>
          </a:prstGeom>
          <a:noFill/>
          <a:ln>
            <a:noFill/>
          </a:ln>
        </p:spPr>
      </p:pic>
      <p:sp>
        <p:nvSpPr>
          <p:cNvPr id="322" name="Google Shape;322;p25"/>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JOINS</a:t>
            </a:r>
            <a:endParaRPr dirty="0"/>
          </a:p>
        </p:txBody>
      </p:sp>
      <p:sp>
        <p:nvSpPr>
          <p:cNvPr id="323" name="Google Shape;323;p25"/>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10"/>
                                        </p:tgtEl>
                                        <p:attrNameLst>
                                          <p:attrName>fillcolor</p:attrName>
                                        </p:attrNameLst>
                                      </p:cBhvr>
                                      <p:to>
                                        <a:srgbClr val="00B050"/>
                                      </p:to>
                                    </p:animClr>
                                    <p:set>
                                      <p:cBhvr>
                                        <p:cTn id="7" dur="2000" fill="hold"/>
                                        <p:tgtEl>
                                          <p:spTgt spid="310"/>
                                        </p:tgtEl>
                                        <p:attrNameLst>
                                          <p:attrName>fill.type</p:attrName>
                                        </p:attrNameLst>
                                      </p:cBhvr>
                                      <p:to>
                                        <p:strVal val="solid"/>
                                      </p:to>
                                    </p:set>
                                    <p:set>
                                      <p:cBhvr>
                                        <p:cTn id="8" dur="2000" fill="hold"/>
                                        <p:tgtEl>
                                          <p:spTgt spid="310"/>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pic>
        <p:nvPicPr>
          <p:cNvPr id="302" name="Google Shape;302;p25"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03" name="Google Shape;303;p25" descr="image.png"/>
          <p:cNvPicPr preferRelativeResize="0"/>
          <p:nvPr/>
        </p:nvPicPr>
        <p:blipFill rotWithShape="1">
          <a:blip r:embed="rId2"/>
          <a:srcRect/>
          <a:stretch>
            <a:fillRect/>
          </a:stretch>
        </p:blipFill>
        <p:spPr>
          <a:xfrm>
            <a:off x="571500" y="6871989"/>
            <a:ext cx="11049000" cy="838200"/>
          </a:xfrm>
          <a:prstGeom prst="rect">
            <a:avLst/>
          </a:prstGeom>
          <a:noFill/>
          <a:ln>
            <a:noFill/>
          </a:ln>
        </p:spPr>
      </p:pic>
      <p:sp>
        <p:nvSpPr>
          <p:cNvPr id="304" name="Google Shape;304;p25"/>
          <p:cNvSpPr txBox="1"/>
          <p:nvPr/>
        </p:nvSpPr>
        <p:spPr>
          <a:xfrm>
            <a:off x="571500" y="2043261"/>
            <a:ext cx="11049000"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Which SQL clause filters grouped data?</a:t>
            </a:r>
            <a:endParaRPr dirty="0"/>
          </a:p>
        </p:txBody>
      </p:sp>
      <p:sp>
        <p:nvSpPr>
          <p:cNvPr id="305" name="Google Shape;305;p25"/>
          <p:cNvSpPr txBox="1"/>
          <p:nvPr/>
        </p:nvSpPr>
        <p:spPr>
          <a:xfrm>
            <a:off x="6338887" y="7129164"/>
            <a:ext cx="171450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D) Outer Join</a:t>
            </a:r>
            <a:endParaRPr lang="en-US" sz="2100" b="0" i="0" u="none" strike="noStrike" cap="none">
              <a:solidFill>
                <a:srgbClr val="FEF08A"/>
              </a:solidFill>
              <a:latin typeface="Inter Black"/>
              <a:ea typeface="Inter Black"/>
              <a:cs typeface="Inter Black"/>
              <a:sym typeface="Inter Black"/>
            </a:endParaRPr>
          </a:p>
        </p:txBody>
      </p:sp>
      <p:sp>
        <p:nvSpPr>
          <p:cNvPr id="306" name="Google Shape;306;p25"/>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7" name="Google Shape;307;p25"/>
          <p:cNvSpPr txBox="1"/>
          <p:nvPr/>
        </p:nvSpPr>
        <p:spPr>
          <a:xfrm>
            <a:off x="1600200" y="3008343"/>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HAVING</a:t>
            </a:r>
            <a:endParaRPr dirty="0"/>
          </a:p>
        </p:txBody>
      </p:sp>
      <p:sp>
        <p:nvSpPr>
          <p:cNvPr id="308" name="Google Shape;308;p25"/>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9" name="Google Shape;309;p25"/>
          <p:cNvSpPr txBox="1"/>
          <p:nvPr/>
        </p:nvSpPr>
        <p:spPr>
          <a:xfrm>
            <a:off x="1600200" y="3916938"/>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 WHERE</a:t>
            </a:r>
            <a:endParaRPr dirty="0"/>
          </a:p>
        </p:txBody>
      </p:sp>
      <p:sp>
        <p:nvSpPr>
          <p:cNvPr id="310" name="Google Shape;310;p25"/>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1" name="Google Shape;311;p25"/>
          <p:cNvSpPr txBox="1"/>
          <p:nvPr/>
        </p:nvSpPr>
        <p:spPr>
          <a:xfrm>
            <a:off x="1600200" y="4825534"/>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GROUP BY</a:t>
            </a:r>
            <a:endParaRPr dirty="0"/>
          </a:p>
        </p:txBody>
      </p:sp>
      <p:sp>
        <p:nvSpPr>
          <p:cNvPr id="312" name="Google Shape;312;p25"/>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3" name="Google Shape;313;p25"/>
          <p:cNvSpPr txBox="1"/>
          <p:nvPr/>
        </p:nvSpPr>
        <p:spPr>
          <a:xfrm>
            <a:off x="1600200" y="5734130"/>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ORDER BY</a:t>
            </a:r>
            <a:endParaRPr dirty="0"/>
          </a:p>
        </p:txBody>
      </p:sp>
      <p:sp>
        <p:nvSpPr>
          <p:cNvPr id="314" name="Google Shape;314;p25"/>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5" name="Google Shape;315;p25"/>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6" name="Google Shape;316;p25"/>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7" name="Google Shape;317;p25"/>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18" name="Google Shape;318;p25" descr="image.png"/>
          <p:cNvPicPr preferRelativeResize="0"/>
          <p:nvPr/>
        </p:nvPicPr>
        <p:blipFill rotWithShape="1">
          <a:blip r:embed="rId3"/>
          <a:srcRect/>
          <a:stretch>
            <a:fillRect/>
          </a:stretch>
        </p:blipFill>
        <p:spPr>
          <a:xfrm>
            <a:off x="1247775" y="3129855"/>
            <a:ext cx="171450" cy="200025"/>
          </a:xfrm>
          <a:prstGeom prst="rect">
            <a:avLst/>
          </a:prstGeom>
          <a:noFill/>
          <a:ln>
            <a:noFill/>
          </a:ln>
        </p:spPr>
      </p:pic>
      <p:pic>
        <p:nvPicPr>
          <p:cNvPr id="319" name="Google Shape;319;p25" descr="image.png"/>
          <p:cNvPicPr preferRelativeResize="0"/>
          <p:nvPr/>
        </p:nvPicPr>
        <p:blipFill rotWithShape="1">
          <a:blip r:embed="rId3"/>
          <a:srcRect/>
          <a:stretch>
            <a:fillRect/>
          </a:stretch>
        </p:blipFill>
        <p:spPr>
          <a:xfrm>
            <a:off x="1247775" y="4038451"/>
            <a:ext cx="171450" cy="200025"/>
          </a:xfrm>
          <a:prstGeom prst="rect">
            <a:avLst/>
          </a:prstGeom>
          <a:noFill/>
          <a:ln>
            <a:noFill/>
          </a:ln>
        </p:spPr>
      </p:pic>
      <p:pic>
        <p:nvPicPr>
          <p:cNvPr id="320" name="Google Shape;320;p25" descr="image.png"/>
          <p:cNvPicPr preferRelativeResize="0"/>
          <p:nvPr/>
        </p:nvPicPr>
        <p:blipFill rotWithShape="1">
          <a:blip r:embed="rId3"/>
          <a:srcRect/>
          <a:stretch>
            <a:fillRect/>
          </a:stretch>
        </p:blipFill>
        <p:spPr>
          <a:xfrm>
            <a:off x="1247775" y="4947046"/>
            <a:ext cx="171450" cy="200025"/>
          </a:xfrm>
          <a:prstGeom prst="rect">
            <a:avLst/>
          </a:prstGeom>
          <a:noFill/>
          <a:ln>
            <a:noFill/>
          </a:ln>
        </p:spPr>
      </p:pic>
      <p:pic>
        <p:nvPicPr>
          <p:cNvPr id="321" name="Google Shape;321;p25" descr="image.png"/>
          <p:cNvPicPr preferRelativeResize="0"/>
          <p:nvPr/>
        </p:nvPicPr>
        <p:blipFill rotWithShape="1">
          <a:blip r:embed="rId3"/>
          <a:srcRect/>
          <a:stretch>
            <a:fillRect/>
          </a:stretch>
        </p:blipFill>
        <p:spPr>
          <a:xfrm>
            <a:off x="1247775" y="5855642"/>
            <a:ext cx="171450" cy="200025"/>
          </a:xfrm>
          <a:prstGeom prst="rect">
            <a:avLst/>
          </a:prstGeom>
          <a:noFill/>
          <a:ln>
            <a:noFill/>
          </a:ln>
        </p:spPr>
      </p:pic>
      <p:sp>
        <p:nvSpPr>
          <p:cNvPr id="322" name="Google Shape;322;p25"/>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SQL GROUPS</a:t>
            </a:r>
            <a:endParaRPr dirty="0"/>
          </a:p>
        </p:txBody>
      </p:sp>
      <p:sp>
        <p:nvSpPr>
          <p:cNvPr id="323" name="Google Shape;323;p25"/>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06"/>
                                        </p:tgtEl>
                                        <p:attrNameLst>
                                          <p:attrName>fillcolor</p:attrName>
                                        </p:attrNameLst>
                                      </p:cBhvr>
                                      <p:to>
                                        <a:srgbClr val="00B050"/>
                                      </p:to>
                                    </p:animClr>
                                    <p:set>
                                      <p:cBhvr>
                                        <p:cTn id="7" dur="2000" fill="hold"/>
                                        <p:tgtEl>
                                          <p:spTgt spid="306"/>
                                        </p:tgtEl>
                                        <p:attrNameLst>
                                          <p:attrName>fill.type</p:attrName>
                                        </p:attrNameLst>
                                      </p:cBhvr>
                                      <p:to>
                                        <p:strVal val="solid"/>
                                      </p:to>
                                    </p:set>
                                    <p:set>
                                      <p:cBhvr>
                                        <p:cTn id="8" dur="2000" fill="hold"/>
                                        <p:tgtEl>
                                          <p:spTgt spid="30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21"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29" name="Google Shape;229;p21" descr="image.png"/>
          <p:cNvPicPr preferRelativeResize="0"/>
          <p:nvPr/>
        </p:nvPicPr>
        <p:blipFill rotWithShape="1">
          <a:blip r:embed="rId2"/>
          <a:srcRect/>
          <a:stretch>
            <a:fillRect/>
          </a:stretch>
        </p:blipFill>
        <p:spPr>
          <a:xfrm>
            <a:off x="571500" y="2326630"/>
            <a:ext cx="5334000" cy="3447901"/>
          </a:xfrm>
          <a:prstGeom prst="rect">
            <a:avLst/>
          </a:prstGeom>
          <a:noFill/>
          <a:ln>
            <a:noFill/>
          </a:ln>
        </p:spPr>
      </p:pic>
      <p:pic>
        <p:nvPicPr>
          <p:cNvPr id="230" name="Google Shape;230;p21" descr="image.png"/>
          <p:cNvPicPr preferRelativeResize="0"/>
          <p:nvPr/>
        </p:nvPicPr>
        <p:blipFill rotWithShape="1">
          <a:blip r:embed="rId3"/>
          <a:srcRect/>
          <a:stretch>
            <a:fillRect/>
          </a:stretch>
        </p:blipFill>
        <p:spPr>
          <a:xfrm>
            <a:off x="6286500" y="2326630"/>
            <a:ext cx="5334000" cy="3447901"/>
          </a:xfrm>
          <a:prstGeom prst="rect">
            <a:avLst/>
          </a:prstGeom>
          <a:noFill/>
          <a:ln>
            <a:noFill/>
          </a:ln>
        </p:spPr>
      </p:pic>
      <p:sp>
        <p:nvSpPr>
          <p:cNvPr id="232" name="Google Shape;232;p21"/>
          <p:cNvSpPr txBox="1"/>
          <p:nvPr/>
        </p:nvSpPr>
        <p:spPr>
          <a:xfrm>
            <a:off x="962025" y="2210964"/>
            <a:ext cx="4552950" cy="206825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100" b="0" i="1" u="none" strike="noStrike" cap="none" dirty="0">
                <a:solidFill>
                  <a:srgbClr val="E2E8F0"/>
                </a:solidFill>
                <a:latin typeface="JetBrains Mono" panose="02000009000000000000"/>
                <a:ea typeface="JetBrains Mono" panose="02000009000000000000"/>
                <a:cs typeface="JetBrains Mono" panose="02000009000000000000"/>
                <a:sym typeface="JetBrains Mono" panose="02000009000000000000"/>
              </a:rPr>
              <a:t>“I uniquely identify every row. I cannot contain NULL values. There is only one of me in a table. Who am I?"</a:t>
            </a:r>
            <a:endParaRPr dirty="0"/>
          </a:p>
        </p:txBody>
      </p:sp>
      <p:sp>
        <p:nvSpPr>
          <p:cNvPr id="233" name="Google Shape;233;p21"/>
          <p:cNvSpPr txBox="1"/>
          <p:nvPr/>
        </p:nvSpPr>
        <p:spPr>
          <a:xfrm>
            <a:off x="6677025" y="3353395"/>
            <a:ext cx="45529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rPr>
              <a:t>Who am I?</a:t>
            </a:r>
            <a:endPar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endParaRPr>
          </a:p>
        </p:txBody>
      </p:sp>
      <p:sp>
        <p:nvSpPr>
          <p:cNvPr id="234" name="Google Shape;234;p21"/>
          <p:cNvSpPr txBox="1"/>
          <p:nvPr/>
        </p:nvSpPr>
        <p:spPr>
          <a:xfrm>
            <a:off x="8863011" y="4395340"/>
            <a:ext cx="1979159"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FEF08A"/>
                </a:solidFill>
                <a:latin typeface="Inter Black"/>
                <a:ea typeface="Inter Black"/>
                <a:cs typeface="Inter Black"/>
                <a:sym typeface="Inter Black"/>
              </a:rPr>
              <a:t>Primary Key</a:t>
            </a:r>
            <a:endParaRPr dirty="0"/>
          </a:p>
        </p:txBody>
      </p:sp>
      <p:sp>
        <p:nvSpPr>
          <p:cNvPr id="235" name="Google Shape;235;p21"/>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IDENTIFY </a:t>
            </a:r>
            <a:r>
              <a:rPr lang="en-US" sz="3300" b="1" dirty="0">
                <a:solidFill>
                  <a:srgbClr val="38BDF8"/>
                </a:solidFill>
                <a:latin typeface="Inter" panose="02000503000000020004"/>
                <a:ea typeface="Inter" panose="02000503000000020004"/>
                <a:cs typeface="Inter" panose="02000503000000020004"/>
                <a:sym typeface="Inter" panose="02000503000000020004"/>
              </a:rPr>
              <a:t>ME</a:t>
            </a:r>
            <a:endParaRPr dirty="0"/>
          </a:p>
        </p:txBody>
      </p:sp>
      <p:sp>
        <p:nvSpPr>
          <p:cNvPr id="236" name="Google Shape;236;p21"/>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 name="Google Shape;131;p16" descr="image.png"/>
          <p:cNvPicPr preferRelativeResize="0"/>
          <p:nvPr/>
        </p:nvPicPr>
        <p:blipFill rotWithShape="1">
          <a:blip r:embed="rId4"/>
          <a:srcRect/>
          <a:stretch>
            <a:fillRect/>
          </a:stretch>
        </p:blipFill>
        <p:spPr>
          <a:xfrm>
            <a:off x="6586536" y="4116050"/>
            <a:ext cx="4552950" cy="838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21"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29" name="Google Shape;229;p21" descr="image.png"/>
          <p:cNvPicPr preferRelativeResize="0"/>
          <p:nvPr/>
        </p:nvPicPr>
        <p:blipFill rotWithShape="1">
          <a:blip r:embed="rId2"/>
          <a:srcRect/>
          <a:stretch>
            <a:fillRect/>
          </a:stretch>
        </p:blipFill>
        <p:spPr>
          <a:xfrm>
            <a:off x="571500" y="2326630"/>
            <a:ext cx="5334000" cy="3447901"/>
          </a:xfrm>
          <a:prstGeom prst="rect">
            <a:avLst/>
          </a:prstGeom>
          <a:noFill/>
          <a:ln>
            <a:noFill/>
          </a:ln>
        </p:spPr>
      </p:pic>
      <p:pic>
        <p:nvPicPr>
          <p:cNvPr id="230" name="Google Shape;230;p21" descr="image.png"/>
          <p:cNvPicPr preferRelativeResize="0"/>
          <p:nvPr/>
        </p:nvPicPr>
        <p:blipFill rotWithShape="1">
          <a:blip r:embed="rId3"/>
          <a:srcRect/>
          <a:stretch>
            <a:fillRect/>
          </a:stretch>
        </p:blipFill>
        <p:spPr>
          <a:xfrm>
            <a:off x="6286500" y="2326630"/>
            <a:ext cx="5334000" cy="3447901"/>
          </a:xfrm>
          <a:prstGeom prst="rect">
            <a:avLst/>
          </a:prstGeom>
          <a:noFill/>
          <a:ln>
            <a:noFill/>
          </a:ln>
        </p:spPr>
      </p:pic>
      <p:sp>
        <p:nvSpPr>
          <p:cNvPr id="232" name="Google Shape;232;p21"/>
          <p:cNvSpPr txBox="1"/>
          <p:nvPr/>
        </p:nvSpPr>
        <p:spPr>
          <a:xfrm>
            <a:off x="962025" y="2210964"/>
            <a:ext cx="4552950" cy="361945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100" b="0" i="1" u="none" strike="noStrike" cap="none" dirty="0">
                <a:solidFill>
                  <a:srgbClr val="E2E8F0"/>
                </a:solidFill>
                <a:latin typeface="JetBrains Mono" panose="02000009000000000000"/>
                <a:ea typeface="JetBrains Mono" panose="02000009000000000000"/>
                <a:cs typeface="JetBrains Mono" panose="02000009000000000000"/>
                <a:sym typeface="JetBrains Mono" panose="02000009000000000000"/>
              </a:rPr>
              <a:t>“I am an integrity constraint. My primary job is to establish a link between two tables by matching a column in a child table to the primary key of a parent table. Who am I?"</a:t>
            </a:r>
            <a:endParaRPr dirty="0"/>
          </a:p>
        </p:txBody>
      </p:sp>
      <p:sp>
        <p:nvSpPr>
          <p:cNvPr id="233" name="Google Shape;233;p21"/>
          <p:cNvSpPr txBox="1"/>
          <p:nvPr/>
        </p:nvSpPr>
        <p:spPr>
          <a:xfrm>
            <a:off x="6677025" y="3353395"/>
            <a:ext cx="45529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rPr>
              <a:t>Who am I?</a:t>
            </a:r>
            <a:endParaRPr lang="en-US" sz="1800" b="0" i="0" u="none" strike="noStrike" cap="none">
              <a:solidFill>
                <a:srgbClr val="94A3B8"/>
              </a:solidFill>
              <a:latin typeface="Inter" panose="02000503000000020004"/>
              <a:ea typeface="Inter" panose="02000503000000020004"/>
              <a:cs typeface="Inter" panose="02000503000000020004"/>
              <a:sym typeface="Inter" panose="02000503000000020004"/>
            </a:endParaRPr>
          </a:p>
        </p:txBody>
      </p:sp>
      <p:sp>
        <p:nvSpPr>
          <p:cNvPr id="234" name="Google Shape;234;p21"/>
          <p:cNvSpPr txBox="1"/>
          <p:nvPr/>
        </p:nvSpPr>
        <p:spPr>
          <a:xfrm>
            <a:off x="8863012" y="4395340"/>
            <a:ext cx="1576388"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dirty="0">
                <a:solidFill>
                  <a:srgbClr val="FEF08A"/>
                </a:solidFill>
                <a:latin typeface="Inter Black"/>
                <a:ea typeface="Inter Black"/>
                <a:cs typeface="Inter Black"/>
                <a:sym typeface="Inter Black"/>
              </a:rPr>
              <a:t>Foreign Key</a:t>
            </a:r>
            <a:endParaRPr dirty="0"/>
          </a:p>
        </p:txBody>
      </p:sp>
      <p:sp>
        <p:nvSpPr>
          <p:cNvPr id="235" name="Google Shape;235;p21"/>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IDENTIFY </a:t>
            </a:r>
            <a:r>
              <a:rPr lang="en-US" sz="3300" b="1" dirty="0">
                <a:solidFill>
                  <a:srgbClr val="38BDF8"/>
                </a:solidFill>
                <a:latin typeface="Inter" panose="02000503000000020004"/>
                <a:ea typeface="Inter" panose="02000503000000020004"/>
                <a:cs typeface="Inter" panose="02000503000000020004"/>
                <a:sym typeface="Inter" panose="02000503000000020004"/>
              </a:rPr>
              <a:t>ME</a:t>
            </a:r>
            <a:endParaRPr dirty="0"/>
          </a:p>
        </p:txBody>
      </p:sp>
      <p:sp>
        <p:nvSpPr>
          <p:cNvPr id="236" name="Google Shape;236;p21"/>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 name="Google Shape;131;p16" descr="image.png"/>
          <p:cNvPicPr preferRelativeResize="0"/>
          <p:nvPr/>
        </p:nvPicPr>
        <p:blipFill rotWithShape="1">
          <a:blip r:embed="rId4"/>
          <a:srcRect/>
          <a:stretch>
            <a:fillRect/>
          </a:stretch>
        </p:blipFill>
        <p:spPr>
          <a:xfrm>
            <a:off x="6586536" y="4116050"/>
            <a:ext cx="4552950" cy="838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327"/>
        <p:cNvGrpSpPr/>
        <p:nvPr/>
      </p:nvGrpSpPr>
      <p:grpSpPr>
        <a:xfrm>
          <a:off x="0" y="0"/>
          <a:ext cx="0" cy="0"/>
          <a:chOff x="0" y="0"/>
          <a:chExt cx="0" cy="0"/>
        </a:xfrm>
      </p:grpSpPr>
      <p:pic>
        <p:nvPicPr>
          <p:cNvPr id="328" name="Google Shape;328;p26"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329" name="Google Shape;329;p26"/>
          <p:cNvSpPr/>
          <p:nvPr/>
        </p:nvSpPr>
        <p:spPr>
          <a:xfrm>
            <a:off x="0" y="0"/>
            <a:ext cx="12192000" cy="6858000"/>
          </a:xfrm>
          <a:prstGeom prst="rect">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0" name="Google Shape;330;p26"/>
          <p:cNvSpPr txBox="1"/>
          <p:nvPr/>
        </p:nvSpPr>
        <p:spPr>
          <a:xfrm>
            <a:off x="5610225" y="1888777"/>
            <a:ext cx="971550" cy="3656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800" b="1" i="0" u="none" strike="noStrike" cap="none" dirty="0">
                <a:solidFill>
                  <a:srgbClr val="38BDF8"/>
                </a:solidFill>
                <a:latin typeface="Inter" panose="02000503000000020004"/>
                <a:ea typeface="Inter" panose="02000503000000020004"/>
                <a:cs typeface="Inter" panose="02000503000000020004"/>
                <a:sym typeface="Inter" panose="02000503000000020004"/>
              </a:rPr>
              <a:t>PART 04</a:t>
            </a:r>
            <a:endParaRPr dirty="0"/>
          </a:p>
        </p:txBody>
      </p:sp>
      <p:sp>
        <p:nvSpPr>
          <p:cNvPr id="331" name="Google Shape;331;p26"/>
          <p:cNvSpPr txBox="1"/>
          <p:nvPr/>
        </p:nvSpPr>
        <p:spPr>
          <a:xfrm>
            <a:off x="1705451" y="2940248"/>
            <a:ext cx="8781097" cy="923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F8FAFC"/>
                </a:solidFill>
                <a:latin typeface="Inter" panose="02000503000000020004"/>
                <a:ea typeface="Inter" panose="02000503000000020004"/>
                <a:cs typeface="Inter" panose="02000503000000020004"/>
                <a:sym typeface="Inter" panose="02000503000000020004"/>
              </a:rPr>
              <a:t>Machine Learning &amp; AI</a:t>
            </a:r>
            <a:endParaRPr lang="en-US" sz="6000" b="1" i="0" u="none" strike="noStrike" cap="none">
              <a:solidFill>
                <a:srgbClr val="F8FAFC"/>
              </a:solidFill>
              <a:latin typeface="Inter" panose="02000503000000020004"/>
              <a:ea typeface="Inter" panose="02000503000000020004"/>
              <a:cs typeface="Inter" panose="02000503000000020004"/>
              <a:sym typeface="Inter" panose="02000503000000020004"/>
            </a:endParaRPr>
          </a:p>
        </p:txBody>
      </p:sp>
      <p:sp>
        <p:nvSpPr>
          <p:cNvPr id="332" name="Google Shape;332;p26"/>
          <p:cNvSpPr/>
          <p:nvPr/>
        </p:nvSpPr>
        <p:spPr>
          <a:xfrm>
            <a:off x="5381625" y="4149923"/>
            <a:ext cx="1428750" cy="76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336"/>
        <p:cNvGrpSpPr/>
        <p:nvPr/>
      </p:nvGrpSpPr>
      <p:grpSpPr>
        <a:xfrm>
          <a:off x="0" y="0"/>
          <a:ext cx="0" cy="0"/>
          <a:chOff x="0" y="0"/>
          <a:chExt cx="0" cy="0"/>
        </a:xfrm>
      </p:grpSpPr>
      <p:pic>
        <p:nvPicPr>
          <p:cNvPr id="337" name="Google Shape;337;p27"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38" name="Google Shape;338;p27" descr="image.png"/>
          <p:cNvPicPr preferRelativeResize="0"/>
          <p:nvPr/>
        </p:nvPicPr>
        <p:blipFill rotWithShape="1">
          <a:blip r:embed="rId2"/>
          <a:srcRect/>
          <a:stretch>
            <a:fillRect/>
          </a:stretch>
        </p:blipFill>
        <p:spPr>
          <a:xfrm>
            <a:off x="571500" y="6871989"/>
            <a:ext cx="11049000" cy="838200"/>
          </a:xfrm>
          <a:prstGeom prst="rect">
            <a:avLst/>
          </a:prstGeom>
          <a:noFill/>
          <a:ln>
            <a:noFill/>
          </a:ln>
        </p:spPr>
      </p:pic>
      <p:sp>
        <p:nvSpPr>
          <p:cNvPr id="339" name="Google Shape;339;p27"/>
          <p:cNvSpPr txBox="1"/>
          <p:nvPr/>
        </p:nvSpPr>
        <p:spPr>
          <a:xfrm>
            <a:off x="571500" y="2043261"/>
            <a:ext cx="11049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What is the main goal of unsupervised machine learning algorithms?</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340" name="Google Shape;340;p27"/>
          <p:cNvSpPr txBox="1"/>
          <p:nvPr/>
        </p:nvSpPr>
        <p:spPr>
          <a:xfrm>
            <a:off x="5200650" y="7129164"/>
            <a:ext cx="3990975"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B) Find hidden patterns in data</a:t>
            </a:r>
            <a:endParaRPr lang="en-US" sz="2100" b="0" i="0" u="none" strike="noStrike" cap="none">
              <a:solidFill>
                <a:srgbClr val="FEF08A"/>
              </a:solidFill>
              <a:latin typeface="Inter Black"/>
              <a:ea typeface="Inter Black"/>
              <a:cs typeface="Inter Black"/>
              <a:sym typeface="Inter Black"/>
            </a:endParaRPr>
          </a:p>
        </p:txBody>
      </p:sp>
      <p:sp>
        <p:nvSpPr>
          <p:cNvPr id="341" name="Google Shape;341;p27"/>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2" name="Google Shape;342;p27"/>
          <p:cNvSpPr txBox="1"/>
          <p:nvPr/>
        </p:nvSpPr>
        <p:spPr>
          <a:xfrm>
            <a:off x="1600200" y="3037582"/>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To predict a specific labeled target value</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343" name="Google Shape;343;p27"/>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4" name="Google Shape;344;p27"/>
          <p:cNvSpPr txBox="1"/>
          <p:nvPr/>
        </p:nvSpPr>
        <p:spPr>
          <a:xfrm>
            <a:off x="1600200" y="3946177"/>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B) To find hidden patterns or structures in unlabeled data</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345" name="Google Shape;345;p27"/>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6" name="Google Shape;346;p27"/>
          <p:cNvSpPr txBox="1"/>
          <p:nvPr/>
        </p:nvSpPr>
        <p:spPr>
          <a:xfrm>
            <a:off x="1600200" y="4854773"/>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C) To optimize a continuous reward function</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347" name="Google Shape;347;p27"/>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8" name="Google Shape;348;p27"/>
          <p:cNvSpPr txBox="1"/>
          <p:nvPr/>
        </p:nvSpPr>
        <p:spPr>
          <a:xfrm>
            <a:off x="1600200" y="5763369"/>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D) To minimize validation classification error</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349" name="Google Shape;349;p27"/>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0" name="Google Shape;350;p27"/>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1" name="Google Shape;351;p27"/>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2" name="Google Shape;352;p27"/>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53" name="Google Shape;353;p27" descr="image.png"/>
          <p:cNvPicPr preferRelativeResize="0"/>
          <p:nvPr/>
        </p:nvPicPr>
        <p:blipFill rotWithShape="1">
          <a:blip r:embed="rId3"/>
          <a:srcRect/>
          <a:stretch>
            <a:fillRect/>
          </a:stretch>
        </p:blipFill>
        <p:spPr>
          <a:xfrm>
            <a:off x="1247775" y="3129855"/>
            <a:ext cx="171450" cy="200025"/>
          </a:xfrm>
          <a:prstGeom prst="rect">
            <a:avLst/>
          </a:prstGeom>
          <a:noFill/>
          <a:ln>
            <a:noFill/>
          </a:ln>
        </p:spPr>
      </p:pic>
      <p:pic>
        <p:nvPicPr>
          <p:cNvPr id="354" name="Google Shape;354;p27" descr="image.png"/>
          <p:cNvPicPr preferRelativeResize="0"/>
          <p:nvPr/>
        </p:nvPicPr>
        <p:blipFill rotWithShape="1">
          <a:blip r:embed="rId3"/>
          <a:srcRect/>
          <a:stretch>
            <a:fillRect/>
          </a:stretch>
        </p:blipFill>
        <p:spPr>
          <a:xfrm>
            <a:off x="1247775" y="4038451"/>
            <a:ext cx="171450" cy="200025"/>
          </a:xfrm>
          <a:prstGeom prst="rect">
            <a:avLst/>
          </a:prstGeom>
          <a:noFill/>
          <a:ln>
            <a:noFill/>
          </a:ln>
        </p:spPr>
      </p:pic>
      <p:pic>
        <p:nvPicPr>
          <p:cNvPr id="355" name="Google Shape;355;p27" descr="image.png"/>
          <p:cNvPicPr preferRelativeResize="0"/>
          <p:nvPr/>
        </p:nvPicPr>
        <p:blipFill rotWithShape="1">
          <a:blip r:embed="rId3"/>
          <a:srcRect/>
          <a:stretch>
            <a:fillRect/>
          </a:stretch>
        </p:blipFill>
        <p:spPr>
          <a:xfrm>
            <a:off x="1247775" y="4947046"/>
            <a:ext cx="171450" cy="200025"/>
          </a:xfrm>
          <a:prstGeom prst="rect">
            <a:avLst/>
          </a:prstGeom>
          <a:noFill/>
          <a:ln>
            <a:noFill/>
          </a:ln>
        </p:spPr>
      </p:pic>
      <p:pic>
        <p:nvPicPr>
          <p:cNvPr id="356" name="Google Shape;356;p27" descr="image.png"/>
          <p:cNvPicPr preferRelativeResize="0"/>
          <p:nvPr/>
        </p:nvPicPr>
        <p:blipFill rotWithShape="1">
          <a:blip r:embed="rId3"/>
          <a:srcRect/>
          <a:stretch>
            <a:fillRect/>
          </a:stretch>
        </p:blipFill>
        <p:spPr>
          <a:xfrm>
            <a:off x="1247775" y="5855642"/>
            <a:ext cx="171450" cy="200025"/>
          </a:xfrm>
          <a:prstGeom prst="rect">
            <a:avLst/>
          </a:prstGeom>
          <a:noFill/>
          <a:ln>
            <a:noFill/>
          </a:ln>
        </p:spPr>
      </p:pic>
      <p:sp>
        <p:nvSpPr>
          <p:cNvPr id="357" name="Google Shape;357;p27"/>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LEARNING MODELS</a:t>
            </a:r>
            <a:endPar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endParaRPr>
          </a:p>
        </p:txBody>
      </p:sp>
      <p:sp>
        <p:nvSpPr>
          <p:cNvPr id="358" name="Google Shape;358;p27"/>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43"/>
                                        </p:tgtEl>
                                        <p:attrNameLst>
                                          <p:attrName>fillcolor</p:attrName>
                                        </p:attrNameLst>
                                      </p:cBhvr>
                                      <p:to>
                                        <a:srgbClr val="00B050"/>
                                      </p:to>
                                    </p:animClr>
                                    <p:set>
                                      <p:cBhvr>
                                        <p:cTn id="7" dur="2000" fill="hold"/>
                                        <p:tgtEl>
                                          <p:spTgt spid="343"/>
                                        </p:tgtEl>
                                        <p:attrNameLst>
                                          <p:attrName>fill.type</p:attrName>
                                        </p:attrNameLst>
                                      </p:cBhvr>
                                      <p:to>
                                        <p:strVal val="solid"/>
                                      </p:to>
                                    </p:set>
                                    <p:set>
                                      <p:cBhvr>
                                        <p:cTn id="8" dur="2000" fill="hold"/>
                                        <p:tgtEl>
                                          <p:spTgt spid="343"/>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362"/>
        <p:cNvGrpSpPr/>
        <p:nvPr/>
      </p:nvGrpSpPr>
      <p:grpSpPr>
        <a:xfrm>
          <a:off x="0" y="0"/>
          <a:ext cx="0" cy="0"/>
          <a:chOff x="0" y="0"/>
          <a:chExt cx="0" cy="0"/>
        </a:xfrm>
      </p:grpSpPr>
      <p:pic>
        <p:nvPicPr>
          <p:cNvPr id="363" name="Google Shape;363;p28"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64" name="Google Shape;364;p28" descr="image.png"/>
          <p:cNvPicPr preferRelativeResize="0"/>
          <p:nvPr/>
        </p:nvPicPr>
        <p:blipFill rotWithShape="1">
          <a:blip r:embed="rId2"/>
          <a:srcRect/>
          <a:stretch>
            <a:fillRect/>
          </a:stretch>
        </p:blipFill>
        <p:spPr>
          <a:xfrm>
            <a:off x="571500" y="6871989"/>
            <a:ext cx="11049000" cy="838200"/>
          </a:xfrm>
          <a:prstGeom prst="rect">
            <a:avLst/>
          </a:prstGeom>
          <a:noFill/>
          <a:ln>
            <a:noFill/>
          </a:ln>
        </p:spPr>
      </p:pic>
      <p:sp>
        <p:nvSpPr>
          <p:cNvPr id="365" name="Google Shape;365;p28"/>
          <p:cNvSpPr txBox="1"/>
          <p:nvPr/>
        </p:nvSpPr>
        <p:spPr>
          <a:xfrm>
            <a:off x="571500" y="2043261"/>
            <a:ext cx="11049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model achieves 99% accuracy on training but drops to 52% on unseen data. This condition is:</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366" name="Google Shape;366;p28"/>
          <p:cNvSpPr txBox="1"/>
          <p:nvPr/>
        </p:nvSpPr>
        <p:spPr>
          <a:xfrm>
            <a:off x="5262562" y="7129164"/>
            <a:ext cx="386715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B) High Variance (Overfitting)</a:t>
            </a:r>
            <a:endParaRPr lang="en-US" sz="2100" b="0" i="0" u="none" strike="noStrike" cap="none">
              <a:solidFill>
                <a:srgbClr val="FEF08A"/>
              </a:solidFill>
              <a:latin typeface="Inter Black"/>
              <a:ea typeface="Inter Black"/>
              <a:cs typeface="Inter Black"/>
              <a:sym typeface="Inter Black"/>
            </a:endParaRPr>
          </a:p>
        </p:txBody>
      </p:sp>
      <p:sp>
        <p:nvSpPr>
          <p:cNvPr id="367" name="Google Shape;367;p28"/>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8" name="Google Shape;368;p28"/>
          <p:cNvSpPr txBox="1"/>
          <p:nvPr/>
        </p:nvSpPr>
        <p:spPr>
          <a:xfrm>
            <a:off x="1600200" y="3037582"/>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A) High Bias (Underfitting)</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369" name="Google Shape;369;p28"/>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0" name="Google Shape;370;p28"/>
          <p:cNvSpPr txBox="1"/>
          <p:nvPr/>
        </p:nvSpPr>
        <p:spPr>
          <a:xfrm>
            <a:off x="1600200" y="3946177"/>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B) High Variance (Overfitting)</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371" name="Google Shape;371;p28"/>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2" name="Google Shape;372;p28"/>
          <p:cNvSpPr txBox="1"/>
          <p:nvPr/>
        </p:nvSpPr>
        <p:spPr>
          <a:xfrm>
            <a:off x="1600200" y="4854773"/>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C) Data Leakage</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373" name="Google Shape;373;p28"/>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4" name="Google Shape;374;p28"/>
          <p:cNvSpPr txBox="1"/>
          <p:nvPr/>
        </p:nvSpPr>
        <p:spPr>
          <a:xfrm>
            <a:off x="1600200" y="5763369"/>
            <a:ext cx="9734550" cy="384720"/>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rPr>
              <a:t>D) Class Imbalance</a:t>
            </a:r>
            <a:endParaRPr lang="en-US" sz="1800"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375" name="Google Shape;375;p28"/>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6" name="Google Shape;376;p28"/>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7" name="Google Shape;377;p28"/>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8" name="Google Shape;378;p28"/>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79" name="Google Shape;379;p28" descr="image.png"/>
          <p:cNvPicPr preferRelativeResize="0"/>
          <p:nvPr/>
        </p:nvPicPr>
        <p:blipFill rotWithShape="1">
          <a:blip r:embed="rId3"/>
          <a:srcRect/>
          <a:stretch>
            <a:fillRect/>
          </a:stretch>
        </p:blipFill>
        <p:spPr>
          <a:xfrm>
            <a:off x="1247775" y="3129855"/>
            <a:ext cx="171450" cy="200025"/>
          </a:xfrm>
          <a:prstGeom prst="rect">
            <a:avLst/>
          </a:prstGeom>
          <a:noFill/>
          <a:ln>
            <a:noFill/>
          </a:ln>
        </p:spPr>
      </p:pic>
      <p:pic>
        <p:nvPicPr>
          <p:cNvPr id="380" name="Google Shape;380;p28" descr="image.png"/>
          <p:cNvPicPr preferRelativeResize="0"/>
          <p:nvPr/>
        </p:nvPicPr>
        <p:blipFill rotWithShape="1">
          <a:blip r:embed="rId3"/>
          <a:srcRect/>
          <a:stretch>
            <a:fillRect/>
          </a:stretch>
        </p:blipFill>
        <p:spPr>
          <a:xfrm>
            <a:off x="1247775" y="4038451"/>
            <a:ext cx="171450" cy="200025"/>
          </a:xfrm>
          <a:prstGeom prst="rect">
            <a:avLst/>
          </a:prstGeom>
          <a:noFill/>
          <a:ln>
            <a:noFill/>
          </a:ln>
        </p:spPr>
      </p:pic>
      <p:pic>
        <p:nvPicPr>
          <p:cNvPr id="381" name="Google Shape;381;p28" descr="image.png"/>
          <p:cNvPicPr preferRelativeResize="0"/>
          <p:nvPr/>
        </p:nvPicPr>
        <p:blipFill rotWithShape="1">
          <a:blip r:embed="rId3"/>
          <a:srcRect/>
          <a:stretch>
            <a:fillRect/>
          </a:stretch>
        </p:blipFill>
        <p:spPr>
          <a:xfrm>
            <a:off x="1247775" y="4947046"/>
            <a:ext cx="171450" cy="200025"/>
          </a:xfrm>
          <a:prstGeom prst="rect">
            <a:avLst/>
          </a:prstGeom>
          <a:noFill/>
          <a:ln>
            <a:noFill/>
          </a:ln>
        </p:spPr>
      </p:pic>
      <p:pic>
        <p:nvPicPr>
          <p:cNvPr id="382" name="Google Shape;382;p28" descr="image.png"/>
          <p:cNvPicPr preferRelativeResize="0"/>
          <p:nvPr/>
        </p:nvPicPr>
        <p:blipFill rotWithShape="1">
          <a:blip r:embed="rId3"/>
          <a:srcRect/>
          <a:stretch>
            <a:fillRect/>
          </a:stretch>
        </p:blipFill>
        <p:spPr>
          <a:xfrm>
            <a:off x="1247775" y="5855642"/>
            <a:ext cx="171450" cy="200025"/>
          </a:xfrm>
          <a:prstGeom prst="rect">
            <a:avLst/>
          </a:prstGeom>
          <a:noFill/>
          <a:ln>
            <a:noFill/>
          </a:ln>
        </p:spPr>
      </p:pic>
      <p:sp>
        <p:nvSpPr>
          <p:cNvPr id="383" name="Google Shape;383;p28"/>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MODEL DIAGNOSTICS</a:t>
            </a:r>
            <a:endPar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endParaRPr>
          </a:p>
        </p:txBody>
      </p:sp>
      <p:sp>
        <p:nvSpPr>
          <p:cNvPr id="384" name="Google Shape;384;p28"/>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69"/>
                                        </p:tgtEl>
                                        <p:attrNameLst>
                                          <p:attrName>fillcolor</p:attrName>
                                        </p:attrNameLst>
                                      </p:cBhvr>
                                      <p:to>
                                        <a:srgbClr val="00B050"/>
                                      </p:to>
                                    </p:animClr>
                                    <p:set>
                                      <p:cBhvr>
                                        <p:cTn id="7" dur="2000" fill="hold"/>
                                        <p:tgtEl>
                                          <p:spTgt spid="369"/>
                                        </p:tgtEl>
                                        <p:attrNameLst>
                                          <p:attrName>fill.type</p:attrName>
                                        </p:attrNameLst>
                                      </p:cBhvr>
                                      <p:to>
                                        <p:strVal val="solid"/>
                                      </p:to>
                                    </p:set>
                                    <p:set>
                                      <p:cBhvr>
                                        <p:cTn id="8" dur="2000" fill="hold"/>
                                        <p:tgtEl>
                                          <p:spTgt spid="369"/>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363" name="Google Shape;363;p28"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64" name="Google Shape;364;p28" descr="image.png"/>
          <p:cNvPicPr preferRelativeResize="0"/>
          <p:nvPr/>
        </p:nvPicPr>
        <p:blipFill rotWithShape="1">
          <a:blip r:embed="rId2"/>
          <a:srcRect/>
          <a:stretch>
            <a:fillRect/>
          </a:stretch>
        </p:blipFill>
        <p:spPr>
          <a:xfrm>
            <a:off x="571500" y="6871989"/>
            <a:ext cx="11049000" cy="838200"/>
          </a:xfrm>
          <a:prstGeom prst="rect">
            <a:avLst/>
          </a:prstGeom>
          <a:noFill/>
          <a:ln>
            <a:noFill/>
          </a:ln>
        </p:spPr>
      </p:pic>
      <p:sp>
        <p:nvSpPr>
          <p:cNvPr id="365" name="Google Shape;365;p28"/>
          <p:cNvSpPr txBox="1"/>
          <p:nvPr/>
        </p:nvSpPr>
        <p:spPr>
          <a:xfrm>
            <a:off x="571500" y="1792886"/>
            <a:ext cx="11049000" cy="8863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What is the name of the mathematical function applied to nodes in a neural network to introducing essential non-linearity?</a:t>
            </a:r>
            <a:endParaRPr dirty="0"/>
          </a:p>
        </p:txBody>
      </p:sp>
      <p:sp>
        <p:nvSpPr>
          <p:cNvPr id="366" name="Google Shape;366;p28"/>
          <p:cNvSpPr txBox="1"/>
          <p:nvPr/>
        </p:nvSpPr>
        <p:spPr>
          <a:xfrm>
            <a:off x="5262562" y="7129164"/>
            <a:ext cx="386715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B) High Variance (Overfitting)</a:t>
            </a:r>
            <a:endParaRPr lang="en-US" sz="2100" b="0" i="0" u="none" strike="noStrike" cap="none">
              <a:solidFill>
                <a:srgbClr val="FEF08A"/>
              </a:solidFill>
              <a:latin typeface="Inter Black"/>
              <a:ea typeface="Inter Black"/>
              <a:cs typeface="Inter Black"/>
              <a:sym typeface="Inter Black"/>
            </a:endParaRPr>
          </a:p>
        </p:txBody>
      </p:sp>
      <p:sp>
        <p:nvSpPr>
          <p:cNvPr id="367" name="Google Shape;367;p28"/>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8" name="Google Shape;368;p28"/>
          <p:cNvSpPr txBox="1"/>
          <p:nvPr/>
        </p:nvSpPr>
        <p:spPr>
          <a:xfrm>
            <a:off x="1600200" y="3008343"/>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Loss Function</a:t>
            </a:r>
            <a:endParaRPr dirty="0"/>
          </a:p>
        </p:txBody>
      </p:sp>
      <p:sp>
        <p:nvSpPr>
          <p:cNvPr id="369" name="Google Shape;369;p28"/>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0" name="Google Shape;370;p28"/>
          <p:cNvSpPr txBox="1"/>
          <p:nvPr/>
        </p:nvSpPr>
        <p:spPr>
          <a:xfrm>
            <a:off x="1600200" y="3916938"/>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a:t>
            </a:r>
            <a:r>
              <a:rPr lang="en-US" sz="1800" dirty="0">
                <a:solidFill>
                  <a:srgbClr val="CBD5E1"/>
                </a:solidFill>
                <a:latin typeface="Inter" panose="02000503000000020004"/>
                <a:ea typeface="Inter" panose="02000503000000020004"/>
                <a:cs typeface="Inter" panose="02000503000000020004"/>
                <a:sym typeface="Inter" panose="02000503000000020004"/>
              </a:rPr>
              <a:t> Cost Function</a:t>
            </a:r>
            <a:endParaRPr dirty="0"/>
          </a:p>
        </p:txBody>
      </p:sp>
      <p:sp>
        <p:nvSpPr>
          <p:cNvPr id="371" name="Google Shape;371;p28"/>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2" name="Google Shape;372;p28"/>
          <p:cNvSpPr txBox="1"/>
          <p:nvPr/>
        </p:nvSpPr>
        <p:spPr>
          <a:xfrm>
            <a:off x="1600200" y="4825534"/>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Gradient Function</a:t>
            </a:r>
            <a:endParaRPr dirty="0"/>
          </a:p>
        </p:txBody>
      </p:sp>
      <p:sp>
        <p:nvSpPr>
          <p:cNvPr id="373" name="Google Shape;373;p28"/>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4" name="Google Shape;374;p28"/>
          <p:cNvSpPr txBox="1"/>
          <p:nvPr/>
        </p:nvSpPr>
        <p:spPr>
          <a:xfrm>
            <a:off x="1600200" y="5734130"/>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Activation Function</a:t>
            </a:r>
            <a:endParaRPr dirty="0"/>
          </a:p>
        </p:txBody>
      </p:sp>
      <p:sp>
        <p:nvSpPr>
          <p:cNvPr id="375" name="Google Shape;375;p28"/>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6" name="Google Shape;376;p28"/>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7" name="Google Shape;377;p28"/>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8" name="Google Shape;378;p28"/>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79" name="Google Shape;379;p28" descr="image.png"/>
          <p:cNvPicPr preferRelativeResize="0"/>
          <p:nvPr/>
        </p:nvPicPr>
        <p:blipFill rotWithShape="1">
          <a:blip r:embed="rId3"/>
          <a:srcRect/>
          <a:stretch>
            <a:fillRect/>
          </a:stretch>
        </p:blipFill>
        <p:spPr>
          <a:xfrm>
            <a:off x="1247775" y="3129855"/>
            <a:ext cx="171450" cy="200025"/>
          </a:xfrm>
          <a:prstGeom prst="rect">
            <a:avLst/>
          </a:prstGeom>
          <a:noFill/>
          <a:ln>
            <a:noFill/>
          </a:ln>
        </p:spPr>
      </p:pic>
      <p:pic>
        <p:nvPicPr>
          <p:cNvPr id="380" name="Google Shape;380;p28" descr="image.png"/>
          <p:cNvPicPr preferRelativeResize="0"/>
          <p:nvPr/>
        </p:nvPicPr>
        <p:blipFill rotWithShape="1">
          <a:blip r:embed="rId3"/>
          <a:srcRect/>
          <a:stretch>
            <a:fillRect/>
          </a:stretch>
        </p:blipFill>
        <p:spPr>
          <a:xfrm>
            <a:off x="1247775" y="4038451"/>
            <a:ext cx="171450" cy="200025"/>
          </a:xfrm>
          <a:prstGeom prst="rect">
            <a:avLst/>
          </a:prstGeom>
          <a:noFill/>
          <a:ln>
            <a:noFill/>
          </a:ln>
        </p:spPr>
      </p:pic>
      <p:pic>
        <p:nvPicPr>
          <p:cNvPr id="381" name="Google Shape;381;p28" descr="image.png"/>
          <p:cNvPicPr preferRelativeResize="0"/>
          <p:nvPr/>
        </p:nvPicPr>
        <p:blipFill rotWithShape="1">
          <a:blip r:embed="rId3"/>
          <a:srcRect/>
          <a:stretch>
            <a:fillRect/>
          </a:stretch>
        </p:blipFill>
        <p:spPr>
          <a:xfrm>
            <a:off x="1247775" y="4947046"/>
            <a:ext cx="171450" cy="200025"/>
          </a:xfrm>
          <a:prstGeom prst="rect">
            <a:avLst/>
          </a:prstGeom>
          <a:noFill/>
          <a:ln>
            <a:noFill/>
          </a:ln>
        </p:spPr>
      </p:pic>
      <p:pic>
        <p:nvPicPr>
          <p:cNvPr id="382" name="Google Shape;382;p28" descr="image.png"/>
          <p:cNvPicPr preferRelativeResize="0"/>
          <p:nvPr/>
        </p:nvPicPr>
        <p:blipFill rotWithShape="1">
          <a:blip r:embed="rId3"/>
          <a:srcRect/>
          <a:stretch>
            <a:fillRect/>
          </a:stretch>
        </p:blipFill>
        <p:spPr>
          <a:xfrm>
            <a:off x="1247775" y="5855642"/>
            <a:ext cx="171450" cy="200025"/>
          </a:xfrm>
          <a:prstGeom prst="rect">
            <a:avLst/>
          </a:prstGeom>
          <a:noFill/>
          <a:ln>
            <a:noFill/>
          </a:ln>
        </p:spPr>
      </p:pic>
      <p:sp>
        <p:nvSpPr>
          <p:cNvPr id="383" name="Google Shape;383;p28"/>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FUNCTIONS</a:t>
            </a:r>
            <a:endParaRPr dirty="0"/>
          </a:p>
        </p:txBody>
      </p:sp>
      <p:sp>
        <p:nvSpPr>
          <p:cNvPr id="384" name="Google Shape;384;p28"/>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73"/>
                                        </p:tgtEl>
                                        <p:attrNameLst>
                                          <p:attrName>fillcolor</p:attrName>
                                        </p:attrNameLst>
                                      </p:cBhvr>
                                      <p:to>
                                        <a:srgbClr val="00B050"/>
                                      </p:to>
                                    </p:animClr>
                                    <p:set>
                                      <p:cBhvr>
                                        <p:cTn id="7" dur="2000" fill="hold"/>
                                        <p:tgtEl>
                                          <p:spTgt spid="373"/>
                                        </p:tgtEl>
                                        <p:attrNameLst>
                                          <p:attrName>fill.type</p:attrName>
                                        </p:attrNameLst>
                                      </p:cBhvr>
                                      <p:to>
                                        <p:strVal val="solid"/>
                                      </p:to>
                                    </p:set>
                                    <p:set>
                                      <p:cBhvr>
                                        <p:cTn id="8" dur="2000" fill="hold"/>
                                        <p:tgtEl>
                                          <p:spTgt spid="373"/>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363" name="Google Shape;363;p28"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64" name="Google Shape;364;p28" descr="image.png"/>
          <p:cNvPicPr preferRelativeResize="0"/>
          <p:nvPr/>
        </p:nvPicPr>
        <p:blipFill rotWithShape="1">
          <a:blip r:embed="rId2"/>
          <a:srcRect/>
          <a:stretch>
            <a:fillRect/>
          </a:stretch>
        </p:blipFill>
        <p:spPr>
          <a:xfrm>
            <a:off x="571500" y="6871989"/>
            <a:ext cx="11049000" cy="838200"/>
          </a:xfrm>
          <a:prstGeom prst="rect">
            <a:avLst/>
          </a:prstGeom>
          <a:noFill/>
          <a:ln>
            <a:noFill/>
          </a:ln>
        </p:spPr>
      </p:pic>
      <p:sp>
        <p:nvSpPr>
          <p:cNvPr id="365" name="Google Shape;365;p28"/>
          <p:cNvSpPr txBox="1"/>
          <p:nvPr/>
        </p:nvSpPr>
        <p:spPr>
          <a:xfrm>
            <a:off x="571500" y="1792886"/>
            <a:ext cx="11049000" cy="886397"/>
          </a:xfrm>
          <a:prstGeom prst="rect">
            <a:avLst/>
          </a:prstGeom>
          <a:noFill/>
          <a:ln>
            <a:noFill/>
          </a:ln>
        </p:spPr>
        <p:txBody>
          <a:bodyPr spcFirstLastPara="1" wrap="square" lIns="0" tIns="0" rIns="0" bIns="0" anchor="t" anchorCtr="0">
            <a:spAutoFit/>
          </a:bodyPr>
          <a:lstStyle/>
          <a:p>
            <a:pPr lvl="0">
              <a:lnSpc>
                <a:spcPct val="160000"/>
              </a:lnSpc>
            </a:pPr>
            <a:r>
              <a:rPr lang="en-US" sz="1800" dirty="0">
                <a:solidFill>
                  <a:srgbClr val="CBD5E1"/>
                </a:solidFill>
                <a:latin typeface="Inter" panose="02000503000000020004"/>
                <a:ea typeface="Inter" panose="02000503000000020004"/>
                <a:cs typeface="Inter" panose="02000503000000020004"/>
                <a:sym typeface="Inter" panose="02000503000000020004"/>
              </a:rPr>
              <a:t>In machine learning classification, what is the tabular layout used to evaluate performance by mapping true/false positives and negatives?</a:t>
            </a:r>
            <a:endParaRPr dirty="0"/>
          </a:p>
        </p:txBody>
      </p:sp>
      <p:sp>
        <p:nvSpPr>
          <p:cNvPr id="366" name="Google Shape;366;p28"/>
          <p:cNvSpPr txBox="1"/>
          <p:nvPr/>
        </p:nvSpPr>
        <p:spPr>
          <a:xfrm>
            <a:off x="5262562" y="7129164"/>
            <a:ext cx="386715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B) High Variance (Overfitting)</a:t>
            </a:r>
            <a:endParaRPr lang="en-US" sz="2100" b="0" i="0" u="none" strike="noStrike" cap="none">
              <a:solidFill>
                <a:srgbClr val="FEF08A"/>
              </a:solidFill>
              <a:latin typeface="Inter Black"/>
              <a:ea typeface="Inter Black"/>
              <a:cs typeface="Inter Black"/>
              <a:sym typeface="Inter Black"/>
            </a:endParaRPr>
          </a:p>
        </p:txBody>
      </p:sp>
      <p:sp>
        <p:nvSpPr>
          <p:cNvPr id="367" name="Google Shape;367;p28"/>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8" name="Google Shape;368;p28"/>
          <p:cNvSpPr txBox="1"/>
          <p:nvPr/>
        </p:nvSpPr>
        <p:spPr>
          <a:xfrm>
            <a:off x="1600200" y="3008343"/>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Confusion Matrix</a:t>
            </a:r>
            <a:endParaRPr dirty="0"/>
          </a:p>
        </p:txBody>
      </p:sp>
      <p:sp>
        <p:nvSpPr>
          <p:cNvPr id="369" name="Google Shape;369;p28"/>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0" name="Google Shape;370;p28"/>
          <p:cNvSpPr txBox="1"/>
          <p:nvPr/>
        </p:nvSpPr>
        <p:spPr>
          <a:xfrm>
            <a:off x="1600200" y="3916938"/>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a:t>
            </a:r>
            <a:r>
              <a:rPr lang="en-US" sz="1800" dirty="0">
                <a:solidFill>
                  <a:srgbClr val="CBD5E1"/>
                </a:solidFill>
                <a:latin typeface="Inter" panose="02000503000000020004"/>
                <a:ea typeface="Inter" panose="02000503000000020004"/>
                <a:cs typeface="Inter" panose="02000503000000020004"/>
                <a:sym typeface="Inter" panose="02000503000000020004"/>
              </a:rPr>
              <a:t> Correlation Matrix</a:t>
            </a:r>
            <a:endParaRPr dirty="0"/>
          </a:p>
        </p:txBody>
      </p:sp>
      <p:sp>
        <p:nvSpPr>
          <p:cNvPr id="371" name="Google Shape;371;p28"/>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2" name="Google Shape;372;p28"/>
          <p:cNvSpPr txBox="1"/>
          <p:nvPr/>
        </p:nvSpPr>
        <p:spPr>
          <a:xfrm>
            <a:off x="1600200" y="4825534"/>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Covariance Matrix</a:t>
            </a:r>
            <a:endParaRPr dirty="0"/>
          </a:p>
        </p:txBody>
      </p:sp>
      <p:sp>
        <p:nvSpPr>
          <p:cNvPr id="373" name="Google Shape;373;p28"/>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4" name="Google Shape;374;p28"/>
          <p:cNvSpPr txBox="1"/>
          <p:nvPr/>
        </p:nvSpPr>
        <p:spPr>
          <a:xfrm>
            <a:off x="1600200" y="5734130"/>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Contingency Table</a:t>
            </a:r>
            <a:endParaRPr dirty="0"/>
          </a:p>
        </p:txBody>
      </p:sp>
      <p:sp>
        <p:nvSpPr>
          <p:cNvPr id="375" name="Google Shape;375;p28"/>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6" name="Google Shape;376;p28"/>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7" name="Google Shape;377;p28"/>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8" name="Google Shape;378;p28"/>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79" name="Google Shape;379;p28" descr="image.png"/>
          <p:cNvPicPr preferRelativeResize="0"/>
          <p:nvPr/>
        </p:nvPicPr>
        <p:blipFill rotWithShape="1">
          <a:blip r:embed="rId3"/>
          <a:srcRect/>
          <a:stretch>
            <a:fillRect/>
          </a:stretch>
        </p:blipFill>
        <p:spPr>
          <a:xfrm>
            <a:off x="1247775" y="3129855"/>
            <a:ext cx="171450" cy="200025"/>
          </a:xfrm>
          <a:prstGeom prst="rect">
            <a:avLst/>
          </a:prstGeom>
          <a:noFill/>
          <a:ln>
            <a:noFill/>
          </a:ln>
        </p:spPr>
      </p:pic>
      <p:pic>
        <p:nvPicPr>
          <p:cNvPr id="380" name="Google Shape;380;p28" descr="image.png"/>
          <p:cNvPicPr preferRelativeResize="0"/>
          <p:nvPr/>
        </p:nvPicPr>
        <p:blipFill rotWithShape="1">
          <a:blip r:embed="rId3"/>
          <a:srcRect/>
          <a:stretch>
            <a:fillRect/>
          </a:stretch>
        </p:blipFill>
        <p:spPr>
          <a:xfrm>
            <a:off x="1247775" y="4038451"/>
            <a:ext cx="171450" cy="200025"/>
          </a:xfrm>
          <a:prstGeom prst="rect">
            <a:avLst/>
          </a:prstGeom>
          <a:noFill/>
          <a:ln>
            <a:noFill/>
          </a:ln>
        </p:spPr>
      </p:pic>
      <p:pic>
        <p:nvPicPr>
          <p:cNvPr id="381" name="Google Shape;381;p28" descr="image.png"/>
          <p:cNvPicPr preferRelativeResize="0"/>
          <p:nvPr/>
        </p:nvPicPr>
        <p:blipFill rotWithShape="1">
          <a:blip r:embed="rId3"/>
          <a:srcRect/>
          <a:stretch>
            <a:fillRect/>
          </a:stretch>
        </p:blipFill>
        <p:spPr>
          <a:xfrm>
            <a:off x="1247775" y="4947046"/>
            <a:ext cx="171450" cy="200025"/>
          </a:xfrm>
          <a:prstGeom prst="rect">
            <a:avLst/>
          </a:prstGeom>
          <a:noFill/>
          <a:ln>
            <a:noFill/>
          </a:ln>
        </p:spPr>
      </p:pic>
      <p:pic>
        <p:nvPicPr>
          <p:cNvPr id="382" name="Google Shape;382;p28" descr="image.png"/>
          <p:cNvPicPr preferRelativeResize="0"/>
          <p:nvPr/>
        </p:nvPicPr>
        <p:blipFill rotWithShape="1">
          <a:blip r:embed="rId3"/>
          <a:srcRect/>
          <a:stretch>
            <a:fillRect/>
          </a:stretch>
        </p:blipFill>
        <p:spPr>
          <a:xfrm>
            <a:off x="1247775" y="5855642"/>
            <a:ext cx="171450" cy="200025"/>
          </a:xfrm>
          <a:prstGeom prst="rect">
            <a:avLst/>
          </a:prstGeom>
          <a:noFill/>
          <a:ln>
            <a:noFill/>
          </a:ln>
        </p:spPr>
      </p:pic>
      <p:sp>
        <p:nvSpPr>
          <p:cNvPr id="383" name="Google Shape;383;p28"/>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FUNCTIONS</a:t>
            </a:r>
            <a:endParaRPr dirty="0"/>
          </a:p>
        </p:txBody>
      </p:sp>
      <p:sp>
        <p:nvSpPr>
          <p:cNvPr id="384" name="Google Shape;384;p28"/>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67"/>
                                        </p:tgtEl>
                                        <p:attrNameLst>
                                          <p:attrName>fillcolor</p:attrName>
                                        </p:attrNameLst>
                                      </p:cBhvr>
                                      <p:to>
                                        <a:srgbClr val="00B050"/>
                                      </p:to>
                                    </p:animClr>
                                    <p:set>
                                      <p:cBhvr>
                                        <p:cTn id="7" dur="2000" fill="hold"/>
                                        <p:tgtEl>
                                          <p:spTgt spid="367"/>
                                        </p:tgtEl>
                                        <p:attrNameLst>
                                          <p:attrName>fill.type</p:attrName>
                                        </p:attrNameLst>
                                      </p:cBhvr>
                                      <p:to>
                                        <p:strVal val="solid"/>
                                      </p:to>
                                    </p:set>
                                    <p:set>
                                      <p:cBhvr>
                                        <p:cTn id="8" dur="2000" fill="hold"/>
                                        <p:tgtEl>
                                          <p:spTgt spid="36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363" name="Google Shape;363;p28"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64" name="Google Shape;364;p28" descr="image.png"/>
          <p:cNvPicPr preferRelativeResize="0"/>
          <p:nvPr/>
        </p:nvPicPr>
        <p:blipFill rotWithShape="1">
          <a:blip r:embed="rId2"/>
          <a:srcRect/>
          <a:stretch>
            <a:fillRect/>
          </a:stretch>
        </p:blipFill>
        <p:spPr>
          <a:xfrm>
            <a:off x="571500" y="6871989"/>
            <a:ext cx="11049000" cy="838200"/>
          </a:xfrm>
          <a:prstGeom prst="rect">
            <a:avLst/>
          </a:prstGeom>
          <a:noFill/>
          <a:ln>
            <a:noFill/>
          </a:ln>
        </p:spPr>
      </p:pic>
      <p:sp>
        <p:nvSpPr>
          <p:cNvPr id="365" name="Google Shape;365;p28"/>
          <p:cNvSpPr txBox="1"/>
          <p:nvPr/>
        </p:nvSpPr>
        <p:spPr>
          <a:xfrm>
            <a:off x="571500" y="1792886"/>
            <a:ext cx="11049000" cy="443198"/>
          </a:xfrm>
          <a:prstGeom prst="rect">
            <a:avLst/>
          </a:prstGeom>
          <a:noFill/>
          <a:ln>
            <a:noFill/>
          </a:ln>
        </p:spPr>
        <p:txBody>
          <a:bodyPr spcFirstLastPara="1" wrap="square" lIns="0" tIns="0" rIns="0" bIns="0" anchor="t" anchorCtr="0">
            <a:spAutoFit/>
          </a:bodyPr>
          <a:lstStyle/>
          <a:p>
            <a:pPr lvl="0">
              <a:lnSpc>
                <a:spcPct val="160000"/>
              </a:lnSpc>
            </a:pPr>
            <a:r>
              <a:rPr lang="en-US" sz="1800" dirty="0">
                <a:solidFill>
                  <a:srgbClr val="CBD5E1"/>
                </a:solidFill>
                <a:latin typeface="Inter" panose="02000503000000020004"/>
                <a:ea typeface="Inter" panose="02000503000000020004"/>
                <a:cs typeface="Inter" panose="02000503000000020004"/>
                <a:sym typeface="Inter" panose="02000503000000020004"/>
              </a:rPr>
              <a:t>Which AI model is commonly used for image classification?</a:t>
            </a:r>
            <a:endParaRPr lang="en-US" dirty="0"/>
          </a:p>
        </p:txBody>
      </p:sp>
      <p:sp>
        <p:nvSpPr>
          <p:cNvPr id="366" name="Google Shape;366;p28"/>
          <p:cNvSpPr txBox="1"/>
          <p:nvPr/>
        </p:nvSpPr>
        <p:spPr>
          <a:xfrm>
            <a:off x="5262562" y="7129164"/>
            <a:ext cx="386715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B) High Variance (Overfitting)</a:t>
            </a:r>
            <a:endParaRPr lang="en-US" sz="2100" b="0" i="0" u="none" strike="noStrike" cap="none">
              <a:solidFill>
                <a:srgbClr val="FEF08A"/>
              </a:solidFill>
              <a:latin typeface="Inter Black"/>
              <a:ea typeface="Inter Black"/>
              <a:cs typeface="Inter Black"/>
              <a:sym typeface="Inter Black"/>
            </a:endParaRPr>
          </a:p>
        </p:txBody>
      </p:sp>
      <p:sp>
        <p:nvSpPr>
          <p:cNvPr id="367" name="Google Shape;367;p28"/>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8" name="Google Shape;368;p28"/>
          <p:cNvSpPr txBox="1"/>
          <p:nvPr/>
        </p:nvSpPr>
        <p:spPr>
          <a:xfrm>
            <a:off x="1600200" y="3008343"/>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CNN (Convolutional Neural Network)</a:t>
            </a:r>
            <a:endParaRPr dirty="0"/>
          </a:p>
        </p:txBody>
      </p:sp>
      <p:sp>
        <p:nvSpPr>
          <p:cNvPr id="369" name="Google Shape;369;p28"/>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0" name="Google Shape;370;p28"/>
          <p:cNvSpPr txBox="1"/>
          <p:nvPr/>
        </p:nvSpPr>
        <p:spPr>
          <a:xfrm>
            <a:off x="1600200" y="3916938"/>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a:t>
            </a:r>
            <a:r>
              <a:rPr lang="en-US" sz="1800" dirty="0">
                <a:solidFill>
                  <a:srgbClr val="CBD5E1"/>
                </a:solidFill>
                <a:latin typeface="Inter" panose="02000503000000020004"/>
                <a:ea typeface="Inter" panose="02000503000000020004"/>
                <a:cs typeface="Inter" panose="02000503000000020004"/>
                <a:sym typeface="Inter" panose="02000503000000020004"/>
              </a:rPr>
              <a:t> Random Forest</a:t>
            </a:r>
            <a:endParaRPr dirty="0"/>
          </a:p>
        </p:txBody>
      </p:sp>
      <p:sp>
        <p:nvSpPr>
          <p:cNvPr id="371" name="Google Shape;371;p28"/>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2" name="Google Shape;372;p28"/>
          <p:cNvSpPr txBox="1"/>
          <p:nvPr/>
        </p:nvSpPr>
        <p:spPr>
          <a:xfrm>
            <a:off x="1600200" y="4825534"/>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RNN (Recursive Neural Network)</a:t>
            </a:r>
            <a:endParaRPr dirty="0"/>
          </a:p>
        </p:txBody>
      </p:sp>
      <p:sp>
        <p:nvSpPr>
          <p:cNvPr id="373" name="Google Shape;373;p28"/>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4" name="Google Shape;374;p28"/>
          <p:cNvSpPr txBox="1"/>
          <p:nvPr/>
        </p:nvSpPr>
        <p:spPr>
          <a:xfrm>
            <a:off x="1600200" y="5734130"/>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DBSCAN</a:t>
            </a:r>
            <a:endParaRPr dirty="0"/>
          </a:p>
        </p:txBody>
      </p:sp>
      <p:sp>
        <p:nvSpPr>
          <p:cNvPr id="375" name="Google Shape;375;p28"/>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6" name="Google Shape;376;p28"/>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7" name="Google Shape;377;p28"/>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8" name="Google Shape;378;p28"/>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79" name="Google Shape;379;p28" descr="image.png"/>
          <p:cNvPicPr preferRelativeResize="0"/>
          <p:nvPr/>
        </p:nvPicPr>
        <p:blipFill rotWithShape="1">
          <a:blip r:embed="rId3"/>
          <a:srcRect/>
          <a:stretch>
            <a:fillRect/>
          </a:stretch>
        </p:blipFill>
        <p:spPr>
          <a:xfrm>
            <a:off x="1247775" y="3129855"/>
            <a:ext cx="171450" cy="200025"/>
          </a:xfrm>
          <a:prstGeom prst="rect">
            <a:avLst/>
          </a:prstGeom>
          <a:noFill/>
          <a:ln>
            <a:noFill/>
          </a:ln>
        </p:spPr>
      </p:pic>
      <p:pic>
        <p:nvPicPr>
          <p:cNvPr id="380" name="Google Shape;380;p28" descr="image.png"/>
          <p:cNvPicPr preferRelativeResize="0"/>
          <p:nvPr/>
        </p:nvPicPr>
        <p:blipFill rotWithShape="1">
          <a:blip r:embed="rId3"/>
          <a:srcRect/>
          <a:stretch>
            <a:fillRect/>
          </a:stretch>
        </p:blipFill>
        <p:spPr>
          <a:xfrm>
            <a:off x="1247775" y="4038451"/>
            <a:ext cx="171450" cy="200025"/>
          </a:xfrm>
          <a:prstGeom prst="rect">
            <a:avLst/>
          </a:prstGeom>
          <a:noFill/>
          <a:ln>
            <a:noFill/>
          </a:ln>
        </p:spPr>
      </p:pic>
      <p:pic>
        <p:nvPicPr>
          <p:cNvPr id="381" name="Google Shape;381;p28" descr="image.png"/>
          <p:cNvPicPr preferRelativeResize="0"/>
          <p:nvPr/>
        </p:nvPicPr>
        <p:blipFill rotWithShape="1">
          <a:blip r:embed="rId3"/>
          <a:srcRect/>
          <a:stretch>
            <a:fillRect/>
          </a:stretch>
        </p:blipFill>
        <p:spPr>
          <a:xfrm>
            <a:off x="1247775" y="4947046"/>
            <a:ext cx="171450" cy="200025"/>
          </a:xfrm>
          <a:prstGeom prst="rect">
            <a:avLst/>
          </a:prstGeom>
          <a:noFill/>
          <a:ln>
            <a:noFill/>
          </a:ln>
        </p:spPr>
      </p:pic>
      <p:pic>
        <p:nvPicPr>
          <p:cNvPr id="382" name="Google Shape;382;p28" descr="image.png"/>
          <p:cNvPicPr preferRelativeResize="0"/>
          <p:nvPr/>
        </p:nvPicPr>
        <p:blipFill rotWithShape="1">
          <a:blip r:embed="rId3"/>
          <a:srcRect/>
          <a:stretch>
            <a:fillRect/>
          </a:stretch>
        </p:blipFill>
        <p:spPr>
          <a:xfrm>
            <a:off x="1247775" y="5855642"/>
            <a:ext cx="171450" cy="200025"/>
          </a:xfrm>
          <a:prstGeom prst="rect">
            <a:avLst/>
          </a:prstGeom>
          <a:noFill/>
          <a:ln>
            <a:noFill/>
          </a:ln>
        </p:spPr>
      </p:pic>
      <p:sp>
        <p:nvSpPr>
          <p:cNvPr id="383" name="Google Shape;383;p28"/>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dirty="0">
                <a:solidFill>
                  <a:srgbClr val="38BDF8"/>
                </a:solidFill>
                <a:latin typeface="Inter" panose="02000503000000020004"/>
                <a:ea typeface="Inter" panose="02000503000000020004"/>
                <a:cs typeface="Inter" panose="02000503000000020004"/>
                <a:sym typeface="Inter" panose="02000503000000020004"/>
              </a:rPr>
              <a:t>IMAGE PROCESSING</a:t>
            </a:r>
            <a:endParaRPr dirty="0"/>
          </a:p>
        </p:txBody>
      </p:sp>
      <p:sp>
        <p:nvSpPr>
          <p:cNvPr id="384" name="Google Shape;384;p28"/>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67"/>
                                        </p:tgtEl>
                                        <p:attrNameLst>
                                          <p:attrName>fillcolor</p:attrName>
                                        </p:attrNameLst>
                                      </p:cBhvr>
                                      <p:to>
                                        <a:srgbClr val="00B050"/>
                                      </p:to>
                                    </p:animClr>
                                    <p:set>
                                      <p:cBhvr>
                                        <p:cTn id="7" dur="2000" fill="hold"/>
                                        <p:tgtEl>
                                          <p:spTgt spid="367"/>
                                        </p:tgtEl>
                                        <p:attrNameLst>
                                          <p:attrName>fill.type</p:attrName>
                                        </p:attrNameLst>
                                      </p:cBhvr>
                                      <p:to>
                                        <p:strVal val="solid"/>
                                      </p:to>
                                    </p:set>
                                    <p:set>
                                      <p:cBhvr>
                                        <p:cTn id="8" dur="2000" fill="hold"/>
                                        <p:tgtEl>
                                          <p:spTgt spid="36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363" name="Google Shape;363;p28"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364" name="Google Shape;364;p28" descr="image.png"/>
          <p:cNvPicPr preferRelativeResize="0"/>
          <p:nvPr/>
        </p:nvPicPr>
        <p:blipFill rotWithShape="1">
          <a:blip r:embed="rId2"/>
          <a:srcRect/>
          <a:stretch>
            <a:fillRect/>
          </a:stretch>
        </p:blipFill>
        <p:spPr>
          <a:xfrm>
            <a:off x="571500" y="6871989"/>
            <a:ext cx="11049000" cy="838200"/>
          </a:xfrm>
          <a:prstGeom prst="rect">
            <a:avLst/>
          </a:prstGeom>
          <a:noFill/>
          <a:ln>
            <a:noFill/>
          </a:ln>
        </p:spPr>
      </p:pic>
      <p:sp>
        <p:nvSpPr>
          <p:cNvPr id="365" name="Google Shape;365;p28"/>
          <p:cNvSpPr txBox="1"/>
          <p:nvPr/>
        </p:nvSpPr>
        <p:spPr>
          <a:xfrm>
            <a:off x="571500" y="1792886"/>
            <a:ext cx="11049000" cy="443198"/>
          </a:xfrm>
          <a:prstGeom prst="rect">
            <a:avLst/>
          </a:prstGeom>
          <a:noFill/>
          <a:ln>
            <a:noFill/>
          </a:ln>
        </p:spPr>
        <p:txBody>
          <a:bodyPr spcFirstLastPara="1" wrap="square" lIns="0" tIns="0" rIns="0" bIns="0" anchor="t" anchorCtr="0">
            <a:spAutoFit/>
          </a:bodyPr>
          <a:lstStyle/>
          <a:p>
            <a:pPr lvl="0">
              <a:lnSpc>
                <a:spcPct val="160000"/>
              </a:lnSpc>
            </a:pPr>
            <a:r>
              <a:rPr lang="en-US" sz="1800" dirty="0">
                <a:solidFill>
                  <a:srgbClr val="CBD5E1"/>
                </a:solidFill>
                <a:latin typeface="Inter" panose="02000503000000020004"/>
                <a:ea typeface="Inter" panose="02000503000000020004"/>
                <a:cs typeface="Inter" panose="02000503000000020004"/>
                <a:sym typeface="Inter" panose="02000503000000020004"/>
              </a:rPr>
              <a:t>Identify the ODD machine learning algorithm</a:t>
            </a:r>
            <a:endParaRPr lang="en-US" dirty="0"/>
          </a:p>
        </p:txBody>
      </p:sp>
      <p:sp>
        <p:nvSpPr>
          <p:cNvPr id="366" name="Google Shape;366;p28"/>
          <p:cNvSpPr txBox="1"/>
          <p:nvPr/>
        </p:nvSpPr>
        <p:spPr>
          <a:xfrm>
            <a:off x="5262562" y="7129164"/>
            <a:ext cx="3867150" cy="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EF08A"/>
                </a:solidFill>
                <a:latin typeface="Inter Black"/>
                <a:ea typeface="Inter Black"/>
                <a:cs typeface="Inter Black"/>
                <a:sym typeface="Inter Black"/>
              </a:rPr>
              <a:t>B) High Variance (Overfitting)</a:t>
            </a:r>
            <a:endParaRPr lang="en-US" sz="2100" b="0" i="0" u="none" strike="noStrike" cap="none">
              <a:solidFill>
                <a:srgbClr val="FEF08A"/>
              </a:solidFill>
              <a:latin typeface="Inter Black"/>
              <a:ea typeface="Inter Black"/>
              <a:cs typeface="Inter Black"/>
              <a:sym typeface="Inter Black"/>
            </a:endParaRPr>
          </a:p>
        </p:txBody>
      </p:sp>
      <p:sp>
        <p:nvSpPr>
          <p:cNvPr id="367" name="Google Shape;367;p28"/>
          <p:cNvSpPr/>
          <p:nvPr/>
        </p:nvSpPr>
        <p:spPr>
          <a:xfrm>
            <a:off x="952500" y="2847082"/>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8" name="Google Shape;368;p28"/>
          <p:cNvSpPr txBox="1"/>
          <p:nvPr/>
        </p:nvSpPr>
        <p:spPr>
          <a:xfrm>
            <a:off x="1600200" y="3008343"/>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A) K-Means Clustering</a:t>
            </a:r>
            <a:endParaRPr dirty="0"/>
          </a:p>
        </p:txBody>
      </p:sp>
      <p:sp>
        <p:nvSpPr>
          <p:cNvPr id="369" name="Google Shape;369;p28"/>
          <p:cNvSpPr/>
          <p:nvPr/>
        </p:nvSpPr>
        <p:spPr>
          <a:xfrm>
            <a:off x="952500" y="3755677"/>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0" name="Google Shape;370;p28"/>
          <p:cNvSpPr txBox="1"/>
          <p:nvPr/>
        </p:nvSpPr>
        <p:spPr>
          <a:xfrm>
            <a:off x="1600200" y="3916938"/>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B)</a:t>
            </a:r>
            <a:r>
              <a:rPr lang="en-US" sz="1800" dirty="0">
                <a:solidFill>
                  <a:srgbClr val="CBD5E1"/>
                </a:solidFill>
                <a:latin typeface="Inter" panose="02000503000000020004"/>
                <a:ea typeface="Inter" panose="02000503000000020004"/>
                <a:cs typeface="Inter" panose="02000503000000020004"/>
                <a:sym typeface="Inter" panose="02000503000000020004"/>
              </a:rPr>
              <a:t> Hierarchical Clustering</a:t>
            </a:r>
            <a:endParaRPr dirty="0"/>
          </a:p>
        </p:txBody>
      </p:sp>
      <p:sp>
        <p:nvSpPr>
          <p:cNvPr id="371" name="Google Shape;371;p28"/>
          <p:cNvSpPr/>
          <p:nvPr/>
        </p:nvSpPr>
        <p:spPr>
          <a:xfrm>
            <a:off x="952500" y="4664273"/>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2" name="Google Shape;372;p28"/>
          <p:cNvSpPr txBox="1"/>
          <p:nvPr/>
        </p:nvSpPr>
        <p:spPr>
          <a:xfrm>
            <a:off x="1600200" y="4825534"/>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C) Linear Regression</a:t>
            </a:r>
            <a:endParaRPr dirty="0"/>
          </a:p>
        </p:txBody>
      </p:sp>
      <p:sp>
        <p:nvSpPr>
          <p:cNvPr id="373" name="Google Shape;373;p28"/>
          <p:cNvSpPr/>
          <p:nvPr/>
        </p:nvSpPr>
        <p:spPr>
          <a:xfrm>
            <a:off x="952500" y="5572869"/>
            <a:ext cx="10668000" cy="765720"/>
          </a:xfrm>
          <a:prstGeom prst="roundRect">
            <a:avLst>
              <a:gd name="adj" fmla="val 9951"/>
            </a:avLst>
          </a:prstGeom>
          <a:solidFill>
            <a:srgbClr val="334155"/>
          </a:solidFill>
          <a:ln w="9525" cap="flat" cmpd="sng">
            <a:solidFill>
              <a:srgbClr val="94A3B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4" name="Google Shape;374;p28"/>
          <p:cNvSpPr txBox="1"/>
          <p:nvPr/>
        </p:nvSpPr>
        <p:spPr>
          <a:xfrm>
            <a:off x="1600200" y="5734130"/>
            <a:ext cx="9734550" cy="443198"/>
          </a:xfrm>
          <a:prstGeom prst="rect">
            <a:avLst/>
          </a:prstGeom>
          <a:noFill/>
          <a:ln>
            <a:noFill/>
          </a:ln>
        </p:spPr>
        <p:txBody>
          <a:bodyPr spcFirstLastPara="1" wrap="square" lIns="0" tIns="0" rIns="0" bIns="0" anchor="ctr" anchorCtr="0">
            <a:spAutoFit/>
          </a:bodyPr>
          <a:lstStyle/>
          <a:p>
            <a:pPr marL="0" marR="0" lvl="0" indent="0" algn="l" rtl="0">
              <a:lnSpc>
                <a:spcPct val="160000"/>
              </a:lnSpc>
              <a:spcBef>
                <a:spcPts val="0"/>
              </a:spcBef>
              <a:spcAft>
                <a:spcPts val="0"/>
              </a:spcAft>
              <a:buNone/>
            </a:pPr>
            <a:r>
              <a:rPr lang="en-US" sz="1800" b="0" i="0" u="none" strike="noStrike" cap="none" dirty="0">
                <a:solidFill>
                  <a:srgbClr val="CBD5E1"/>
                </a:solidFill>
                <a:latin typeface="Inter" panose="02000503000000020004"/>
                <a:ea typeface="Inter" panose="02000503000000020004"/>
                <a:cs typeface="Inter" panose="02000503000000020004"/>
                <a:sym typeface="Inter" panose="02000503000000020004"/>
              </a:rPr>
              <a:t>D) DBSCAN</a:t>
            </a:r>
            <a:endParaRPr dirty="0"/>
          </a:p>
        </p:txBody>
      </p:sp>
      <p:sp>
        <p:nvSpPr>
          <p:cNvPr id="375" name="Google Shape;375;p28"/>
          <p:cNvSpPr/>
          <p:nvPr/>
        </p:nvSpPr>
        <p:spPr>
          <a:xfrm>
            <a:off x="952500" y="3603277"/>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6" name="Google Shape;376;p28"/>
          <p:cNvSpPr/>
          <p:nvPr/>
        </p:nvSpPr>
        <p:spPr>
          <a:xfrm>
            <a:off x="952500" y="4511873"/>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7" name="Google Shape;377;p28"/>
          <p:cNvSpPr/>
          <p:nvPr/>
        </p:nvSpPr>
        <p:spPr>
          <a:xfrm>
            <a:off x="952500" y="5420469"/>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8" name="Google Shape;378;p28"/>
          <p:cNvSpPr/>
          <p:nvPr/>
        </p:nvSpPr>
        <p:spPr>
          <a:xfrm>
            <a:off x="952500" y="6329064"/>
            <a:ext cx="10668000" cy="9525"/>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79" name="Google Shape;379;p28" descr="image.png"/>
          <p:cNvPicPr preferRelativeResize="0"/>
          <p:nvPr/>
        </p:nvPicPr>
        <p:blipFill rotWithShape="1">
          <a:blip r:embed="rId3"/>
          <a:srcRect/>
          <a:stretch>
            <a:fillRect/>
          </a:stretch>
        </p:blipFill>
        <p:spPr>
          <a:xfrm>
            <a:off x="1247775" y="3129855"/>
            <a:ext cx="171450" cy="200025"/>
          </a:xfrm>
          <a:prstGeom prst="rect">
            <a:avLst/>
          </a:prstGeom>
          <a:noFill/>
          <a:ln>
            <a:noFill/>
          </a:ln>
        </p:spPr>
      </p:pic>
      <p:pic>
        <p:nvPicPr>
          <p:cNvPr id="380" name="Google Shape;380;p28" descr="image.png"/>
          <p:cNvPicPr preferRelativeResize="0"/>
          <p:nvPr/>
        </p:nvPicPr>
        <p:blipFill rotWithShape="1">
          <a:blip r:embed="rId3"/>
          <a:srcRect/>
          <a:stretch>
            <a:fillRect/>
          </a:stretch>
        </p:blipFill>
        <p:spPr>
          <a:xfrm>
            <a:off x="1247775" y="4038451"/>
            <a:ext cx="171450" cy="200025"/>
          </a:xfrm>
          <a:prstGeom prst="rect">
            <a:avLst/>
          </a:prstGeom>
          <a:noFill/>
          <a:ln>
            <a:noFill/>
          </a:ln>
        </p:spPr>
      </p:pic>
      <p:pic>
        <p:nvPicPr>
          <p:cNvPr id="381" name="Google Shape;381;p28" descr="image.png"/>
          <p:cNvPicPr preferRelativeResize="0"/>
          <p:nvPr/>
        </p:nvPicPr>
        <p:blipFill rotWithShape="1">
          <a:blip r:embed="rId3"/>
          <a:srcRect/>
          <a:stretch>
            <a:fillRect/>
          </a:stretch>
        </p:blipFill>
        <p:spPr>
          <a:xfrm>
            <a:off x="1247775" y="4947046"/>
            <a:ext cx="171450" cy="200025"/>
          </a:xfrm>
          <a:prstGeom prst="rect">
            <a:avLst/>
          </a:prstGeom>
          <a:noFill/>
          <a:ln>
            <a:noFill/>
          </a:ln>
        </p:spPr>
      </p:pic>
      <p:pic>
        <p:nvPicPr>
          <p:cNvPr id="382" name="Google Shape;382;p28" descr="image.png"/>
          <p:cNvPicPr preferRelativeResize="0"/>
          <p:nvPr/>
        </p:nvPicPr>
        <p:blipFill rotWithShape="1">
          <a:blip r:embed="rId3"/>
          <a:srcRect/>
          <a:stretch>
            <a:fillRect/>
          </a:stretch>
        </p:blipFill>
        <p:spPr>
          <a:xfrm>
            <a:off x="1247775" y="5855642"/>
            <a:ext cx="171450" cy="200025"/>
          </a:xfrm>
          <a:prstGeom prst="rect">
            <a:avLst/>
          </a:prstGeom>
          <a:noFill/>
          <a:ln>
            <a:noFill/>
          </a:ln>
        </p:spPr>
      </p:pic>
      <p:sp>
        <p:nvSpPr>
          <p:cNvPr id="383" name="Google Shape;383;p28"/>
          <p:cNvSpPr txBox="1"/>
          <p:nvPr/>
        </p:nvSpPr>
        <p:spPr>
          <a:xfrm>
            <a:off x="800100" y="919311"/>
            <a:ext cx="11361420" cy="5078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dirty="0">
                <a:solidFill>
                  <a:srgbClr val="38BDF8"/>
                </a:solidFill>
                <a:latin typeface="Inter" panose="02000503000000020004"/>
                <a:ea typeface="Inter" panose="02000503000000020004"/>
                <a:sym typeface="Inter" panose="02000503000000020004"/>
              </a:rPr>
              <a:t>ALGORITHMS</a:t>
            </a:r>
            <a:endParaRPr dirty="0"/>
          </a:p>
        </p:txBody>
      </p:sp>
      <p:sp>
        <p:nvSpPr>
          <p:cNvPr id="384" name="Google Shape;384;p28"/>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371"/>
                                        </p:tgtEl>
                                        <p:attrNameLst>
                                          <p:attrName>fillcolor</p:attrName>
                                        </p:attrNameLst>
                                      </p:cBhvr>
                                      <p:to>
                                        <a:srgbClr val="00B050"/>
                                      </p:to>
                                    </p:animClr>
                                    <p:set>
                                      <p:cBhvr>
                                        <p:cTn id="7" dur="2000" fill="hold"/>
                                        <p:tgtEl>
                                          <p:spTgt spid="371"/>
                                        </p:tgtEl>
                                        <p:attrNameLst>
                                          <p:attrName>fill.type</p:attrName>
                                        </p:attrNameLst>
                                      </p:cBhvr>
                                      <p:to>
                                        <p:strVal val="solid"/>
                                      </p:to>
                                    </p:set>
                                    <p:set>
                                      <p:cBhvr>
                                        <p:cTn id="8" dur="2000" fill="hold"/>
                                        <p:tgtEl>
                                          <p:spTgt spid="37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388"/>
        <p:cNvGrpSpPr/>
        <p:nvPr/>
      </p:nvGrpSpPr>
      <p:grpSpPr>
        <a:xfrm>
          <a:off x="0" y="0"/>
          <a:ext cx="0" cy="0"/>
          <a:chOff x="0" y="0"/>
          <a:chExt cx="0" cy="0"/>
        </a:xfrm>
      </p:grpSpPr>
      <p:pic>
        <p:nvPicPr>
          <p:cNvPr id="389" name="Google Shape;389;p2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390" name="Google Shape;390;p29"/>
          <p:cNvSpPr txBox="1"/>
          <p:nvPr/>
        </p:nvSpPr>
        <p:spPr>
          <a:xfrm>
            <a:off x="5195887" y="2151757"/>
            <a:ext cx="1800225" cy="3714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1" i="0" u="none" strike="noStrike" cap="none">
                <a:solidFill>
                  <a:srgbClr val="38BDF8"/>
                </a:solidFill>
                <a:latin typeface="Inter" panose="02000503000000020004"/>
                <a:ea typeface="Inter" panose="02000503000000020004"/>
                <a:cs typeface="Inter" panose="02000503000000020004"/>
                <a:sym typeface="Inter" panose="02000503000000020004"/>
              </a:rPr>
              <a:t>End of Quiz</a:t>
            </a:r>
            <a:endParaRPr lang="en-US" sz="2400" b="1" i="0" u="none" strike="noStrike" cap="none">
              <a:solidFill>
                <a:srgbClr val="38BDF8"/>
              </a:solidFill>
              <a:latin typeface="Inter" panose="02000503000000020004"/>
              <a:ea typeface="Inter" panose="02000503000000020004"/>
              <a:cs typeface="Inter" panose="02000503000000020004"/>
              <a:sym typeface="Inter" panose="02000503000000020004"/>
            </a:endParaRPr>
          </a:p>
        </p:txBody>
      </p:sp>
      <p:sp>
        <p:nvSpPr>
          <p:cNvPr id="391" name="Google Shape;391;p29"/>
          <p:cNvSpPr txBox="1"/>
          <p:nvPr/>
        </p:nvSpPr>
        <p:spPr>
          <a:xfrm>
            <a:off x="4105275" y="3032224"/>
            <a:ext cx="3981450" cy="4875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400" b="0" i="0" u="none" strike="noStrike" cap="none">
                <a:solidFill>
                  <a:srgbClr val="F8FAFC"/>
                </a:solidFill>
                <a:latin typeface="Inter" panose="02000503000000020004"/>
                <a:ea typeface="Inter" panose="02000503000000020004"/>
                <a:cs typeface="Inter" panose="02000503000000020004"/>
                <a:sym typeface="Inter" panose="02000503000000020004"/>
              </a:rPr>
              <a:t>Good luck with your exams!</a:t>
            </a:r>
            <a:endParaRPr lang="en-US" sz="2400" b="0" i="0" u="none" strike="noStrike" cap="none">
              <a:solidFill>
                <a:srgbClr val="F8FAFC"/>
              </a:solidFill>
              <a:latin typeface="Inter" panose="02000503000000020004"/>
              <a:ea typeface="Inter" panose="02000503000000020004"/>
              <a:cs typeface="Inter" panose="02000503000000020004"/>
              <a:sym typeface="Inter" panose="02000503000000020004"/>
            </a:endParaRPr>
          </a:p>
        </p:txBody>
      </p:sp>
      <p:sp>
        <p:nvSpPr>
          <p:cNvPr id="392" name="Google Shape;392;p29"/>
          <p:cNvSpPr/>
          <p:nvPr/>
        </p:nvSpPr>
        <p:spPr>
          <a:xfrm>
            <a:off x="5381625" y="4110335"/>
            <a:ext cx="1428750" cy="76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Shape 397"/>
        <p:cNvGrpSpPr/>
        <p:nvPr/>
      </p:nvGrpSpPr>
      <p:grpSpPr>
        <a:xfrm>
          <a:off x="0" y="0"/>
          <a:ext cx="0" cy="0"/>
          <a:chOff x="0" y="0"/>
          <a:chExt cx="0" cy="0"/>
        </a:xfrm>
      </p:grpSpPr>
      <p:pic>
        <p:nvPicPr>
          <p:cNvPr id="398" name="Google Shape;398;p30"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399" name="Google Shape;399;p30"/>
          <p:cNvSpPr/>
          <p:nvPr/>
        </p:nvSpPr>
        <p:spPr>
          <a:xfrm>
            <a:off x="571500" y="2287637"/>
            <a:ext cx="11049000" cy="9828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0" name="Google Shape;400;p30"/>
          <p:cNvSpPr/>
          <p:nvPr/>
        </p:nvSpPr>
        <p:spPr>
          <a:xfrm>
            <a:off x="571500" y="3270498"/>
            <a:ext cx="11049000" cy="9828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1" name="Google Shape;401;p30"/>
          <p:cNvSpPr/>
          <p:nvPr/>
        </p:nvSpPr>
        <p:spPr>
          <a:xfrm>
            <a:off x="571500" y="4253358"/>
            <a:ext cx="11049000" cy="78477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2" name="Google Shape;402;p30"/>
          <p:cNvSpPr/>
          <p:nvPr/>
        </p:nvSpPr>
        <p:spPr>
          <a:xfrm>
            <a:off x="571500" y="3260973"/>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3" name="Google Shape;403;p30"/>
          <p:cNvSpPr/>
          <p:nvPr/>
        </p:nvSpPr>
        <p:spPr>
          <a:xfrm>
            <a:off x="571500" y="3260973"/>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4" name="Google Shape;404;p30"/>
          <p:cNvSpPr/>
          <p:nvPr/>
        </p:nvSpPr>
        <p:spPr>
          <a:xfrm>
            <a:off x="571500" y="4243833"/>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5" name="Google Shape;405;p30"/>
          <p:cNvSpPr/>
          <p:nvPr/>
        </p:nvSpPr>
        <p:spPr>
          <a:xfrm>
            <a:off x="571500" y="4243833"/>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6" name="Google Shape;406;p30"/>
          <p:cNvSpPr/>
          <p:nvPr/>
        </p:nvSpPr>
        <p:spPr>
          <a:xfrm>
            <a:off x="571500" y="5028604"/>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7" name="Google Shape;407;p30"/>
          <p:cNvSpPr/>
          <p:nvPr/>
        </p:nvSpPr>
        <p:spPr>
          <a:xfrm>
            <a:off x="571500" y="5028604"/>
            <a:ext cx="1104900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08" name="Google Shape;408;p30" descr="image.png"/>
          <p:cNvPicPr preferRelativeResize="0"/>
          <p:nvPr/>
        </p:nvPicPr>
        <p:blipFill rotWithShape="1">
          <a:blip r:embed="rId2"/>
          <a:srcRect/>
          <a:stretch>
            <a:fillRect/>
          </a:stretch>
        </p:blipFill>
        <p:spPr>
          <a:xfrm>
            <a:off x="571500" y="2536180"/>
            <a:ext cx="857250" cy="476250"/>
          </a:xfrm>
          <a:prstGeom prst="rect">
            <a:avLst/>
          </a:prstGeom>
          <a:noFill/>
          <a:ln>
            <a:noFill/>
          </a:ln>
        </p:spPr>
      </p:pic>
      <p:sp>
        <p:nvSpPr>
          <p:cNvPr id="409" name="Google Shape;409;p30"/>
          <p:cNvSpPr txBox="1"/>
          <p:nvPr/>
        </p:nvSpPr>
        <p:spPr>
          <a:xfrm>
            <a:off x="1666875" y="2430512"/>
            <a:ext cx="9953625" cy="3961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CBD5E1"/>
                </a:solidFill>
                <a:latin typeface="Inter" panose="02000503000000020004"/>
                <a:ea typeface="Inter" panose="02000503000000020004"/>
                <a:cs typeface="Inter" panose="02000503000000020004"/>
                <a:sym typeface="Inter" panose="02000503000000020004"/>
              </a:rPr>
              <a:t>https://static.vecteezy.com/system/resources/previews/000/543/895/non_2x/vector-blue-technology-circle-and-computer-science-abstract-background-with-blue-and-white-line-dot-business-and-connection-concept-futuristic-and-industry-4-0-concept-internet-cyber-and-network-theme.jpg</a:t>
            </a:r>
            <a:endParaRPr lang="en-US" sz="975"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410" name="Google Shape;410;p30"/>
          <p:cNvSpPr txBox="1"/>
          <p:nvPr/>
        </p:nvSpPr>
        <p:spPr>
          <a:xfrm>
            <a:off x="1666875" y="2874317"/>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panose="02000503000000020004"/>
                <a:ea typeface="Inter" panose="02000503000000020004"/>
                <a:cs typeface="Inter" panose="02000503000000020004"/>
                <a:sym typeface="Inter" panose="02000503000000020004"/>
              </a:rPr>
              <a:t>Source: </a:t>
            </a:r>
            <a:r>
              <a:rPr lang="en-US" sz="1200" b="0" i="0" u="none" strike="noStrike" cap="none">
                <a:solidFill>
                  <a:srgbClr val="4F46E5"/>
                </a:solidFill>
                <a:latin typeface="Inter" panose="02000503000000020004"/>
                <a:ea typeface="Inter" panose="02000503000000020004"/>
                <a:cs typeface="Inter" panose="02000503000000020004"/>
                <a:sym typeface="Inter" panose="02000503000000020004"/>
              </a:rPr>
              <a:t>www.vecteezy.com</a:t>
            </a:r>
            <a:endParaRPr lang="en-US" sz="1200" b="0" i="0" u="none" strike="noStrike" cap="none">
              <a:solidFill>
                <a:srgbClr val="4F46E5"/>
              </a:solidFill>
              <a:latin typeface="Inter" panose="02000503000000020004"/>
              <a:ea typeface="Inter" panose="02000503000000020004"/>
              <a:cs typeface="Inter" panose="02000503000000020004"/>
              <a:sym typeface="Inter" panose="02000503000000020004"/>
            </a:endParaRPr>
          </a:p>
        </p:txBody>
      </p:sp>
      <p:pic>
        <p:nvPicPr>
          <p:cNvPr id="411" name="Google Shape;411;p30" descr="image.png"/>
          <p:cNvPicPr preferRelativeResize="0"/>
          <p:nvPr/>
        </p:nvPicPr>
        <p:blipFill rotWithShape="1">
          <a:blip r:embed="rId3"/>
          <a:srcRect/>
          <a:stretch>
            <a:fillRect/>
          </a:stretch>
        </p:blipFill>
        <p:spPr>
          <a:xfrm>
            <a:off x="571500" y="3519041"/>
            <a:ext cx="857250" cy="476250"/>
          </a:xfrm>
          <a:prstGeom prst="rect">
            <a:avLst/>
          </a:prstGeom>
          <a:noFill/>
          <a:ln>
            <a:noFill/>
          </a:ln>
        </p:spPr>
      </p:pic>
      <p:sp>
        <p:nvSpPr>
          <p:cNvPr id="412" name="Google Shape;412;p30"/>
          <p:cNvSpPr txBox="1"/>
          <p:nvPr/>
        </p:nvSpPr>
        <p:spPr>
          <a:xfrm>
            <a:off x="1666875" y="3413373"/>
            <a:ext cx="9953625" cy="3961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CBD5E1"/>
                </a:solidFill>
                <a:latin typeface="Inter" panose="02000503000000020004"/>
                <a:ea typeface="Inter" panose="02000503000000020004"/>
                <a:cs typeface="Inter" panose="02000503000000020004"/>
                <a:sym typeface="Inter" panose="02000503000000020004"/>
              </a:rPr>
              <a:t>https://media2.dev.to/dynamic/image/width=1600,height=900,fit=cover,gravity=auto,format=auto/https%3A%2F%2Fdev-to-uploads.s3.amazonaws.com%2Fuploads%2Farticles%2Fwfowzrp8y8lzuxiacft4.png</a:t>
            </a:r>
            <a:endParaRPr lang="en-US" sz="975"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413" name="Google Shape;413;p30"/>
          <p:cNvSpPr txBox="1"/>
          <p:nvPr/>
        </p:nvSpPr>
        <p:spPr>
          <a:xfrm>
            <a:off x="1666875" y="3857178"/>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panose="02000503000000020004"/>
                <a:ea typeface="Inter" panose="02000503000000020004"/>
                <a:cs typeface="Inter" panose="02000503000000020004"/>
                <a:sym typeface="Inter" panose="02000503000000020004"/>
              </a:rPr>
              <a:t>Source: </a:t>
            </a:r>
            <a:r>
              <a:rPr lang="en-US" sz="1200" b="0" i="0" u="none" strike="noStrike" cap="none">
                <a:solidFill>
                  <a:srgbClr val="4F46E5"/>
                </a:solidFill>
                <a:latin typeface="Inter" panose="02000503000000020004"/>
                <a:ea typeface="Inter" panose="02000503000000020004"/>
                <a:cs typeface="Inter" panose="02000503000000020004"/>
                <a:sym typeface="Inter" panose="02000503000000020004"/>
              </a:rPr>
              <a:t>dev.to</a:t>
            </a:r>
            <a:endParaRPr lang="en-US" sz="1200" b="0" i="0" u="none" strike="noStrike" cap="none">
              <a:solidFill>
                <a:srgbClr val="4F46E5"/>
              </a:solidFill>
              <a:latin typeface="Inter" panose="02000503000000020004"/>
              <a:ea typeface="Inter" panose="02000503000000020004"/>
              <a:cs typeface="Inter" panose="02000503000000020004"/>
              <a:sym typeface="Inter" panose="02000503000000020004"/>
            </a:endParaRPr>
          </a:p>
        </p:txBody>
      </p:sp>
      <p:sp>
        <p:nvSpPr>
          <p:cNvPr id="415" name="Google Shape;415;p30"/>
          <p:cNvSpPr txBox="1"/>
          <p:nvPr/>
        </p:nvSpPr>
        <p:spPr>
          <a:xfrm>
            <a:off x="1666875" y="4396233"/>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CBD5E1"/>
                </a:solidFill>
                <a:latin typeface="Inter" panose="02000503000000020004"/>
                <a:ea typeface="Inter" panose="02000503000000020004"/>
                <a:cs typeface="Inter" panose="02000503000000020004"/>
                <a:sym typeface="Inter" panose="02000503000000020004"/>
              </a:rPr>
              <a:t>https://www.supermicro.com/sites/default/files/content_resources/static_resources/glossary/glossary_data-center-architecture-diagram.png</a:t>
            </a:r>
            <a:endParaRPr lang="en-US" sz="975"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416" name="Google Shape;416;p30"/>
          <p:cNvSpPr txBox="1"/>
          <p:nvPr/>
        </p:nvSpPr>
        <p:spPr>
          <a:xfrm>
            <a:off x="1666875" y="4641949"/>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panose="02000503000000020004"/>
                <a:ea typeface="Inter" panose="02000503000000020004"/>
                <a:cs typeface="Inter" panose="02000503000000020004"/>
                <a:sym typeface="Inter" panose="02000503000000020004"/>
              </a:rPr>
              <a:t>Source: </a:t>
            </a:r>
            <a:r>
              <a:rPr lang="en-US" sz="1200" b="0" i="0" u="none" strike="noStrike" cap="none">
                <a:solidFill>
                  <a:srgbClr val="4F46E5"/>
                </a:solidFill>
                <a:latin typeface="Inter" panose="02000503000000020004"/>
                <a:ea typeface="Inter" panose="02000503000000020004"/>
                <a:cs typeface="Inter" panose="02000503000000020004"/>
                <a:sym typeface="Inter" panose="02000503000000020004"/>
              </a:rPr>
              <a:t>www.supermicro.com</a:t>
            </a:r>
            <a:endParaRPr lang="en-US" sz="1200" b="0" i="0" u="none" strike="noStrike" cap="none">
              <a:solidFill>
                <a:srgbClr val="4F46E5"/>
              </a:solidFill>
              <a:latin typeface="Inter" panose="02000503000000020004"/>
              <a:ea typeface="Inter" panose="02000503000000020004"/>
              <a:cs typeface="Inter" panose="02000503000000020004"/>
              <a:sym typeface="Inter" panose="02000503000000020004"/>
            </a:endParaRPr>
          </a:p>
        </p:txBody>
      </p:sp>
      <p:sp>
        <p:nvSpPr>
          <p:cNvPr id="418" name="Google Shape;418;p30"/>
          <p:cNvSpPr txBox="1"/>
          <p:nvPr/>
        </p:nvSpPr>
        <p:spPr>
          <a:xfrm>
            <a:off x="1666875" y="5181004"/>
            <a:ext cx="9953625" cy="1980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975" b="0" i="0" u="none" strike="noStrike" cap="none">
                <a:solidFill>
                  <a:srgbClr val="CBD5E1"/>
                </a:solidFill>
                <a:latin typeface="Inter" panose="02000503000000020004"/>
                <a:ea typeface="Inter" panose="02000503000000020004"/>
                <a:cs typeface="Inter" panose="02000503000000020004"/>
                <a:sym typeface="Inter" panose="02000503000000020004"/>
              </a:rPr>
              <a:t>https://images.stockcake.com/public/0/f/a/0fa4ee75-c692-4435-aeb3-06305b82ad32_large/cosmic-ai-connections-stockcake.jpg</a:t>
            </a:r>
            <a:endParaRPr lang="en-US" sz="975" b="0" i="0" u="none" strike="noStrike" cap="none">
              <a:solidFill>
                <a:srgbClr val="CBD5E1"/>
              </a:solidFill>
              <a:latin typeface="Inter" panose="02000503000000020004"/>
              <a:ea typeface="Inter" panose="02000503000000020004"/>
              <a:cs typeface="Inter" panose="02000503000000020004"/>
              <a:sym typeface="Inter" panose="02000503000000020004"/>
            </a:endParaRPr>
          </a:p>
        </p:txBody>
      </p:sp>
      <p:sp>
        <p:nvSpPr>
          <p:cNvPr id="419" name="Google Shape;419;p30"/>
          <p:cNvSpPr txBox="1"/>
          <p:nvPr/>
        </p:nvSpPr>
        <p:spPr>
          <a:xfrm>
            <a:off x="1666875" y="5426719"/>
            <a:ext cx="9953625"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CBD5E1"/>
                </a:solidFill>
                <a:latin typeface="Inter" panose="02000503000000020004"/>
                <a:ea typeface="Inter" panose="02000503000000020004"/>
                <a:cs typeface="Inter" panose="02000503000000020004"/>
                <a:sym typeface="Inter" panose="02000503000000020004"/>
              </a:rPr>
              <a:t>Source: </a:t>
            </a:r>
            <a:r>
              <a:rPr lang="en-US" sz="1200" b="0" i="0" u="none" strike="noStrike" cap="none">
                <a:solidFill>
                  <a:srgbClr val="4F46E5"/>
                </a:solidFill>
                <a:latin typeface="Inter" panose="02000503000000020004"/>
                <a:ea typeface="Inter" panose="02000503000000020004"/>
                <a:cs typeface="Inter" panose="02000503000000020004"/>
                <a:sym typeface="Inter" panose="02000503000000020004"/>
              </a:rPr>
              <a:t>stockcake.com</a:t>
            </a:r>
            <a:endParaRPr lang="en-US" sz="1200" b="0" i="0" u="none" strike="noStrike" cap="none">
              <a:solidFill>
                <a:srgbClr val="4F46E5"/>
              </a:solidFill>
              <a:latin typeface="Inter" panose="02000503000000020004"/>
              <a:ea typeface="Inter" panose="02000503000000020004"/>
              <a:cs typeface="Inter" panose="02000503000000020004"/>
              <a:sym typeface="Inter" panose="02000503000000020004"/>
            </a:endParaRPr>
          </a:p>
        </p:txBody>
      </p:sp>
      <p:sp>
        <p:nvSpPr>
          <p:cNvPr id="420" name="Google Shape;420;p30"/>
          <p:cNvSpPr txBox="1"/>
          <p:nvPr/>
        </p:nvSpPr>
        <p:spPr>
          <a:xfrm>
            <a:off x="800100" y="919311"/>
            <a:ext cx="11361420" cy="514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rPr>
              <a:t>IMAGE SOURCES</a:t>
            </a:r>
            <a:endParaRPr lang="en-US" sz="3300" b="1" i="0" u="none" strike="noStrike" cap="none">
              <a:solidFill>
                <a:srgbClr val="38BDF8"/>
              </a:solidFill>
              <a:latin typeface="Inter" panose="02000503000000020004"/>
              <a:ea typeface="Inter" panose="02000503000000020004"/>
              <a:cs typeface="Inter" panose="02000503000000020004"/>
              <a:sym typeface="Inter" panose="02000503000000020004"/>
            </a:endParaRPr>
          </a:p>
        </p:txBody>
      </p:sp>
      <p:sp>
        <p:nvSpPr>
          <p:cNvPr id="421" name="Google Shape;421;p30"/>
          <p:cNvSpPr/>
          <p:nvPr/>
        </p:nvSpPr>
        <p:spPr>
          <a:xfrm>
            <a:off x="571500" y="919311"/>
            <a:ext cx="76200" cy="5143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6361</Words>
  <Application>WPS Presentation</Application>
  <PresentationFormat>Widescreen</PresentationFormat>
  <Paragraphs>374</Paragraphs>
  <Slides>34</Slides>
  <Notes>34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34</vt:i4>
      </vt:variant>
    </vt:vector>
  </HeadingPairs>
  <TitlesOfParts>
    <vt:vector size="47" baseType="lpstr">
      <vt:lpstr>Arial</vt:lpstr>
      <vt:lpstr>SimSun</vt:lpstr>
      <vt:lpstr>Wingdings</vt:lpstr>
      <vt:lpstr>Arial</vt:lpstr>
      <vt:lpstr>Calibri</vt:lpstr>
      <vt:lpstr>Helvetica Neue</vt:lpstr>
      <vt:lpstr>Inter</vt:lpstr>
      <vt:lpstr>Inter Black</vt:lpstr>
      <vt:lpstr>JetBrains Mono</vt:lpstr>
      <vt:lpstr>Microsoft YaHei</vt:lpstr>
      <vt:lpstr>汉仪旗黑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Brinda Dorairaj</cp:lastModifiedBy>
  <cp:revision>11</cp:revision>
  <dcterms:created xsi:type="dcterms:W3CDTF">2026-07-08T09:51:47Z</dcterms:created>
  <dcterms:modified xsi:type="dcterms:W3CDTF">2026-07-08T09:51:47Z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0EC2D2F90B9D08E5B31D4E6A71438401_42</vt:lpwstr>
  </property>
  <property fmtid="{D5CDD505-2E9C-101B-9397-08002B2CF9AE}" pid="3" name="KSOProductBuildVer">
    <vt:lpwstr>1033-12.1.26015.26015</vt:lpwstr>
  </property>
</Properties>
</file>