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6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Thinking in Geometry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What is the area of surface shaded in blue?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848225" y="1315085"/>
            <a:ext cx="7205345" cy="5245735"/>
          </a:xfrm>
        </p:spPr>
        <p:txBody>
          <a:bodyPr>
            <a:noAutofit/>
          </a:bodyPr>
          <a:p>
            <a:pPr marL="0" indent="0">
              <a:lnSpc>
                <a:spcPct val="90000"/>
              </a:lnSpc>
              <a:buNone/>
            </a:pPr>
            <a:r>
              <a:rPr lang="en-US" sz="2000"/>
              <a:t>Let length(rectangle) = x cm</a:t>
            </a:r>
            <a:endParaRPr lang="en-US" sz="2000"/>
          </a:p>
          <a:p>
            <a:pPr marL="0" indent="0">
              <a:lnSpc>
                <a:spcPct val="90000"/>
              </a:lnSpc>
              <a:buNone/>
            </a:pPr>
            <a:r>
              <a:rPr lang="en-US" sz="2000"/>
              <a:t>So, breadth = 4/x cm</a:t>
            </a:r>
            <a:endParaRPr lang="en-US" sz="2000"/>
          </a:p>
          <a:p>
            <a:pPr marL="0" indent="0">
              <a:lnSpc>
                <a:spcPct val="90000"/>
              </a:lnSpc>
              <a:buNone/>
            </a:pPr>
            <a:r>
              <a:rPr lang="en-US" sz="2000"/>
              <a:t>radius(green semi-circle) = (</a:t>
            </a:r>
            <a:r>
              <a:rPr lang="en-US" sz="2000">
                <a:latin typeface="Arial" panose="020B0604020202090204" pitchFamily="34" charset="0"/>
                <a:cs typeface="Arial" panose="020B0604020202090204" pitchFamily="34" charset="0"/>
              </a:rPr>
              <a:t>½)</a:t>
            </a:r>
            <a:r>
              <a:rPr lang="en-US" sz="2000"/>
              <a:t>x = x/2 cm</a:t>
            </a:r>
            <a:endParaRPr lang="en-US" sz="2000"/>
          </a:p>
          <a:p>
            <a:pPr marL="0" indent="0">
              <a:lnSpc>
                <a:spcPct val="90000"/>
              </a:lnSpc>
              <a:buNone/>
            </a:pPr>
            <a:r>
              <a:rPr lang="en-US" sz="2000"/>
              <a:t>radius(brown semi-circle) = </a:t>
            </a:r>
            <a:r>
              <a:rPr lang="en-US" sz="2000">
                <a:sym typeface="+mn-ea"/>
              </a:rPr>
              <a:t>(</a:t>
            </a:r>
            <a:r>
              <a:rPr lang="en-US" sz="20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½)</a:t>
            </a:r>
            <a:r>
              <a:rPr lang="en-US" sz="2000"/>
              <a:t>(4/x) = 2/x cm</a:t>
            </a:r>
            <a:endParaRPr lang="en-US" sz="2000"/>
          </a:p>
          <a:p>
            <a:pPr marL="0" indent="0">
              <a:lnSpc>
                <a:spcPct val="90000"/>
              </a:lnSpc>
              <a:buNone/>
            </a:pPr>
            <a:r>
              <a:rPr lang="en-US" sz="2000"/>
              <a:t>radius(blue semi-circle) = (x/2 + 2/x) cm</a:t>
            </a:r>
            <a:endParaRPr lang="en-US" sz="2000"/>
          </a:p>
          <a:p>
            <a:pPr marL="0" indent="0">
              <a:lnSpc>
                <a:spcPct val="90000"/>
              </a:lnSpc>
              <a:buNone/>
            </a:pPr>
            <a:r>
              <a:rPr lang="en-US" sz="2000"/>
              <a:t>Area(circle) = </a:t>
            </a:r>
            <a:r>
              <a:rPr lang="en-US" sz="2000">
                <a:latin typeface="Arial" panose="020B0604020202090204" pitchFamily="34" charset="0"/>
                <a:cs typeface="Arial" panose="020B0604020202090204" pitchFamily="34" charset="0"/>
              </a:rPr>
              <a:t>πr</a:t>
            </a:r>
            <a:r>
              <a:rPr lang="en-US" sz="2000" baseline="30000">
                <a:latin typeface="Arial" panose="020B0604020202090204" pitchFamily="34" charset="0"/>
                <a:cs typeface="Arial" panose="020B0604020202090204" pitchFamily="34" charset="0"/>
              </a:rPr>
              <a:t>2</a:t>
            </a:r>
            <a:endParaRPr lang="en-US" sz="2000"/>
          </a:p>
          <a:p>
            <a:pPr marL="0" indent="0">
              <a:lnSpc>
                <a:spcPct val="90000"/>
              </a:lnSpc>
              <a:buNone/>
            </a:pPr>
            <a:r>
              <a:rPr lang="en-US" sz="2000"/>
              <a:t>Area(semi-circle) = </a:t>
            </a:r>
            <a:r>
              <a:rPr lang="en-US" sz="2000">
                <a:sym typeface="+mn-ea"/>
              </a:rPr>
              <a:t>(</a:t>
            </a:r>
            <a:r>
              <a:rPr lang="en-US" sz="20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½)</a:t>
            </a:r>
            <a:r>
              <a:rPr lang="en-US" sz="20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πr</a:t>
            </a:r>
            <a:r>
              <a:rPr lang="en-US" sz="2000" baseline="300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2</a:t>
            </a:r>
            <a:r>
              <a:rPr lang="en-US" sz="20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 = (</a:t>
            </a:r>
            <a:r>
              <a:rPr lang="en-US" sz="20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π/2)r</a:t>
            </a:r>
            <a:r>
              <a:rPr lang="en-US" sz="2000" baseline="300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2</a:t>
            </a:r>
            <a:r>
              <a:rPr lang="en-US" sz="2000" baseline="300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 </a:t>
            </a:r>
            <a:endParaRPr lang="en-US" sz="2000"/>
          </a:p>
          <a:p>
            <a:pPr marL="0" indent="0">
              <a:lnSpc>
                <a:spcPct val="90000"/>
              </a:lnSpc>
              <a:buNone/>
            </a:pPr>
            <a:r>
              <a:rPr lang="en-US" sz="2000"/>
              <a:t>Area(blue shaded area) </a:t>
            </a:r>
            <a:endParaRPr lang="en-US" sz="2000"/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800"/>
              <a:t>= Area(blue semi-circle) - </a:t>
            </a:r>
            <a:endParaRPr lang="en-US" sz="1800"/>
          </a:p>
          <a:p>
            <a:pPr marL="457200" lvl="1" indent="457200">
              <a:lnSpc>
                <a:spcPct val="90000"/>
              </a:lnSpc>
              <a:buNone/>
            </a:pPr>
            <a:r>
              <a:rPr lang="en-US" sz="1800"/>
              <a:t>Area(green semi-cirle) - Area(brown semi-circle)</a:t>
            </a:r>
            <a:endParaRPr lang="en-US" sz="1800"/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800"/>
              <a:t>= </a:t>
            </a:r>
            <a:r>
              <a:rPr lang="en-US" sz="1800">
                <a:sym typeface="+mn-ea"/>
              </a:rPr>
              <a:t>(</a:t>
            </a:r>
            <a:r>
              <a:rPr lang="en-US" sz="18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π</a:t>
            </a:r>
            <a:r>
              <a:rPr lang="en-US" sz="1800">
                <a:sym typeface="+mn-ea"/>
              </a:rPr>
              <a:t>/2)(r</a:t>
            </a:r>
            <a:r>
              <a:rPr lang="en-US" sz="1800" baseline="-25000">
                <a:sym typeface="+mn-ea"/>
              </a:rPr>
              <a:t>blue</a:t>
            </a:r>
            <a:r>
              <a:rPr lang="en-US" sz="1800">
                <a:sym typeface="+mn-ea"/>
              </a:rPr>
              <a:t>)</a:t>
            </a:r>
            <a:r>
              <a:rPr lang="en-US" sz="1800" baseline="30000">
                <a:sym typeface="+mn-ea"/>
              </a:rPr>
              <a:t>2</a:t>
            </a:r>
            <a:r>
              <a:rPr lang="en-US" sz="1800">
                <a:sym typeface="+mn-ea"/>
              </a:rPr>
              <a:t> </a:t>
            </a:r>
            <a:r>
              <a:rPr lang="en-US" sz="1800">
                <a:sym typeface="+mn-ea"/>
              </a:rPr>
              <a:t>- (</a:t>
            </a:r>
            <a:r>
              <a:rPr lang="en-US" sz="18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π</a:t>
            </a:r>
            <a:r>
              <a:rPr lang="en-US" sz="1800">
                <a:sym typeface="+mn-ea"/>
              </a:rPr>
              <a:t>/2)(r</a:t>
            </a:r>
            <a:r>
              <a:rPr lang="en-US" sz="1800" baseline="-25000">
                <a:sym typeface="+mn-ea"/>
              </a:rPr>
              <a:t>green</a:t>
            </a:r>
            <a:r>
              <a:rPr lang="en-US" sz="1800">
                <a:sym typeface="+mn-ea"/>
              </a:rPr>
              <a:t>)</a:t>
            </a:r>
            <a:r>
              <a:rPr lang="en-US" sz="1800" baseline="30000">
                <a:sym typeface="+mn-ea"/>
              </a:rPr>
              <a:t>2</a:t>
            </a:r>
            <a:r>
              <a:rPr lang="en-US" sz="1800">
                <a:sym typeface="+mn-ea"/>
              </a:rPr>
              <a:t> - (</a:t>
            </a:r>
            <a:r>
              <a:rPr lang="en-US" sz="18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π</a:t>
            </a:r>
            <a:r>
              <a:rPr lang="en-US" sz="1800">
                <a:sym typeface="+mn-ea"/>
              </a:rPr>
              <a:t>/2)(r</a:t>
            </a:r>
            <a:r>
              <a:rPr lang="en-US" sz="1800" baseline="-25000">
                <a:sym typeface="+mn-ea"/>
              </a:rPr>
              <a:t>brown</a:t>
            </a:r>
            <a:r>
              <a:rPr lang="en-US" sz="1800">
                <a:sym typeface="+mn-ea"/>
              </a:rPr>
              <a:t>)</a:t>
            </a:r>
            <a:r>
              <a:rPr lang="en-US" sz="1800" baseline="30000">
                <a:sym typeface="+mn-ea"/>
              </a:rPr>
              <a:t>2</a:t>
            </a:r>
            <a:endParaRPr lang="en-US" sz="1800"/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800"/>
              <a:t>= (</a:t>
            </a:r>
            <a:r>
              <a:rPr lang="en-US" sz="18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π</a:t>
            </a:r>
            <a:r>
              <a:rPr lang="en-US" sz="1800"/>
              <a:t>/2) [(</a:t>
            </a:r>
            <a:r>
              <a:rPr lang="en-US" sz="1800">
                <a:sym typeface="+mn-ea"/>
              </a:rPr>
              <a:t>r</a:t>
            </a:r>
            <a:r>
              <a:rPr lang="en-US" sz="1800" baseline="-25000">
                <a:sym typeface="+mn-ea"/>
              </a:rPr>
              <a:t>blue</a:t>
            </a:r>
            <a:r>
              <a:rPr lang="en-US" sz="1800">
                <a:sym typeface="+mn-ea"/>
              </a:rPr>
              <a:t>)</a:t>
            </a:r>
            <a:r>
              <a:rPr lang="en-US" sz="1800" baseline="30000">
                <a:sym typeface="+mn-ea"/>
              </a:rPr>
              <a:t>2 </a:t>
            </a:r>
            <a:r>
              <a:rPr lang="en-US" sz="1800"/>
              <a:t>- </a:t>
            </a:r>
            <a:r>
              <a:rPr lang="en-US" sz="1800">
                <a:sym typeface="+mn-ea"/>
              </a:rPr>
              <a:t>(r</a:t>
            </a:r>
            <a:r>
              <a:rPr lang="en-US" sz="1800" baseline="-25000">
                <a:sym typeface="+mn-ea"/>
              </a:rPr>
              <a:t>green</a:t>
            </a:r>
            <a:r>
              <a:rPr lang="en-US" sz="1800">
                <a:sym typeface="+mn-ea"/>
              </a:rPr>
              <a:t>)</a:t>
            </a:r>
            <a:r>
              <a:rPr lang="en-US" sz="1800" baseline="30000">
                <a:sym typeface="+mn-ea"/>
              </a:rPr>
              <a:t>2</a:t>
            </a:r>
            <a:r>
              <a:rPr lang="en-US" sz="1800"/>
              <a:t> -</a:t>
            </a:r>
            <a:r>
              <a:rPr lang="en-US" sz="1800">
                <a:sym typeface="+mn-ea"/>
              </a:rPr>
              <a:t>(r</a:t>
            </a:r>
            <a:r>
              <a:rPr lang="en-US" sz="1800" baseline="-25000">
                <a:sym typeface="+mn-ea"/>
              </a:rPr>
              <a:t>brown</a:t>
            </a:r>
            <a:r>
              <a:rPr lang="en-US" sz="1800">
                <a:sym typeface="+mn-ea"/>
              </a:rPr>
              <a:t>)</a:t>
            </a:r>
            <a:r>
              <a:rPr lang="en-US" sz="1800" baseline="30000">
                <a:sym typeface="+mn-ea"/>
              </a:rPr>
              <a:t>2</a:t>
            </a:r>
            <a:r>
              <a:rPr lang="en-US" sz="1800">
                <a:sym typeface="+mn-ea"/>
              </a:rPr>
              <a:t>]</a:t>
            </a:r>
            <a:endParaRPr lang="en-US" sz="1800">
              <a:sym typeface="+mn-ea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800"/>
              <a:t>= </a:t>
            </a:r>
            <a:r>
              <a:rPr lang="en-US" sz="1800">
                <a:sym typeface="+mn-ea"/>
              </a:rPr>
              <a:t>(</a:t>
            </a:r>
            <a:r>
              <a:rPr lang="en-US" sz="18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π</a:t>
            </a:r>
            <a:r>
              <a:rPr lang="en-US" sz="1800">
                <a:sym typeface="+mn-ea"/>
              </a:rPr>
              <a:t>/2)</a:t>
            </a:r>
            <a:r>
              <a:rPr lang="en-US" sz="1800"/>
              <a:t> [(x/2 + 2/x)</a:t>
            </a:r>
            <a:r>
              <a:rPr lang="en-US" sz="1800" baseline="30000"/>
              <a:t>2</a:t>
            </a:r>
            <a:r>
              <a:rPr lang="en-US" sz="1800"/>
              <a:t> - (x/2)</a:t>
            </a:r>
            <a:r>
              <a:rPr lang="en-US" sz="1800" baseline="30000"/>
              <a:t>2</a:t>
            </a:r>
            <a:r>
              <a:rPr lang="en-US" sz="1800"/>
              <a:t> - (2/x)</a:t>
            </a:r>
            <a:r>
              <a:rPr lang="en-US" sz="1800" baseline="30000"/>
              <a:t>2</a:t>
            </a:r>
            <a:r>
              <a:rPr lang="en-US" sz="1800"/>
              <a:t>]</a:t>
            </a:r>
            <a:endParaRPr lang="en-US" sz="1800"/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800"/>
              <a:t>= (</a:t>
            </a:r>
            <a:r>
              <a:rPr lang="en-US" sz="18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π</a:t>
            </a:r>
            <a:r>
              <a:rPr lang="en-US" sz="1800">
                <a:sym typeface="+mn-ea"/>
              </a:rPr>
              <a:t>/2</a:t>
            </a:r>
            <a:r>
              <a:rPr lang="en-US" sz="1800"/>
              <a:t>) (2) (x/2) (2/x)</a:t>
            </a:r>
            <a:endParaRPr lang="en-US" sz="1800"/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800"/>
              <a:t>= </a:t>
            </a:r>
            <a:r>
              <a:rPr lang="en-US" sz="180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π</a:t>
            </a:r>
            <a:endParaRPr lang="en-US" sz="1800"/>
          </a:p>
          <a:p>
            <a:pPr marL="457200" lvl="1" indent="0">
              <a:buNone/>
            </a:pPr>
            <a:endParaRPr lang="en-US" sz="1800"/>
          </a:p>
        </p:txBody>
      </p:sp>
      <p:grpSp>
        <p:nvGrpSpPr>
          <p:cNvPr id="13" name="Group 12"/>
          <p:cNvGrpSpPr/>
          <p:nvPr/>
        </p:nvGrpSpPr>
        <p:grpSpPr>
          <a:xfrm>
            <a:off x="318770" y="1493520"/>
            <a:ext cx="4391025" cy="4398010"/>
            <a:chOff x="2693" y="2616"/>
            <a:chExt cx="6915" cy="6926"/>
          </a:xfrm>
        </p:grpSpPr>
        <p:sp>
          <p:nvSpPr>
            <p:cNvPr id="4" name="Rectangle 3"/>
            <p:cNvSpPr/>
            <p:nvPr/>
          </p:nvSpPr>
          <p:spPr>
            <a:xfrm>
              <a:off x="2693" y="6095"/>
              <a:ext cx="4938" cy="203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/>
                <a:t>Area = 4 cm</a:t>
              </a:r>
              <a:r>
                <a:rPr lang="en-US" baseline="30000"/>
                <a:t>2</a:t>
              </a:r>
              <a:endParaRPr lang="en-US" baseline="30000"/>
            </a:p>
          </p:txBody>
        </p:sp>
        <p:sp>
          <p:nvSpPr>
            <p:cNvPr id="7" name="Chord 6"/>
            <p:cNvSpPr/>
            <p:nvPr/>
          </p:nvSpPr>
          <p:spPr>
            <a:xfrm rot="10800000">
              <a:off x="5648" y="4146"/>
              <a:ext cx="3955" cy="3986"/>
            </a:xfrm>
            <a:prstGeom prst="chord">
              <a:avLst>
                <a:gd name="adj1" fmla="val 5470705"/>
                <a:gd name="adj2" fmla="val 16179249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635" y="3983"/>
              <a:ext cx="1972" cy="1949"/>
            </a:xfrm>
            <a:prstGeom prst="rect">
              <a:avLst/>
            </a:prstGeom>
            <a:solidFill>
              <a:schemeClr val="bg1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7653" y="6095"/>
              <a:ext cx="193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Chord 10"/>
            <p:cNvSpPr/>
            <p:nvPr/>
          </p:nvSpPr>
          <p:spPr>
            <a:xfrm rot="5400000">
              <a:off x="2687" y="2622"/>
              <a:ext cx="6927" cy="6915"/>
            </a:xfrm>
            <a:prstGeom prst="chord">
              <a:avLst>
                <a:gd name="adj1" fmla="val 5389182"/>
                <a:gd name="adj2" fmla="val 16227045"/>
              </a:avLst>
            </a:prstGeom>
            <a:pattFill prst="sphere">
              <a:fgClr>
                <a:srgbClr val="4874CB"/>
              </a:fgClr>
              <a:bgClr>
                <a:srgbClr val="FFFFFF"/>
              </a:bgClr>
            </a:patt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Chord 4"/>
            <p:cNvSpPr/>
            <p:nvPr/>
          </p:nvSpPr>
          <p:spPr>
            <a:xfrm rot="5400000">
              <a:off x="3037" y="3616"/>
              <a:ext cx="4266" cy="4921"/>
            </a:xfrm>
            <a:prstGeom prst="chord">
              <a:avLst>
                <a:gd name="adj1" fmla="val 5389182"/>
                <a:gd name="adj2" fmla="val 16227045"/>
              </a:avLst>
            </a:prstGeom>
            <a:solidFill>
              <a:srgbClr val="92D050"/>
            </a:solidFill>
            <a:ln>
              <a:noFill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" name="Chord 9"/>
            <p:cNvSpPr/>
            <p:nvPr/>
          </p:nvSpPr>
          <p:spPr>
            <a:xfrm rot="5400000">
              <a:off x="7648" y="5105"/>
              <a:ext cx="1948" cy="1972"/>
            </a:xfrm>
            <a:prstGeom prst="chord">
              <a:avLst>
                <a:gd name="adj1" fmla="val 5389182"/>
                <a:gd name="adj2" fmla="val 16227045"/>
              </a:avLst>
            </a:prstGeom>
            <a:solidFill>
              <a:schemeClr val="accent3">
                <a:lumMod val="75000"/>
              </a:schemeClr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14" name="Text Box 13"/>
          <p:cNvSpPr txBox="1"/>
          <p:nvPr/>
        </p:nvSpPr>
        <p:spPr>
          <a:xfrm>
            <a:off x="318770" y="5253990"/>
            <a:ext cx="28594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2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π cm</a:t>
            </a:r>
            <a:r>
              <a:rPr lang="en-US" sz="7200" baseline="3000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2</a:t>
            </a:r>
            <a:endParaRPr lang="en-US" sz="7200" baseline="30000">
              <a:solidFill>
                <a:schemeClr val="bg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300355" y="3656965"/>
            <a:ext cx="3130550" cy="306070"/>
            <a:chOff x="473" y="5759"/>
            <a:chExt cx="4930" cy="482"/>
          </a:xfrm>
        </p:grpSpPr>
        <p:sp>
          <p:nvSpPr>
            <p:cNvPr id="15" name="Text Box 14"/>
            <p:cNvSpPr txBox="1"/>
            <p:nvPr/>
          </p:nvSpPr>
          <p:spPr>
            <a:xfrm>
              <a:off x="2580" y="5759"/>
              <a:ext cx="94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400"/>
                <a:t> x</a:t>
              </a:r>
              <a:endParaRPr lang="en-US" sz="1400"/>
            </a:p>
          </p:txBody>
        </p:sp>
        <p:cxnSp>
          <p:nvCxnSpPr>
            <p:cNvPr id="18" name="Straight Arrow Connector 17"/>
            <p:cNvCxnSpPr>
              <a:stCxn id="15" idx="1"/>
            </p:cNvCxnSpPr>
            <p:nvPr/>
          </p:nvCxnSpPr>
          <p:spPr>
            <a:xfrm flipH="1">
              <a:off x="473" y="6001"/>
              <a:ext cx="210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3203" y="6034"/>
              <a:ext cx="220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3491865" y="3666490"/>
            <a:ext cx="1180465" cy="306070"/>
            <a:chOff x="5499" y="5774"/>
            <a:chExt cx="1859" cy="482"/>
          </a:xfrm>
        </p:grpSpPr>
        <p:sp>
          <p:nvSpPr>
            <p:cNvPr id="16" name="Text Box 15"/>
            <p:cNvSpPr txBox="1"/>
            <p:nvPr/>
          </p:nvSpPr>
          <p:spPr>
            <a:xfrm>
              <a:off x="6173" y="5774"/>
              <a:ext cx="94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400"/>
                <a:t>4/x</a:t>
              </a:r>
              <a:endParaRPr lang="en-US" sz="1400"/>
            </a:p>
          </p:txBody>
        </p:sp>
        <p:cxnSp>
          <p:nvCxnSpPr>
            <p:cNvPr id="20" name="Straight Arrow Connector 19"/>
            <p:cNvCxnSpPr>
              <a:stCxn id="16" idx="1"/>
            </p:cNvCxnSpPr>
            <p:nvPr/>
          </p:nvCxnSpPr>
          <p:spPr>
            <a:xfrm flipH="1">
              <a:off x="5499" y="6016"/>
              <a:ext cx="67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6828" y="6053"/>
              <a:ext cx="531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3028950" y="3714750"/>
            <a:ext cx="601980" cy="1297940"/>
            <a:chOff x="4770" y="5850"/>
            <a:chExt cx="948" cy="2044"/>
          </a:xfrm>
        </p:grpSpPr>
        <p:grpSp>
          <p:nvGrpSpPr>
            <p:cNvPr id="25" name="Group 24"/>
            <p:cNvGrpSpPr/>
            <p:nvPr/>
          </p:nvGrpSpPr>
          <p:grpSpPr>
            <a:xfrm>
              <a:off x="4770" y="5850"/>
              <a:ext cx="948" cy="1159"/>
              <a:chOff x="4770" y="5850"/>
              <a:chExt cx="948" cy="1159"/>
            </a:xfrm>
          </p:grpSpPr>
          <p:sp>
            <p:nvSpPr>
              <p:cNvPr id="17" name="Text Box 16"/>
              <p:cNvSpPr txBox="1"/>
              <p:nvPr/>
            </p:nvSpPr>
            <p:spPr>
              <a:xfrm>
                <a:off x="4770" y="6527"/>
                <a:ext cx="94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sz="1400"/>
                  <a:t>4/x</a:t>
                </a:r>
                <a:endParaRPr lang="en-US" sz="1400"/>
              </a:p>
            </p:txBody>
          </p:sp>
          <p:cxnSp>
            <p:nvCxnSpPr>
              <p:cNvPr id="22" name="Straight Arrow Connector 21"/>
              <p:cNvCxnSpPr>
                <a:stCxn id="17" idx="0"/>
              </p:cNvCxnSpPr>
              <p:nvPr/>
            </p:nvCxnSpPr>
            <p:spPr>
              <a:xfrm flipV="1">
                <a:off x="5245" y="5850"/>
                <a:ext cx="0" cy="677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Arrow Connector 22"/>
            <p:cNvCxnSpPr>
              <a:stCxn id="17" idx="2"/>
            </p:cNvCxnSpPr>
            <p:nvPr/>
          </p:nvCxnSpPr>
          <p:spPr>
            <a:xfrm>
              <a:off x="5245" y="7010"/>
              <a:ext cx="0" cy="8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" name="Group 5"/>
          <p:cNvGrpSpPr/>
          <p:nvPr/>
        </p:nvGrpSpPr>
        <p:grpSpPr>
          <a:xfrm>
            <a:off x="1512570" y="2384425"/>
            <a:ext cx="529590" cy="1295400"/>
            <a:chOff x="2382" y="3755"/>
            <a:chExt cx="834" cy="2040"/>
          </a:xfrm>
        </p:grpSpPr>
        <p:sp>
          <p:nvSpPr>
            <p:cNvPr id="28" name="Text Box 27"/>
            <p:cNvSpPr txBox="1"/>
            <p:nvPr/>
          </p:nvSpPr>
          <p:spPr>
            <a:xfrm>
              <a:off x="2382" y="4557"/>
              <a:ext cx="83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400"/>
                <a:t>x/2</a:t>
              </a:r>
              <a:endParaRPr lang="en-US" sz="1400"/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V="1">
              <a:off x="2929" y="3755"/>
              <a:ext cx="0" cy="204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3714115" y="3108960"/>
            <a:ext cx="684530" cy="594360"/>
            <a:chOff x="5849" y="4896"/>
            <a:chExt cx="1078" cy="936"/>
          </a:xfrm>
        </p:grpSpPr>
        <p:sp>
          <p:nvSpPr>
            <p:cNvPr id="29" name="Text Box 28"/>
            <p:cNvSpPr txBox="1"/>
            <p:nvPr/>
          </p:nvSpPr>
          <p:spPr>
            <a:xfrm>
              <a:off x="5849" y="5126"/>
              <a:ext cx="107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400"/>
                <a:t>2/x</a:t>
              </a:r>
              <a:endParaRPr lang="en-US" sz="1400"/>
            </a:p>
          </p:txBody>
        </p:sp>
        <p:cxnSp>
          <p:nvCxnSpPr>
            <p:cNvPr id="35" name="Straight Arrow Connector 34"/>
            <p:cNvCxnSpPr>
              <a:stCxn id="10" idx="2"/>
            </p:cNvCxnSpPr>
            <p:nvPr/>
          </p:nvCxnSpPr>
          <p:spPr>
            <a:xfrm flipV="1">
              <a:off x="6431" y="4896"/>
              <a:ext cx="0" cy="936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2240915" y="1554480"/>
            <a:ext cx="1337310" cy="2120900"/>
            <a:chOff x="3529" y="2448"/>
            <a:chExt cx="2106" cy="3340"/>
          </a:xfrm>
        </p:grpSpPr>
        <p:sp>
          <p:nvSpPr>
            <p:cNvPr id="30" name="Text Box 29"/>
            <p:cNvSpPr txBox="1"/>
            <p:nvPr/>
          </p:nvSpPr>
          <p:spPr>
            <a:xfrm>
              <a:off x="3529" y="4324"/>
              <a:ext cx="210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1400"/>
                <a:t>x/2 + 2/x</a:t>
              </a:r>
              <a:endParaRPr lang="en-US" sz="1400"/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>
              <a:off x="4133" y="2448"/>
              <a:ext cx="0" cy="334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</Words>
  <Application>WPS Sheets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WPS</vt:lpstr>
      <vt:lpstr>Thinking in Geometry</vt:lpstr>
      <vt:lpstr>What is the area of surface shaded in blue?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Thinking in Geometry</dc:title>
  <dc:creator>vipar</dc:creator>
  <cp:lastModifiedBy>Brinda Dorairaj</cp:lastModifiedBy>
  <cp:revision>2</cp:revision>
  <dcterms:created xsi:type="dcterms:W3CDTF">2026-07-25T16:43:49Z</dcterms:created>
  <dcterms:modified xsi:type="dcterms:W3CDTF">2026-07-25T16:43:49Z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4D945B8D5085D55C049F646A2A6E5CC4_41</vt:lpwstr>
  </property>
</Properties>
</file>