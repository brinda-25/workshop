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7" r:id="rId2"/>
    <p:sldId id="290" r:id="rId3"/>
    <p:sldId id="303" r:id="rId4"/>
    <p:sldId id="304" r:id="rId5"/>
    <p:sldId id="305" r:id="rId6"/>
    <p:sldId id="306" r:id="rId7"/>
    <p:sldId id="309" r:id="rId8"/>
    <p:sldId id="307" r:id="rId9"/>
    <p:sldId id="308" r:id="rId10"/>
    <p:sldId id="310" r:id="rId11"/>
    <p:sldId id="261" r:id="rId12"/>
    <p:sldId id="262" r:id="rId13"/>
    <p:sldId id="275" r:id="rId14"/>
    <p:sldId id="279" r:id="rId15"/>
    <p:sldId id="312" r:id="rId16"/>
    <p:sldId id="313" r:id="rId17"/>
    <p:sldId id="314" r:id="rId18"/>
    <p:sldId id="315" r:id="rId19"/>
    <p:sldId id="316" r:id="rId20"/>
    <p:sldId id="28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63" d="100"/>
          <a:sy n="63" d="100"/>
        </p:scale>
        <p:origin x="780" y="5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nda Dorairaj" userId="7fc80f17a859e336" providerId="LiveId" clId="{0C57EBA8-ABF7-443E-A1C3-F5FD856EBEAB}"/>
    <pc:docChg chg="addSld modSld">
      <pc:chgData name="Brinda Dorairaj" userId="7fc80f17a859e336" providerId="LiveId" clId="{0C57EBA8-ABF7-443E-A1C3-F5FD856EBEAB}" dt="2026-07-14T16:54:06.460" v="18" actId="1076"/>
      <pc:docMkLst>
        <pc:docMk/>
      </pc:docMkLst>
      <pc:sldChg chg="add">
        <pc:chgData name="Brinda Dorairaj" userId="7fc80f17a859e336" providerId="LiveId" clId="{0C57EBA8-ABF7-443E-A1C3-F5FD856EBEAB}" dt="2026-07-14T16:45:33.530" v="0"/>
        <pc:sldMkLst>
          <pc:docMk/>
          <pc:sldMk cId="0" sldId="262"/>
        </pc:sldMkLst>
      </pc:sldChg>
      <pc:sldChg chg="add setBg modNotes">
        <pc:chgData name="Brinda Dorairaj" userId="7fc80f17a859e336" providerId="LiveId" clId="{0C57EBA8-ABF7-443E-A1C3-F5FD856EBEAB}" dt="2026-07-14T16:46:32.893" v="1"/>
        <pc:sldMkLst>
          <pc:docMk/>
          <pc:sldMk cId="0" sldId="263"/>
        </pc:sldMkLst>
      </pc:sldChg>
      <pc:sldChg chg="add">
        <pc:chgData name="Brinda Dorairaj" userId="7fc80f17a859e336" providerId="LiveId" clId="{0C57EBA8-ABF7-443E-A1C3-F5FD856EBEAB}" dt="2026-07-14T16:47:24.021" v="2"/>
        <pc:sldMkLst>
          <pc:docMk/>
          <pc:sldMk cId="0" sldId="275"/>
        </pc:sldMkLst>
      </pc:sldChg>
      <pc:sldChg chg="add setBg modNotes">
        <pc:chgData name="Brinda Dorairaj" userId="7fc80f17a859e336" providerId="LiveId" clId="{0C57EBA8-ABF7-443E-A1C3-F5FD856EBEAB}" dt="2026-07-14T16:47:24.021" v="2"/>
        <pc:sldMkLst>
          <pc:docMk/>
          <pc:sldMk cId="0" sldId="276"/>
        </pc:sldMkLst>
      </pc:sldChg>
      <pc:sldChg chg="add setBg modNotes">
        <pc:chgData name="Brinda Dorairaj" userId="7fc80f17a859e336" providerId="LiveId" clId="{0C57EBA8-ABF7-443E-A1C3-F5FD856EBEAB}" dt="2026-07-14T16:47:24.021" v="2"/>
        <pc:sldMkLst>
          <pc:docMk/>
          <pc:sldMk cId="0" sldId="277"/>
        </pc:sldMkLst>
      </pc:sldChg>
      <pc:sldChg chg="add">
        <pc:chgData name="Brinda Dorairaj" userId="7fc80f17a859e336" providerId="LiveId" clId="{0C57EBA8-ABF7-443E-A1C3-F5FD856EBEAB}" dt="2026-07-14T16:47:24.021" v="2"/>
        <pc:sldMkLst>
          <pc:docMk/>
          <pc:sldMk cId="0" sldId="278"/>
        </pc:sldMkLst>
      </pc:sldChg>
      <pc:sldChg chg="addSp modSp new mod">
        <pc:chgData name="Brinda Dorairaj" userId="7fc80f17a859e336" providerId="LiveId" clId="{0C57EBA8-ABF7-443E-A1C3-F5FD856EBEAB}" dt="2026-07-14T16:53:29.099" v="11" actId="1076"/>
        <pc:sldMkLst>
          <pc:docMk/>
          <pc:sldMk cId="4248713634" sldId="279"/>
        </pc:sldMkLst>
        <pc:spChg chg="add mod">
          <ac:chgData name="Brinda Dorairaj" userId="7fc80f17a859e336" providerId="LiveId" clId="{0C57EBA8-ABF7-443E-A1C3-F5FD856EBEAB}" dt="2026-07-14T16:52:49.560" v="5" actId="1076"/>
          <ac:spMkLst>
            <pc:docMk/>
            <pc:sldMk cId="4248713634" sldId="279"/>
            <ac:spMk id="3" creationId="{A22A1F47-86BB-D0D1-F709-7DDFA078934C}"/>
          </ac:spMkLst>
        </pc:spChg>
        <pc:spChg chg="add mod">
          <ac:chgData name="Brinda Dorairaj" userId="7fc80f17a859e336" providerId="LiveId" clId="{0C57EBA8-ABF7-443E-A1C3-F5FD856EBEAB}" dt="2026-07-14T16:53:02.603" v="7" actId="1076"/>
          <ac:spMkLst>
            <pc:docMk/>
            <pc:sldMk cId="4248713634" sldId="279"/>
            <ac:spMk id="5" creationId="{D1DF3805-4A01-F479-9E25-6E75541B698A}"/>
          </ac:spMkLst>
        </pc:spChg>
        <pc:spChg chg="add mod">
          <ac:chgData name="Brinda Dorairaj" userId="7fc80f17a859e336" providerId="LiveId" clId="{0C57EBA8-ABF7-443E-A1C3-F5FD856EBEAB}" dt="2026-07-14T16:53:19.404" v="9" actId="1076"/>
          <ac:spMkLst>
            <pc:docMk/>
            <pc:sldMk cId="4248713634" sldId="279"/>
            <ac:spMk id="7" creationId="{B51F19F6-F208-6A3B-AF40-52E86BC15E4A}"/>
          </ac:spMkLst>
        </pc:spChg>
        <pc:spChg chg="add mod">
          <ac:chgData name="Brinda Dorairaj" userId="7fc80f17a859e336" providerId="LiveId" clId="{0C57EBA8-ABF7-443E-A1C3-F5FD856EBEAB}" dt="2026-07-14T16:53:29.099" v="11" actId="1076"/>
          <ac:spMkLst>
            <pc:docMk/>
            <pc:sldMk cId="4248713634" sldId="279"/>
            <ac:spMk id="9" creationId="{8BC3E035-B13B-D5FC-EB81-37D36177FC68}"/>
          </ac:spMkLst>
        </pc:spChg>
      </pc:sldChg>
      <pc:sldChg chg="addSp modSp new mod">
        <pc:chgData name="Brinda Dorairaj" userId="7fc80f17a859e336" providerId="LiveId" clId="{0C57EBA8-ABF7-443E-A1C3-F5FD856EBEAB}" dt="2026-07-14T16:54:06.460" v="18" actId="1076"/>
        <pc:sldMkLst>
          <pc:docMk/>
          <pc:sldMk cId="1565631495" sldId="280"/>
        </pc:sldMkLst>
        <pc:spChg chg="add mod">
          <ac:chgData name="Brinda Dorairaj" userId="7fc80f17a859e336" providerId="LiveId" clId="{0C57EBA8-ABF7-443E-A1C3-F5FD856EBEAB}" dt="2026-07-14T16:53:44.163" v="14" actId="1076"/>
          <ac:spMkLst>
            <pc:docMk/>
            <pc:sldMk cId="1565631495" sldId="280"/>
            <ac:spMk id="3" creationId="{AC98CB5C-610C-0B2B-88B3-7B6C298FDD2B}"/>
          </ac:spMkLst>
        </pc:spChg>
        <pc:spChg chg="add mod">
          <ac:chgData name="Brinda Dorairaj" userId="7fc80f17a859e336" providerId="LiveId" clId="{0C57EBA8-ABF7-443E-A1C3-F5FD856EBEAB}" dt="2026-07-14T16:53:56.235" v="16" actId="1076"/>
          <ac:spMkLst>
            <pc:docMk/>
            <pc:sldMk cId="1565631495" sldId="280"/>
            <ac:spMk id="5" creationId="{AC0666B7-78C3-0ADC-CA14-562708983156}"/>
          </ac:spMkLst>
        </pc:spChg>
        <pc:spChg chg="add mod">
          <ac:chgData name="Brinda Dorairaj" userId="7fc80f17a859e336" providerId="LiveId" clId="{0C57EBA8-ABF7-443E-A1C3-F5FD856EBEAB}" dt="2026-07-14T16:54:06.460" v="18" actId="1076"/>
          <ac:spMkLst>
            <pc:docMk/>
            <pc:sldMk cId="1565631495" sldId="280"/>
            <ac:spMk id="7" creationId="{126E0A85-99FA-1E08-6180-90F028BB6D7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f2cca4355c_19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f2cca4355c_1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f2cca4355c_3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f2cca4355c_3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4962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AFBBFFBE-1561-5D1B-917F-2656AE51B753}"/>
            </a:ext>
          </a:extLst>
        </p:cNvPr>
        <p:cNvGrpSpPr/>
        <p:nvPr/>
      </p:nvGrpSpPr>
      <p:grpSpPr>
        <a:xfrm>
          <a:off x="0" y="0"/>
          <a:ext cx="0" cy="0"/>
          <a:chOff x="0" y="0"/>
          <a:chExt cx="0" cy="0"/>
        </a:xfrm>
      </p:grpSpPr>
      <p:sp>
        <p:nvSpPr>
          <p:cNvPr id="280" name="Google Shape;280;g3f2cca4355c_28_0:notes">
            <a:extLst>
              <a:ext uri="{FF2B5EF4-FFF2-40B4-BE49-F238E27FC236}">
                <a16:creationId xmlns:a16="http://schemas.microsoft.com/office/drawing/2014/main" id="{539EDFB9-59A4-BCF8-0CF4-363A4E6AE9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f2cca4355c_28_0:notes">
            <a:extLst>
              <a:ext uri="{FF2B5EF4-FFF2-40B4-BE49-F238E27FC236}">
                <a16:creationId xmlns:a16="http://schemas.microsoft.com/office/drawing/2014/main" id="{1EF39BCA-4461-77D8-E05D-B6FA97375D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4289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5044E77D-8A4E-1D2E-E7B4-1565A3C138DF}"/>
            </a:ext>
          </a:extLst>
        </p:cNvPr>
        <p:cNvGrpSpPr/>
        <p:nvPr/>
      </p:nvGrpSpPr>
      <p:grpSpPr>
        <a:xfrm>
          <a:off x="0" y="0"/>
          <a:ext cx="0" cy="0"/>
          <a:chOff x="0" y="0"/>
          <a:chExt cx="0" cy="0"/>
        </a:xfrm>
      </p:grpSpPr>
      <p:sp>
        <p:nvSpPr>
          <p:cNvPr id="280" name="Google Shape;280;g3f2cca4355c_28_0:notes">
            <a:extLst>
              <a:ext uri="{FF2B5EF4-FFF2-40B4-BE49-F238E27FC236}">
                <a16:creationId xmlns:a16="http://schemas.microsoft.com/office/drawing/2014/main" id="{C21058BC-6837-9FE3-2B61-0342600389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f2cca4355c_28_0:notes">
            <a:extLst>
              <a:ext uri="{FF2B5EF4-FFF2-40B4-BE49-F238E27FC236}">
                <a16:creationId xmlns:a16="http://schemas.microsoft.com/office/drawing/2014/main" id="{616A5CE7-8D1A-7C54-7CD9-9D8981D4AB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7590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05151A67-1FB4-73DE-1AB2-ACD07353E502}"/>
            </a:ext>
          </a:extLst>
        </p:cNvPr>
        <p:cNvGrpSpPr/>
        <p:nvPr/>
      </p:nvGrpSpPr>
      <p:grpSpPr>
        <a:xfrm>
          <a:off x="0" y="0"/>
          <a:ext cx="0" cy="0"/>
          <a:chOff x="0" y="0"/>
          <a:chExt cx="0" cy="0"/>
        </a:xfrm>
      </p:grpSpPr>
      <p:sp>
        <p:nvSpPr>
          <p:cNvPr id="280" name="Google Shape;280;g3f2cca4355c_28_0:notes">
            <a:extLst>
              <a:ext uri="{FF2B5EF4-FFF2-40B4-BE49-F238E27FC236}">
                <a16:creationId xmlns:a16="http://schemas.microsoft.com/office/drawing/2014/main" id="{130F9DFC-1D29-AE41-FD43-4E6F8C2359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f2cca4355c_28_0:notes">
            <a:extLst>
              <a:ext uri="{FF2B5EF4-FFF2-40B4-BE49-F238E27FC236}">
                <a16:creationId xmlns:a16="http://schemas.microsoft.com/office/drawing/2014/main" id="{3B161467-8046-183A-ED60-E601182CD9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6271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F5EEDB5A-63DE-5052-C765-E9A910E3F9C7}"/>
            </a:ext>
          </a:extLst>
        </p:cNvPr>
        <p:cNvGrpSpPr/>
        <p:nvPr/>
      </p:nvGrpSpPr>
      <p:grpSpPr>
        <a:xfrm>
          <a:off x="0" y="0"/>
          <a:ext cx="0" cy="0"/>
          <a:chOff x="0" y="0"/>
          <a:chExt cx="0" cy="0"/>
        </a:xfrm>
      </p:grpSpPr>
      <p:sp>
        <p:nvSpPr>
          <p:cNvPr id="280" name="Google Shape;280;g3f2cca4355c_28_0:notes">
            <a:extLst>
              <a:ext uri="{FF2B5EF4-FFF2-40B4-BE49-F238E27FC236}">
                <a16:creationId xmlns:a16="http://schemas.microsoft.com/office/drawing/2014/main" id="{CB5BEA20-24BB-5778-DFE5-BEDB2122AE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f2cca4355c_28_0:notes">
            <a:extLst>
              <a:ext uri="{FF2B5EF4-FFF2-40B4-BE49-F238E27FC236}">
                <a16:creationId xmlns:a16="http://schemas.microsoft.com/office/drawing/2014/main" id="{8CDD9719-E1C3-A8A8-3B18-575F14B6BB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4289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C199B91F-FFF6-9959-73EF-FBAF50EB3BE2}"/>
            </a:ext>
          </a:extLst>
        </p:cNvPr>
        <p:cNvGrpSpPr/>
        <p:nvPr/>
      </p:nvGrpSpPr>
      <p:grpSpPr>
        <a:xfrm>
          <a:off x="0" y="0"/>
          <a:ext cx="0" cy="0"/>
          <a:chOff x="0" y="0"/>
          <a:chExt cx="0" cy="0"/>
        </a:xfrm>
      </p:grpSpPr>
      <p:sp>
        <p:nvSpPr>
          <p:cNvPr id="280" name="Google Shape;280;g3f2cca4355c_28_0:notes">
            <a:extLst>
              <a:ext uri="{FF2B5EF4-FFF2-40B4-BE49-F238E27FC236}">
                <a16:creationId xmlns:a16="http://schemas.microsoft.com/office/drawing/2014/main" id="{68871E09-504C-E89E-BF55-2CB23854B1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f2cca4355c_28_0:notes">
            <a:extLst>
              <a:ext uri="{FF2B5EF4-FFF2-40B4-BE49-F238E27FC236}">
                <a16:creationId xmlns:a16="http://schemas.microsoft.com/office/drawing/2014/main" id="{D4729A74-3D28-3F12-1C06-AC301F799D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4129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B2FBF593-58F8-5419-858E-081829ABBF60}"/>
            </a:ext>
          </a:extLst>
        </p:cNvPr>
        <p:cNvGrpSpPr/>
        <p:nvPr/>
      </p:nvGrpSpPr>
      <p:grpSpPr>
        <a:xfrm>
          <a:off x="0" y="0"/>
          <a:ext cx="0" cy="0"/>
          <a:chOff x="0" y="0"/>
          <a:chExt cx="0" cy="0"/>
        </a:xfrm>
      </p:grpSpPr>
      <p:sp>
        <p:nvSpPr>
          <p:cNvPr id="280" name="Google Shape;280;g3f2cca4355c_28_0:notes">
            <a:extLst>
              <a:ext uri="{FF2B5EF4-FFF2-40B4-BE49-F238E27FC236}">
                <a16:creationId xmlns:a16="http://schemas.microsoft.com/office/drawing/2014/main" id="{5D826337-917F-84DE-75CF-911E156BED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f2cca4355c_28_0:notes">
            <a:extLst>
              <a:ext uri="{FF2B5EF4-FFF2-40B4-BE49-F238E27FC236}">
                <a16:creationId xmlns:a16="http://schemas.microsoft.com/office/drawing/2014/main" id="{8F5BE2A1-2D22-F252-448A-5431233D08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7397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1396E9A1-2416-EF7B-8504-281577F22671}"/>
            </a:ext>
          </a:extLst>
        </p:cNvPr>
        <p:cNvGrpSpPr/>
        <p:nvPr/>
      </p:nvGrpSpPr>
      <p:grpSpPr>
        <a:xfrm>
          <a:off x="0" y="0"/>
          <a:ext cx="0" cy="0"/>
          <a:chOff x="0" y="0"/>
          <a:chExt cx="0" cy="0"/>
        </a:xfrm>
      </p:grpSpPr>
      <p:sp>
        <p:nvSpPr>
          <p:cNvPr id="280" name="Google Shape;280;g3f2cca4355c_28_0:notes">
            <a:extLst>
              <a:ext uri="{FF2B5EF4-FFF2-40B4-BE49-F238E27FC236}">
                <a16:creationId xmlns:a16="http://schemas.microsoft.com/office/drawing/2014/main" id="{DD45E033-F212-67D6-2243-402C12EADE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f2cca4355c_28_0:notes">
            <a:extLst>
              <a:ext uri="{FF2B5EF4-FFF2-40B4-BE49-F238E27FC236}">
                <a16:creationId xmlns:a16="http://schemas.microsoft.com/office/drawing/2014/main" id="{7769F796-F56C-3AAD-D416-A6DACE1853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524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a:extLst>
            <a:ext uri="{FF2B5EF4-FFF2-40B4-BE49-F238E27FC236}">
              <a16:creationId xmlns:a16="http://schemas.microsoft.com/office/drawing/2014/main" id="{32CD7C2A-2B5F-FC8C-3AB8-5B45B99B857F}"/>
            </a:ext>
          </a:extLst>
        </p:cNvPr>
        <p:cNvGrpSpPr/>
        <p:nvPr/>
      </p:nvGrpSpPr>
      <p:grpSpPr>
        <a:xfrm>
          <a:off x="0" y="0"/>
          <a:ext cx="0" cy="0"/>
          <a:chOff x="0" y="0"/>
          <a:chExt cx="0" cy="0"/>
        </a:xfrm>
      </p:grpSpPr>
      <p:sp>
        <p:nvSpPr>
          <p:cNvPr id="280" name="Google Shape;280;g3f2cca4355c_28_0:notes">
            <a:extLst>
              <a:ext uri="{FF2B5EF4-FFF2-40B4-BE49-F238E27FC236}">
                <a16:creationId xmlns:a16="http://schemas.microsoft.com/office/drawing/2014/main" id="{EA497427-8365-2E14-98E0-1533C736DF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f2cca4355c_28_0:notes">
            <a:extLst>
              <a:ext uri="{FF2B5EF4-FFF2-40B4-BE49-F238E27FC236}">
                <a16:creationId xmlns:a16="http://schemas.microsoft.com/office/drawing/2014/main" id="{4D7BC1B6-435B-CBB7-97B5-CD3F5B286F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8412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f0078361b1_1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f0078361b1_1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f00237150d_3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f00237150d_3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g3f00237150d_2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3f00237150d_2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p>
        </p:txBody>
      </p:sp>
      <p:sp>
        <p:nvSpPr>
          <p:cNvPr id="3" name="Subtitle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6" name="Date Placeholder 15"/>
          <p:cNvSpPr>
            <a:spLocks noGrp="1"/>
          </p:cNvSpPr>
          <p:nvPr>
            <p:ph type="dt" sz="half" idx="10"/>
            <p:custDataLst>
              <p:tags r:id="rId3"/>
            </p:custDataLst>
          </p:nvPr>
        </p:nvSpPr>
        <p:spPr/>
        <p:txBody>
          <a:bodyPr/>
          <a:lstStyle/>
          <a:p>
            <a:fld id="{760FBDFE-C587-4B4C-A407-44438C67B59E}" type="datetimeFigureOut">
              <a:rPr lang="en-US" smtClean="0"/>
              <a:t>10-Sep-26</a:t>
            </a:fld>
            <a:endParaRPr lang="en-US"/>
          </a:p>
        </p:txBody>
      </p:sp>
      <p:sp>
        <p:nvSpPr>
          <p:cNvPr id="17" name="Footer Placeholder 16"/>
          <p:cNvSpPr>
            <a:spLocks noGrp="1"/>
          </p:cNvSpPr>
          <p:nvPr>
            <p:ph type="ftr" sz="quarter" idx="11"/>
            <p:custDataLst>
              <p:tags r:id="rId4"/>
            </p:custDataLst>
          </p:nvPr>
        </p:nvSpPr>
        <p:spPr/>
        <p:txBody>
          <a:bodyPr/>
          <a:lstStyle/>
          <a:p>
            <a:endParaRPr lang="en-US" dirty="0"/>
          </a:p>
        </p:txBody>
      </p:sp>
      <p:sp>
        <p:nvSpPr>
          <p:cNvPr id="18" name="Slide Number Placeholder 17"/>
          <p:cNvSpPr>
            <a:spLocks noGrp="1"/>
          </p:cNvSpPr>
          <p:nvPr>
            <p:ph type="sldNum" sz="quarter" idx="12"/>
            <p:custDataLst>
              <p:tags r:id="rId5"/>
            </p:custDataLst>
          </p:nvPr>
        </p:nvSpPr>
        <p:spPr/>
        <p:txBody>
          <a:bodyPr/>
          <a:lstStyle/>
          <a:p>
            <a:fld id="{49AE70B2-8BF9-45C0-BB95-33D1B9D3A854}"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10-Sep-26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p>
        </p:txBody>
      </p:sp>
      <p:sp>
        <p:nvSpPr>
          <p:cNvPr id="3" name="Text Placeholder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10-Sep-26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Content Placeholder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custDataLst>
              <p:tags r:id="rId4"/>
            </p:custDataLst>
          </p:nvPr>
        </p:nvSpPr>
        <p:spPr/>
        <p:txBody>
          <a:bodyPr/>
          <a:lstStyle/>
          <a:p>
            <a:fld id="{760FBDFE-C587-4B4C-A407-44438C67B59E}" type="datetimeFigureOut">
              <a:rPr lang="en-US" smtClean="0"/>
              <a:t>10-Sep-26</a:t>
            </a:fld>
            <a:endParaRPr lang="en-US"/>
          </a:p>
        </p:txBody>
      </p:sp>
      <p:sp>
        <p:nvSpPr>
          <p:cNvPr id="6" name="Footer Placeholder 5"/>
          <p:cNvSpPr>
            <a:spLocks noGrp="1"/>
          </p:cNvSpPr>
          <p:nvPr>
            <p:ph type="ftr" sz="quarter" idx="11"/>
            <p:custDataLst>
              <p:tags r:id="rId5"/>
            </p:custDataLst>
          </p:nvPr>
        </p:nvSpPr>
        <p:spPr/>
        <p:txBody>
          <a:bodyPr/>
          <a:lstStyle/>
          <a:p>
            <a:endParaRPr lang="en-US"/>
          </a:p>
        </p:txBody>
      </p:sp>
      <p:sp>
        <p:nvSpPr>
          <p:cNvPr id="7" name="Slide Number Placeholder 6"/>
          <p:cNvSpPr>
            <a:spLocks noGrp="1"/>
          </p:cNvSpPr>
          <p:nvPr>
            <p:ph type="sldNum" sz="quarter" idx="12"/>
            <p:custDataLst>
              <p:tags r:id="rId6"/>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Text Placeholder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custDataLst>
              <p:tags r:id="rId6"/>
            </p:custDataLst>
          </p:nvPr>
        </p:nvSpPr>
        <p:spPr/>
        <p:txBody>
          <a:bodyPr/>
          <a:lstStyle/>
          <a:p>
            <a:fld id="{760FBDFE-C587-4B4C-A407-44438C67B59E}" type="datetimeFigureOut">
              <a:rPr lang="en-US" smtClean="0"/>
              <a:t>10-Sep-26</a:t>
            </a:fld>
            <a:endParaRPr lang="en-US"/>
          </a:p>
        </p:txBody>
      </p:sp>
      <p:sp>
        <p:nvSpPr>
          <p:cNvPr id="8" name="Footer Placeholder 7"/>
          <p:cNvSpPr>
            <a:spLocks noGrp="1"/>
          </p:cNvSpPr>
          <p:nvPr>
            <p:ph type="ftr" sz="quarter" idx="11"/>
            <p:custDataLst>
              <p:tags r:id="rId7"/>
            </p:custDataLst>
          </p:nvPr>
        </p:nvSpPr>
        <p:spPr/>
        <p:txBody>
          <a:bodyPr/>
          <a:lstStyle/>
          <a:p>
            <a:endParaRPr lang="en-US"/>
          </a:p>
        </p:txBody>
      </p:sp>
      <p:sp>
        <p:nvSpPr>
          <p:cNvPr id="9" name="Slide Number Placeholder 8"/>
          <p:cNvSpPr>
            <a:spLocks noGrp="1"/>
          </p:cNvSpPr>
          <p:nvPr>
            <p:ph type="sldNum" sz="quarter" idx="12"/>
            <p:custDataLst>
              <p:tags r:id="rId8"/>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en-US"/>
              <a:t>Click to edit Master title style</a:t>
            </a:r>
          </a:p>
        </p:txBody>
      </p:sp>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t>10-Sep-26</a:t>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1"/>
            </p:custDataLst>
          </p:nvPr>
        </p:nvSpPr>
        <p:spPr/>
        <p:txBody>
          <a:bodyPr/>
          <a:lstStyle/>
          <a:p>
            <a:fld id="{760FBDFE-C587-4B4C-A407-44438C67B59E}" type="datetimeFigureOut">
              <a:rPr lang="en-US" smtClean="0"/>
              <a:t>10-Sep-26</a:t>
            </a:fld>
            <a:endParaRPr lang="en-US"/>
          </a:p>
        </p:txBody>
      </p:sp>
      <p:sp>
        <p:nvSpPr>
          <p:cNvPr id="3" name="Footer Placeholder 2"/>
          <p:cNvSpPr>
            <a:spLocks noGrp="1"/>
          </p:cNvSpPr>
          <p:nvPr>
            <p:ph type="ftr" sz="quarter" idx="11"/>
            <p:custDataLst>
              <p:tags r:id="rId2"/>
            </p:custDataLst>
          </p:nvPr>
        </p:nvSpPr>
        <p:spPr/>
        <p:txBody>
          <a:bodyPr/>
          <a:lstStyle/>
          <a:p>
            <a:endParaRPr lang="en-US"/>
          </a:p>
        </p:txBody>
      </p:sp>
      <p:sp>
        <p:nvSpPr>
          <p:cNvPr id="4" name="Slide Number Placeholder 3"/>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a:t>Click to edit Master text styles</a:t>
            </a:r>
          </a:p>
        </p:txBody>
      </p:sp>
      <p:sp>
        <p:nvSpPr>
          <p:cNvPr id="5" name="Date Placeholder 4"/>
          <p:cNvSpPr>
            <a:spLocks noGrp="1"/>
          </p:cNvSpPr>
          <p:nvPr>
            <p:ph type="dt" sz="half" idx="10"/>
            <p:custDataLst>
              <p:tags r:id="rId3"/>
            </p:custDataLst>
          </p:nvPr>
        </p:nvSpPr>
        <p:spPr/>
        <p:txBody>
          <a:bodyPr/>
          <a:lstStyle/>
          <a:p>
            <a:fld id="{9EFD9D74-47D9-4702-A33C-335B63B48DBF}" type="datetimeFigureOut">
              <a:rPr lang="en-US" smtClean="0"/>
              <a:t>10-Sep-26</a:t>
            </a:fld>
            <a:endParaRPr lang="en-US" dirty="0"/>
          </a:p>
        </p:txBody>
      </p:sp>
      <p:sp>
        <p:nvSpPr>
          <p:cNvPr id="6" name="Footer Placeholder 5"/>
          <p:cNvSpPr>
            <a:spLocks noGrp="1"/>
          </p:cNvSpPr>
          <p:nvPr>
            <p:ph type="ftr" sz="quarter" idx="11"/>
            <p:custDataLst>
              <p:tags r:id="rId4"/>
            </p:custDataLst>
          </p:nvPr>
        </p:nvSpPr>
        <p:spPr/>
        <p:txBody>
          <a:bodyPr/>
          <a:lstStyle/>
          <a:p>
            <a:endParaRPr lang="en-US" dirty="0"/>
          </a:p>
        </p:txBody>
      </p:sp>
      <p:sp>
        <p:nvSpPr>
          <p:cNvPr id="7" name="Slide Number Placeholder 6"/>
          <p:cNvSpPr>
            <a:spLocks noGrp="1"/>
          </p:cNvSpPr>
          <p:nvPr>
            <p:ph type="sldNum" sz="quarter" idx="12"/>
            <p:custDataLst>
              <p:tags r:id="rId5"/>
            </p:custDataLst>
          </p:nvPr>
        </p:nvSpPr>
        <p:spPr/>
        <p:txBody>
          <a:bodyPr/>
          <a:lstStyle/>
          <a:p>
            <a:fld id="{FABC47A4-756D-490B-A52F-7D9E2C9FC05F}" type="slidenum">
              <a:rPr lang="en-US" smtClean="0"/>
              <a:t>‹#›</a:t>
            </a:fld>
            <a:endParaRPr lang="en-US"/>
          </a:p>
        </p:txBody>
      </p:sp>
      <p:sp>
        <p:nvSpPr>
          <p:cNvPr id="9" name="Title 8"/>
          <p:cNvSpPr>
            <a:spLocks noGrp="1"/>
          </p:cNvSpPr>
          <p:nvPr>
            <p:ph type="title"/>
            <p:custDataLst>
              <p:tags r:id="rId6"/>
            </p:custDataLst>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a:t>Click to edit title</a:t>
            </a:r>
          </a:p>
        </p:txBody>
      </p:sp>
      <p:sp>
        <p:nvSpPr>
          <p:cNvPr id="3" name="Vertical Text Placeholder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custDataLst>
              <p:tags r:id="rId3"/>
            </p:custDataLst>
          </p:nvPr>
        </p:nvSpPr>
        <p:spPr/>
        <p:txBody>
          <a:bodyPr/>
          <a:lstStyle/>
          <a:p>
            <a:fld id="{760FBDFE-C587-4B4C-A407-44438C67B59E}" type="datetimeFigureOut">
              <a:rPr lang="en-US" smtClean="0"/>
              <a:t>10-Sep-26</a:t>
            </a:fld>
            <a:endParaRPr lang="en-US"/>
          </a:p>
        </p:txBody>
      </p:sp>
      <p:sp>
        <p:nvSpPr>
          <p:cNvPr id="5" name="Footer Placeholder 4"/>
          <p:cNvSpPr>
            <a:spLocks noGrp="1"/>
          </p:cNvSpPr>
          <p:nvPr>
            <p:ph type="ftr" sz="quarter" idx="11"/>
            <p:custDataLst>
              <p:tags r:id="rId4"/>
            </p:custDataLst>
          </p:nvPr>
        </p:nvSpPr>
        <p:spPr/>
        <p:txBody>
          <a:bodyPr/>
          <a:lstStyle/>
          <a:p>
            <a:endParaRPr lang="en-US"/>
          </a:p>
        </p:txBody>
      </p:sp>
      <p:sp>
        <p:nvSpPr>
          <p:cNvPr id="6" name="Slide Number Placeholder 5"/>
          <p:cNvSpPr>
            <a:spLocks noGrp="1"/>
          </p:cNvSpPr>
          <p:nvPr>
            <p:ph type="sldNum" sz="quarter" idx="12"/>
            <p:custDataLst>
              <p:tags r:id="rId5"/>
            </p:custDataLst>
          </p:nvPr>
        </p:nvSpPr>
        <p:spPr/>
        <p:txBody>
          <a:bodyPr/>
          <a:lstStyle/>
          <a:p>
            <a:fld id="{49AE70B2-8BF9-45C0-BB95-33D1B9D3A85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10-Sep-26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7" name="Content Placeholder 6"/>
          <p:cNvSpPr>
            <a:spLocks noGrp="1"/>
          </p:cNvSpPr>
          <p:nvPr>
            <p:ph sz="quarter" idx="13"/>
            <p:custDataLst>
              <p:tags r:id="rId4"/>
            </p:custDataLst>
          </p:nvPr>
        </p:nvSpPr>
        <p:spPr>
          <a:xfrm>
            <a:off x="608400" y="774000"/>
            <a:ext cx="10972800" cy="54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1"/>
            </p:custDataLst>
          </p:nvPr>
        </p:nvSpPr>
        <p:spPr/>
        <p:txBody>
          <a:bodyPr/>
          <a:lstStyle/>
          <a:p>
            <a:fld id="{760FBDFE-C587-4B4C-A407-44438C67B59E}" type="datetimeFigureOut">
              <a:rPr lang="en-US" smtClean="0"/>
              <a:t>10-Sep-26</a:t>
            </a:fld>
            <a:endParaRPr lang="en-US"/>
          </a:p>
        </p:txBody>
      </p:sp>
      <p:sp>
        <p:nvSpPr>
          <p:cNvPr id="4" name="Footer Placeholder 3"/>
          <p:cNvSpPr>
            <a:spLocks noGrp="1"/>
          </p:cNvSpPr>
          <p:nvPr>
            <p:ph type="ftr" sz="quarter" idx="11"/>
            <p:custDataLst>
              <p:tags r:id="rId2"/>
            </p:custDataLst>
          </p:nvPr>
        </p:nvSpPr>
        <p:spPr/>
        <p:txBody>
          <a:bodyPr/>
          <a:lstStyle/>
          <a:p>
            <a:endParaRPr lang="en-US"/>
          </a:p>
        </p:txBody>
      </p:sp>
      <p:sp>
        <p:nvSpPr>
          <p:cNvPr id="5" name="Slide Number Placeholder 4"/>
          <p:cNvSpPr>
            <a:spLocks noGrp="1"/>
          </p:cNvSpPr>
          <p:nvPr>
            <p:ph type="sldNum" sz="quarter" idx="12"/>
            <p:custDataLst>
              <p:tags r:id="rId3"/>
            </p:custDataLst>
          </p:nvPr>
        </p:nvSpPr>
        <p:spPr/>
        <p:txBody>
          <a:bodyPr/>
          <a:lstStyle/>
          <a:p>
            <a:fld id="{49AE70B2-8BF9-45C0-BB95-33D1B9D3A854}" type="slidenum">
              <a:rPr lang="en-US" smtClean="0"/>
              <a:t>‹#›</a:t>
            </a:fld>
            <a:endParaRPr lang="en-US"/>
          </a:p>
        </p:txBody>
      </p:sp>
      <p:sp>
        <p:nvSpPr>
          <p:cNvPr id="2" name="Title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a:t>Click to edit title</a:t>
            </a:r>
          </a:p>
        </p:txBody>
      </p:sp>
      <p:sp>
        <p:nvSpPr>
          <p:cNvPr id="7" name="Text Placeholder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f2cca4355c_14_0)">
  <p:cSld name="Generated (g3f2cca4355c_14_0)">
    <p:spTree>
      <p:nvGrpSpPr>
        <p:cNvPr id="1" name="Shape 9"/>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Generated (g3f0078361b1_13_0)">
  <p:cSld name="Generated (g3f0078361b1_13_0)">
    <p:spTree>
      <p:nvGrpSpPr>
        <p:cNvPr id="1" name="Shape 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Generated (g3f00237150d_16_0)">
  <p:cSld name="Generated (g3f00237150d_16_0)">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77960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3.xml"/><Relationship Id="rId3" Type="http://schemas.openxmlformats.org/officeDocument/2006/relationships/slideLayout" Target="../slideLayouts/slideLayout3.xml"/><Relationship Id="rId21" Type="http://schemas.openxmlformats.org/officeDocument/2006/relationships/tags" Target="../tags/tag6.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tags" Target="../tags/tag1.xml"/><Relationship Id="rId20"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7"/>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p>
        </p:txBody>
      </p:sp>
      <p:sp>
        <p:nvSpPr>
          <p:cNvPr id="3" name="Text Placeholder 2"/>
          <p:cNvSpPr>
            <a:spLocks noGrp="1"/>
          </p:cNvSpPr>
          <p:nvPr>
            <p:ph type="body" idx="1"/>
            <p:custDataLst>
              <p:tags r:id="rId18"/>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custDataLst>
              <p:tags r:id="rId1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t>10-Sep-26</a:t>
            </a:fld>
            <a:endParaRPr lang="en-US"/>
          </a:p>
        </p:txBody>
      </p:sp>
      <p:sp>
        <p:nvSpPr>
          <p:cNvPr id="5" name="Footer Placeholder 4"/>
          <p:cNvSpPr>
            <a:spLocks noGrp="1"/>
          </p:cNvSpPr>
          <p:nvPr>
            <p:ph type="ftr" sz="quarter" idx="3"/>
            <p:custDataLst>
              <p:tags r:id="rId2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2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t>‹#›</a:t>
            </a:fld>
            <a:endParaRPr lang="en-US" dirty="0"/>
          </a:p>
        </p:txBody>
      </p:sp>
    </p:spTree>
    <p:custDataLst>
      <p:tags r:id="rId16"/>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31"/>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pic>
        <p:nvPicPr>
          <p:cNvPr id="564" name="Google Shape;564;p31"/>
          <p:cNvPicPr preferRelativeResize="0"/>
          <p:nvPr/>
        </p:nvPicPr>
        <p:blipFill rotWithShape="1">
          <a:blip r:embed="rId3"/>
          <a:srcRect/>
          <a:stretch>
            <a:fillRect/>
          </a:stretch>
        </p:blipFill>
        <p:spPr>
          <a:xfrm>
            <a:off x="768351" y="1530351"/>
            <a:ext cx="2070000" cy="2324000"/>
          </a:xfrm>
          <a:prstGeom prst="rect">
            <a:avLst/>
          </a:prstGeom>
          <a:noFill/>
          <a:ln>
            <a:noFill/>
          </a:ln>
        </p:spPr>
      </p:pic>
      <p:pic>
        <p:nvPicPr>
          <p:cNvPr id="565" name="Google Shape;565;p31"/>
          <p:cNvPicPr preferRelativeResize="0"/>
          <p:nvPr/>
        </p:nvPicPr>
        <p:blipFill rotWithShape="1">
          <a:blip r:embed="rId3"/>
          <a:srcRect/>
          <a:stretch>
            <a:fillRect/>
          </a:stretch>
        </p:blipFill>
        <p:spPr>
          <a:xfrm>
            <a:off x="9150351" y="1530351"/>
            <a:ext cx="2070000" cy="2324000"/>
          </a:xfrm>
          <a:prstGeom prst="rect">
            <a:avLst/>
          </a:prstGeom>
          <a:noFill/>
          <a:ln>
            <a:noFill/>
          </a:ln>
        </p:spPr>
      </p:pic>
      <p:sp>
        <p:nvSpPr>
          <p:cNvPr id="566" name="Google Shape;566;p31"/>
          <p:cNvSpPr/>
          <p:nvPr/>
        </p:nvSpPr>
        <p:spPr>
          <a:xfrm>
            <a:off x="9652000" y="0"/>
            <a:ext cx="2540000" cy="2540000"/>
          </a:xfrm>
          <a:custGeom>
            <a:avLst/>
            <a:gdLst/>
            <a:ahLst/>
            <a:cxnLst/>
            <a:rect l="l" t="t" r="r" b="b"/>
            <a:pathLst>
              <a:path w="120000" h="120000" extrusionOk="0">
                <a:moveTo>
                  <a:pt x="120000" y="0"/>
                </a:moveTo>
                <a:lnTo>
                  <a:pt x="120000" y="120000"/>
                </a:lnTo>
                <a:cubicBezTo>
                  <a:pt x="120000" y="53726"/>
                  <a:pt x="66274" y="0"/>
                  <a:pt x="0" y="0"/>
                </a:cubicBezTo>
                <a:close/>
              </a:path>
            </a:pathLst>
          </a:custGeom>
          <a:solidFill>
            <a:srgbClr val="FFC300">
              <a:alpha val="3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567" name="Google Shape;567;p31"/>
          <p:cNvSpPr/>
          <p:nvPr/>
        </p:nvSpPr>
        <p:spPr>
          <a:xfrm>
            <a:off x="11557000" y="6223000"/>
            <a:ext cx="635200" cy="635200"/>
          </a:xfrm>
          <a:custGeom>
            <a:avLst/>
            <a:gdLst/>
            <a:ahLst/>
            <a:cxnLst/>
            <a:rect l="l" t="t" r="r" b="b"/>
            <a:pathLst>
              <a:path w="120000" h="120000" extrusionOk="0">
                <a:moveTo>
                  <a:pt x="120000" y="120000"/>
                </a:moveTo>
                <a:lnTo>
                  <a:pt x="120000" y="0"/>
                </a:lnTo>
                <a:lnTo>
                  <a:pt x="0" y="120000"/>
                </a:lnTo>
                <a:close/>
              </a:path>
            </a:pathLst>
          </a:custGeom>
          <a:solidFill>
            <a:srgbClr val="FFC300">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568" name="Google Shape;568;p31"/>
          <p:cNvSpPr/>
          <p:nvPr/>
        </p:nvSpPr>
        <p:spPr>
          <a:xfrm>
            <a:off x="2768600" y="2133600"/>
            <a:ext cx="304800" cy="304800"/>
          </a:xfrm>
          <a:prstGeom prst="ellipse">
            <a:avLst/>
          </a:prstGeom>
          <a:solidFill>
            <a:srgbClr val="FF5733">
              <a:alpha val="89999"/>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569" name="Google Shape;569;p31"/>
          <p:cNvSpPr/>
          <p:nvPr/>
        </p:nvSpPr>
        <p:spPr>
          <a:xfrm>
            <a:off x="9042400" y="3327400"/>
            <a:ext cx="457200" cy="457200"/>
          </a:xfrm>
          <a:prstGeom prst="ellipse">
            <a:avLst/>
          </a:prstGeom>
          <a:solidFill>
            <a:srgbClr val="FFC300">
              <a:alpha val="89999"/>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570" name="Google Shape;570;p31"/>
          <p:cNvSpPr/>
          <p:nvPr/>
        </p:nvSpPr>
        <p:spPr>
          <a:xfrm>
            <a:off x="8940800" y="1828800"/>
            <a:ext cx="152400" cy="152400"/>
          </a:xfrm>
          <a:prstGeom prst="ellipse">
            <a:avLst/>
          </a:prstGeom>
          <a:solidFill>
            <a:srgbClr val="2D68FE">
              <a:alpha val="89999"/>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571" name="Google Shape;571;p31"/>
          <p:cNvSpPr txBox="1"/>
          <p:nvPr/>
        </p:nvSpPr>
        <p:spPr>
          <a:xfrm>
            <a:off x="762000" y="508000"/>
            <a:ext cx="10668000" cy="1270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2400" b="1" i="0" u="none" strike="noStrike" dirty="0">
                <a:solidFill>
                  <a:srgbClr val="FF5733"/>
                </a:solidFill>
                <a:latin typeface="Poppins" panose="00000800000000000000"/>
                <a:ea typeface="Poppins" panose="00000800000000000000"/>
                <a:cs typeface="Poppins" panose="00000800000000000000"/>
                <a:sym typeface="Poppins" panose="00000800000000000000"/>
              </a:rPr>
              <a:t>FIRST IMPRESSIONS</a:t>
            </a:r>
            <a:endParaRPr sz="2400" b="1" i="0" u="none" strike="noStrike" dirty="0">
              <a:solidFill>
                <a:srgbClr val="FF5733"/>
              </a:solidFill>
              <a:latin typeface="Poppins" panose="00000800000000000000"/>
              <a:ea typeface="Poppins" panose="00000800000000000000"/>
              <a:cs typeface="Poppins" panose="00000800000000000000"/>
              <a:sym typeface="Poppins" panose="00000800000000000000"/>
            </a:endParaRPr>
          </a:p>
          <a:p>
            <a:pPr marL="0" lvl="0" indent="0" algn="l" rtl="0">
              <a:spcBef>
                <a:spcPts val="600"/>
              </a:spcBef>
              <a:spcAft>
                <a:spcPts val="600"/>
              </a:spcAft>
              <a:buNone/>
            </a:pPr>
            <a:r>
              <a:rPr lang="en-GB" sz="3600" b="0" i="0" u="none" strike="noStrike" dirty="0">
                <a:solidFill>
                  <a:srgbClr val="0B132B"/>
                </a:solidFill>
                <a:latin typeface="Poppins SemiBold"/>
                <a:ea typeface="Poppins SemiBold"/>
                <a:cs typeface="Poppins SemiBold"/>
                <a:sym typeface="Poppins SemiBold"/>
              </a:rPr>
              <a:t>Mastering Interviews</a:t>
            </a:r>
            <a:endParaRPr sz="2400" b="1" i="0" u="none" strike="noStrike" dirty="0">
              <a:solidFill>
                <a:srgbClr val="FF5733"/>
              </a:solidFill>
              <a:latin typeface="Poppins" panose="00000800000000000000"/>
              <a:ea typeface="Poppins" panose="00000800000000000000"/>
              <a:cs typeface="Poppins" panose="00000800000000000000"/>
              <a:sym typeface="Poppins" panose="00000800000000000000"/>
            </a:endParaRPr>
          </a:p>
        </p:txBody>
      </p:sp>
      <p:grpSp>
        <p:nvGrpSpPr>
          <p:cNvPr id="572" name="Google Shape;572;p31"/>
          <p:cNvGrpSpPr/>
          <p:nvPr/>
        </p:nvGrpSpPr>
        <p:grpSpPr>
          <a:xfrm>
            <a:off x="3556000" y="1524000"/>
            <a:ext cx="5207000" cy="2984600"/>
            <a:chOff x="2667000" y="1143000"/>
            <a:chExt cx="3905250" cy="2238450"/>
          </a:xfrm>
        </p:grpSpPr>
        <p:sp>
          <p:nvSpPr>
            <p:cNvPr id="573" name="Google Shape;573;p31"/>
            <p:cNvSpPr/>
            <p:nvPr/>
          </p:nvSpPr>
          <p:spPr>
            <a:xfrm>
              <a:off x="2762250" y="1238250"/>
              <a:ext cx="3810000" cy="2143200"/>
            </a:xfrm>
            <a:prstGeom prst="roundRect">
              <a:avLst>
                <a:gd name="adj" fmla="val 5333"/>
              </a:avLst>
            </a:prstGeom>
            <a:solidFill>
              <a:srgbClr val="FF5733">
                <a:alpha val="89999"/>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pic>
          <p:nvPicPr>
            <p:cNvPr id="574" name="Google Shape;574;p31"/>
            <p:cNvPicPr preferRelativeResize="0"/>
            <p:nvPr/>
          </p:nvPicPr>
          <p:blipFill rotWithShape="1">
            <a:blip r:embed="rId4"/>
            <a:srcRect/>
            <a:stretch>
              <a:fillRect/>
            </a:stretch>
          </p:blipFill>
          <p:spPr>
            <a:xfrm>
              <a:off x="2667000" y="1143000"/>
              <a:ext cx="3810000" cy="2143200"/>
            </a:xfrm>
            <a:prstGeom prst="roundRect">
              <a:avLst>
                <a:gd name="adj" fmla="val 5333"/>
              </a:avLst>
            </a:prstGeom>
            <a:noFill/>
            <a:ln>
              <a:noFill/>
            </a:ln>
          </p:spPr>
        </p:pic>
      </p:grpSp>
      <p:grpSp>
        <p:nvGrpSpPr>
          <p:cNvPr id="575" name="Google Shape;575;p31"/>
          <p:cNvGrpSpPr/>
          <p:nvPr/>
        </p:nvGrpSpPr>
        <p:grpSpPr>
          <a:xfrm>
            <a:off x="469900" y="4445000"/>
            <a:ext cx="3886400" cy="2171600"/>
            <a:chOff x="-219075" y="-142875"/>
            <a:chExt cx="2914800" cy="1628700"/>
          </a:xfrm>
        </p:grpSpPr>
        <p:pic>
          <p:nvPicPr>
            <p:cNvPr id="576" name="Google Shape;576;p31"/>
            <p:cNvPicPr preferRelativeResize="0"/>
            <p:nvPr/>
          </p:nvPicPr>
          <p:blipFill rotWithShape="1">
            <a:blip r:embed="rId5"/>
            <a:srcRect/>
            <a:stretch>
              <a:fillRect/>
            </a:stretch>
          </p:blipFill>
          <p:spPr>
            <a:xfrm>
              <a:off x="-219075" y="-142875"/>
              <a:ext cx="2914800" cy="1628700"/>
            </a:xfrm>
            <a:prstGeom prst="rect">
              <a:avLst/>
            </a:prstGeom>
            <a:noFill/>
            <a:ln>
              <a:noFill/>
            </a:ln>
          </p:spPr>
        </p:pic>
        <p:sp>
          <p:nvSpPr>
            <p:cNvPr id="577" name="Google Shape;577;p31"/>
            <p:cNvSpPr/>
            <p:nvPr/>
          </p:nvSpPr>
          <p:spPr>
            <a:xfrm>
              <a:off x="0" y="0"/>
              <a:ext cx="2476500" cy="57300"/>
            </a:xfrm>
            <a:prstGeom prst="roundRect">
              <a:avLst>
                <a:gd name="adj" fmla="val 50000"/>
              </a:avLst>
            </a:prstGeom>
            <a:solidFill>
              <a:srgbClr val="2D68FE"/>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578" name="Google Shape;578;p31"/>
            <p:cNvSpPr txBox="1"/>
            <p:nvPr/>
          </p:nvSpPr>
          <p:spPr>
            <a:xfrm>
              <a:off x="190500" y="190500"/>
              <a:ext cx="20955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2400" b="0">
                  <a:solidFill>
                    <a:srgbClr val="2D68FE"/>
                  </a:solidFill>
                  <a:latin typeface="Poppins ExtraBold"/>
                  <a:ea typeface="Poppins ExtraBold"/>
                  <a:cs typeface="Poppins ExtraBold"/>
                  <a:sym typeface="Poppins ExtraBold"/>
                </a:rPr>
                <a:t>01</a:t>
              </a:r>
              <a:endParaRPr sz="2400" b="0">
                <a:solidFill>
                  <a:srgbClr val="2D68FE"/>
                </a:solidFill>
                <a:latin typeface="Poppins ExtraBold"/>
                <a:ea typeface="Poppins ExtraBold"/>
                <a:cs typeface="Poppins ExtraBold"/>
                <a:sym typeface="Poppins ExtraBold"/>
              </a:endParaRPr>
            </a:p>
            <a:p>
              <a:pPr marL="0" lvl="0" indent="0" algn="l" rtl="0">
                <a:spcBef>
                  <a:spcPts val="600"/>
                </a:spcBef>
                <a:spcAft>
                  <a:spcPts val="0"/>
                </a:spcAft>
                <a:buNone/>
              </a:pPr>
              <a:r>
                <a:rPr lang="en-GB" sz="1500" b="0">
                  <a:solidFill>
                    <a:srgbClr val="0B132B"/>
                  </a:solidFill>
                  <a:latin typeface="Inter SemiBold" panose="02000503000000020004"/>
                  <a:ea typeface="Inter SemiBold" panose="02000503000000020004"/>
                  <a:cs typeface="Inter SemiBold" panose="02000503000000020004"/>
                  <a:sym typeface="Inter SemiBold" panose="02000503000000020004"/>
                </a:rPr>
                <a:t>Dress neatly and presentably.</a:t>
              </a:r>
              <a:endParaRPr sz="1500" b="0">
                <a:solidFill>
                  <a:srgbClr val="0B132B"/>
                </a:solidFill>
                <a:latin typeface="Inter SemiBold" panose="02000503000000020004"/>
                <a:ea typeface="Inter SemiBold" panose="02000503000000020004"/>
                <a:cs typeface="Inter SemiBold" panose="02000503000000020004"/>
                <a:sym typeface="Inter SemiBold" panose="02000503000000020004"/>
              </a:endParaRPr>
            </a:p>
          </p:txBody>
        </p:sp>
      </p:grpSp>
      <p:grpSp>
        <p:nvGrpSpPr>
          <p:cNvPr id="579" name="Google Shape;579;p31"/>
          <p:cNvGrpSpPr/>
          <p:nvPr/>
        </p:nvGrpSpPr>
        <p:grpSpPr>
          <a:xfrm>
            <a:off x="4152900" y="4445000"/>
            <a:ext cx="3886400" cy="2171600"/>
            <a:chOff x="-219075" y="-142875"/>
            <a:chExt cx="2914800" cy="1628700"/>
          </a:xfrm>
        </p:grpSpPr>
        <p:pic>
          <p:nvPicPr>
            <p:cNvPr id="580" name="Google Shape;580;p31"/>
            <p:cNvPicPr preferRelativeResize="0"/>
            <p:nvPr/>
          </p:nvPicPr>
          <p:blipFill rotWithShape="1">
            <a:blip r:embed="rId5"/>
            <a:srcRect/>
            <a:stretch>
              <a:fillRect/>
            </a:stretch>
          </p:blipFill>
          <p:spPr>
            <a:xfrm>
              <a:off x="-219075" y="-142875"/>
              <a:ext cx="2914800" cy="1628700"/>
            </a:xfrm>
            <a:prstGeom prst="rect">
              <a:avLst/>
            </a:prstGeom>
            <a:noFill/>
            <a:ln>
              <a:noFill/>
            </a:ln>
          </p:spPr>
        </p:pic>
        <p:sp>
          <p:nvSpPr>
            <p:cNvPr id="581" name="Google Shape;581;p31"/>
            <p:cNvSpPr/>
            <p:nvPr/>
          </p:nvSpPr>
          <p:spPr>
            <a:xfrm>
              <a:off x="0" y="0"/>
              <a:ext cx="2476500" cy="57300"/>
            </a:xfrm>
            <a:prstGeom prst="roundRect">
              <a:avLst>
                <a:gd name="adj" fmla="val 50000"/>
              </a:avLst>
            </a:prstGeom>
            <a:solidFill>
              <a:srgbClr val="FF5733"/>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582" name="Google Shape;582;p31"/>
            <p:cNvSpPr txBox="1"/>
            <p:nvPr/>
          </p:nvSpPr>
          <p:spPr>
            <a:xfrm>
              <a:off x="190500" y="190500"/>
              <a:ext cx="20955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2400" b="0">
                  <a:solidFill>
                    <a:srgbClr val="FF5733"/>
                  </a:solidFill>
                  <a:latin typeface="Poppins ExtraBold"/>
                  <a:ea typeface="Poppins ExtraBold"/>
                  <a:cs typeface="Poppins ExtraBold"/>
                  <a:sym typeface="Poppins ExtraBold"/>
                </a:rPr>
                <a:t>02</a:t>
              </a:r>
              <a:endParaRPr sz="2400" b="0">
                <a:solidFill>
                  <a:srgbClr val="FF5733"/>
                </a:solidFill>
                <a:latin typeface="Poppins ExtraBold"/>
                <a:ea typeface="Poppins ExtraBold"/>
                <a:cs typeface="Poppins ExtraBold"/>
                <a:sym typeface="Poppins ExtraBold"/>
              </a:endParaRPr>
            </a:p>
            <a:p>
              <a:pPr marL="0" lvl="0" indent="0" algn="l" rtl="0">
                <a:spcBef>
                  <a:spcPts val="600"/>
                </a:spcBef>
                <a:spcAft>
                  <a:spcPts val="0"/>
                </a:spcAft>
                <a:buNone/>
              </a:pPr>
              <a:r>
                <a:rPr lang="en-GB" sz="1500" b="0">
                  <a:solidFill>
                    <a:srgbClr val="0B132B"/>
                  </a:solidFill>
                  <a:latin typeface="Inter SemiBold" panose="02000503000000020004"/>
                  <a:ea typeface="Inter SemiBold" panose="02000503000000020004"/>
                  <a:cs typeface="Inter SemiBold" panose="02000503000000020004"/>
                  <a:sym typeface="Inter SemiBold" panose="02000503000000020004"/>
                </a:rPr>
                <a:t>Offer a firm handshake (if in person).</a:t>
              </a:r>
              <a:endParaRPr sz="1500" b="0">
                <a:solidFill>
                  <a:srgbClr val="0B132B"/>
                </a:solidFill>
                <a:latin typeface="Inter SemiBold" panose="02000503000000020004"/>
                <a:ea typeface="Inter SemiBold" panose="02000503000000020004"/>
                <a:cs typeface="Inter SemiBold" panose="02000503000000020004"/>
                <a:sym typeface="Inter SemiBold" panose="02000503000000020004"/>
              </a:endParaRPr>
            </a:p>
          </p:txBody>
        </p:sp>
      </p:grpSp>
      <p:grpSp>
        <p:nvGrpSpPr>
          <p:cNvPr id="583" name="Google Shape;583;p31"/>
          <p:cNvGrpSpPr/>
          <p:nvPr/>
        </p:nvGrpSpPr>
        <p:grpSpPr>
          <a:xfrm>
            <a:off x="7835900" y="4445000"/>
            <a:ext cx="3886400" cy="2171600"/>
            <a:chOff x="-219075" y="-142875"/>
            <a:chExt cx="2914800" cy="1628700"/>
          </a:xfrm>
        </p:grpSpPr>
        <p:pic>
          <p:nvPicPr>
            <p:cNvPr id="584" name="Google Shape;584;p31"/>
            <p:cNvPicPr preferRelativeResize="0"/>
            <p:nvPr/>
          </p:nvPicPr>
          <p:blipFill rotWithShape="1">
            <a:blip r:embed="rId5"/>
            <a:srcRect/>
            <a:stretch>
              <a:fillRect/>
            </a:stretch>
          </p:blipFill>
          <p:spPr>
            <a:xfrm>
              <a:off x="-219075" y="-142875"/>
              <a:ext cx="2914800" cy="1628700"/>
            </a:xfrm>
            <a:prstGeom prst="rect">
              <a:avLst/>
            </a:prstGeom>
            <a:noFill/>
            <a:ln>
              <a:noFill/>
            </a:ln>
          </p:spPr>
        </p:pic>
        <p:sp>
          <p:nvSpPr>
            <p:cNvPr id="585" name="Google Shape;585;p31"/>
            <p:cNvSpPr/>
            <p:nvPr/>
          </p:nvSpPr>
          <p:spPr>
            <a:xfrm>
              <a:off x="0" y="0"/>
              <a:ext cx="2476500" cy="57300"/>
            </a:xfrm>
            <a:prstGeom prst="roundRect">
              <a:avLst>
                <a:gd name="adj" fmla="val 50000"/>
              </a:avLst>
            </a:prstGeom>
            <a:solidFill>
              <a:srgbClr val="FFC300"/>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586" name="Google Shape;586;p31"/>
            <p:cNvSpPr txBox="1"/>
            <p:nvPr/>
          </p:nvSpPr>
          <p:spPr>
            <a:xfrm>
              <a:off x="190500" y="190500"/>
              <a:ext cx="20955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2400" b="0">
                  <a:solidFill>
                    <a:srgbClr val="FFC300"/>
                  </a:solidFill>
                  <a:latin typeface="Poppins ExtraBold"/>
                  <a:ea typeface="Poppins ExtraBold"/>
                  <a:cs typeface="Poppins ExtraBold"/>
                  <a:sym typeface="Poppins ExtraBold"/>
                </a:rPr>
                <a:t>03</a:t>
              </a:r>
              <a:endParaRPr sz="2400" b="0">
                <a:solidFill>
                  <a:srgbClr val="FFC300"/>
                </a:solidFill>
                <a:latin typeface="Poppins ExtraBold"/>
                <a:ea typeface="Poppins ExtraBold"/>
                <a:cs typeface="Poppins ExtraBold"/>
                <a:sym typeface="Poppins ExtraBold"/>
              </a:endParaRPr>
            </a:p>
            <a:p>
              <a:pPr marL="0" lvl="0" indent="0" algn="l" rtl="0">
                <a:spcBef>
                  <a:spcPts val="600"/>
                </a:spcBef>
                <a:spcAft>
                  <a:spcPts val="0"/>
                </a:spcAft>
                <a:buNone/>
              </a:pPr>
              <a:r>
                <a:rPr lang="en-GB" sz="1500" b="0">
                  <a:solidFill>
                    <a:srgbClr val="0B132B"/>
                  </a:solidFill>
                  <a:latin typeface="Inter SemiBold" panose="02000503000000020004"/>
                  <a:ea typeface="Inter SemiBold" panose="02000503000000020004"/>
                  <a:cs typeface="Inter SemiBold" panose="02000503000000020004"/>
                  <a:sym typeface="Inter SemiBold" panose="02000503000000020004"/>
                </a:rPr>
                <a:t>Maintain a confident posture and deliver assured answers.</a:t>
              </a:r>
              <a:endParaRPr sz="1500" b="0">
                <a:solidFill>
                  <a:srgbClr val="0B132B"/>
                </a:solidFill>
                <a:latin typeface="Inter SemiBold" panose="02000503000000020004"/>
                <a:ea typeface="Inter SemiBold" panose="02000503000000020004"/>
                <a:cs typeface="Inter SemiBold" panose="02000503000000020004"/>
                <a:sym typeface="Inter SemiBold" panose="020005030000000200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8"/>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168" name="Google Shape;168;p18"/>
          <p:cNvPicPr preferRelativeResize="0"/>
          <p:nvPr/>
        </p:nvPicPr>
        <p:blipFill rotWithShape="1">
          <a:blip r:embed="rId3"/>
          <a:srcRect/>
          <a:stretch>
            <a:fillRect/>
          </a:stretch>
        </p:blipFill>
        <p:spPr>
          <a:xfrm>
            <a:off x="0" y="10160"/>
            <a:ext cx="11976000" cy="6642000"/>
          </a:xfrm>
          <a:prstGeom prst="rect">
            <a:avLst/>
          </a:prstGeom>
          <a:noFill/>
          <a:ln>
            <a:noFill/>
          </a:ln>
        </p:spPr>
      </p:pic>
      <p:sp>
        <p:nvSpPr>
          <p:cNvPr id="169" name="Google Shape;169;p18"/>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sp>
        <p:nvSpPr>
          <p:cNvPr id="170" name="Google Shape;170;p18"/>
          <p:cNvSpPr/>
          <p:nvPr/>
        </p:nvSpPr>
        <p:spPr>
          <a:xfrm>
            <a:off x="11557000" y="6223000"/>
            <a:ext cx="635200" cy="635200"/>
          </a:xfrm>
          <a:custGeom>
            <a:avLst/>
            <a:gdLst/>
            <a:ahLst/>
            <a:cxnLst/>
            <a:rect l="l" t="t" r="r" b="b"/>
            <a:pathLst>
              <a:path w="120000" h="120000" extrusionOk="0">
                <a:moveTo>
                  <a:pt x="120000" y="120000"/>
                </a:moveTo>
                <a:lnTo>
                  <a:pt x="120000" y="0"/>
                </a:lnTo>
                <a:lnTo>
                  <a:pt x="0" y="120000"/>
                </a:lnTo>
                <a:close/>
              </a:path>
            </a:pathLst>
          </a:custGeom>
          <a:solidFill>
            <a:srgbClr val="FFC300">
              <a:alpha val="60000"/>
            </a:srgbClr>
          </a:solidFill>
          <a:ln>
            <a:noFill/>
          </a:ln>
        </p:spPr>
        <p:txBody>
          <a:bodyPr spcFirstLastPara="1" wrap="square" lIns="0" tIns="0" rIns="0" bIns="0" anchor="ctr" anchorCtr="0">
            <a:noAutofit/>
          </a:bodyPr>
          <a:lstStyle/>
          <a:p>
            <a:endParaRPr sz="2400"/>
          </a:p>
        </p:txBody>
      </p:sp>
      <p:sp>
        <p:nvSpPr>
          <p:cNvPr id="171" name="Google Shape;171;p18"/>
          <p:cNvSpPr txBox="1"/>
          <p:nvPr/>
        </p:nvSpPr>
        <p:spPr>
          <a:xfrm>
            <a:off x="761999" y="508000"/>
            <a:ext cx="11175999" cy="1005839"/>
          </a:xfrm>
          <a:prstGeom prst="rect">
            <a:avLst/>
          </a:prstGeom>
          <a:solidFill>
            <a:srgbClr val="000000">
              <a:alpha val="0"/>
            </a:srgbClr>
          </a:solidFill>
          <a:ln>
            <a:noFill/>
          </a:ln>
        </p:spPr>
        <p:txBody>
          <a:bodyPr spcFirstLastPara="1" wrap="square" lIns="0" tIns="0" rIns="0" bIns="0" anchor="t" anchorCtr="0">
            <a:noAutofit/>
          </a:bodyPr>
          <a:lstStyle/>
          <a:p>
            <a:pPr>
              <a:spcBef>
                <a:spcPts val="1200"/>
              </a:spcBef>
              <a:spcAft>
                <a:spcPts val="1200"/>
              </a:spcAft>
            </a:pPr>
            <a:r>
              <a:rPr lang="en-US" sz="3200" dirty="0">
                <a:solidFill>
                  <a:srgbClr val="0B132B"/>
                </a:solidFill>
                <a:latin typeface="Poppins SemiBold"/>
                <a:ea typeface="Poppins SemiBold"/>
                <a:cs typeface="Poppins SemiBold"/>
                <a:sym typeface="Poppins SemiBold"/>
              </a:rPr>
              <a:t>Technical Interviews - Standard Behavioral Questions</a:t>
            </a:r>
            <a:r>
              <a:rPr lang="en-US" sz="3600" dirty="0">
                <a:solidFill>
                  <a:srgbClr val="0B132B"/>
                </a:solidFill>
                <a:latin typeface="Poppins SemiBold"/>
                <a:ea typeface="Poppins SemiBold"/>
                <a:cs typeface="Poppins SemiBold"/>
                <a:sym typeface="Poppins SemiBold"/>
              </a:rPr>
              <a:t> </a:t>
            </a:r>
            <a:endParaRPr lang="en-US"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p:cNvCxnSpPr/>
          <p:nvPr/>
        </p:nvCxnSpPr>
        <p:spPr>
          <a:xfrm>
            <a:off x="508000" y="182880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grpSp>
        <p:nvGrpSpPr>
          <p:cNvPr id="123" name="Google Shape;123;p16"/>
          <p:cNvGrpSpPr/>
          <p:nvPr/>
        </p:nvGrpSpPr>
        <p:grpSpPr>
          <a:xfrm>
            <a:off x="460587" y="2095501"/>
            <a:ext cx="11223413" cy="4422988"/>
            <a:chOff x="-3904618" y="1345744"/>
            <a:chExt cx="8473440" cy="1673386"/>
          </a:xfrm>
        </p:grpSpPr>
        <p:sp>
          <p:nvSpPr>
            <p:cNvPr id="2" name="Google Shape;125;p16"/>
            <p:cNvSpPr/>
            <p:nvPr/>
          </p:nvSpPr>
          <p:spPr>
            <a:xfrm>
              <a:off x="-3904618" y="1345744"/>
              <a:ext cx="8473440" cy="1673386"/>
            </a:xfrm>
            <a:prstGeom prst="roundRect">
              <a:avLst>
                <a:gd name="adj" fmla="val 4444"/>
              </a:avLst>
            </a:prstGeom>
            <a:solidFill>
              <a:srgbClr val="FFFFFF"/>
            </a:solidFill>
            <a:ln w="952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sp>
          <p:nvSpPr>
            <p:cNvPr id="130" name="Google Shape;130;p16"/>
            <p:cNvSpPr txBox="1"/>
            <p:nvPr/>
          </p:nvSpPr>
          <p:spPr>
            <a:xfrm>
              <a:off x="-3676418" y="1420060"/>
              <a:ext cx="8053475" cy="1537567"/>
            </a:xfrm>
            <a:prstGeom prst="rect">
              <a:avLst/>
            </a:prstGeom>
            <a:noFill/>
            <a:ln>
              <a:noFill/>
            </a:ln>
          </p:spPr>
          <p:txBody>
            <a:bodyPr spcFirstLastPara="1" wrap="square" lIns="0" tIns="0" rIns="0" bIns="0" anchor="t" anchorCtr="0">
              <a:noAutofit/>
            </a:bodyPr>
            <a:lstStyle/>
            <a:p>
              <a:pPr marL="228594" indent="-228594">
                <a:spcBef>
                  <a:spcPts val="533"/>
                </a:spcBef>
                <a:spcAft>
                  <a:spcPts val="533"/>
                </a:spcAft>
                <a:buClr>
                  <a:srgbClr val="00B050"/>
                </a:buClr>
                <a:buSzPct val="125000"/>
                <a:buFont typeface="Wingdings" panose="05000000000000000000" charset="0"/>
                <a:buChar char=""/>
              </a:pPr>
              <a:r>
                <a:rPr lang="en-US" sz="2133" dirty="0">
                  <a:solidFill>
                    <a:srgbClr val="4B5563"/>
                  </a:solidFill>
                  <a:latin typeface="DM Sans Medium"/>
                  <a:ea typeface="DM Sans Medium"/>
                  <a:cs typeface="DM Sans Medium"/>
                  <a:sym typeface="DM Sans Medium"/>
                </a:rPr>
                <a:t>  Tell me about yourself</a:t>
              </a:r>
            </a:p>
            <a:p>
              <a:pPr marL="228594" indent="-228594">
                <a:spcBef>
                  <a:spcPts val="533"/>
                </a:spcBef>
                <a:spcAft>
                  <a:spcPts val="533"/>
                </a:spcAft>
                <a:buClr>
                  <a:srgbClr val="00B050"/>
                </a:buClr>
                <a:buSzPct val="125000"/>
                <a:buFont typeface="Wingdings" panose="05000000000000000000" charset="0"/>
                <a:buChar char=""/>
              </a:pPr>
              <a:r>
                <a:rPr lang="en-US" sz="2133" dirty="0">
                  <a:solidFill>
                    <a:srgbClr val="4B5563"/>
                  </a:solidFill>
                  <a:latin typeface="DM Sans Medium"/>
                  <a:ea typeface="DM Sans Medium"/>
                  <a:cs typeface="DM Sans Medium"/>
                  <a:sym typeface="DM Sans Medium"/>
                </a:rPr>
                <a:t>  Explain project XYZ</a:t>
              </a:r>
            </a:p>
            <a:p>
              <a:pPr marL="228594" indent="-228594">
                <a:spcBef>
                  <a:spcPts val="533"/>
                </a:spcBef>
                <a:spcAft>
                  <a:spcPts val="533"/>
                </a:spcAft>
                <a:buClr>
                  <a:srgbClr val="00B050"/>
                </a:buClr>
                <a:buSzPct val="125000"/>
                <a:buFont typeface="Wingdings" panose="05000000000000000000" charset="0"/>
                <a:buChar char=""/>
              </a:pPr>
              <a:r>
                <a:rPr lang="en-US" sz="2133" dirty="0">
                  <a:solidFill>
                    <a:srgbClr val="4B5563"/>
                  </a:solidFill>
                  <a:latin typeface="DM Sans Medium"/>
                  <a:ea typeface="DM Sans Medium"/>
                  <a:cs typeface="DM Sans Medium"/>
                  <a:sym typeface="DM Sans Medium"/>
                </a:rPr>
                <a:t>  Tell me about a technical challenge you overcame during the Internship / Projects.</a:t>
              </a:r>
            </a:p>
            <a:p>
              <a:pPr marL="228594" indent="-228594">
                <a:spcBef>
                  <a:spcPts val="533"/>
                </a:spcBef>
                <a:spcAft>
                  <a:spcPts val="533"/>
                </a:spcAft>
                <a:buClr>
                  <a:srgbClr val="00B050"/>
                </a:buClr>
                <a:buSzPct val="125000"/>
                <a:buFont typeface="Wingdings" panose="05000000000000000000" charset="0"/>
                <a:buChar char=""/>
              </a:pPr>
              <a:r>
                <a:rPr lang="en-US" sz="2133" dirty="0">
                  <a:solidFill>
                    <a:srgbClr val="4B5563"/>
                  </a:solidFill>
                  <a:latin typeface="DM Sans Medium"/>
                  <a:ea typeface="DM Sans Medium"/>
                  <a:cs typeface="DM Sans Medium"/>
                  <a:sym typeface="DM Sans Medium"/>
                </a:rPr>
                <a:t>  What is your most significant accomplishment across your projects?</a:t>
              </a:r>
            </a:p>
            <a:p>
              <a:pPr marL="228594" indent="-228594">
                <a:spcBef>
                  <a:spcPts val="533"/>
                </a:spcBef>
                <a:spcAft>
                  <a:spcPts val="533"/>
                </a:spcAft>
                <a:buClr>
                  <a:srgbClr val="00B050"/>
                </a:buClr>
                <a:buSzPct val="125000"/>
                <a:buFont typeface="Wingdings" panose="05000000000000000000" charset="0"/>
                <a:buChar char=""/>
              </a:pPr>
              <a:r>
                <a:rPr lang="en-US" sz="2133" dirty="0">
                  <a:solidFill>
                    <a:srgbClr val="4B5563"/>
                  </a:solidFill>
                  <a:latin typeface="DM Sans Medium"/>
                  <a:ea typeface="DM Sans Medium"/>
                  <a:cs typeface="DM Sans Medium"/>
                  <a:sym typeface="DM Sans Medium"/>
                </a:rPr>
                <a:t>  Where do you see yourself in next 5 years ?</a:t>
              </a:r>
            </a:p>
            <a:p>
              <a:pPr marL="228594" indent="-228594">
                <a:spcBef>
                  <a:spcPts val="533"/>
                </a:spcBef>
                <a:spcAft>
                  <a:spcPts val="533"/>
                </a:spcAft>
                <a:buClr>
                  <a:srgbClr val="00B050"/>
                </a:buClr>
                <a:buSzPct val="125000"/>
                <a:buFont typeface="Wingdings" panose="05000000000000000000" charset="0"/>
                <a:buChar char=""/>
              </a:pPr>
              <a:r>
                <a:rPr lang="en-US" sz="2133" dirty="0">
                  <a:solidFill>
                    <a:srgbClr val="4B5563"/>
                  </a:solidFill>
                  <a:latin typeface="DM Sans Medium"/>
                  <a:ea typeface="DM Sans Medium"/>
                  <a:cs typeface="DM Sans Medium"/>
                  <a:sym typeface="DM Sans Medium"/>
                </a:rPr>
                <a:t>  Why do you want to join our company ?</a:t>
              </a:r>
            </a:p>
            <a:p>
              <a:pPr marL="228594" indent="-228594">
                <a:spcBef>
                  <a:spcPts val="533"/>
                </a:spcBef>
                <a:spcAft>
                  <a:spcPts val="533"/>
                </a:spcAft>
                <a:buClr>
                  <a:srgbClr val="00B050"/>
                </a:buClr>
                <a:buSzPct val="125000"/>
                <a:buFont typeface="Wingdings" panose="05000000000000000000" charset="0"/>
                <a:buChar char=""/>
              </a:pPr>
              <a:r>
                <a:rPr lang="en-US" sz="2133" dirty="0">
                  <a:solidFill>
                    <a:srgbClr val="4B5563"/>
                  </a:solidFill>
                  <a:latin typeface="DM Sans Medium"/>
                  <a:ea typeface="DM Sans Medium"/>
                  <a:cs typeface="DM Sans Medium"/>
                  <a:sym typeface="DM Sans Medium"/>
                </a:rPr>
                <a:t>  How do you manage conflict within the team ?</a:t>
              </a:r>
            </a:p>
            <a:p>
              <a:pPr marL="228594" indent="-228594">
                <a:spcBef>
                  <a:spcPts val="533"/>
                </a:spcBef>
                <a:spcAft>
                  <a:spcPts val="533"/>
                </a:spcAft>
                <a:buClr>
                  <a:srgbClr val="00B050"/>
                </a:buClr>
                <a:buSzPct val="125000"/>
                <a:buFont typeface="Wingdings" panose="05000000000000000000" charset="0"/>
                <a:buChar char=""/>
              </a:pPr>
              <a:r>
                <a:rPr lang="en-US" sz="2133" dirty="0">
                  <a:solidFill>
                    <a:srgbClr val="4B5563"/>
                  </a:solidFill>
                  <a:latin typeface="DM Sans Medium"/>
                  <a:ea typeface="DM Sans Medium"/>
                  <a:cs typeface="DM Sans Medium"/>
                  <a:sym typeface="DM Sans Medium"/>
                </a:rPr>
                <a:t>  Do you have any question for me or the company ?</a:t>
              </a:r>
            </a:p>
          </p:txBody>
        </p:sp>
      </p:grpSp>
    </p:spTree>
    <p:extLst>
      <p:ext uri="{BB962C8B-B14F-4D97-AF65-F5344CB8AC3E}">
        <p14:creationId xmlns:p14="http://schemas.microsoft.com/office/powerpoint/2010/main" val="2416867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BEB9F8F9-5FC2-F199-D82A-1EC3ACE035FA}"/>
            </a:ext>
          </a:extLst>
        </p:cNvPr>
        <p:cNvGrpSpPr/>
        <p:nvPr/>
      </p:nvGrpSpPr>
      <p:grpSpPr>
        <a:xfrm>
          <a:off x="0" y="0"/>
          <a:ext cx="0" cy="0"/>
          <a:chOff x="0" y="0"/>
          <a:chExt cx="0" cy="0"/>
        </a:xfrm>
      </p:grpSpPr>
      <p:sp>
        <p:nvSpPr>
          <p:cNvPr id="283" name="Google Shape;283;p22">
            <a:extLst>
              <a:ext uri="{FF2B5EF4-FFF2-40B4-BE49-F238E27FC236}">
                <a16:creationId xmlns:a16="http://schemas.microsoft.com/office/drawing/2014/main" id="{7868FBB6-3E2E-78D3-9CDF-81699004679D}"/>
              </a:ext>
            </a:extLst>
          </p:cNvPr>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80" name="Google Shape;80;p15">
            <a:extLst>
              <a:ext uri="{FF2B5EF4-FFF2-40B4-BE49-F238E27FC236}">
                <a16:creationId xmlns:a16="http://schemas.microsoft.com/office/drawing/2014/main" id="{FD930803-13E7-F5F0-A435-C878E196C361}"/>
              </a:ext>
            </a:extLst>
          </p:cNvPr>
          <p:cNvPicPr preferRelativeResize="0"/>
          <p:nvPr/>
        </p:nvPicPr>
        <p:blipFill rotWithShape="1">
          <a:blip r:embed="rId3"/>
          <a:srcRect/>
          <a:stretch>
            <a:fillRect/>
          </a:stretch>
        </p:blipFill>
        <p:spPr>
          <a:xfrm>
            <a:off x="6773" y="6774"/>
            <a:ext cx="12185227" cy="6852073"/>
          </a:xfrm>
          <a:prstGeom prst="rect">
            <a:avLst/>
          </a:prstGeom>
          <a:noFill/>
          <a:ln>
            <a:noFill/>
          </a:ln>
        </p:spPr>
      </p:pic>
      <p:sp>
        <p:nvSpPr>
          <p:cNvPr id="284" name="Google Shape;284;p22">
            <a:extLst>
              <a:ext uri="{FF2B5EF4-FFF2-40B4-BE49-F238E27FC236}">
                <a16:creationId xmlns:a16="http://schemas.microsoft.com/office/drawing/2014/main" id="{B7A5BE89-1919-59AD-CE48-1D737798C75D}"/>
              </a:ext>
            </a:extLst>
          </p:cNvPr>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pic>
        <p:nvPicPr>
          <p:cNvPr id="286" name="Google Shape;286;p22">
            <a:extLst>
              <a:ext uri="{FF2B5EF4-FFF2-40B4-BE49-F238E27FC236}">
                <a16:creationId xmlns:a16="http://schemas.microsoft.com/office/drawing/2014/main" id="{67E200AB-6FA9-4E9E-4504-633CAEEB9644}"/>
              </a:ext>
            </a:extLst>
          </p:cNvPr>
          <p:cNvPicPr preferRelativeResize="0"/>
          <p:nvPr/>
        </p:nvPicPr>
        <p:blipFill rotWithShape="1">
          <a:blip r:embed="rId4"/>
          <a:srcRect/>
          <a:stretch>
            <a:fillRect/>
          </a:stretch>
        </p:blipFill>
        <p:spPr>
          <a:xfrm>
            <a:off x="9131300" y="1130300"/>
            <a:ext cx="3035200" cy="4597600"/>
          </a:xfrm>
          <a:prstGeom prst="rect">
            <a:avLst/>
          </a:prstGeom>
          <a:noFill/>
          <a:ln>
            <a:noFill/>
          </a:ln>
        </p:spPr>
      </p:pic>
      <p:sp>
        <p:nvSpPr>
          <p:cNvPr id="288" name="Google Shape;288;p22">
            <a:extLst>
              <a:ext uri="{FF2B5EF4-FFF2-40B4-BE49-F238E27FC236}">
                <a16:creationId xmlns:a16="http://schemas.microsoft.com/office/drawing/2014/main" id="{271AC1B7-82E4-E79C-D6DF-206957CB409F}"/>
              </a:ext>
            </a:extLst>
          </p:cNvPr>
          <p:cNvSpPr txBox="1"/>
          <p:nvPr/>
        </p:nvSpPr>
        <p:spPr>
          <a:xfrm>
            <a:off x="762000" y="508000"/>
            <a:ext cx="10668000" cy="967055"/>
          </a:xfrm>
          <a:prstGeom prst="rect">
            <a:avLst/>
          </a:prstGeom>
          <a:solidFill>
            <a:srgbClr val="000000">
              <a:alpha val="0"/>
            </a:srgbClr>
          </a:solidFill>
          <a:ln>
            <a:noFill/>
          </a:ln>
        </p:spPr>
        <p:txBody>
          <a:bodyPr spcFirstLastPara="1" wrap="square" lIns="0" tIns="0" rIns="0" bIns="0" anchor="t" anchorCtr="0">
            <a:noAutofit/>
          </a:bodyPr>
          <a:lstStyle/>
          <a:p>
            <a:pPr>
              <a:spcBef>
                <a:spcPts val="800"/>
              </a:spcBef>
              <a:spcAft>
                <a:spcPts val="800"/>
              </a:spcAft>
            </a:pPr>
            <a:r>
              <a:rPr lang="en-US" sz="3600" dirty="0">
                <a:solidFill>
                  <a:srgbClr val="4B5563"/>
                </a:solidFill>
                <a:latin typeface="DM Sans Medium"/>
                <a:ea typeface="DM Sans Medium"/>
                <a:cs typeface="DM Sans Medium"/>
                <a:sym typeface="DM Sans Medium"/>
              </a:rPr>
              <a:t>Tell me about yourself</a:t>
            </a:r>
            <a:endParaRPr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a:extLst>
              <a:ext uri="{FF2B5EF4-FFF2-40B4-BE49-F238E27FC236}">
                <a16:creationId xmlns:a16="http://schemas.microsoft.com/office/drawing/2014/main" id="{668D8B42-E030-0104-E32F-D2BE9255FE0F}"/>
              </a:ext>
            </a:extLst>
          </p:cNvPr>
          <p:cNvCxnSpPr/>
          <p:nvPr/>
        </p:nvCxnSpPr>
        <p:spPr>
          <a:xfrm>
            <a:off x="415713" y="149352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7" name="TextBox 6">
            <a:extLst>
              <a:ext uri="{FF2B5EF4-FFF2-40B4-BE49-F238E27FC236}">
                <a16:creationId xmlns:a16="http://schemas.microsoft.com/office/drawing/2014/main" id="{B6FB9C18-1709-DBB5-DC3F-1F060C8BADAC}"/>
              </a:ext>
            </a:extLst>
          </p:cNvPr>
          <p:cNvSpPr txBox="1"/>
          <p:nvPr/>
        </p:nvSpPr>
        <p:spPr>
          <a:xfrm>
            <a:off x="495250" y="1644066"/>
            <a:ext cx="11201500" cy="1938992"/>
          </a:xfrm>
          <a:prstGeom prst="rect">
            <a:avLst/>
          </a:prstGeom>
          <a:noFill/>
        </p:spPr>
        <p:txBody>
          <a:bodyPr wrap="square">
            <a:spAutoFit/>
          </a:bodyPr>
          <a:lstStyle/>
          <a:p>
            <a:pPr>
              <a:buNone/>
            </a:pPr>
            <a:r>
              <a:rPr lang="en-US" sz="2000" b="1" dirty="0"/>
              <a:t>Typical Version</a:t>
            </a:r>
          </a:p>
          <a:p>
            <a:pPr>
              <a:buNone/>
            </a:pPr>
            <a:endParaRPr lang="en-US" sz="2000" b="1" dirty="0"/>
          </a:p>
          <a:p>
            <a:pPr>
              <a:buNone/>
            </a:pPr>
            <a:r>
              <a:rPr lang="en-US" sz="2000" dirty="0"/>
              <a:t>My name is Arun. I am currently pursuing my </a:t>
            </a:r>
            <a:r>
              <a:rPr lang="en-US" sz="2000" dirty="0" err="1"/>
              <a:t>B.Tech</a:t>
            </a:r>
            <a:r>
              <a:rPr lang="en-US" sz="2000" dirty="0"/>
              <a:t> in AI&amp;DS. I know Java, Python and SQL. I have done two projects and completed a few certifications. I am a hardworking person and I am looking for a good opportunity to start my career. I am also quick learner who is passionate about coding, and in my free time, I like playing badminton and reading tech blogs.</a:t>
            </a:r>
          </a:p>
        </p:txBody>
      </p:sp>
      <p:sp>
        <p:nvSpPr>
          <p:cNvPr id="8" name="TextBox 7">
            <a:extLst>
              <a:ext uri="{FF2B5EF4-FFF2-40B4-BE49-F238E27FC236}">
                <a16:creationId xmlns:a16="http://schemas.microsoft.com/office/drawing/2014/main" id="{905CF1FA-2BDB-5093-BCEB-9446BEB24409}"/>
              </a:ext>
            </a:extLst>
          </p:cNvPr>
          <p:cNvSpPr txBox="1"/>
          <p:nvPr/>
        </p:nvSpPr>
        <p:spPr>
          <a:xfrm>
            <a:off x="402963" y="3813911"/>
            <a:ext cx="11201500" cy="2862322"/>
          </a:xfrm>
          <a:prstGeom prst="rect">
            <a:avLst/>
          </a:prstGeom>
          <a:noFill/>
        </p:spPr>
        <p:txBody>
          <a:bodyPr wrap="square">
            <a:spAutoFit/>
          </a:bodyPr>
          <a:lstStyle/>
          <a:p>
            <a:pPr>
              <a:buNone/>
            </a:pPr>
            <a:r>
              <a:rPr lang="en-US" sz="2000" b="1" dirty="0"/>
              <a:t>Improved, Impact-Focused Version</a:t>
            </a:r>
          </a:p>
          <a:p>
            <a:pPr>
              <a:buNone/>
            </a:pPr>
            <a:endParaRPr lang="en-US" sz="2000" b="1" dirty="0"/>
          </a:p>
          <a:p>
            <a:pPr>
              <a:buNone/>
            </a:pPr>
            <a:r>
              <a:rPr lang="en-US" sz="2000" dirty="0"/>
              <a:t>I’m a final-year AI&amp;DS undergrad with a core focus on backend systems and clean API design. Over the past two years, I’ve built full-stack applications and interned at XYZ Company, where I focused primarily on database optimization and asynchronous task queues. I enjoy solving problems and understanding how things work rather than just implementing them. Through my projects and coding practice, I’ve been strengthening both my technical fundamentals and problem-solving skills, and I’m now looking for an opportunity where I can apply these skills and continue learning as a software developer.</a:t>
            </a:r>
          </a:p>
        </p:txBody>
      </p:sp>
    </p:spTree>
    <p:extLst>
      <p:ext uri="{BB962C8B-B14F-4D97-AF65-F5344CB8AC3E}">
        <p14:creationId xmlns:p14="http://schemas.microsoft.com/office/powerpoint/2010/main" val="148168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2E05A4F2-9BEF-610C-DBE3-CEFD05224F1F}"/>
            </a:ext>
          </a:extLst>
        </p:cNvPr>
        <p:cNvGrpSpPr/>
        <p:nvPr/>
      </p:nvGrpSpPr>
      <p:grpSpPr>
        <a:xfrm>
          <a:off x="0" y="0"/>
          <a:ext cx="0" cy="0"/>
          <a:chOff x="0" y="0"/>
          <a:chExt cx="0" cy="0"/>
        </a:xfrm>
      </p:grpSpPr>
      <p:sp>
        <p:nvSpPr>
          <p:cNvPr id="283" name="Google Shape;283;p22">
            <a:extLst>
              <a:ext uri="{FF2B5EF4-FFF2-40B4-BE49-F238E27FC236}">
                <a16:creationId xmlns:a16="http://schemas.microsoft.com/office/drawing/2014/main" id="{0540C9A6-3D36-DDD8-E27C-F3749E5B453C}"/>
              </a:ext>
            </a:extLst>
          </p:cNvPr>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80" name="Google Shape;80;p15">
            <a:extLst>
              <a:ext uri="{FF2B5EF4-FFF2-40B4-BE49-F238E27FC236}">
                <a16:creationId xmlns:a16="http://schemas.microsoft.com/office/drawing/2014/main" id="{30B90626-0620-5B2A-1B07-F8973871FC4E}"/>
              </a:ext>
            </a:extLst>
          </p:cNvPr>
          <p:cNvPicPr preferRelativeResize="0"/>
          <p:nvPr/>
        </p:nvPicPr>
        <p:blipFill rotWithShape="1">
          <a:blip r:embed="rId3"/>
          <a:srcRect/>
          <a:stretch>
            <a:fillRect/>
          </a:stretch>
        </p:blipFill>
        <p:spPr>
          <a:xfrm>
            <a:off x="6773" y="6774"/>
            <a:ext cx="12185227" cy="6852073"/>
          </a:xfrm>
          <a:prstGeom prst="rect">
            <a:avLst/>
          </a:prstGeom>
          <a:noFill/>
          <a:ln>
            <a:noFill/>
          </a:ln>
        </p:spPr>
      </p:pic>
      <p:sp>
        <p:nvSpPr>
          <p:cNvPr id="284" name="Google Shape;284;p22">
            <a:extLst>
              <a:ext uri="{FF2B5EF4-FFF2-40B4-BE49-F238E27FC236}">
                <a16:creationId xmlns:a16="http://schemas.microsoft.com/office/drawing/2014/main" id="{C0B750DE-B715-7306-4573-2AB16E53C157}"/>
              </a:ext>
            </a:extLst>
          </p:cNvPr>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pic>
        <p:nvPicPr>
          <p:cNvPr id="286" name="Google Shape;286;p22">
            <a:extLst>
              <a:ext uri="{FF2B5EF4-FFF2-40B4-BE49-F238E27FC236}">
                <a16:creationId xmlns:a16="http://schemas.microsoft.com/office/drawing/2014/main" id="{5C4AEC3F-7DE6-AF45-DC5B-37C472385618}"/>
              </a:ext>
            </a:extLst>
          </p:cNvPr>
          <p:cNvPicPr preferRelativeResize="0"/>
          <p:nvPr/>
        </p:nvPicPr>
        <p:blipFill rotWithShape="1">
          <a:blip r:embed="rId4"/>
          <a:srcRect/>
          <a:stretch>
            <a:fillRect/>
          </a:stretch>
        </p:blipFill>
        <p:spPr>
          <a:xfrm>
            <a:off x="9131300" y="1130300"/>
            <a:ext cx="3035200" cy="4597600"/>
          </a:xfrm>
          <a:prstGeom prst="rect">
            <a:avLst/>
          </a:prstGeom>
          <a:noFill/>
          <a:ln>
            <a:noFill/>
          </a:ln>
        </p:spPr>
      </p:pic>
      <p:sp>
        <p:nvSpPr>
          <p:cNvPr id="288" name="Google Shape;288;p22">
            <a:extLst>
              <a:ext uri="{FF2B5EF4-FFF2-40B4-BE49-F238E27FC236}">
                <a16:creationId xmlns:a16="http://schemas.microsoft.com/office/drawing/2014/main" id="{855BBBC3-402B-A278-7A1D-47DF7E3E3EB5}"/>
              </a:ext>
            </a:extLst>
          </p:cNvPr>
          <p:cNvSpPr txBox="1"/>
          <p:nvPr/>
        </p:nvSpPr>
        <p:spPr>
          <a:xfrm>
            <a:off x="669713" y="451192"/>
            <a:ext cx="10668000" cy="967055"/>
          </a:xfrm>
          <a:prstGeom prst="rect">
            <a:avLst/>
          </a:prstGeom>
          <a:solidFill>
            <a:srgbClr val="000000">
              <a:alpha val="0"/>
            </a:srgbClr>
          </a:solidFill>
          <a:ln>
            <a:noFill/>
          </a:ln>
        </p:spPr>
        <p:txBody>
          <a:bodyPr spcFirstLastPara="1" wrap="square" lIns="0" tIns="0" rIns="0" bIns="0" anchor="t" anchorCtr="0">
            <a:noAutofit/>
          </a:bodyPr>
          <a:lstStyle/>
          <a:p>
            <a:pPr>
              <a:spcBef>
                <a:spcPts val="800"/>
              </a:spcBef>
              <a:spcAft>
                <a:spcPts val="800"/>
              </a:spcAft>
            </a:pPr>
            <a:r>
              <a:rPr lang="en-IN" sz="3600" dirty="0"/>
              <a:t>Explain Project XYZ</a:t>
            </a:r>
            <a:endParaRPr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a:extLst>
              <a:ext uri="{FF2B5EF4-FFF2-40B4-BE49-F238E27FC236}">
                <a16:creationId xmlns:a16="http://schemas.microsoft.com/office/drawing/2014/main" id="{FB467BA4-7DD9-1F88-C241-3E822A3251C8}"/>
              </a:ext>
            </a:extLst>
          </p:cNvPr>
          <p:cNvCxnSpPr/>
          <p:nvPr/>
        </p:nvCxnSpPr>
        <p:spPr>
          <a:xfrm>
            <a:off x="415713" y="149352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7" name="TextBox 6">
            <a:extLst>
              <a:ext uri="{FF2B5EF4-FFF2-40B4-BE49-F238E27FC236}">
                <a16:creationId xmlns:a16="http://schemas.microsoft.com/office/drawing/2014/main" id="{83C5AB03-C968-A117-201F-30711378716D}"/>
              </a:ext>
            </a:extLst>
          </p:cNvPr>
          <p:cNvSpPr txBox="1"/>
          <p:nvPr/>
        </p:nvSpPr>
        <p:spPr>
          <a:xfrm>
            <a:off x="495250" y="1644066"/>
            <a:ext cx="11201500" cy="1631216"/>
          </a:xfrm>
          <a:prstGeom prst="rect">
            <a:avLst/>
          </a:prstGeom>
          <a:noFill/>
        </p:spPr>
        <p:txBody>
          <a:bodyPr wrap="square">
            <a:spAutoFit/>
          </a:bodyPr>
          <a:lstStyle/>
          <a:p>
            <a:pPr>
              <a:buNone/>
            </a:pPr>
            <a:r>
              <a:rPr lang="en-US" sz="2000" b="1" dirty="0"/>
              <a:t>Typical Version</a:t>
            </a:r>
          </a:p>
          <a:p>
            <a:pPr>
              <a:buNone/>
            </a:pPr>
            <a:endParaRPr lang="en-US" sz="2000" b="1" dirty="0"/>
          </a:p>
          <a:p>
            <a:pPr>
              <a:buNone/>
            </a:pPr>
            <a:r>
              <a:rPr lang="en-US" sz="2000" dirty="0"/>
              <a:t>My project is an Online Book Store. We developed a website using React, Node.js and MySQL. Users can login, search books, add them to cart and place orders. I worked with my team on the project. </a:t>
            </a:r>
          </a:p>
        </p:txBody>
      </p:sp>
      <p:sp>
        <p:nvSpPr>
          <p:cNvPr id="8" name="TextBox 7">
            <a:extLst>
              <a:ext uri="{FF2B5EF4-FFF2-40B4-BE49-F238E27FC236}">
                <a16:creationId xmlns:a16="http://schemas.microsoft.com/office/drawing/2014/main" id="{DE19718D-E5E0-AA0C-3713-6C339AD67AF0}"/>
              </a:ext>
            </a:extLst>
          </p:cNvPr>
          <p:cNvSpPr txBox="1"/>
          <p:nvPr/>
        </p:nvSpPr>
        <p:spPr>
          <a:xfrm>
            <a:off x="402963" y="3620871"/>
            <a:ext cx="11201500" cy="2862322"/>
          </a:xfrm>
          <a:prstGeom prst="rect">
            <a:avLst/>
          </a:prstGeom>
          <a:noFill/>
        </p:spPr>
        <p:txBody>
          <a:bodyPr wrap="square">
            <a:spAutoFit/>
          </a:bodyPr>
          <a:lstStyle/>
          <a:p>
            <a:pPr>
              <a:buNone/>
            </a:pPr>
            <a:r>
              <a:rPr lang="en-US" sz="2000" b="1" dirty="0"/>
              <a:t>Improved, Impact-Focused Version</a:t>
            </a:r>
          </a:p>
          <a:p>
            <a:pPr>
              <a:buNone/>
            </a:pPr>
            <a:endParaRPr lang="en-US" sz="2000" b="1" dirty="0"/>
          </a:p>
          <a:p>
            <a:pPr>
              <a:buNone/>
            </a:pPr>
            <a:r>
              <a:rPr lang="en-US" sz="2000" dirty="0"/>
              <a:t>Our project was an Online Book Store designed to simplify book discovery and ordering for students and readers. I worked as a Full Stack Developer and was mainly responsible for the search, cart and order modules and their API integration. We used React, Node.js, Express and MySQL. One of the main challenges was making the search and filtering efficient as the number of books increased, so I worked on improving the query and filtering logic. The final application supported more than 200 book records during testing and has been rolled out to 800 students currently.</a:t>
            </a:r>
          </a:p>
        </p:txBody>
      </p:sp>
    </p:spTree>
    <p:extLst>
      <p:ext uri="{BB962C8B-B14F-4D97-AF65-F5344CB8AC3E}">
        <p14:creationId xmlns:p14="http://schemas.microsoft.com/office/powerpoint/2010/main" val="159009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64BE8577-9840-FED0-FF85-B44CE9ACBAD6}"/>
            </a:ext>
          </a:extLst>
        </p:cNvPr>
        <p:cNvGrpSpPr/>
        <p:nvPr/>
      </p:nvGrpSpPr>
      <p:grpSpPr>
        <a:xfrm>
          <a:off x="0" y="0"/>
          <a:ext cx="0" cy="0"/>
          <a:chOff x="0" y="0"/>
          <a:chExt cx="0" cy="0"/>
        </a:xfrm>
      </p:grpSpPr>
      <p:sp>
        <p:nvSpPr>
          <p:cNvPr id="283" name="Google Shape;283;p22">
            <a:extLst>
              <a:ext uri="{FF2B5EF4-FFF2-40B4-BE49-F238E27FC236}">
                <a16:creationId xmlns:a16="http://schemas.microsoft.com/office/drawing/2014/main" id="{81FDF7D2-071D-5597-7190-E1330F161494}"/>
              </a:ext>
            </a:extLst>
          </p:cNvPr>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80" name="Google Shape;80;p15">
            <a:extLst>
              <a:ext uri="{FF2B5EF4-FFF2-40B4-BE49-F238E27FC236}">
                <a16:creationId xmlns:a16="http://schemas.microsoft.com/office/drawing/2014/main" id="{21EBEBE0-BCB4-C516-D382-40770AB3D1EF}"/>
              </a:ext>
            </a:extLst>
          </p:cNvPr>
          <p:cNvPicPr preferRelativeResize="0"/>
          <p:nvPr/>
        </p:nvPicPr>
        <p:blipFill rotWithShape="1">
          <a:blip r:embed="rId3"/>
          <a:srcRect/>
          <a:stretch>
            <a:fillRect/>
          </a:stretch>
        </p:blipFill>
        <p:spPr>
          <a:xfrm>
            <a:off x="6773" y="6774"/>
            <a:ext cx="12185227" cy="6852073"/>
          </a:xfrm>
          <a:prstGeom prst="rect">
            <a:avLst/>
          </a:prstGeom>
          <a:noFill/>
          <a:ln>
            <a:noFill/>
          </a:ln>
        </p:spPr>
      </p:pic>
      <p:sp>
        <p:nvSpPr>
          <p:cNvPr id="284" name="Google Shape;284;p22">
            <a:extLst>
              <a:ext uri="{FF2B5EF4-FFF2-40B4-BE49-F238E27FC236}">
                <a16:creationId xmlns:a16="http://schemas.microsoft.com/office/drawing/2014/main" id="{C8ACC78E-CFE8-0A98-3441-FA3893E8BCC3}"/>
              </a:ext>
            </a:extLst>
          </p:cNvPr>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pic>
        <p:nvPicPr>
          <p:cNvPr id="286" name="Google Shape;286;p22">
            <a:extLst>
              <a:ext uri="{FF2B5EF4-FFF2-40B4-BE49-F238E27FC236}">
                <a16:creationId xmlns:a16="http://schemas.microsoft.com/office/drawing/2014/main" id="{4307269A-16B2-75A2-EF6C-58FD6A43DFB9}"/>
              </a:ext>
            </a:extLst>
          </p:cNvPr>
          <p:cNvPicPr preferRelativeResize="0"/>
          <p:nvPr/>
        </p:nvPicPr>
        <p:blipFill rotWithShape="1">
          <a:blip r:embed="rId4"/>
          <a:srcRect/>
          <a:stretch>
            <a:fillRect/>
          </a:stretch>
        </p:blipFill>
        <p:spPr>
          <a:xfrm>
            <a:off x="9131300" y="1130300"/>
            <a:ext cx="3035200" cy="4597600"/>
          </a:xfrm>
          <a:prstGeom prst="rect">
            <a:avLst/>
          </a:prstGeom>
          <a:noFill/>
          <a:ln>
            <a:noFill/>
          </a:ln>
        </p:spPr>
      </p:pic>
      <p:sp>
        <p:nvSpPr>
          <p:cNvPr id="288" name="Google Shape;288;p22">
            <a:extLst>
              <a:ext uri="{FF2B5EF4-FFF2-40B4-BE49-F238E27FC236}">
                <a16:creationId xmlns:a16="http://schemas.microsoft.com/office/drawing/2014/main" id="{BE92247D-6907-E844-ECBE-63279A3BE173}"/>
              </a:ext>
            </a:extLst>
          </p:cNvPr>
          <p:cNvSpPr txBox="1"/>
          <p:nvPr/>
        </p:nvSpPr>
        <p:spPr>
          <a:xfrm>
            <a:off x="578273" y="375920"/>
            <a:ext cx="10668000" cy="967055"/>
          </a:xfrm>
          <a:prstGeom prst="rect">
            <a:avLst/>
          </a:prstGeom>
          <a:solidFill>
            <a:srgbClr val="000000">
              <a:alpha val="0"/>
            </a:srgbClr>
          </a:solidFill>
          <a:ln>
            <a:noFill/>
          </a:ln>
        </p:spPr>
        <p:txBody>
          <a:bodyPr spcFirstLastPara="1" wrap="square" lIns="0" tIns="0" rIns="0" bIns="0" anchor="t" anchorCtr="0">
            <a:noAutofit/>
          </a:bodyPr>
          <a:lstStyle/>
          <a:p>
            <a:pPr>
              <a:spcBef>
                <a:spcPts val="800"/>
              </a:spcBef>
              <a:spcAft>
                <a:spcPts val="800"/>
              </a:spcAft>
            </a:pPr>
            <a:r>
              <a:rPr lang="en-US" sz="3600" dirty="0"/>
              <a:t>Tell me about a technical challenge you overcame</a:t>
            </a:r>
            <a:endParaRPr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a:extLst>
              <a:ext uri="{FF2B5EF4-FFF2-40B4-BE49-F238E27FC236}">
                <a16:creationId xmlns:a16="http://schemas.microsoft.com/office/drawing/2014/main" id="{44BA9895-1621-2CE5-37D2-D5BF9D070576}"/>
              </a:ext>
            </a:extLst>
          </p:cNvPr>
          <p:cNvCxnSpPr/>
          <p:nvPr/>
        </p:nvCxnSpPr>
        <p:spPr>
          <a:xfrm>
            <a:off x="415713" y="149352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7" name="TextBox 6">
            <a:extLst>
              <a:ext uri="{FF2B5EF4-FFF2-40B4-BE49-F238E27FC236}">
                <a16:creationId xmlns:a16="http://schemas.microsoft.com/office/drawing/2014/main" id="{D31BDCFF-03C8-3230-AFF5-FC9F88A9607B}"/>
              </a:ext>
            </a:extLst>
          </p:cNvPr>
          <p:cNvSpPr txBox="1"/>
          <p:nvPr/>
        </p:nvSpPr>
        <p:spPr>
          <a:xfrm>
            <a:off x="495250" y="1644066"/>
            <a:ext cx="11201500" cy="1323439"/>
          </a:xfrm>
          <a:prstGeom prst="rect">
            <a:avLst/>
          </a:prstGeom>
          <a:noFill/>
        </p:spPr>
        <p:txBody>
          <a:bodyPr wrap="square">
            <a:spAutoFit/>
          </a:bodyPr>
          <a:lstStyle/>
          <a:p>
            <a:pPr>
              <a:buNone/>
            </a:pPr>
            <a:r>
              <a:rPr lang="en-US" sz="2000" b="1" dirty="0"/>
              <a:t>Typical Version</a:t>
            </a:r>
          </a:p>
          <a:p>
            <a:pPr>
              <a:buNone/>
            </a:pPr>
            <a:endParaRPr lang="en-US" sz="2000" b="1" dirty="0"/>
          </a:p>
          <a:p>
            <a:pPr>
              <a:buNone/>
            </a:pPr>
            <a:r>
              <a:rPr lang="en-US" sz="2000" dirty="0"/>
              <a:t>During my project, we had some issues with the database and API. I checked the code and searched online for solutions. After trying a few things, I fixed the issue.</a:t>
            </a:r>
          </a:p>
        </p:txBody>
      </p:sp>
      <p:sp>
        <p:nvSpPr>
          <p:cNvPr id="8" name="TextBox 7">
            <a:extLst>
              <a:ext uri="{FF2B5EF4-FFF2-40B4-BE49-F238E27FC236}">
                <a16:creationId xmlns:a16="http://schemas.microsoft.com/office/drawing/2014/main" id="{5C431601-0853-8698-04F6-AF7EA5BD3C54}"/>
              </a:ext>
            </a:extLst>
          </p:cNvPr>
          <p:cNvSpPr txBox="1"/>
          <p:nvPr/>
        </p:nvSpPr>
        <p:spPr>
          <a:xfrm>
            <a:off x="402963" y="3488791"/>
            <a:ext cx="11201500" cy="2862322"/>
          </a:xfrm>
          <a:prstGeom prst="rect">
            <a:avLst/>
          </a:prstGeom>
          <a:noFill/>
        </p:spPr>
        <p:txBody>
          <a:bodyPr wrap="square">
            <a:spAutoFit/>
          </a:bodyPr>
          <a:lstStyle/>
          <a:p>
            <a:pPr>
              <a:buNone/>
            </a:pPr>
            <a:r>
              <a:rPr lang="en-US" sz="2000" b="1" dirty="0"/>
              <a:t>Improved, Impact-Focused Version</a:t>
            </a:r>
          </a:p>
          <a:p>
            <a:pPr>
              <a:buNone/>
            </a:pPr>
            <a:endParaRPr lang="en-US" sz="2000" b="1" dirty="0"/>
          </a:p>
          <a:p>
            <a:pPr>
              <a:buNone/>
            </a:pPr>
            <a:r>
              <a:rPr lang="en-US" sz="2000" dirty="0"/>
              <a:t>One challenge I faced was that our API response time increased significantly when retrieving a larger set of records. I first reproduced the issue and checked the API and database queries to identify where the delay was occurring. I found that the query was retrieving more data than required and was not using the database efficiently. I optimized the query and changed the API to return only the required fields. This reduced the response time significantly during our testing. More importantly, it taught me to diagnose a problem systematically instead of immediately changing the code.</a:t>
            </a:r>
          </a:p>
        </p:txBody>
      </p:sp>
    </p:spTree>
    <p:extLst>
      <p:ext uri="{BB962C8B-B14F-4D97-AF65-F5344CB8AC3E}">
        <p14:creationId xmlns:p14="http://schemas.microsoft.com/office/powerpoint/2010/main" val="341699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B19B709F-D369-EE4C-52FB-36E8C93E71A1}"/>
            </a:ext>
          </a:extLst>
        </p:cNvPr>
        <p:cNvGrpSpPr/>
        <p:nvPr/>
      </p:nvGrpSpPr>
      <p:grpSpPr>
        <a:xfrm>
          <a:off x="0" y="0"/>
          <a:ext cx="0" cy="0"/>
          <a:chOff x="0" y="0"/>
          <a:chExt cx="0" cy="0"/>
        </a:xfrm>
      </p:grpSpPr>
      <p:sp>
        <p:nvSpPr>
          <p:cNvPr id="283" name="Google Shape;283;p22">
            <a:extLst>
              <a:ext uri="{FF2B5EF4-FFF2-40B4-BE49-F238E27FC236}">
                <a16:creationId xmlns:a16="http://schemas.microsoft.com/office/drawing/2014/main" id="{681A2F5F-E62F-7271-86A1-39A177951B1D}"/>
              </a:ext>
            </a:extLst>
          </p:cNvPr>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80" name="Google Shape;80;p15">
            <a:extLst>
              <a:ext uri="{FF2B5EF4-FFF2-40B4-BE49-F238E27FC236}">
                <a16:creationId xmlns:a16="http://schemas.microsoft.com/office/drawing/2014/main" id="{E90D7715-8E58-0965-8EA2-4B2C53912A72}"/>
              </a:ext>
            </a:extLst>
          </p:cNvPr>
          <p:cNvPicPr preferRelativeResize="0"/>
          <p:nvPr/>
        </p:nvPicPr>
        <p:blipFill rotWithShape="1">
          <a:blip r:embed="rId3"/>
          <a:srcRect/>
          <a:stretch>
            <a:fillRect/>
          </a:stretch>
        </p:blipFill>
        <p:spPr>
          <a:xfrm>
            <a:off x="6773" y="6774"/>
            <a:ext cx="12185227" cy="6852073"/>
          </a:xfrm>
          <a:prstGeom prst="rect">
            <a:avLst/>
          </a:prstGeom>
          <a:noFill/>
          <a:ln>
            <a:noFill/>
          </a:ln>
        </p:spPr>
      </p:pic>
      <p:sp>
        <p:nvSpPr>
          <p:cNvPr id="284" name="Google Shape;284;p22">
            <a:extLst>
              <a:ext uri="{FF2B5EF4-FFF2-40B4-BE49-F238E27FC236}">
                <a16:creationId xmlns:a16="http://schemas.microsoft.com/office/drawing/2014/main" id="{AA3D7E74-E725-6B3B-EFFC-2A2DB95B35D9}"/>
              </a:ext>
            </a:extLst>
          </p:cNvPr>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pic>
        <p:nvPicPr>
          <p:cNvPr id="286" name="Google Shape;286;p22">
            <a:extLst>
              <a:ext uri="{FF2B5EF4-FFF2-40B4-BE49-F238E27FC236}">
                <a16:creationId xmlns:a16="http://schemas.microsoft.com/office/drawing/2014/main" id="{3BA54171-2B64-24FA-7B9E-59AB01AC582F}"/>
              </a:ext>
            </a:extLst>
          </p:cNvPr>
          <p:cNvPicPr preferRelativeResize="0"/>
          <p:nvPr/>
        </p:nvPicPr>
        <p:blipFill rotWithShape="1">
          <a:blip r:embed="rId4"/>
          <a:srcRect/>
          <a:stretch>
            <a:fillRect/>
          </a:stretch>
        </p:blipFill>
        <p:spPr>
          <a:xfrm>
            <a:off x="9131300" y="1130300"/>
            <a:ext cx="3035200" cy="4597600"/>
          </a:xfrm>
          <a:prstGeom prst="rect">
            <a:avLst/>
          </a:prstGeom>
          <a:noFill/>
          <a:ln>
            <a:noFill/>
          </a:ln>
        </p:spPr>
      </p:pic>
      <p:sp>
        <p:nvSpPr>
          <p:cNvPr id="288" name="Google Shape;288;p22">
            <a:extLst>
              <a:ext uri="{FF2B5EF4-FFF2-40B4-BE49-F238E27FC236}">
                <a16:creationId xmlns:a16="http://schemas.microsoft.com/office/drawing/2014/main" id="{FF8D6E32-6B06-7ECE-FB3F-FAEC5D36729E}"/>
              </a:ext>
            </a:extLst>
          </p:cNvPr>
          <p:cNvSpPr txBox="1"/>
          <p:nvPr/>
        </p:nvSpPr>
        <p:spPr>
          <a:xfrm>
            <a:off x="578273" y="375920"/>
            <a:ext cx="11026190" cy="967055"/>
          </a:xfrm>
          <a:prstGeom prst="rect">
            <a:avLst/>
          </a:prstGeom>
          <a:solidFill>
            <a:srgbClr val="000000">
              <a:alpha val="0"/>
            </a:srgbClr>
          </a:solidFill>
          <a:ln>
            <a:noFill/>
          </a:ln>
        </p:spPr>
        <p:txBody>
          <a:bodyPr spcFirstLastPara="1" wrap="square" lIns="0" tIns="0" rIns="0" bIns="0" anchor="t" anchorCtr="0">
            <a:noAutofit/>
          </a:bodyPr>
          <a:lstStyle/>
          <a:p>
            <a:pPr>
              <a:spcBef>
                <a:spcPts val="800"/>
              </a:spcBef>
              <a:spcAft>
                <a:spcPts val="800"/>
              </a:spcAft>
            </a:pPr>
            <a:r>
              <a:rPr lang="en-US" sz="3600" dirty="0"/>
              <a:t>Most significant accomplishment across your projects</a:t>
            </a:r>
            <a:endParaRPr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a:extLst>
              <a:ext uri="{FF2B5EF4-FFF2-40B4-BE49-F238E27FC236}">
                <a16:creationId xmlns:a16="http://schemas.microsoft.com/office/drawing/2014/main" id="{59D73945-7065-0D19-C730-E56F52E63341}"/>
              </a:ext>
            </a:extLst>
          </p:cNvPr>
          <p:cNvCxnSpPr/>
          <p:nvPr/>
        </p:nvCxnSpPr>
        <p:spPr>
          <a:xfrm>
            <a:off x="415713" y="149352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7" name="TextBox 6">
            <a:extLst>
              <a:ext uri="{FF2B5EF4-FFF2-40B4-BE49-F238E27FC236}">
                <a16:creationId xmlns:a16="http://schemas.microsoft.com/office/drawing/2014/main" id="{DFA47330-E850-FE9F-7A7C-3A98F9F61DFA}"/>
              </a:ext>
            </a:extLst>
          </p:cNvPr>
          <p:cNvSpPr txBox="1"/>
          <p:nvPr/>
        </p:nvSpPr>
        <p:spPr>
          <a:xfrm>
            <a:off x="495250" y="1644066"/>
            <a:ext cx="11201500" cy="1631216"/>
          </a:xfrm>
          <a:prstGeom prst="rect">
            <a:avLst/>
          </a:prstGeom>
          <a:noFill/>
        </p:spPr>
        <p:txBody>
          <a:bodyPr wrap="square">
            <a:spAutoFit/>
          </a:bodyPr>
          <a:lstStyle/>
          <a:p>
            <a:pPr>
              <a:buNone/>
            </a:pPr>
            <a:r>
              <a:rPr lang="en-US" sz="2000" b="1" dirty="0"/>
              <a:t>Typical Version</a:t>
            </a:r>
          </a:p>
          <a:p>
            <a:pPr>
              <a:buNone/>
            </a:pPr>
            <a:endParaRPr lang="en-US" sz="2000" b="1" dirty="0"/>
          </a:p>
          <a:p>
            <a:pPr>
              <a:buNone/>
            </a:pPr>
            <a:r>
              <a:rPr lang="en-US" sz="2000" dirty="0"/>
              <a:t>My biggest accomplishment is completing my final-year project successfully. We worked hard as a team and two weeks ahead of schedule. Our team scored the highest marks in our department and I learned many technologies while doing the project.</a:t>
            </a:r>
          </a:p>
        </p:txBody>
      </p:sp>
      <p:sp>
        <p:nvSpPr>
          <p:cNvPr id="8" name="TextBox 7">
            <a:extLst>
              <a:ext uri="{FF2B5EF4-FFF2-40B4-BE49-F238E27FC236}">
                <a16:creationId xmlns:a16="http://schemas.microsoft.com/office/drawing/2014/main" id="{7C6FA789-CB1B-FBDC-3170-21288FF22974}"/>
              </a:ext>
            </a:extLst>
          </p:cNvPr>
          <p:cNvSpPr txBox="1"/>
          <p:nvPr/>
        </p:nvSpPr>
        <p:spPr>
          <a:xfrm>
            <a:off x="402963" y="3488791"/>
            <a:ext cx="11201500" cy="2862322"/>
          </a:xfrm>
          <a:prstGeom prst="rect">
            <a:avLst/>
          </a:prstGeom>
          <a:noFill/>
        </p:spPr>
        <p:txBody>
          <a:bodyPr wrap="square">
            <a:spAutoFit/>
          </a:bodyPr>
          <a:lstStyle/>
          <a:p>
            <a:pPr>
              <a:buNone/>
            </a:pPr>
            <a:r>
              <a:rPr lang="en-US" sz="2000" b="1" dirty="0"/>
              <a:t>Improved, Impact-Focused Version</a:t>
            </a:r>
          </a:p>
          <a:p>
            <a:pPr>
              <a:buNone/>
            </a:pPr>
            <a:endParaRPr lang="en-US" sz="2000" b="1" dirty="0"/>
          </a:p>
          <a:p>
            <a:pPr>
              <a:buNone/>
            </a:pPr>
            <a:r>
              <a:rPr lang="en-US" sz="2000" dirty="0"/>
              <a:t>My most significant accomplishment was taking ownership of the recommendation module in our project. Initially, the recommendations were inconsistent because the input data was not being processed correctly. I analyzed the data, identified the issue and redesigned the preprocessing logic. This improved the recommendation accuracy from 72% to 84% during testing. I consider this significant because I was able to take a problem that was affecting the project and independently work through it to a measurable improvement. More importantly, it taught me to diagnose a problem systematically instead of immediately changing the code.</a:t>
            </a:r>
          </a:p>
        </p:txBody>
      </p:sp>
    </p:spTree>
    <p:extLst>
      <p:ext uri="{BB962C8B-B14F-4D97-AF65-F5344CB8AC3E}">
        <p14:creationId xmlns:p14="http://schemas.microsoft.com/office/powerpoint/2010/main" val="252169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2FBFA05B-3715-2F01-4C2A-A696A9B6B9EF}"/>
            </a:ext>
          </a:extLst>
        </p:cNvPr>
        <p:cNvGrpSpPr/>
        <p:nvPr/>
      </p:nvGrpSpPr>
      <p:grpSpPr>
        <a:xfrm>
          <a:off x="0" y="0"/>
          <a:ext cx="0" cy="0"/>
          <a:chOff x="0" y="0"/>
          <a:chExt cx="0" cy="0"/>
        </a:xfrm>
      </p:grpSpPr>
      <p:sp>
        <p:nvSpPr>
          <p:cNvPr id="283" name="Google Shape;283;p22">
            <a:extLst>
              <a:ext uri="{FF2B5EF4-FFF2-40B4-BE49-F238E27FC236}">
                <a16:creationId xmlns:a16="http://schemas.microsoft.com/office/drawing/2014/main" id="{F7AA2C30-73B9-D049-6422-96BDC910B336}"/>
              </a:ext>
            </a:extLst>
          </p:cNvPr>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80" name="Google Shape;80;p15">
            <a:extLst>
              <a:ext uri="{FF2B5EF4-FFF2-40B4-BE49-F238E27FC236}">
                <a16:creationId xmlns:a16="http://schemas.microsoft.com/office/drawing/2014/main" id="{229CBB26-32B6-BF44-80DA-B29CC586956D}"/>
              </a:ext>
            </a:extLst>
          </p:cNvPr>
          <p:cNvPicPr preferRelativeResize="0"/>
          <p:nvPr/>
        </p:nvPicPr>
        <p:blipFill rotWithShape="1">
          <a:blip r:embed="rId3"/>
          <a:srcRect/>
          <a:stretch>
            <a:fillRect/>
          </a:stretch>
        </p:blipFill>
        <p:spPr>
          <a:xfrm>
            <a:off x="6773" y="6774"/>
            <a:ext cx="12185227" cy="6852073"/>
          </a:xfrm>
          <a:prstGeom prst="rect">
            <a:avLst/>
          </a:prstGeom>
          <a:noFill/>
          <a:ln>
            <a:noFill/>
          </a:ln>
        </p:spPr>
      </p:pic>
      <p:sp>
        <p:nvSpPr>
          <p:cNvPr id="284" name="Google Shape;284;p22">
            <a:extLst>
              <a:ext uri="{FF2B5EF4-FFF2-40B4-BE49-F238E27FC236}">
                <a16:creationId xmlns:a16="http://schemas.microsoft.com/office/drawing/2014/main" id="{F6FE7904-0E84-BBA6-4590-42BB24308827}"/>
              </a:ext>
            </a:extLst>
          </p:cNvPr>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pic>
        <p:nvPicPr>
          <p:cNvPr id="286" name="Google Shape;286;p22">
            <a:extLst>
              <a:ext uri="{FF2B5EF4-FFF2-40B4-BE49-F238E27FC236}">
                <a16:creationId xmlns:a16="http://schemas.microsoft.com/office/drawing/2014/main" id="{F79EE7E6-4D6A-1C38-AD7D-B576E684B328}"/>
              </a:ext>
            </a:extLst>
          </p:cNvPr>
          <p:cNvPicPr preferRelativeResize="0"/>
          <p:nvPr/>
        </p:nvPicPr>
        <p:blipFill rotWithShape="1">
          <a:blip r:embed="rId4"/>
          <a:srcRect/>
          <a:stretch>
            <a:fillRect/>
          </a:stretch>
        </p:blipFill>
        <p:spPr>
          <a:xfrm>
            <a:off x="9131300" y="1130300"/>
            <a:ext cx="3035200" cy="4597600"/>
          </a:xfrm>
          <a:prstGeom prst="rect">
            <a:avLst/>
          </a:prstGeom>
          <a:noFill/>
          <a:ln>
            <a:noFill/>
          </a:ln>
        </p:spPr>
      </p:pic>
      <p:sp>
        <p:nvSpPr>
          <p:cNvPr id="288" name="Google Shape;288;p22">
            <a:extLst>
              <a:ext uri="{FF2B5EF4-FFF2-40B4-BE49-F238E27FC236}">
                <a16:creationId xmlns:a16="http://schemas.microsoft.com/office/drawing/2014/main" id="{47C428F4-18D2-BCC8-D26D-933C98761C58}"/>
              </a:ext>
            </a:extLst>
          </p:cNvPr>
          <p:cNvSpPr txBox="1"/>
          <p:nvPr/>
        </p:nvSpPr>
        <p:spPr>
          <a:xfrm>
            <a:off x="578273" y="375920"/>
            <a:ext cx="11026190" cy="967055"/>
          </a:xfrm>
          <a:prstGeom prst="rect">
            <a:avLst/>
          </a:prstGeom>
          <a:solidFill>
            <a:srgbClr val="000000">
              <a:alpha val="0"/>
            </a:srgbClr>
          </a:solidFill>
          <a:ln>
            <a:noFill/>
          </a:ln>
        </p:spPr>
        <p:txBody>
          <a:bodyPr spcFirstLastPara="1" wrap="square" lIns="0" tIns="0" rIns="0" bIns="0" anchor="t" anchorCtr="0">
            <a:noAutofit/>
          </a:bodyPr>
          <a:lstStyle/>
          <a:p>
            <a:pPr>
              <a:spcBef>
                <a:spcPts val="800"/>
              </a:spcBef>
              <a:spcAft>
                <a:spcPts val="800"/>
              </a:spcAft>
            </a:pPr>
            <a:r>
              <a:rPr lang="en-US" sz="3600" dirty="0"/>
              <a:t>How do you manage conflict within the team?</a:t>
            </a:r>
            <a:endParaRPr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a:extLst>
              <a:ext uri="{FF2B5EF4-FFF2-40B4-BE49-F238E27FC236}">
                <a16:creationId xmlns:a16="http://schemas.microsoft.com/office/drawing/2014/main" id="{0431D1DC-7280-1829-09F7-A511BD235256}"/>
              </a:ext>
            </a:extLst>
          </p:cNvPr>
          <p:cNvCxnSpPr/>
          <p:nvPr/>
        </p:nvCxnSpPr>
        <p:spPr>
          <a:xfrm>
            <a:off x="415713" y="149352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7" name="TextBox 6">
            <a:extLst>
              <a:ext uri="{FF2B5EF4-FFF2-40B4-BE49-F238E27FC236}">
                <a16:creationId xmlns:a16="http://schemas.microsoft.com/office/drawing/2014/main" id="{49CAB93F-8D7A-A6EA-2E14-B2EEDC9E51A8}"/>
              </a:ext>
            </a:extLst>
          </p:cNvPr>
          <p:cNvSpPr txBox="1"/>
          <p:nvPr/>
        </p:nvSpPr>
        <p:spPr>
          <a:xfrm>
            <a:off x="495250" y="1613586"/>
            <a:ext cx="11201500" cy="2246769"/>
          </a:xfrm>
          <a:prstGeom prst="rect">
            <a:avLst/>
          </a:prstGeom>
          <a:noFill/>
        </p:spPr>
        <p:txBody>
          <a:bodyPr wrap="square">
            <a:spAutoFit/>
          </a:bodyPr>
          <a:lstStyle/>
          <a:p>
            <a:pPr>
              <a:buNone/>
            </a:pPr>
            <a:r>
              <a:rPr lang="en-US" sz="2000" b="1" dirty="0"/>
              <a:t>Typical Version</a:t>
            </a:r>
          </a:p>
          <a:p>
            <a:pPr>
              <a:buNone/>
            </a:pPr>
            <a:endParaRPr lang="en-US" sz="2000" b="1" dirty="0"/>
          </a:p>
          <a:p>
            <a:pPr marL="342900" indent="-342900">
              <a:buFont typeface="Arial" panose="020B0604020202020204" pitchFamily="34" charset="0"/>
              <a:buChar char="•"/>
            </a:pPr>
            <a:r>
              <a:rPr lang="en-US" sz="2000" dirty="0"/>
              <a:t>I am a friendly person, so I usually avoid conflicts. If someone disagrees, we hold a group discussion, vote on it, or ask our project guide to make the final decision.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If there is a conflict, I will talk to the team members and try to solve the problem. I believe teamwork is important and everyone should cooperate.</a:t>
            </a:r>
          </a:p>
        </p:txBody>
      </p:sp>
      <p:sp>
        <p:nvSpPr>
          <p:cNvPr id="8" name="TextBox 7">
            <a:extLst>
              <a:ext uri="{FF2B5EF4-FFF2-40B4-BE49-F238E27FC236}">
                <a16:creationId xmlns:a16="http://schemas.microsoft.com/office/drawing/2014/main" id="{37F1EDF8-BF43-6282-F483-3850AA10BD13}"/>
              </a:ext>
            </a:extLst>
          </p:cNvPr>
          <p:cNvSpPr txBox="1"/>
          <p:nvPr/>
        </p:nvSpPr>
        <p:spPr>
          <a:xfrm>
            <a:off x="402963" y="4108551"/>
            <a:ext cx="11201500" cy="2554545"/>
          </a:xfrm>
          <a:prstGeom prst="rect">
            <a:avLst/>
          </a:prstGeom>
          <a:noFill/>
        </p:spPr>
        <p:txBody>
          <a:bodyPr wrap="square">
            <a:spAutoFit/>
          </a:bodyPr>
          <a:lstStyle/>
          <a:p>
            <a:pPr>
              <a:buNone/>
            </a:pPr>
            <a:r>
              <a:rPr lang="en-US" sz="2000" b="1" dirty="0"/>
              <a:t>Improved, Impact-Focused Version</a:t>
            </a:r>
          </a:p>
          <a:p>
            <a:pPr>
              <a:buNone/>
            </a:pPr>
            <a:endParaRPr lang="en-US" sz="2000" b="1" dirty="0"/>
          </a:p>
          <a:p>
            <a:pPr>
              <a:buNone/>
            </a:pPr>
            <a:r>
              <a:rPr lang="en-US" sz="2000" dirty="0"/>
              <a:t>During a project, we had different opinions about which technology to use for one module. Instead of making it a personal disagreement, I suggested that we compare the options based on performance, development time and our team's familiarity with the technology. We discussed the pros and cons and selected the option that best suited the project requirements. I believe the important thing in a team conflict is to focus on the problem and the project goal rather than on who is right.</a:t>
            </a:r>
          </a:p>
        </p:txBody>
      </p:sp>
    </p:spTree>
    <p:extLst>
      <p:ext uri="{BB962C8B-B14F-4D97-AF65-F5344CB8AC3E}">
        <p14:creationId xmlns:p14="http://schemas.microsoft.com/office/powerpoint/2010/main" val="239281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52A8AF64-365C-6715-AF17-61E437C1879C}"/>
            </a:ext>
          </a:extLst>
        </p:cNvPr>
        <p:cNvGrpSpPr/>
        <p:nvPr/>
      </p:nvGrpSpPr>
      <p:grpSpPr>
        <a:xfrm>
          <a:off x="0" y="0"/>
          <a:ext cx="0" cy="0"/>
          <a:chOff x="0" y="0"/>
          <a:chExt cx="0" cy="0"/>
        </a:xfrm>
      </p:grpSpPr>
      <p:sp>
        <p:nvSpPr>
          <p:cNvPr id="283" name="Google Shape;283;p22">
            <a:extLst>
              <a:ext uri="{FF2B5EF4-FFF2-40B4-BE49-F238E27FC236}">
                <a16:creationId xmlns:a16="http://schemas.microsoft.com/office/drawing/2014/main" id="{0D61690F-BC6D-7071-4A8C-6D363654562F}"/>
              </a:ext>
            </a:extLst>
          </p:cNvPr>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80" name="Google Shape;80;p15">
            <a:extLst>
              <a:ext uri="{FF2B5EF4-FFF2-40B4-BE49-F238E27FC236}">
                <a16:creationId xmlns:a16="http://schemas.microsoft.com/office/drawing/2014/main" id="{08FB44AA-0927-1444-6763-5F29945F5BD8}"/>
              </a:ext>
            </a:extLst>
          </p:cNvPr>
          <p:cNvPicPr preferRelativeResize="0"/>
          <p:nvPr/>
        </p:nvPicPr>
        <p:blipFill rotWithShape="1">
          <a:blip r:embed="rId3"/>
          <a:srcRect/>
          <a:stretch>
            <a:fillRect/>
          </a:stretch>
        </p:blipFill>
        <p:spPr>
          <a:xfrm>
            <a:off x="6773" y="6774"/>
            <a:ext cx="12185227" cy="6852073"/>
          </a:xfrm>
          <a:prstGeom prst="rect">
            <a:avLst/>
          </a:prstGeom>
          <a:noFill/>
          <a:ln>
            <a:noFill/>
          </a:ln>
        </p:spPr>
      </p:pic>
      <p:sp>
        <p:nvSpPr>
          <p:cNvPr id="284" name="Google Shape;284;p22">
            <a:extLst>
              <a:ext uri="{FF2B5EF4-FFF2-40B4-BE49-F238E27FC236}">
                <a16:creationId xmlns:a16="http://schemas.microsoft.com/office/drawing/2014/main" id="{19C532D4-6017-D8BE-F7F5-54EFC933C9CC}"/>
              </a:ext>
            </a:extLst>
          </p:cNvPr>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pic>
        <p:nvPicPr>
          <p:cNvPr id="286" name="Google Shape;286;p22">
            <a:extLst>
              <a:ext uri="{FF2B5EF4-FFF2-40B4-BE49-F238E27FC236}">
                <a16:creationId xmlns:a16="http://schemas.microsoft.com/office/drawing/2014/main" id="{F3AE1C4A-367C-A19A-E8DB-8383E95F7C07}"/>
              </a:ext>
            </a:extLst>
          </p:cNvPr>
          <p:cNvPicPr preferRelativeResize="0"/>
          <p:nvPr/>
        </p:nvPicPr>
        <p:blipFill rotWithShape="1">
          <a:blip r:embed="rId4"/>
          <a:srcRect/>
          <a:stretch>
            <a:fillRect/>
          </a:stretch>
        </p:blipFill>
        <p:spPr>
          <a:xfrm>
            <a:off x="9131300" y="1130300"/>
            <a:ext cx="3035200" cy="4597600"/>
          </a:xfrm>
          <a:prstGeom prst="rect">
            <a:avLst/>
          </a:prstGeom>
          <a:noFill/>
          <a:ln>
            <a:noFill/>
          </a:ln>
        </p:spPr>
      </p:pic>
      <p:sp>
        <p:nvSpPr>
          <p:cNvPr id="288" name="Google Shape;288;p22">
            <a:extLst>
              <a:ext uri="{FF2B5EF4-FFF2-40B4-BE49-F238E27FC236}">
                <a16:creationId xmlns:a16="http://schemas.microsoft.com/office/drawing/2014/main" id="{355B53BF-24D4-B295-5CCD-70F6CD4DBEF1}"/>
              </a:ext>
            </a:extLst>
          </p:cNvPr>
          <p:cNvSpPr txBox="1"/>
          <p:nvPr/>
        </p:nvSpPr>
        <p:spPr>
          <a:xfrm>
            <a:off x="578273" y="375920"/>
            <a:ext cx="11026190" cy="967055"/>
          </a:xfrm>
          <a:prstGeom prst="rect">
            <a:avLst/>
          </a:prstGeom>
          <a:solidFill>
            <a:srgbClr val="000000">
              <a:alpha val="0"/>
            </a:srgbClr>
          </a:solidFill>
          <a:ln>
            <a:noFill/>
          </a:ln>
        </p:spPr>
        <p:txBody>
          <a:bodyPr spcFirstLastPara="1" wrap="square" lIns="0" tIns="0" rIns="0" bIns="0" anchor="t" anchorCtr="0">
            <a:noAutofit/>
          </a:bodyPr>
          <a:lstStyle/>
          <a:p>
            <a:pPr>
              <a:spcBef>
                <a:spcPts val="800"/>
              </a:spcBef>
              <a:spcAft>
                <a:spcPts val="800"/>
              </a:spcAft>
            </a:pPr>
            <a:r>
              <a:rPr lang="en-US" sz="3600" dirty="0"/>
              <a:t>Where do you see yourself in the next 5 years?</a:t>
            </a:r>
            <a:endParaRPr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a:extLst>
              <a:ext uri="{FF2B5EF4-FFF2-40B4-BE49-F238E27FC236}">
                <a16:creationId xmlns:a16="http://schemas.microsoft.com/office/drawing/2014/main" id="{F93B7C28-747B-EDFF-FE95-A725F6FC402A}"/>
              </a:ext>
            </a:extLst>
          </p:cNvPr>
          <p:cNvCxnSpPr/>
          <p:nvPr/>
        </p:nvCxnSpPr>
        <p:spPr>
          <a:xfrm>
            <a:off x="415713" y="149352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7" name="TextBox 6">
            <a:extLst>
              <a:ext uri="{FF2B5EF4-FFF2-40B4-BE49-F238E27FC236}">
                <a16:creationId xmlns:a16="http://schemas.microsoft.com/office/drawing/2014/main" id="{E4DB06EA-85BA-9D96-3043-843218BD21D1}"/>
              </a:ext>
            </a:extLst>
          </p:cNvPr>
          <p:cNvSpPr txBox="1"/>
          <p:nvPr/>
        </p:nvSpPr>
        <p:spPr>
          <a:xfrm>
            <a:off x="495250" y="1644066"/>
            <a:ext cx="11201500" cy="1323439"/>
          </a:xfrm>
          <a:prstGeom prst="rect">
            <a:avLst/>
          </a:prstGeom>
          <a:noFill/>
        </p:spPr>
        <p:txBody>
          <a:bodyPr wrap="square">
            <a:spAutoFit/>
          </a:bodyPr>
          <a:lstStyle/>
          <a:p>
            <a:pPr>
              <a:buNone/>
            </a:pPr>
            <a:r>
              <a:rPr lang="en-US" sz="2000" b="1" dirty="0"/>
              <a:t>Typical Version</a:t>
            </a:r>
          </a:p>
          <a:p>
            <a:pPr>
              <a:buNone/>
            </a:pPr>
            <a:endParaRPr lang="en-US" sz="2000" b="1" dirty="0"/>
          </a:p>
          <a:p>
            <a:pPr>
              <a:buNone/>
            </a:pPr>
            <a:r>
              <a:rPr lang="en-US" sz="2000" dirty="0"/>
              <a:t>In five years, I want to become a successful software engineer and get a good position in the company. I want to learn new technologies and become a team leader.</a:t>
            </a:r>
          </a:p>
        </p:txBody>
      </p:sp>
      <p:sp>
        <p:nvSpPr>
          <p:cNvPr id="8" name="TextBox 7">
            <a:extLst>
              <a:ext uri="{FF2B5EF4-FFF2-40B4-BE49-F238E27FC236}">
                <a16:creationId xmlns:a16="http://schemas.microsoft.com/office/drawing/2014/main" id="{6AA33B35-05C7-968A-4E72-7D9B19790CD3}"/>
              </a:ext>
            </a:extLst>
          </p:cNvPr>
          <p:cNvSpPr txBox="1"/>
          <p:nvPr/>
        </p:nvSpPr>
        <p:spPr>
          <a:xfrm>
            <a:off x="402963" y="3488791"/>
            <a:ext cx="11201500" cy="2862322"/>
          </a:xfrm>
          <a:prstGeom prst="rect">
            <a:avLst/>
          </a:prstGeom>
          <a:noFill/>
        </p:spPr>
        <p:txBody>
          <a:bodyPr wrap="square">
            <a:spAutoFit/>
          </a:bodyPr>
          <a:lstStyle/>
          <a:p>
            <a:pPr>
              <a:buNone/>
            </a:pPr>
            <a:r>
              <a:rPr lang="en-US" sz="2000" b="1" dirty="0"/>
              <a:t>Improved, Impact-Focused Version</a:t>
            </a:r>
          </a:p>
          <a:p>
            <a:pPr>
              <a:buNone/>
            </a:pPr>
            <a:endParaRPr lang="en-US" sz="2000" b="1" dirty="0"/>
          </a:p>
          <a:p>
            <a:pPr>
              <a:buNone/>
            </a:pPr>
            <a:r>
              <a:rPr lang="en-US" sz="2000" dirty="0"/>
              <a:t>In the next five years, I would like to grow into a reliable software engineer who can take ownership of significant technical problems. In the first 1-2 years, my goal is to master the codebase and domain, delivering production code reliably with minimal supervision. I would focus would be on strengthening my fundamentals, understanding real-world development practices and learning from experienced team members. As I gain experience, I would like to take ownership of larger modules and eventually contribute to technical decisions and mentor junior team members.</a:t>
            </a:r>
          </a:p>
        </p:txBody>
      </p:sp>
    </p:spTree>
    <p:extLst>
      <p:ext uri="{BB962C8B-B14F-4D97-AF65-F5344CB8AC3E}">
        <p14:creationId xmlns:p14="http://schemas.microsoft.com/office/powerpoint/2010/main" val="3335832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3B9FD4C0-9CC3-5FD9-9B46-EFD5C3B2F3E8}"/>
            </a:ext>
          </a:extLst>
        </p:cNvPr>
        <p:cNvGrpSpPr/>
        <p:nvPr/>
      </p:nvGrpSpPr>
      <p:grpSpPr>
        <a:xfrm>
          <a:off x="0" y="0"/>
          <a:ext cx="0" cy="0"/>
          <a:chOff x="0" y="0"/>
          <a:chExt cx="0" cy="0"/>
        </a:xfrm>
      </p:grpSpPr>
      <p:sp>
        <p:nvSpPr>
          <p:cNvPr id="283" name="Google Shape;283;p22">
            <a:extLst>
              <a:ext uri="{FF2B5EF4-FFF2-40B4-BE49-F238E27FC236}">
                <a16:creationId xmlns:a16="http://schemas.microsoft.com/office/drawing/2014/main" id="{43B781FC-A353-AE4E-0848-020D4DC3F2B7}"/>
              </a:ext>
            </a:extLst>
          </p:cNvPr>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80" name="Google Shape;80;p15">
            <a:extLst>
              <a:ext uri="{FF2B5EF4-FFF2-40B4-BE49-F238E27FC236}">
                <a16:creationId xmlns:a16="http://schemas.microsoft.com/office/drawing/2014/main" id="{975590CD-FC21-8FA5-4B6A-CC6AD47C65A7}"/>
              </a:ext>
            </a:extLst>
          </p:cNvPr>
          <p:cNvPicPr preferRelativeResize="0"/>
          <p:nvPr/>
        </p:nvPicPr>
        <p:blipFill rotWithShape="1">
          <a:blip r:embed="rId3"/>
          <a:srcRect/>
          <a:stretch>
            <a:fillRect/>
          </a:stretch>
        </p:blipFill>
        <p:spPr>
          <a:xfrm>
            <a:off x="6773" y="6774"/>
            <a:ext cx="12185227" cy="6852073"/>
          </a:xfrm>
          <a:prstGeom prst="rect">
            <a:avLst/>
          </a:prstGeom>
          <a:noFill/>
          <a:ln>
            <a:noFill/>
          </a:ln>
        </p:spPr>
      </p:pic>
      <p:sp>
        <p:nvSpPr>
          <p:cNvPr id="284" name="Google Shape;284;p22">
            <a:extLst>
              <a:ext uri="{FF2B5EF4-FFF2-40B4-BE49-F238E27FC236}">
                <a16:creationId xmlns:a16="http://schemas.microsoft.com/office/drawing/2014/main" id="{0342361F-2964-3F87-6E50-CFB4A06C3780}"/>
              </a:ext>
            </a:extLst>
          </p:cNvPr>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pic>
        <p:nvPicPr>
          <p:cNvPr id="286" name="Google Shape;286;p22">
            <a:extLst>
              <a:ext uri="{FF2B5EF4-FFF2-40B4-BE49-F238E27FC236}">
                <a16:creationId xmlns:a16="http://schemas.microsoft.com/office/drawing/2014/main" id="{4331A84C-DA32-7AC3-7528-6CCFAF511B0C}"/>
              </a:ext>
            </a:extLst>
          </p:cNvPr>
          <p:cNvPicPr preferRelativeResize="0"/>
          <p:nvPr/>
        </p:nvPicPr>
        <p:blipFill rotWithShape="1">
          <a:blip r:embed="rId4"/>
          <a:srcRect/>
          <a:stretch>
            <a:fillRect/>
          </a:stretch>
        </p:blipFill>
        <p:spPr>
          <a:xfrm>
            <a:off x="9131300" y="1130300"/>
            <a:ext cx="3035200" cy="4597600"/>
          </a:xfrm>
          <a:prstGeom prst="rect">
            <a:avLst/>
          </a:prstGeom>
          <a:noFill/>
          <a:ln>
            <a:noFill/>
          </a:ln>
        </p:spPr>
      </p:pic>
      <p:sp>
        <p:nvSpPr>
          <p:cNvPr id="288" name="Google Shape;288;p22">
            <a:extLst>
              <a:ext uri="{FF2B5EF4-FFF2-40B4-BE49-F238E27FC236}">
                <a16:creationId xmlns:a16="http://schemas.microsoft.com/office/drawing/2014/main" id="{932228D1-15A8-940A-8A8F-3095F55C2065}"/>
              </a:ext>
            </a:extLst>
          </p:cNvPr>
          <p:cNvSpPr txBox="1"/>
          <p:nvPr/>
        </p:nvSpPr>
        <p:spPr>
          <a:xfrm>
            <a:off x="578273" y="375920"/>
            <a:ext cx="11026190" cy="967055"/>
          </a:xfrm>
          <a:prstGeom prst="rect">
            <a:avLst/>
          </a:prstGeom>
          <a:solidFill>
            <a:srgbClr val="000000">
              <a:alpha val="0"/>
            </a:srgbClr>
          </a:solidFill>
          <a:ln>
            <a:noFill/>
          </a:ln>
        </p:spPr>
        <p:txBody>
          <a:bodyPr spcFirstLastPara="1" wrap="square" lIns="0" tIns="0" rIns="0" bIns="0" anchor="t" anchorCtr="0">
            <a:noAutofit/>
          </a:bodyPr>
          <a:lstStyle/>
          <a:p>
            <a:pPr>
              <a:spcBef>
                <a:spcPts val="800"/>
              </a:spcBef>
              <a:spcAft>
                <a:spcPts val="800"/>
              </a:spcAft>
            </a:pPr>
            <a:r>
              <a:rPr lang="en-US" sz="3600" dirty="0"/>
              <a:t>Why do you want to join our company?</a:t>
            </a:r>
            <a:endParaRPr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a:extLst>
              <a:ext uri="{FF2B5EF4-FFF2-40B4-BE49-F238E27FC236}">
                <a16:creationId xmlns:a16="http://schemas.microsoft.com/office/drawing/2014/main" id="{A78724C8-DCD6-2898-BF33-D1C308B92EB4}"/>
              </a:ext>
            </a:extLst>
          </p:cNvPr>
          <p:cNvCxnSpPr/>
          <p:nvPr/>
        </p:nvCxnSpPr>
        <p:spPr>
          <a:xfrm>
            <a:off x="415713" y="149352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7" name="TextBox 6">
            <a:extLst>
              <a:ext uri="{FF2B5EF4-FFF2-40B4-BE49-F238E27FC236}">
                <a16:creationId xmlns:a16="http://schemas.microsoft.com/office/drawing/2014/main" id="{690C07E4-74C0-0A32-1ADF-8651348BCF59}"/>
              </a:ext>
            </a:extLst>
          </p:cNvPr>
          <p:cNvSpPr txBox="1"/>
          <p:nvPr/>
        </p:nvSpPr>
        <p:spPr>
          <a:xfrm>
            <a:off x="495250" y="1644066"/>
            <a:ext cx="11201500" cy="1631216"/>
          </a:xfrm>
          <a:prstGeom prst="rect">
            <a:avLst/>
          </a:prstGeom>
          <a:noFill/>
        </p:spPr>
        <p:txBody>
          <a:bodyPr wrap="square">
            <a:spAutoFit/>
          </a:bodyPr>
          <a:lstStyle/>
          <a:p>
            <a:pPr>
              <a:buNone/>
            </a:pPr>
            <a:r>
              <a:rPr lang="en-US" sz="2000" b="1" dirty="0"/>
              <a:t>Typical Version</a:t>
            </a:r>
          </a:p>
          <a:p>
            <a:pPr>
              <a:buNone/>
            </a:pPr>
            <a:endParaRPr lang="en-US" sz="2000" b="1" dirty="0"/>
          </a:p>
          <a:p>
            <a:pPr>
              <a:buNone/>
            </a:pPr>
            <a:r>
              <a:rPr lang="en-US" sz="2000" dirty="0"/>
              <a:t>Your company is a very reputed company and provides good opportunities for freshers. I want to join because It has great work-life balance and I can learn new technologies and grow my career. Joining here would be a dream come true for me.</a:t>
            </a:r>
          </a:p>
        </p:txBody>
      </p:sp>
      <p:sp>
        <p:nvSpPr>
          <p:cNvPr id="8" name="TextBox 7">
            <a:extLst>
              <a:ext uri="{FF2B5EF4-FFF2-40B4-BE49-F238E27FC236}">
                <a16:creationId xmlns:a16="http://schemas.microsoft.com/office/drawing/2014/main" id="{8A07DB26-2D10-B377-9A52-0792926C8B74}"/>
              </a:ext>
            </a:extLst>
          </p:cNvPr>
          <p:cNvSpPr txBox="1"/>
          <p:nvPr/>
        </p:nvSpPr>
        <p:spPr>
          <a:xfrm>
            <a:off x="402963" y="3905351"/>
            <a:ext cx="11201500" cy="2246769"/>
          </a:xfrm>
          <a:prstGeom prst="rect">
            <a:avLst/>
          </a:prstGeom>
          <a:noFill/>
        </p:spPr>
        <p:txBody>
          <a:bodyPr wrap="square">
            <a:spAutoFit/>
          </a:bodyPr>
          <a:lstStyle/>
          <a:p>
            <a:pPr>
              <a:buNone/>
            </a:pPr>
            <a:r>
              <a:rPr lang="en-US" sz="2000" b="1" dirty="0"/>
              <a:t>Improved, Impact-Focused Version</a:t>
            </a:r>
          </a:p>
          <a:p>
            <a:pPr>
              <a:buNone/>
            </a:pPr>
            <a:endParaRPr lang="en-US" sz="2000" b="1" dirty="0"/>
          </a:p>
          <a:p>
            <a:pPr>
              <a:buNone/>
            </a:pPr>
            <a:r>
              <a:rPr lang="en-US" sz="2000" dirty="0"/>
              <a:t>I’m interested in joining your company because the role matches the areas, I’ve been building my skills in, particularly Java and backend development. I also like that the role provides exposure to real-world projects and structured learning for early-career engineers. I believe I can contribute with the problem-solving and technical foundation I’ve developed through my projects, while learning from experienced teams and growing into a stronger software engineer</a:t>
            </a:r>
          </a:p>
        </p:txBody>
      </p:sp>
    </p:spTree>
    <p:extLst>
      <p:ext uri="{BB962C8B-B14F-4D97-AF65-F5344CB8AC3E}">
        <p14:creationId xmlns:p14="http://schemas.microsoft.com/office/powerpoint/2010/main" val="418376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2">
          <a:extLst>
            <a:ext uri="{FF2B5EF4-FFF2-40B4-BE49-F238E27FC236}">
              <a16:creationId xmlns:a16="http://schemas.microsoft.com/office/drawing/2014/main" id="{B6668FDC-0095-E102-C10B-6D4CA6BB4F35}"/>
            </a:ext>
          </a:extLst>
        </p:cNvPr>
        <p:cNvGrpSpPr/>
        <p:nvPr/>
      </p:nvGrpSpPr>
      <p:grpSpPr>
        <a:xfrm>
          <a:off x="0" y="0"/>
          <a:ext cx="0" cy="0"/>
          <a:chOff x="0" y="0"/>
          <a:chExt cx="0" cy="0"/>
        </a:xfrm>
      </p:grpSpPr>
      <p:sp>
        <p:nvSpPr>
          <p:cNvPr id="283" name="Google Shape;283;p22">
            <a:extLst>
              <a:ext uri="{FF2B5EF4-FFF2-40B4-BE49-F238E27FC236}">
                <a16:creationId xmlns:a16="http://schemas.microsoft.com/office/drawing/2014/main" id="{87503A73-7EAF-7476-ED8F-6B3569EEC14C}"/>
              </a:ext>
            </a:extLst>
          </p:cNvPr>
          <p:cNvSpPr/>
          <p:nvPr/>
        </p:nvSpPr>
        <p:spPr>
          <a:xfrm>
            <a:off x="0" y="0"/>
            <a:ext cx="12192000" cy="6858000"/>
          </a:xfrm>
          <a:prstGeom prst="rect">
            <a:avLst/>
          </a:prstGeom>
          <a:solidFill>
            <a:srgbClr val="F8F9FA"/>
          </a:solidFill>
          <a:ln>
            <a:noFill/>
          </a:ln>
        </p:spPr>
        <p:txBody>
          <a:bodyPr spcFirstLastPara="1" wrap="square" lIns="0" tIns="0" rIns="0" bIns="0" anchor="ctr" anchorCtr="0">
            <a:noAutofit/>
          </a:bodyPr>
          <a:lstStyle/>
          <a:p>
            <a:endParaRPr sz="2400"/>
          </a:p>
        </p:txBody>
      </p:sp>
      <p:pic>
        <p:nvPicPr>
          <p:cNvPr id="80" name="Google Shape;80;p15">
            <a:extLst>
              <a:ext uri="{FF2B5EF4-FFF2-40B4-BE49-F238E27FC236}">
                <a16:creationId xmlns:a16="http://schemas.microsoft.com/office/drawing/2014/main" id="{D072070F-D0C1-7085-368E-B3E9E3319125}"/>
              </a:ext>
            </a:extLst>
          </p:cNvPr>
          <p:cNvPicPr preferRelativeResize="0"/>
          <p:nvPr/>
        </p:nvPicPr>
        <p:blipFill rotWithShape="1">
          <a:blip r:embed="rId3"/>
          <a:srcRect/>
          <a:stretch>
            <a:fillRect/>
          </a:stretch>
        </p:blipFill>
        <p:spPr>
          <a:xfrm>
            <a:off x="6773" y="6774"/>
            <a:ext cx="12185227" cy="6852073"/>
          </a:xfrm>
          <a:prstGeom prst="rect">
            <a:avLst/>
          </a:prstGeom>
          <a:noFill/>
          <a:ln>
            <a:noFill/>
          </a:ln>
        </p:spPr>
      </p:pic>
      <p:sp>
        <p:nvSpPr>
          <p:cNvPr id="284" name="Google Shape;284;p22">
            <a:extLst>
              <a:ext uri="{FF2B5EF4-FFF2-40B4-BE49-F238E27FC236}">
                <a16:creationId xmlns:a16="http://schemas.microsoft.com/office/drawing/2014/main" id="{6928A7F7-26B8-D54A-E570-EE74784B7A3A}"/>
              </a:ext>
            </a:extLst>
          </p:cNvPr>
          <p:cNvSpPr/>
          <p:nvPr/>
        </p:nvSpPr>
        <p:spPr>
          <a:xfrm>
            <a:off x="0" y="0"/>
            <a:ext cx="12192000" cy="101600"/>
          </a:xfrm>
          <a:prstGeom prst="rect">
            <a:avLst/>
          </a:prstGeom>
          <a:solidFill>
            <a:srgbClr val="2D68FE"/>
          </a:solidFill>
          <a:ln>
            <a:noFill/>
          </a:ln>
        </p:spPr>
        <p:txBody>
          <a:bodyPr spcFirstLastPara="1" wrap="square" lIns="0" tIns="0" rIns="0" bIns="0" anchor="ctr" anchorCtr="0">
            <a:noAutofit/>
          </a:bodyPr>
          <a:lstStyle/>
          <a:p>
            <a:endParaRPr sz="2400"/>
          </a:p>
        </p:txBody>
      </p:sp>
      <p:pic>
        <p:nvPicPr>
          <p:cNvPr id="286" name="Google Shape;286;p22">
            <a:extLst>
              <a:ext uri="{FF2B5EF4-FFF2-40B4-BE49-F238E27FC236}">
                <a16:creationId xmlns:a16="http://schemas.microsoft.com/office/drawing/2014/main" id="{85B58260-AE55-C2E3-FB38-754D47584DDC}"/>
              </a:ext>
            </a:extLst>
          </p:cNvPr>
          <p:cNvPicPr preferRelativeResize="0"/>
          <p:nvPr/>
        </p:nvPicPr>
        <p:blipFill rotWithShape="1">
          <a:blip r:embed="rId4"/>
          <a:srcRect/>
          <a:stretch>
            <a:fillRect/>
          </a:stretch>
        </p:blipFill>
        <p:spPr>
          <a:xfrm>
            <a:off x="9131300" y="1130300"/>
            <a:ext cx="3035200" cy="4597600"/>
          </a:xfrm>
          <a:prstGeom prst="rect">
            <a:avLst/>
          </a:prstGeom>
          <a:noFill/>
          <a:ln>
            <a:noFill/>
          </a:ln>
        </p:spPr>
      </p:pic>
      <p:sp>
        <p:nvSpPr>
          <p:cNvPr id="288" name="Google Shape;288;p22">
            <a:extLst>
              <a:ext uri="{FF2B5EF4-FFF2-40B4-BE49-F238E27FC236}">
                <a16:creationId xmlns:a16="http://schemas.microsoft.com/office/drawing/2014/main" id="{0717B0FC-CB54-33E2-32D4-33E3A4A5CFB3}"/>
              </a:ext>
            </a:extLst>
          </p:cNvPr>
          <p:cNvSpPr txBox="1"/>
          <p:nvPr/>
        </p:nvSpPr>
        <p:spPr>
          <a:xfrm>
            <a:off x="578273" y="375920"/>
            <a:ext cx="11026190" cy="967055"/>
          </a:xfrm>
          <a:prstGeom prst="rect">
            <a:avLst/>
          </a:prstGeom>
          <a:solidFill>
            <a:srgbClr val="000000">
              <a:alpha val="0"/>
            </a:srgbClr>
          </a:solidFill>
          <a:ln>
            <a:noFill/>
          </a:ln>
        </p:spPr>
        <p:txBody>
          <a:bodyPr spcFirstLastPara="1" wrap="square" lIns="0" tIns="0" rIns="0" bIns="0" anchor="t" anchorCtr="0">
            <a:noAutofit/>
          </a:bodyPr>
          <a:lstStyle/>
          <a:p>
            <a:pPr>
              <a:spcBef>
                <a:spcPts val="800"/>
              </a:spcBef>
              <a:spcAft>
                <a:spcPts val="800"/>
              </a:spcAft>
            </a:pPr>
            <a:r>
              <a:rPr lang="en-US" sz="3600" dirty="0"/>
              <a:t>Do you have any questions for me or the company?</a:t>
            </a:r>
            <a:endParaRPr sz="2400" b="1" dirty="0">
              <a:solidFill>
                <a:srgbClr val="FF5733"/>
              </a:solidFill>
              <a:latin typeface="Poppins" panose="00000800000000000000"/>
              <a:ea typeface="Poppins" panose="00000800000000000000"/>
              <a:cs typeface="Poppins" panose="00000800000000000000"/>
              <a:sym typeface="Poppins" panose="00000800000000000000"/>
            </a:endParaRPr>
          </a:p>
        </p:txBody>
      </p:sp>
      <p:cxnSp>
        <p:nvCxnSpPr>
          <p:cNvPr id="93" name="Google Shape;93;p15">
            <a:extLst>
              <a:ext uri="{FF2B5EF4-FFF2-40B4-BE49-F238E27FC236}">
                <a16:creationId xmlns:a16="http://schemas.microsoft.com/office/drawing/2014/main" id="{050B9181-2BD1-7EBE-9262-D63E3FD1DD4E}"/>
              </a:ext>
            </a:extLst>
          </p:cNvPr>
          <p:cNvCxnSpPr/>
          <p:nvPr/>
        </p:nvCxnSpPr>
        <p:spPr>
          <a:xfrm>
            <a:off x="415713" y="149352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7" name="TextBox 6">
            <a:extLst>
              <a:ext uri="{FF2B5EF4-FFF2-40B4-BE49-F238E27FC236}">
                <a16:creationId xmlns:a16="http://schemas.microsoft.com/office/drawing/2014/main" id="{829FD020-876C-9233-C88C-03E71859254C}"/>
              </a:ext>
            </a:extLst>
          </p:cNvPr>
          <p:cNvSpPr txBox="1"/>
          <p:nvPr/>
        </p:nvSpPr>
        <p:spPr>
          <a:xfrm>
            <a:off x="495250" y="1644066"/>
            <a:ext cx="11201500" cy="2246769"/>
          </a:xfrm>
          <a:prstGeom prst="rect">
            <a:avLst/>
          </a:prstGeom>
          <a:noFill/>
        </p:spPr>
        <p:txBody>
          <a:bodyPr wrap="square">
            <a:spAutoFit/>
          </a:bodyPr>
          <a:lstStyle/>
          <a:p>
            <a:pPr>
              <a:buNone/>
            </a:pPr>
            <a:r>
              <a:rPr lang="en-US" sz="2000" b="1" dirty="0"/>
              <a:t>Typical Version</a:t>
            </a:r>
          </a:p>
          <a:p>
            <a:pPr>
              <a:buNone/>
            </a:pPr>
            <a:endParaRPr lang="en-US" sz="2000" b="1" dirty="0"/>
          </a:p>
          <a:p>
            <a:pPr marL="342900" indent="-342900">
              <a:buFont typeface="Arial" panose="020B0604020202020204" pitchFamily="34" charset="0"/>
              <a:buChar char="•"/>
            </a:pPr>
            <a:r>
              <a:rPr lang="en-US" sz="2000" dirty="0"/>
              <a:t>No, I don't have any questions.</a:t>
            </a:r>
          </a:p>
          <a:p>
            <a:pPr marL="342900" indent="-342900">
              <a:buFont typeface="Arial" panose="020B0604020202020204" pitchFamily="34" charset="0"/>
              <a:buChar char="•"/>
            </a:pPr>
            <a:r>
              <a:rPr lang="en-US" sz="2000" dirty="0"/>
              <a:t>What is the salary package?</a:t>
            </a:r>
          </a:p>
          <a:p>
            <a:pPr marL="342900" indent="-342900">
              <a:buFont typeface="Arial" panose="020B0604020202020204" pitchFamily="34" charset="0"/>
              <a:buChar char="•"/>
            </a:pPr>
            <a:r>
              <a:rPr lang="en-US" sz="2000" dirty="0"/>
              <a:t>When will the results be announced? Does the company provide hybrid/remote options, and what are the office timings?</a:t>
            </a:r>
          </a:p>
          <a:p>
            <a:pPr>
              <a:buNone/>
            </a:pPr>
            <a:endParaRPr lang="en-US" sz="2000" dirty="0"/>
          </a:p>
        </p:txBody>
      </p:sp>
      <p:sp>
        <p:nvSpPr>
          <p:cNvPr id="8" name="TextBox 7">
            <a:extLst>
              <a:ext uri="{FF2B5EF4-FFF2-40B4-BE49-F238E27FC236}">
                <a16:creationId xmlns:a16="http://schemas.microsoft.com/office/drawing/2014/main" id="{EEFE0DA4-9B1E-F81B-7274-A1D05078A27F}"/>
              </a:ext>
            </a:extLst>
          </p:cNvPr>
          <p:cNvSpPr txBox="1"/>
          <p:nvPr/>
        </p:nvSpPr>
        <p:spPr>
          <a:xfrm>
            <a:off x="402963" y="3905351"/>
            <a:ext cx="11201500" cy="1938992"/>
          </a:xfrm>
          <a:prstGeom prst="rect">
            <a:avLst/>
          </a:prstGeom>
          <a:noFill/>
        </p:spPr>
        <p:txBody>
          <a:bodyPr wrap="square">
            <a:spAutoFit/>
          </a:bodyPr>
          <a:lstStyle/>
          <a:p>
            <a:pPr>
              <a:buNone/>
            </a:pPr>
            <a:r>
              <a:rPr lang="en-US" sz="2000" b="1" dirty="0"/>
              <a:t>Improved, Impact-Focused Version</a:t>
            </a:r>
          </a:p>
          <a:p>
            <a:pPr>
              <a:buNone/>
            </a:pPr>
            <a:endParaRPr lang="en-US" sz="2000" b="1" dirty="0"/>
          </a:p>
          <a:p>
            <a:pPr marL="342900" indent="-342900">
              <a:buFont typeface="Arial" panose="020B0604020202020204" pitchFamily="34" charset="0"/>
              <a:buChar char="•"/>
            </a:pPr>
            <a:r>
              <a:rPr lang="en-US" sz="2000" dirty="0"/>
              <a:t>What would you expect a fresher joining this role to accomplish during the first six months?</a:t>
            </a:r>
          </a:p>
          <a:p>
            <a:pPr marL="342900" indent="-342900">
              <a:buFont typeface="Arial" panose="020B0604020202020204" pitchFamily="34" charset="0"/>
              <a:buChar char="•"/>
            </a:pPr>
            <a:r>
              <a:rPr lang="en-US" sz="2000" dirty="0"/>
              <a:t>What kind of projects or technologies would a fresher in this role typically get exposure to?</a:t>
            </a:r>
          </a:p>
          <a:p>
            <a:pPr marL="342900" indent="-342900">
              <a:buFont typeface="Arial" panose="020B0604020202020204" pitchFamily="34" charset="0"/>
              <a:buChar char="•"/>
            </a:pPr>
            <a:r>
              <a:rPr lang="en-US" sz="2000" dirty="0"/>
              <a:t>What does the typical code review and onboarding path look like for a new graduate joining this specific team?</a:t>
            </a:r>
          </a:p>
        </p:txBody>
      </p:sp>
    </p:spTree>
    <p:extLst>
      <p:ext uri="{BB962C8B-B14F-4D97-AF65-F5344CB8AC3E}">
        <p14:creationId xmlns:p14="http://schemas.microsoft.com/office/powerpoint/2010/main" val="352928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grpSp>
        <p:nvGrpSpPr>
          <p:cNvPr id="358" name="Google Shape;358;p28"/>
          <p:cNvGrpSpPr/>
          <p:nvPr/>
        </p:nvGrpSpPr>
        <p:grpSpPr>
          <a:xfrm>
            <a:off x="0" y="0"/>
            <a:ext cx="12192000" cy="6858000"/>
            <a:chOff x="0" y="0"/>
            <a:chExt cx="9144000" cy="5143500"/>
          </a:xfrm>
        </p:grpSpPr>
        <p:sp>
          <p:nvSpPr>
            <p:cNvPr id="359" name="Google Shape;359;p28"/>
            <p:cNvSpPr/>
            <p:nvPr/>
          </p:nvSpPr>
          <p:spPr>
            <a:xfrm>
              <a:off x="0" y="0"/>
              <a:ext cx="9144000" cy="5143500"/>
            </a:xfrm>
            <a:prstGeom prst="rect">
              <a:avLst/>
            </a:prstGeom>
            <a:solidFill>
              <a:srgbClr val="F9FAFB"/>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360" name="Google Shape;360;p28"/>
            <p:cNvSpPr/>
            <p:nvPr/>
          </p:nvSpPr>
          <p:spPr>
            <a:xfrm>
              <a:off x="0" y="0"/>
              <a:ext cx="9144000" cy="76200"/>
            </a:xfrm>
            <a:prstGeom prst="rect">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361" name="Google Shape;361;p28"/>
            <p:cNvSpPr/>
            <p:nvPr/>
          </p:nvSpPr>
          <p:spPr>
            <a:xfrm>
              <a:off x="7810500" y="190500"/>
              <a:ext cx="1333500" cy="1333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grpSp>
      <p:sp>
        <p:nvSpPr>
          <p:cNvPr id="362" name="Google Shape;362;p28"/>
          <p:cNvSpPr txBox="1"/>
          <p:nvPr/>
        </p:nvSpPr>
        <p:spPr>
          <a:xfrm>
            <a:off x="508000" y="508000"/>
            <a:ext cx="8890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3600" b="1">
                <a:solidFill>
                  <a:srgbClr val="111827"/>
                </a:solidFill>
                <a:latin typeface="Outfit"/>
                <a:ea typeface="Outfit"/>
                <a:cs typeface="Outfit"/>
                <a:sym typeface="Outfit"/>
              </a:rPr>
              <a:t>Show Curiosity and Technical Depth</a:t>
            </a:r>
            <a:endParaRPr sz="3600" b="1">
              <a:solidFill>
                <a:srgbClr val="111827"/>
              </a:solidFill>
              <a:latin typeface="Outfit"/>
              <a:ea typeface="Outfit"/>
              <a:cs typeface="Outfit"/>
              <a:sym typeface="Outfit"/>
            </a:endParaRPr>
          </a:p>
        </p:txBody>
      </p:sp>
      <p:grpSp>
        <p:nvGrpSpPr>
          <p:cNvPr id="363" name="Google Shape;363;p28"/>
          <p:cNvGrpSpPr/>
          <p:nvPr/>
        </p:nvGrpSpPr>
        <p:grpSpPr>
          <a:xfrm>
            <a:off x="508000" y="1905000"/>
            <a:ext cx="11023600" cy="4191200"/>
            <a:chOff x="381000" y="1428750"/>
            <a:chExt cx="8267700" cy="3143400"/>
          </a:xfrm>
        </p:grpSpPr>
        <p:grpSp>
          <p:nvGrpSpPr>
            <p:cNvPr id="364" name="Google Shape;364;p28"/>
            <p:cNvGrpSpPr/>
            <p:nvPr/>
          </p:nvGrpSpPr>
          <p:grpSpPr>
            <a:xfrm>
              <a:off x="381000" y="1428750"/>
              <a:ext cx="8267700" cy="857400"/>
              <a:chOff x="0" y="0"/>
              <a:chExt cx="8267700" cy="857400"/>
            </a:xfrm>
          </p:grpSpPr>
          <p:grpSp>
            <p:nvGrpSpPr>
              <p:cNvPr id="365" name="Google Shape;365;p28"/>
              <p:cNvGrpSpPr/>
              <p:nvPr/>
            </p:nvGrpSpPr>
            <p:grpSpPr>
              <a:xfrm>
                <a:off x="0" y="0"/>
                <a:ext cx="457200" cy="457200"/>
                <a:chOff x="0" y="0"/>
                <a:chExt cx="457200" cy="457200"/>
              </a:xfrm>
            </p:grpSpPr>
            <p:sp>
              <p:nvSpPr>
                <p:cNvPr id="366" name="Google Shape;366;p28"/>
                <p:cNvSpPr/>
                <p:nvPr/>
              </p:nvSpPr>
              <p:spPr>
                <a:xfrm>
                  <a:off x="0" y="0"/>
                  <a:ext cx="457200" cy="457200"/>
                </a:xfrm>
                <a:prstGeom prst="roundRect">
                  <a:avLst>
                    <a:gd name="adj" fmla="val 25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367" name="Google Shape;367;p28"/>
                <p:cNvSpPr/>
                <p:nvPr/>
              </p:nvSpPr>
              <p:spPr>
                <a:xfrm>
                  <a:off x="95250" y="133350"/>
                  <a:ext cx="266700" cy="190500"/>
                </a:xfrm>
                <a:custGeom>
                  <a:avLst/>
                  <a:gdLst/>
                  <a:ahLst/>
                  <a:cxnLst/>
                  <a:rect l="l" t="t" r="r" b="b"/>
                  <a:pathLst>
                    <a:path w="120000" h="120000" extrusionOk="0">
                      <a:moveTo>
                        <a:pt x="34286" y="12000"/>
                      </a:moveTo>
                      <a:lnTo>
                        <a:pt x="0" y="60000"/>
                      </a:lnTo>
                      <a:lnTo>
                        <a:pt x="34286" y="108000"/>
                      </a:lnTo>
                      <a:moveTo>
                        <a:pt x="85714" y="12000"/>
                      </a:moveTo>
                      <a:lnTo>
                        <a:pt x="120000" y="60000"/>
                      </a:lnTo>
                      <a:lnTo>
                        <a:pt x="85714" y="108000"/>
                      </a:lnTo>
                      <a:moveTo>
                        <a:pt x="68571" y="0"/>
                      </a:moveTo>
                      <a:lnTo>
                        <a:pt x="51429" y="120000"/>
                      </a:lnTo>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2400"/>
                </a:p>
              </p:txBody>
            </p:sp>
          </p:grpSp>
          <p:sp>
            <p:nvSpPr>
              <p:cNvPr id="368" name="Google Shape;368;p28"/>
              <p:cNvSpPr txBox="1"/>
              <p:nvPr/>
            </p:nvSpPr>
            <p:spPr>
              <a:xfrm>
                <a:off x="647700" y="0"/>
                <a:ext cx="76200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b="1">
                    <a:solidFill>
                      <a:srgbClr val="111827"/>
                    </a:solidFill>
                    <a:latin typeface="Inter" panose="02000503000000020004"/>
                    <a:ea typeface="Inter" panose="02000503000000020004"/>
                    <a:cs typeface="Inter" panose="02000503000000020004"/>
                    <a:sym typeface="Inter" panose="02000503000000020004"/>
                  </a:rPr>
                  <a:t>Inquire About the Tech Stack</a:t>
                </a:r>
                <a:endParaRPr b="1">
                  <a:solidFill>
                    <a:srgbClr val="111827"/>
                  </a:solidFill>
                  <a:latin typeface="Inter" panose="02000503000000020004"/>
                  <a:ea typeface="Inter" panose="02000503000000020004"/>
                  <a:cs typeface="Inter" panose="02000503000000020004"/>
                  <a:sym typeface="Inter" panose="02000503000000020004"/>
                </a:endParaRPr>
              </a:p>
              <a:p>
                <a:pPr marL="0" lvl="0" indent="0" algn="l" rtl="0">
                  <a:spcBef>
                    <a:spcPts val="300"/>
                  </a:spcBef>
                  <a:spcAft>
                    <a:spcPts val="0"/>
                  </a:spcAft>
                  <a:buNone/>
                </a:pPr>
                <a:r>
                  <a:rPr lang="en-GB" b="0">
                    <a:solidFill>
                      <a:srgbClr val="4B5563"/>
                    </a:solidFill>
                    <a:latin typeface="Inter" panose="02000503000000020004"/>
                    <a:ea typeface="Inter" panose="02000503000000020004"/>
                    <a:cs typeface="Inter" panose="02000503000000020004"/>
                    <a:sym typeface="Inter" panose="02000503000000020004"/>
                  </a:rPr>
                  <a:t>Ask specific questions about the tools, frameworks, and architecture the team uses daily.</a:t>
                </a:r>
                <a:endParaRPr b="0">
                  <a:solidFill>
                    <a:srgbClr val="4B5563"/>
                  </a:solidFill>
                  <a:latin typeface="Inter" panose="02000503000000020004"/>
                  <a:ea typeface="Inter" panose="02000503000000020004"/>
                  <a:cs typeface="Inter" panose="02000503000000020004"/>
                  <a:sym typeface="Inter" panose="02000503000000020004"/>
                </a:endParaRPr>
              </a:p>
            </p:txBody>
          </p:sp>
        </p:grpSp>
        <p:grpSp>
          <p:nvGrpSpPr>
            <p:cNvPr id="369" name="Google Shape;369;p28"/>
            <p:cNvGrpSpPr/>
            <p:nvPr/>
          </p:nvGrpSpPr>
          <p:grpSpPr>
            <a:xfrm>
              <a:off x="381000" y="2571750"/>
              <a:ext cx="8267700" cy="857400"/>
              <a:chOff x="0" y="0"/>
              <a:chExt cx="8267700" cy="857400"/>
            </a:xfrm>
          </p:grpSpPr>
          <p:grpSp>
            <p:nvGrpSpPr>
              <p:cNvPr id="370" name="Google Shape;370;p28"/>
              <p:cNvGrpSpPr/>
              <p:nvPr/>
            </p:nvGrpSpPr>
            <p:grpSpPr>
              <a:xfrm>
                <a:off x="0" y="0"/>
                <a:ext cx="457200" cy="457200"/>
                <a:chOff x="0" y="0"/>
                <a:chExt cx="457200" cy="457200"/>
              </a:xfrm>
            </p:grpSpPr>
            <p:sp>
              <p:nvSpPr>
                <p:cNvPr id="371" name="Google Shape;371;p28"/>
                <p:cNvSpPr/>
                <p:nvPr/>
              </p:nvSpPr>
              <p:spPr>
                <a:xfrm>
                  <a:off x="0" y="0"/>
                  <a:ext cx="457200" cy="457200"/>
                </a:xfrm>
                <a:prstGeom prst="ellipse">
                  <a:avLst/>
                </a:prstGeom>
                <a:solidFill>
                  <a:srgbClr val="FCD34D"/>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372" name="Google Shape;372;p28"/>
                <p:cNvSpPr/>
                <p:nvPr/>
              </p:nvSpPr>
              <p:spPr>
                <a:xfrm>
                  <a:off x="76200" y="76200"/>
                  <a:ext cx="304800" cy="290100"/>
                </a:xfrm>
                <a:custGeom>
                  <a:avLst/>
                  <a:gdLst/>
                  <a:ahLst/>
                  <a:cxnLst/>
                  <a:rect l="l" t="t" r="r" b="b"/>
                  <a:pathLst>
                    <a:path w="120000" h="120000" extrusionOk="0">
                      <a:moveTo>
                        <a:pt x="60000" y="0"/>
                      </a:moveTo>
                      <a:lnTo>
                        <a:pt x="78525" y="39462"/>
                      </a:lnTo>
                      <a:lnTo>
                        <a:pt x="120000" y="45802"/>
                      </a:lnTo>
                      <a:lnTo>
                        <a:pt x="90000" y="76521"/>
                      </a:lnTo>
                      <a:lnTo>
                        <a:pt x="97050" y="120000"/>
                      </a:lnTo>
                      <a:lnTo>
                        <a:pt x="60000" y="99521"/>
                      </a:lnTo>
                      <a:lnTo>
                        <a:pt x="22950" y="120000"/>
                      </a:lnTo>
                      <a:lnTo>
                        <a:pt x="30000" y="76521"/>
                      </a:lnTo>
                      <a:lnTo>
                        <a:pt x="0" y="45802"/>
                      </a:lnTo>
                      <a:lnTo>
                        <a:pt x="41475" y="39462"/>
                      </a:lnTo>
                      <a:close/>
                    </a:path>
                  </a:pathLst>
                </a:custGeom>
                <a:solidFill>
                  <a:srgbClr val="111827"/>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grpSp>
          <p:sp>
            <p:nvSpPr>
              <p:cNvPr id="373" name="Google Shape;373;p28"/>
              <p:cNvSpPr txBox="1"/>
              <p:nvPr/>
            </p:nvSpPr>
            <p:spPr>
              <a:xfrm>
                <a:off x="647700" y="0"/>
                <a:ext cx="76200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b="1">
                    <a:solidFill>
                      <a:srgbClr val="111827"/>
                    </a:solidFill>
                    <a:latin typeface="Inter" panose="02000503000000020004"/>
                    <a:ea typeface="Inter" panose="02000503000000020004"/>
                    <a:cs typeface="Inter" panose="02000503000000020004"/>
                    <a:sym typeface="Inter" panose="02000503000000020004"/>
                  </a:rPr>
                  <a:t>Discuss Engineering Challenges</a:t>
                </a:r>
                <a:endParaRPr b="1">
                  <a:solidFill>
                    <a:srgbClr val="111827"/>
                  </a:solidFill>
                  <a:latin typeface="Inter" panose="02000503000000020004"/>
                  <a:ea typeface="Inter" panose="02000503000000020004"/>
                  <a:cs typeface="Inter" panose="02000503000000020004"/>
                  <a:sym typeface="Inter" panose="02000503000000020004"/>
                </a:endParaRPr>
              </a:p>
              <a:p>
                <a:pPr marL="0" lvl="0" indent="0" algn="l" rtl="0">
                  <a:spcBef>
                    <a:spcPts val="300"/>
                  </a:spcBef>
                  <a:spcAft>
                    <a:spcPts val="0"/>
                  </a:spcAft>
                  <a:buNone/>
                </a:pPr>
                <a:r>
                  <a:rPr lang="en-GB" b="0">
                    <a:solidFill>
                      <a:srgbClr val="4B5563"/>
                    </a:solidFill>
                    <a:latin typeface="Inter" panose="02000503000000020004"/>
                    <a:ea typeface="Inter" panose="02000503000000020004"/>
                    <a:cs typeface="Inter" panose="02000503000000020004"/>
                    <a:sym typeface="Inter" panose="02000503000000020004"/>
                  </a:rPr>
                  <a:t>Ask the interviewer about the most complex technical problem they are currently trying to solve.</a:t>
                </a:r>
                <a:endParaRPr b="0">
                  <a:solidFill>
                    <a:srgbClr val="4B5563"/>
                  </a:solidFill>
                  <a:latin typeface="Inter" panose="02000503000000020004"/>
                  <a:ea typeface="Inter" panose="02000503000000020004"/>
                  <a:cs typeface="Inter" panose="02000503000000020004"/>
                  <a:sym typeface="Inter" panose="02000503000000020004"/>
                </a:endParaRPr>
              </a:p>
            </p:txBody>
          </p:sp>
        </p:grpSp>
        <p:grpSp>
          <p:nvGrpSpPr>
            <p:cNvPr id="374" name="Google Shape;374;p28"/>
            <p:cNvGrpSpPr/>
            <p:nvPr/>
          </p:nvGrpSpPr>
          <p:grpSpPr>
            <a:xfrm>
              <a:off x="381000" y="3714750"/>
              <a:ext cx="8267700" cy="857400"/>
              <a:chOff x="0" y="0"/>
              <a:chExt cx="8267700" cy="857400"/>
            </a:xfrm>
          </p:grpSpPr>
          <p:grpSp>
            <p:nvGrpSpPr>
              <p:cNvPr id="375" name="Google Shape;375;p28"/>
              <p:cNvGrpSpPr/>
              <p:nvPr/>
            </p:nvGrpSpPr>
            <p:grpSpPr>
              <a:xfrm>
                <a:off x="0" y="0"/>
                <a:ext cx="457200" cy="457200"/>
                <a:chOff x="0" y="0"/>
                <a:chExt cx="457200" cy="457200"/>
              </a:xfrm>
            </p:grpSpPr>
            <p:sp>
              <p:nvSpPr>
                <p:cNvPr id="376" name="Google Shape;376;p28"/>
                <p:cNvSpPr/>
                <p:nvPr/>
              </p:nvSpPr>
              <p:spPr>
                <a:xfrm>
                  <a:off x="0" y="0"/>
                  <a:ext cx="457200" cy="457200"/>
                </a:xfrm>
                <a:prstGeom prst="ellipse">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sz="2400"/>
                </a:p>
              </p:txBody>
            </p:sp>
            <p:sp>
              <p:nvSpPr>
                <p:cNvPr id="377" name="Google Shape;377;p28"/>
                <p:cNvSpPr/>
                <p:nvPr/>
              </p:nvSpPr>
              <p:spPr>
                <a:xfrm>
                  <a:off x="133350" y="152400"/>
                  <a:ext cx="190500" cy="142800"/>
                </a:xfrm>
                <a:custGeom>
                  <a:avLst/>
                  <a:gdLst/>
                  <a:ahLst/>
                  <a:cxnLst/>
                  <a:rect l="l" t="t" r="r" b="b"/>
                  <a:pathLst>
                    <a:path w="120000" h="120000" extrusionOk="0">
                      <a:moveTo>
                        <a:pt x="0" y="64000"/>
                      </a:moveTo>
                      <a:lnTo>
                        <a:pt x="42000" y="120000"/>
                      </a:lnTo>
                      <a:lnTo>
                        <a:pt x="120000" y="0"/>
                      </a:lnTo>
                    </a:path>
                  </a:pathLst>
                </a:custGeom>
                <a:solidFill>
                  <a:srgbClr val="000000">
                    <a:alpha val="0"/>
                  </a:srgbClr>
                </a:solidFill>
                <a:ln w="38100" cap="rnd"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sz="2400"/>
                </a:p>
              </p:txBody>
            </p:sp>
          </p:grpSp>
          <p:sp>
            <p:nvSpPr>
              <p:cNvPr id="378" name="Google Shape;378;p28"/>
              <p:cNvSpPr txBox="1"/>
              <p:nvPr/>
            </p:nvSpPr>
            <p:spPr>
              <a:xfrm>
                <a:off x="647700" y="0"/>
                <a:ext cx="76200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b="1">
                    <a:solidFill>
                      <a:srgbClr val="111827"/>
                    </a:solidFill>
                    <a:latin typeface="Inter" panose="02000503000000020004"/>
                    <a:ea typeface="Inter" panose="02000503000000020004"/>
                    <a:cs typeface="Inter" panose="02000503000000020004"/>
                    <a:sym typeface="Inter" panose="02000503000000020004"/>
                  </a:rPr>
                  <a:t>Understand Team Dynamics</a:t>
                </a:r>
                <a:endParaRPr b="1">
                  <a:solidFill>
                    <a:srgbClr val="111827"/>
                  </a:solidFill>
                  <a:latin typeface="Inter" panose="02000503000000020004"/>
                  <a:ea typeface="Inter" panose="02000503000000020004"/>
                  <a:cs typeface="Inter" panose="02000503000000020004"/>
                  <a:sym typeface="Inter" panose="02000503000000020004"/>
                </a:endParaRPr>
              </a:p>
              <a:p>
                <a:pPr marL="0" lvl="0" indent="0" algn="l" rtl="0">
                  <a:spcBef>
                    <a:spcPts val="300"/>
                  </a:spcBef>
                  <a:spcAft>
                    <a:spcPts val="0"/>
                  </a:spcAft>
                  <a:buNone/>
                </a:pPr>
                <a:r>
                  <a:rPr lang="en-GB" b="0">
                    <a:solidFill>
                      <a:srgbClr val="4B5563"/>
                    </a:solidFill>
                    <a:latin typeface="Inter" panose="02000503000000020004"/>
                    <a:ea typeface="Inter" panose="02000503000000020004"/>
                    <a:cs typeface="Inter" panose="02000503000000020004"/>
                    <a:sym typeface="Inter" panose="02000503000000020004"/>
                  </a:rPr>
                  <a:t>Ask about code review processes, mentorship opportunities, and how the engineering team collaborates on large features.</a:t>
                </a:r>
                <a:endParaRPr b="0">
                  <a:solidFill>
                    <a:srgbClr val="4B5563"/>
                  </a:solidFill>
                  <a:latin typeface="Inter" panose="02000503000000020004"/>
                  <a:ea typeface="Inter" panose="02000503000000020004"/>
                  <a:cs typeface="Inter" panose="02000503000000020004"/>
                  <a:sym typeface="Inter" panose="02000503000000020004"/>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8"/>
          <p:cNvSpPr/>
          <p:nvPr/>
        </p:nvSpPr>
        <p:spPr>
          <a:xfrm>
            <a:off x="0" y="0"/>
            <a:ext cx="12192000" cy="6858000"/>
          </a:xfrm>
          <a:prstGeom prst="rect">
            <a:avLst/>
          </a:prstGeom>
          <a:solidFill>
            <a:srgbClr val="F4F4F0"/>
          </a:solidFill>
          <a:ln>
            <a:noFill/>
          </a:ln>
        </p:spPr>
        <p:txBody>
          <a:bodyPr spcFirstLastPara="1" wrap="square" lIns="0" tIns="0" rIns="0" bIns="0" anchor="ctr" anchorCtr="0">
            <a:noAutofit/>
          </a:bodyPr>
          <a:lstStyle/>
          <a:p>
            <a:endParaRPr sz="2400"/>
          </a:p>
        </p:txBody>
      </p:sp>
      <p:sp>
        <p:nvSpPr>
          <p:cNvPr id="171" name="Google Shape;171;p18"/>
          <p:cNvSpPr/>
          <p:nvPr/>
        </p:nvSpPr>
        <p:spPr>
          <a:xfrm>
            <a:off x="508000" y="5842000"/>
            <a:ext cx="508000" cy="508000"/>
          </a:xfrm>
          <a:prstGeom prst="ellipse">
            <a:avLst/>
          </a:prstGeom>
          <a:solidFill>
            <a:srgbClr val="34D399"/>
          </a:solidFill>
          <a:ln w="2857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sp>
        <p:nvSpPr>
          <p:cNvPr id="172" name="Google Shape;172;p18"/>
          <p:cNvSpPr/>
          <p:nvPr/>
        </p:nvSpPr>
        <p:spPr>
          <a:xfrm rot="900000">
            <a:off x="11176000" y="5842000"/>
            <a:ext cx="508000" cy="508000"/>
          </a:xfrm>
          <a:custGeom>
            <a:avLst/>
            <a:gdLst/>
            <a:ahLst/>
            <a:cxnLst/>
            <a:rect l="l" t="t" r="r" b="b"/>
            <a:pathLst>
              <a:path w="120000" h="120000" extrusionOk="0">
                <a:moveTo>
                  <a:pt x="0" y="0"/>
                </a:moveTo>
                <a:lnTo>
                  <a:pt x="120000" y="0"/>
                </a:lnTo>
                <a:lnTo>
                  <a:pt x="60000" y="120000"/>
                </a:lnTo>
                <a:close/>
              </a:path>
            </a:pathLst>
          </a:custGeom>
          <a:solidFill>
            <a:srgbClr val="FF6B6B"/>
          </a:solidFill>
          <a:ln w="2857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grpSp>
        <p:nvGrpSpPr>
          <p:cNvPr id="173" name="Google Shape;173;p18"/>
          <p:cNvGrpSpPr/>
          <p:nvPr/>
        </p:nvGrpSpPr>
        <p:grpSpPr>
          <a:xfrm>
            <a:off x="5842000" y="5905500"/>
            <a:ext cx="508000" cy="508000"/>
            <a:chOff x="0" y="0"/>
            <a:chExt cx="381000" cy="381000"/>
          </a:xfrm>
        </p:grpSpPr>
        <p:sp>
          <p:nvSpPr>
            <p:cNvPr id="174" name="Google Shape;174;p18"/>
            <p:cNvSpPr/>
            <p:nvPr/>
          </p:nvSpPr>
          <p:spPr>
            <a:xfrm>
              <a:off x="0" y="0"/>
              <a:ext cx="76200" cy="76200"/>
            </a:xfrm>
            <a:prstGeom prst="ellipse">
              <a:avLst/>
            </a:prstGeom>
            <a:solidFill>
              <a:srgbClr val="4338CA"/>
            </a:solidFill>
            <a:ln>
              <a:noFill/>
            </a:ln>
          </p:spPr>
          <p:txBody>
            <a:bodyPr spcFirstLastPara="1" wrap="square" lIns="0" tIns="0" rIns="0" bIns="0" anchor="ctr" anchorCtr="0">
              <a:noAutofit/>
            </a:bodyPr>
            <a:lstStyle/>
            <a:p>
              <a:endParaRPr sz="2400"/>
            </a:p>
          </p:txBody>
        </p:sp>
        <p:sp>
          <p:nvSpPr>
            <p:cNvPr id="175" name="Google Shape;175;p18"/>
            <p:cNvSpPr/>
            <p:nvPr/>
          </p:nvSpPr>
          <p:spPr>
            <a:xfrm>
              <a:off x="152400" y="0"/>
              <a:ext cx="76200" cy="76200"/>
            </a:xfrm>
            <a:prstGeom prst="ellipse">
              <a:avLst/>
            </a:prstGeom>
            <a:solidFill>
              <a:srgbClr val="4338CA"/>
            </a:solidFill>
            <a:ln>
              <a:noFill/>
            </a:ln>
          </p:spPr>
          <p:txBody>
            <a:bodyPr spcFirstLastPara="1" wrap="square" lIns="0" tIns="0" rIns="0" bIns="0" anchor="ctr" anchorCtr="0">
              <a:noAutofit/>
            </a:bodyPr>
            <a:lstStyle/>
            <a:p>
              <a:endParaRPr sz="2400"/>
            </a:p>
          </p:txBody>
        </p:sp>
        <p:sp>
          <p:nvSpPr>
            <p:cNvPr id="176" name="Google Shape;176;p18"/>
            <p:cNvSpPr/>
            <p:nvPr/>
          </p:nvSpPr>
          <p:spPr>
            <a:xfrm>
              <a:off x="304800" y="0"/>
              <a:ext cx="76200" cy="76200"/>
            </a:xfrm>
            <a:prstGeom prst="ellipse">
              <a:avLst/>
            </a:prstGeom>
            <a:solidFill>
              <a:srgbClr val="4338CA"/>
            </a:solidFill>
            <a:ln>
              <a:noFill/>
            </a:ln>
          </p:spPr>
          <p:txBody>
            <a:bodyPr spcFirstLastPara="1" wrap="square" lIns="0" tIns="0" rIns="0" bIns="0" anchor="ctr" anchorCtr="0">
              <a:noAutofit/>
            </a:bodyPr>
            <a:lstStyle/>
            <a:p>
              <a:endParaRPr sz="2400"/>
            </a:p>
          </p:txBody>
        </p:sp>
        <p:sp>
          <p:nvSpPr>
            <p:cNvPr id="177" name="Google Shape;177;p18"/>
            <p:cNvSpPr/>
            <p:nvPr/>
          </p:nvSpPr>
          <p:spPr>
            <a:xfrm>
              <a:off x="0" y="152400"/>
              <a:ext cx="76200" cy="76200"/>
            </a:xfrm>
            <a:prstGeom prst="ellipse">
              <a:avLst/>
            </a:prstGeom>
            <a:solidFill>
              <a:srgbClr val="4338CA"/>
            </a:solidFill>
            <a:ln>
              <a:noFill/>
            </a:ln>
          </p:spPr>
          <p:txBody>
            <a:bodyPr spcFirstLastPara="1" wrap="square" lIns="0" tIns="0" rIns="0" bIns="0" anchor="ctr" anchorCtr="0">
              <a:noAutofit/>
            </a:bodyPr>
            <a:lstStyle/>
            <a:p>
              <a:endParaRPr sz="2400"/>
            </a:p>
          </p:txBody>
        </p:sp>
        <p:sp>
          <p:nvSpPr>
            <p:cNvPr id="178" name="Google Shape;178;p18"/>
            <p:cNvSpPr/>
            <p:nvPr/>
          </p:nvSpPr>
          <p:spPr>
            <a:xfrm>
              <a:off x="152400" y="152400"/>
              <a:ext cx="76200" cy="76200"/>
            </a:xfrm>
            <a:prstGeom prst="ellipse">
              <a:avLst/>
            </a:prstGeom>
            <a:solidFill>
              <a:srgbClr val="4338CA"/>
            </a:solidFill>
            <a:ln>
              <a:noFill/>
            </a:ln>
          </p:spPr>
          <p:txBody>
            <a:bodyPr spcFirstLastPara="1" wrap="square" lIns="0" tIns="0" rIns="0" bIns="0" anchor="ctr" anchorCtr="0">
              <a:noAutofit/>
            </a:bodyPr>
            <a:lstStyle/>
            <a:p>
              <a:endParaRPr sz="2400"/>
            </a:p>
          </p:txBody>
        </p:sp>
        <p:sp>
          <p:nvSpPr>
            <p:cNvPr id="179" name="Google Shape;179;p18"/>
            <p:cNvSpPr/>
            <p:nvPr/>
          </p:nvSpPr>
          <p:spPr>
            <a:xfrm>
              <a:off x="304800" y="152400"/>
              <a:ext cx="76200" cy="76200"/>
            </a:xfrm>
            <a:prstGeom prst="ellipse">
              <a:avLst/>
            </a:prstGeom>
            <a:solidFill>
              <a:srgbClr val="4338CA"/>
            </a:solidFill>
            <a:ln>
              <a:noFill/>
            </a:ln>
          </p:spPr>
          <p:txBody>
            <a:bodyPr spcFirstLastPara="1" wrap="square" lIns="0" tIns="0" rIns="0" bIns="0" anchor="ctr" anchorCtr="0">
              <a:noAutofit/>
            </a:bodyPr>
            <a:lstStyle/>
            <a:p>
              <a:endParaRPr sz="2400"/>
            </a:p>
          </p:txBody>
        </p:sp>
        <p:sp>
          <p:nvSpPr>
            <p:cNvPr id="180" name="Google Shape;180;p18"/>
            <p:cNvSpPr/>
            <p:nvPr/>
          </p:nvSpPr>
          <p:spPr>
            <a:xfrm>
              <a:off x="0" y="304800"/>
              <a:ext cx="76200" cy="76200"/>
            </a:xfrm>
            <a:prstGeom prst="ellipse">
              <a:avLst/>
            </a:prstGeom>
            <a:solidFill>
              <a:srgbClr val="4338CA"/>
            </a:solidFill>
            <a:ln>
              <a:noFill/>
            </a:ln>
          </p:spPr>
          <p:txBody>
            <a:bodyPr spcFirstLastPara="1" wrap="square" lIns="0" tIns="0" rIns="0" bIns="0" anchor="ctr" anchorCtr="0">
              <a:noAutofit/>
            </a:bodyPr>
            <a:lstStyle/>
            <a:p>
              <a:endParaRPr sz="2400"/>
            </a:p>
          </p:txBody>
        </p:sp>
        <p:sp>
          <p:nvSpPr>
            <p:cNvPr id="181" name="Google Shape;181;p18"/>
            <p:cNvSpPr/>
            <p:nvPr/>
          </p:nvSpPr>
          <p:spPr>
            <a:xfrm>
              <a:off x="152400" y="304800"/>
              <a:ext cx="76200" cy="76200"/>
            </a:xfrm>
            <a:prstGeom prst="ellipse">
              <a:avLst/>
            </a:prstGeom>
            <a:solidFill>
              <a:srgbClr val="4338CA"/>
            </a:solidFill>
            <a:ln>
              <a:noFill/>
            </a:ln>
          </p:spPr>
          <p:txBody>
            <a:bodyPr spcFirstLastPara="1" wrap="square" lIns="0" tIns="0" rIns="0" bIns="0" anchor="ctr" anchorCtr="0">
              <a:noAutofit/>
            </a:bodyPr>
            <a:lstStyle/>
            <a:p>
              <a:endParaRPr sz="2400"/>
            </a:p>
          </p:txBody>
        </p:sp>
        <p:pic>
          <p:nvPicPr>
            <p:cNvPr id="182" name="Google Shape;182;p18"/>
            <p:cNvPicPr preferRelativeResize="0"/>
            <p:nvPr/>
          </p:nvPicPr>
          <p:blipFill rotWithShape="1">
            <a:blip r:embed="rId3"/>
            <a:srcRect/>
            <a:stretch>
              <a:fillRect/>
            </a:stretch>
          </p:blipFill>
          <p:spPr>
            <a:xfrm>
              <a:off x="304800" y="304800"/>
              <a:ext cx="76200" cy="76200"/>
            </a:xfrm>
            <a:prstGeom prst="rect">
              <a:avLst/>
            </a:prstGeom>
            <a:noFill/>
            <a:ln>
              <a:noFill/>
            </a:ln>
          </p:spPr>
        </p:pic>
      </p:grpSp>
      <p:sp>
        <p:nvSpPr>
          <p:cNvPr id="183" name="Google Shape;183;p18"/>
          <p:cNvSpPr txBox="1"/>
          <p:nvPr/>
        </p:nvSpPr>
        <p:spPr>
          <a:xfrm>
            <a:off x="508000" y="508000"/>
            <a:ext cx="11176000" cy="762000"/>
          </a:xfrm>
          <a:prstGeom prst="rect">
            <a:avLst/>
          </a:prstGeom>
          <a:noFill/>
          <a:ln>
            <a:noFill/>
          </a:ln>
        </p:spPr>
        <p:txBody>
          <a:bodyPr spcFirstLastPara="1" wrap="square" lIns="0" tIns="0" rIns="0" bIns="0" anchor="t" anchorCtr="0">
            <a:noAutofit/>
          </a:bodyPr>
          <a:lstStyle/>
          <a:p>
            <a:r>
              <a:rPr lang="en-GB" sz="3200" dirty="0">
                <a:solidFill>
                  <a:srgbClr val="111827"/>
                </a:solidFill>
                <a:latin typeface="Outfit ExtraBold"/>
                <a:ea typeface="Outfit ExtraBold"/>
                <a:cs typeface="Outfit ExtraBold"/>
                <a:sym typeface="Outfit ExtraBold"/>
              </a:rPr>
              <a:t>Interviews</a:t>
            </a:r>
          </a:p>
        </p:txBody>
      </p:sp>
      <p:cxnSp>
        <p:nvCxnSpPr>
          <p:cNvPr id="184" name="Google Shape;184;p18"/>
          <p:cNvCxnSpPr/>
          <p:nvPr/>
        </p:nvCxnSpPr>
        <p:spPr>
          <a:xfrm>
            <a:off x="508000" y="127000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185" name="Google Shape;185;p18"/>
          <p:cNvSpPr/>
          <p:nvPr/>
        </p:nvSpPr>
        <p:spPr>
          <a:xfrm>
            <a:off x="11404600" y="609600"/>
            <a:ext cx="304800" cy="304800"/>
          </a:xfrm>
          <a:prstGeom prst="ellipse">
            <a:avLst/>
          </a:prstGeom>
          <a:solidFill>
            <a:srgbClr val="4338CA"/>
          </a:solidFill>
          <a:ln w="19050"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sp>
        <p:nvSpPr>
          <p:cNvPr id="186" name="Google Shape;186;p18"/>
          <p:cNvSpPr/>
          <p:nvPr/>
        </p:nvSpPr>
        <p:spPr>
          <a:xfrm>
            <a:off x="5943600" y="3429000"/>
            <a:ext cx="304800" cy="304800"/>
          </a:xfrm>
          <a:custGeom>
            <a:avLst/>
            <a:gdLst/>
            <a:ahLst/>
            <a:cxnLst/>
            <a:rect l="l" t="t" r="r" b="b"/>
            <a:pathLst>
              <a:path w="120000" h="120000" extrusionOk="0">
                <a:moveTo>
                  <a:pt x="60000" y="0"/>
                </a:moveTo>
                <a:cubicBezTo>
                  <a:pt x="60000" y="33135"/>
                  <a:pt x="86865" y="60000"/>
                  <a:pt x="120000" y="60000"/>
                </a:cubicBezTo>
                <a:cubicBezTo>
                  <a:pt x="86865" y="60000"/>
                  <a:pt x="60000" y="86865"/>
                  <a:pt x="60000" y="120000"/>
                </a:cubicBezTo>
                <a:cubicBezTo>
                  <a:pt x="60000" y="86865"/>
                  <a:pt x="33135" y="60000"/>
                  <a:pt x="0" y="60000"/>
                </a:cubicBezTo>
                <a:cubicBezTo>
                  <a:pt x="33135" y="60000"/>
                  <a:pt x="60000" y="33135"/>
                  <a:pt x="60000" y="0"/>
                </a:cubicBezTo>
                <a:close/>
              </a:path>
            </a:pathLst>
          </a:custGeom>
          <a:solidFill>
            <a:srgbClr val="FBBF24"/>
          </a:solidFill>
          <a:ln w="19050"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grpSp>
        <p:nvGrpSpPr>
          <p:cNvPr id="187" name="Google Shape;187;p18"/>
          <p:cNvGrpSpPr/>
          <p:nvPr/>
        </p:nvGrpSpPr>
        <p:grpSpPr>
          <a:xfrm>
            <a:off x="508000" y="1651000"/>
            <a:ext cx="5537400" cy="4648200"/>
            <a:chOff x="0" y="0"/>
            <a:chExt cx="4153050" cy="3486150"/>
          </a:xfrm>
        </p:grpSpPr>
        <p:sp>
          <p:nvSpPr>
            <p:cNvPr id="188" name="Google Shape;188;p18"/>
            <p:cNvSpPr/>
            <p:nvPr/>
          </p:nvSpPr>
          <p:spPr>
            <a:xfrm>
              <a:off x="57150" y="57150"/>
              <a:ext cx="4095900" cy="3429000"/>
            </a:xfrm>
            <a:prstGeom prst="roundRect">
              <a:avLst>
                <a:gd name="adj" fmla="val 4444"/>
              </a:avLst>
            </a:prstGeom>
            <a:solidFill>
              <a:srgbClr val="111827"/>
            </a:solidFill>
            <a:ln>
              <a:noFill/>
            </a:ln>
          </p:spPr>
          <p:txBody>
            <a:bodyPr spcFirstLastPara="1" wrap="square" lIns="0" tIns="0" rIns="0" bIns="0" anchor="ctr" anchorCtr="0">
              <a:noAutofit/>
            </a:bodyPr>
            <a:lstStyle/>
            <a:p>
              <a:endParaRPr sz="2400"/>
            </a:p>
          </p:txBody>
        </p:sp>
        <p:sp>
          <p:nvSpPr>
            <p:cNvPr id="189" name="Google Shape;189;p18"/>
            <p:cNvSpPr/>
            <p:nvPr/>
          </p:nvSpPr>
          <p:spPr>
            <a:xfrm>
              <a:off x="0" y="0"/>
              <a:ext cx="4095900" cy="3429000"/>
            </a:xfrm>
            <a:prstGeom prst="roundRect">
              <a:avLst>
                <a:gd name="adj" fmla="val 4444"/>
              </a:avLst>
            </a:prstGeom>
            <a:solidFill>
              <a:srgbClr val="FFFFFF"/>
            </a:solidFill>
            <a:ln w="2857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sp>
          <p:nvSpPr>
            <p:cNvPr id="190" name="Google Shape;190;p18"/>
            <p:cNvSpPr txBox="1"/>
            <p:nvPr/>
          </p:nvSpPr>
          <p:spPr>
            <a:xfrm>
              <a:off x="285750" y="285750"/>
              <a:ext cx="3524400" cy="2857500"/>
            </a:xfrm>
            <a:prstGeom prst="rect">
              <a:avLst/>
            </a:prstGeom>
            <a:noFill/>
            <a:ln>
              <a:noFill/>
            </a:ln>
          </p:spPr>
          <p:txBody>
            <a:bodyPr spcFirstLastPara="1" wrap="square" lIns="0" tIns="0" rIns="0" bIns="0" anchor="t" anchorCtr="0">
              <a:noAutofit/>
            </a:bodyPr>
            <a:lstStyle/>
            <a:p>
              <a:r>
                <a:rPr lang="en-GB" sz="2000" b="1" dirty="0">
                  <a:solidFill>
                    <a:srgbClr val="111827"/>
                  </a:solidFill>
                  <a:latin typeface="Outfit"/>
                  <a:ea typeface="Outfit"/>
                  <a:cs typeface="Outfit"/>
                  <a:sym typeface="Outfit"/>
                </a:rPr>
                <a:t>Medium-Specific Tactics</a:t>
              </a:r>
              <a:endParaRPr sz="2000" b="1" dirty="0">
                <a:solidFill>
                  <a:srgbClr val="111827"/>
                </a:solidFill>
                <a:latin typeface="Outfit"/>
                <a:ea typeface="Outfit"/>
                <a:cs typeface="Outfit"/>
                <a:sym typeface="Outfit"/>
              </a:endParaRPr>
            </a:p>
            <a:p>
              <a:pPr>
                <a:spcBef>
                  <a:spcPts val="1200"/>
                </a:spcBef>
              </a:pPr>
              <a:r>
                <a:rPr lang="en-GB" sz="1400" dirty="0">
                  <a:solidFill>
                    <a:srgbClr val="4B5563"/>
                  </a:solidFill>
                  <a:latin typeface="DM Sans Medium"/>
                  <a:ea typeface="DM Sans Medium"/>
                  <a:cs typeface="DM Sans Medium"/>
                  <a:sym typeface="DM Sans Medium"/>
                </a:rPr>
                <a:t>The final stages involve direct interaction, requiring different strategies depending on the medium.</a:t>
              </a:r>
              <a:endParaRPr sz="1400" dirty="0">
                <a:solidFill>
                  <a:srgbClr val="4B5563"/>
                </a:solidFill>
                <a:latin typeface="DM Sans Medium"/>
                <a:ea typeface="DM Sans Medium"/>
                <a:cs typeface="DM Sans Medium"/>
                <a:sym typeface="DM Sans Medium"/>
              </a:endParaRPr>
            </a:p>
            <a:p>
              <a:pPr>
                <a:spcBef>
                  <a:spcPts val="1600"/>
                </a:spcBef>
              </a:pPr>
              <a:r>
                <a:rPr lang="en-GB" sz="1400" b="1" dirty="0">
                  <a:solidFill>
                    <a:srgbClr val="4338CA"/>
                  </a:solidFill>
                  <a:latin typeface="DM Sans"/>
                  <a:ea typeface="DM Sans"/>
                  <a:cs typeface="DM Sans"/>
                  <a:sym typeface="DM Sans"/>
                </a:rPr>
                <a:t>Face-to-Face:</a:t>
              </a:r>
              <a:r>
                <a:rPr lang="en-GB" sz="1400" dirty="0">
                  <a:solidFill>
                    <a:srgbClr val="4B5563"/>
                  </a:solidFill>
                  <a:latin typeface="DM Sans Medium"/>
                  <a:ea typeface="DM Sans Medium"/>
                  <a:cs typeface="DM Sans Medium"/>
                  <a:sym typeface="DM Sans Medium"/>
                </a:rPr>
                <a:t> Emphasize body language, firm handshakes, and whiteboard coding. You must articulate your thought process while writing code manually.</a:t>
              </a:r>
              <a:endParaRPr sz="1400" dirty="0">
                <a:solidFill>
                  <a:srgbClr val="4B5563"/>
                </a:solidFill>
                <a:latin typeface="DM Sans Medium"/>
                <a:ea typeface="DM Sans Medium"/>
                <a:cs typeface="DM Sans Medium"/>
                <a:sym typeface="DM Sans Medium"/>
              </a:endParaRPr>
            </a:p>
            <a:p>
              <a:pPr>
                <a:spcBef>
                  <a:spcPts val="1200"/>
                </a:spcBef>
              </a:pPr>
              <a:r>
                <a:rPr lang="en-GB" sz="1400" b="1" dirty="0">
                  <a:solidFill>
                    <a:srgbClr val="4338CA"/>
                  </a:solidFill>
                  <a:latin typeface="DM Sans"/>
                  <a:ea typeface="DM Sans"/>
                  <a:cs typeface="DM Sans"/>
                  <a:sym typeface="DM Sans"/>
                </a:rPr>
                <a:t>Online:</a:t>
              </a:r>
              <a:r>
                <a:rPr lang="en-GB" sz="1400" dirty="0">
                  <a:solidFill>
                    <a:srgbClr val="4B5563"/>
                  </a:solidFill>
                  <a:latin typeface="DM Sans Medium"/>
                  <a:ea typeface="DM Sans Medium"/>
                  <a:cs typeface="DM Sans Medium"/>
                  <a:sym typeface="DM Sans Medium"/>
                </a:rPr>
                <a:t> Rely heavily on shared screens and collaborative editors. Clear vocal communication is critical to compensate for the lack of physical presence.</a:t>
              </a:r>
              <a:endParaRPr sz="1400" dirty="0">
                <a:solidFill>
                  <a:srgbClr val="4B5563"/>
                </a:solidFill>
                <a:latin typeface="DM Sans Medium"/>
                <a:ea typeface="DM Sans Medium"/>
                <a:cs typeface="DM Sans Medium"/>
                <a:sym typeface="DM Sans Medium"/>
              </a:endParaRPr>
            </a:p>
            <a:p>
              <a:pPr>
                <a:spcBef>
                  <a:spcPts val="1200"/>
                </a:spcBef>
              </a:pPr>
              <a:r>
                <a:rPr lang="en-GB" sz="1400" b="1" dirty="0">
                  <a:solidFill>
                    <a:srgbClr val="4338CA"/>
                  </a:solidFill>
                  <a:latin typeface="DM Sans"/>
                  <a:ea typeface="DM Sans"/>
                  <a:cs typeface="DM Sans"/>
                  <a:sym typeface="DM Sans"/>
                </a:rPr>
                <a:t>The HR Round:</a:t>
              </a:r>
              <a:r>
                <a:rPr lang="en-GB" sz="1400" dirty="0">
                  <a:solidFill>
                    <a:srgbClr val="4B5563"/>
                  </a:solidFill>
                  <a:latin typeface="DM Sans Medium"/>
                  <a:ea typeface="DM Sans Medium"/>
                  <a:cs typeface="DM Sans Medium"/>
                  <a:sym typeface="DM Sans Medium"/>
                </a:rPr>
                <a:t> Focuses on </a:t>
              </a:r>
              <a:r>
                <a:rPr lang="en-GB" sz="1400" dirty="0" err="1">
                  <a:solidFill>
                    <a:srgbClr val="4B5563"/>
                  </a:solidFill>
                  <a:latin typeface="DM Sans Medium"/>
                  <a:ea typeface="DM Sans Medium"/>
                  <a:cs typeface="DM Sans Medium"/>
                  <a:sym typeface="DM Sans Medium"/>
                </a:rPr>
                <a:t>behavioral</a:t>
              </a:r>
              <a:r>
                <a:rPr lang="en-GB" sz="1400" dirty="0">
                  <a:solidFill>
                    <a:srgbClr val="4B5563"/>
                  </a:solidFill>
                  <a:latin typeface="DM Sans Medium"/>
                  <a:ea typeface="DM Sans Medium"/>
                  <a:cs typeface="DM Sans Medium"/>
                  <a:sym typeface="DM Sans Medium"/>
                </a:rPr>
                <a:t> questions, situational judgment, and alignment with the company's core values, regardless of the format.</a:t>
              </a:r>
              <a:endParaRPr sz="1400" dirty="0">
                <a:solidFill>
                  <a:srgbClr val="4B5563"/>
                </a:solidFill>
                <a:latin typeface="DM Sans Medium"/>
                <a:ea typeface="DM Sans Medium"/>
                <a:cs typeface="DM Sans Medium"/>
                <a:sym typeface="DM Sans Medium"/>
              </a:endParaRPr>
            </a:p>
          </p:txBody>
        </p:sp>
      </p:grpSp>
      <p:grpSp>
        <p:nvGrpSpPr>
          <p:cNvPr id="191" name="Google Shape;191;p18"/>
          <p:cNvGrpSpPr/>
          <p:nvPr/>
        </p:nvGrpSpPr>
        <p:grpSpPr>
          <a:xfrm>
            <a:off x="6223000" y="1651000"/>
            <a:ext cx="5537400" cy="4165800"/>
            <a:chOff x="0" y="0"/>
            <a:chExt cx="4153050" cy="3124350"/>
          </a:xfrm>
        </p:grpSpPr>
        <p:sp>
          <p:nvSpPr>
            <p:cNvPr id="192" name="Google Shape;192;p18"/>
            <p:cNvSpPr/>
            <p:nvPr/>
          </p:nvSpPr>
          <p:spPr>
            <a:xfrm>
              <a:off x="57150" y="57150"/>
              <a:ext cx="4095900" cy="3067200"/>
            </a:xfrm>
            <a:prstGeom prst="roundRect">
              <a:avLst>
                <a:gd name="adj" fmla="val 4968"/>
              </a:avLst>
            </a:prstGeom>
            <a:solidFill>
              <a:srgbClr val="111827"/>
            </a:solidFill>
            <a:ln>
              <a:noFill/>
            </a:ln>
          </p:spPr>
          <p:txBody>
            <a:bodyPr spcFirstLastPara="1" wrap="square" lIns="0" tIns="0" rIns="0" bIns="0" anchor="ctr" anchorCtr="0">
              <a:noAutofit/>
            </a:bodyPr>
            <a:lstStyle/>
            <a:p>
              <a:endParaRPr sz="2400"/>
            </a:p>
          </p:txBody>
        </p:sp>
        <p:pic>
          <p:nvPicPr>
            <p:cNvPr id="193" name="Google Shape;193;p18"/>
            <p:cNvPicPr preferRelativeResize="0"/>
            <p:nvPr/>
          </p:nvPicPr>
          <p:blipFill rotWithShape="1">
            <a:blip r:embed="rId4"/>
            <a:srcRect t="80" b="80"/>
            <a:stretch>
              <a:fillRect/>
            </a:stretch>
          </p:blipFill>
          <p:spPr>
            <a:xfrm>
              <a:off x="0" y="0"/>
              <a:ext cx="4095900" cy="3067200"/>
            </a:xfrm>
            <a:prstGeom prst="roundRect">
              <a:avLst>
                <a:gd name="adj" fmla="val 4968"/>
              </a:avLst>
            </a:prstGeom>
            <a:noFill/>
            <a:ln>
              <a:noFill/>
            </a:ln>
          </p:spPr>
        </p:pic>
        <p:sp>
          <p:nvSpPr>
            <p:cNvPr id="194" name="Google Shape;194;p18"/>
            <p:cNvSpPr/>
            <p:nvPr/>
          </p:nvSpPr>
          <p:spPr>
            <a:xfrm>
              <a:off x="0" y="0"/>
              <a:ext cx="4095900" cy="3067200"/>
            </a:xfrm>
            <a:prstGeom prst="roundRect">
              <a:avLst>
                <a:gd name="adj" fmla="val 4968"/>
              </a:avLst>
            </a:prstGeom>
            <a:solidFill>
              <a:srgbClr val="000000">
                <a:alpha val="0"/>
              </a:srgbClr>
            </a:solidFill>
            <a:ln w="2857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33"/>
          <p:cNvSpPr/>
          <p:nvPr/>
        </p:nvSpPr>
        <p:spPr>
          <a:xfrm>
            <a:off x="0" y="0"/>
            <a:ext cx="12192000" cy="6858000"/>
          </a:xfrm>
          <a:prstGeom prst="rect">
            <a:avLst/>
          </a:prstGeom>
          <a:solidFill>
            <a:srgbClr val="F4F4F0"/>
          </a:solidFill>
          <a:ln>
            <a:noFill/>
          </a:ln>
        </p:spPr>
        <p:txBody>
          <a:bodyPr spcFirstLastPara="1" wrap="square" lIns="0" tIns="0" rIns="0" bIns="0" anchor="ctr" anchorCtr="0">
            <a:noAutofit/>
          </a:bodyPr>
          <a:lstStyle/>
          <a:p>
            <a:endParaRPr sz="2400"/>
          </a:p>
        </p:txBody>
      </p:sp>
      <p:grpSp>
        <p:nvGrpSpPr>
          <p:cNvPr id="620" name="Google Shape;620;p33"/>
          <p:cNvGrpSpPr/>
          <p:nvPr/>
        </p:nvGrpSpPr>
        <p:grpSpPr>
          <a:xfrm>
            <a:off x="508000" y="508000"/>
            <a:ext cx="11201400" cy="762000"/>
            <a:chOff x="381000" y="381000"/>
            <a:chExt cx="8401050" cy="571500"/>
          </a:xfrm>
        </p:grpSpPr>
        <p:sp>
          <p:nvSpPr>
            <p:cNvPr id="621" name="Google Shape;621;p33"/>
            <p:cNvSpPr txBox="1"/>
            <p:nvPr/>
          </p:nvSpPr>
          <p:spPr>
            <a:xfrm>
              <a:off x="381000" y="381000"/>
              <a:ext cx="8382000" cy="571500"/>
            </a:xfrm>
            <a:prstGeom prst="rect">
              <a:avLst/>
            </a:prstGeom>
            <a:noFill/>
            <a:ln>
              <a:noFill/>
            </a:ln>
          </p:spPr>
          <p:txBody>
            <a:bodyPr spcFirstLastPara="1" wrap="square" lIns="0" tIns="0" rIns="0" bIns="0" anchor="t" anchorCtr="0">
              <a:noAutofit/>
            </a:bodyPr>
            <a:lstStyle/>
            <a:p>
              <a:r>
                <a:rPr lang="en-GB" sz="3200">
                  <a:solidFill>
                    <a:srgbClr val="111827"/>
                  </a:solidFill>
                  <a:latin typeface="Outfit ExtraBold"/>
                  <a:ea typeface="Outfit ExtraBold"/>
                  <a:cs typeface="Outfit ExtraBold"/>
                  <a:sym typeface="Outfit ExtraBold"/>
                </a:rPr>
                <a:t>Professional Presence</a:t>
              </a:r>
            </a:p>
          </p:txBody>
        </p:sp>
        <p:cxnSp>
          <p:nvCxnSpPr>
            <p:cNvPr id="622" name="Google Shape;622;p33"/>
            <p:cNvCxnSpPr/>
            <p:nvPr/>
          </p:nvCxnSpPr>
          <p:spPr>
            <a:xfrm>
              <a:off x="381000" y="952500"/>
              <a:ext cx="8382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623" name="Google Shape;623;p33"/>
            <p:cNvSpPr/>
            <p:nvPr/>
          </p:nvSpPr>
          <p:spPr>
            <a:xfrm>
              <a:off x="8553450" y="457200"/>
              <a:ext cx="228600" cy="228600"/>
            </a:xfrm>
            <a:prstGeom prst="ellipse">
              <a:avLst/>
            </a:prstGeom>
            <a:solidFill>
              <a:srgbClr val="4338CA"/>
            </a:solidFill>
            <a:ln w="19050"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grpSp>
      <p:grpSp>
        <p:nvGrpSpPr>
          <p:cNvPr id="624" name="Google Shape;624;p33"/>
          <p:cNvGrpSpPr/>
          <p:nvPr/>
        </p:nvGrpSpPr>
        <p:grpSpPr>
          <a:xfrm>
            <a:off x="508000" y="1651000"/>
            <a:ext cx="5537400" cy="4648200"/>
            <a:chOff x="0" y="0"/>
            <a:chExt cx="4153050" cy="3486150"/>
          </a:xfrm>
        </p:grpSpPr>
        <p:sp>
          <p:nvSpPr>
            <p:cNvPr id="625" name="Google Shape;625;p33"/>
            <p:cNvSpPr/>
            <p:nvPr/>
          </p:nvSpPr>
          <p:spPr>
            <a:xfrm>
              <a:off x="57150" y="57150"/>
              <a:ext cx="4095900" cy="3429000"/>
            </a:xfrm>
            <a:prstGeom prst="roundRect">
              <a:avLst>
                <a:gd name="adj" fmla="val 4444"/>
              </a:avLst>
            </a:prstGeom>
            <a:solidFill>
              <a:srgbClr val="111827"/>
            </a:solidFill>
            <a:ln>
              <a:noFill/>
            </a:ln>
          </p:spPr>
          <p:txBody>
            <a:bodyPr spcFirstLastPara="1" wrap="square" lIns="0" tIns="0" rIns="0" bIns="0" anchor="ctr" anchorCtr="0">
              <a:noAutofit/>
            </a:bodyPr>
            <a:lstStyle/>
            <a:p>
              <a:endParaRPr sz="2400"/>
            </a:p>
          </p:txBody>
        </p:sp>
        <p:sp>
          <p:nvSpPr>
            <p:cNvPr id="626" name="Google Shape;626;p33"/>
            <p:cNvSpPr/>
            <p:nvPr/>
          </p:nvSpPr>
          <p:spPr>
            <a:xfrm>
              <a:off x="0" y="0"/>
              <a:ext cx="4095900" cy="3429000"/>
            </a:xfrm>
            <a:prstGeom prst="roundRect">
              <a:avLst>
                <a:gd name="adj" fmla="val 4444"/>
              </a:avLst>
            </a:prstGeom>
            <a:solidFill>
              <a:srgbClr val="FFFFFF"/>
            </a:solidFill>
            <a:ln w="2857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sp>
          <p:nvSpPr>
            <p:cNvPr id="627" name="Google Shape;627;p33"/>
            <p:cNvSpPr txBox="1"/>
            <p:nvPr/>
          </p:nvSpPr>
          <p:spPr>
            <a:xfrm>
              <a:off x="285750" y="285750"/>
              <a:ext cx="3524400" cy="2857500"/>
            </a:xfrm>
            <a:prstGeom prst="rect">
              <a:avLst/>
            </a:prstGeom>
            <a:noFill/>
            <a:ln>
              <a:noFill/>
            </a:ln>
          </p:spPr>
          <p:txBody>
            <a:bodyPr spcFirstLastPara="1" wrap="square" lIns="0" tIns="0" rIns="0" bIns="0" anchor="t" anchorCtr="0">
              <a:noAutofit/>
            </a:bodyPr>
            <a:lstStyle/>
            <a:p>
              <a:r>
                <a:rPr lang="en-GB" sz="2000" b="1">
                  <a:solidFill>
                    <a:srgbClr val="111827"/>
                  </a:solidFill>
                  <a:latin typeface="Outfit"/>
                  <a:ea typeface="Outfit"/>
                  <a:cs typeface="Outfit"/>
                  <a:sym typeface="Outfit"/>
                </a:rPr>
                <a:t>Grooming, Attire, &amp; First Impressions</a:t>
              </a:r>
              <a:endParaRPr sz="2000" b="1">
                <a:solidFill>
                  <a:srgbClr val="111827"/>
                </a:solidFill>
                <a:latin typeface="Outfit"/>
                <a:ea typeface="Outfit"/>
                <a:cs typeface="Outfit"/>
                <a:sym typeface="Outfit"/>
              </a:endParaRPr>
            </a:p>
            <a:p>
              <a:pPr>
                <a:spcBef>
                  <a:spcPts val="1000"/>
                </a:spcBef>
              </a:pPr>
              <a:r>
                <a:rPr lang="en-GB" sz="1400">
                  <a:solidFill>
                    <a:srgbClr val="4B5563"/>
                  </a:solidFill>
                  <a:latin typeface="DM Sans Medium"/>
                  <a:ea typeface="DM Sans Medium"/>
                  <a:cs typeface="DM Sans Medium"/>
                  <a:sym typeface="DM Sans Medium"/>
                </a:rPr>
                <a:t>Your visual presentation communicates respect for the opportunity and sets the tone for the interview.</a:t>
              </a:r>
              <a:endParaRPr sz="1400">
                <a:solidFill>
                  <a:srgbClr val="4B5563"/>
                </a:solidFill>
                <a:latin typeface="DM Sans Medium"/>
                <a:ea typeface="DM Sans Medium"/>
                <a:cs typeface="DM Sans Medium"/>
                <a:sym typeface="DM Sans Medium"/>
              </a:endParaRPr>
            </a:p>
            <a:p>
              <a:pPr marL="609585" indent="-387764">
                <a:spcBef>
                  <a:spcPts val="1400"/>
                </a:spcBef>
                <a:buClr>
                  <a:srgbClr val="4B5563"/>
                </a:buClr>
                <a:buSzPts val="975"/>
                <a:buFont typeface="DM Sans"/>
                <a:buChar char="●"/>
              </a:pPr>
              <a:r>
                <a:rPr lang="en-GB" sz="1300" b="1">
                  <a:solidFill>
                    <a:srgbClr val="111827"/>
                  </a:solidFill>
                  <a:latin typeface="DM Sans"/>
                  <a:ea typeface="DM Sans"/>
                  <a:cs typeface="DM Sans"/>
                  <a:sym typeface="DM Sans"/>
                </a:rPr>
                <a:t>Appropriate Attire:</a:t>
              </a:r>
              <a:r>
                <a:rPr lang="en-GB" sz="1300">
                  <a:solidFill>
                    <a:srgbClr val="4B5563"/>
                  </a:solidFill>
                  <a:latin typeface="DM Sans"/>
                  <a:ea typeface="DM Sans"/>
                  <a:cs typeface="DM Sans"/>
                  <a:sym typeface="DM Sans"/>
                </a:rPr>
                <a:t> Default to business professional (suit/tie or formal Indian wear) unless explicitly told otherwise.</a:t>
              </a:r>
              <a:endParaRPr sz="1300">
                <a:solidFill>
                  <a:srgbClr val="4B5563"/>
                </a:solidFill>
                <a:latin typeface="DM Sans"/>
                <a:ea typeface="DM Sans"/>
                <a:cs typeface="DM Sans"/>
                <a:sym typeface="DM Sans"/>
              </a:endParaRPr>
            </a:p>
            <a:p>
              <a:pPr marL="609585" indent="-387764">
                <a:spcBef>
                  <a:spcPts val="1000"/>
                </a:spcBef>
                <a:buClr>
                  <a:srgbClr val="4B5563"/>
                </a:buClr>
                <a:buSzPts val="975"/>
                <a:buFont typeface="DM Sans"/>
                <a:buChar char="●"/>
              </a:pPr>
              <a:r>
                <a:rPr lang="en-GB" sz="1300" b="1">
                  <a:solidFill>
                    <a:srgbClr val="111827"/>
                  </a:solidFill>
                  <a:latin typeface="DM Sans"/>
                  <a:ea typeface="DM Sans"/>
                  <a:cs typeface="DM Sans"/>
                  <a:sym typeface="DM Sans"/>
                </a:rPr>
                <a:t>Impeccable Grooming:</a:t>
              </a:r>
              <a:r>
                <a:rPr lang="en-GB" sz="1300">
                  <a:solidFill>
                    <a:srgbClr val="4B5563"/>
                  </a:solidFill>
                  <a:latin typeface="DM Sans"/>
                  <a:ea typeface="DM Sans"/>
                  <a:cs typeface="DM Sans"/>
                  <a:sym typeface="DM Sans"/>
                </a:rPr>
                <a:t> Ensure neat hair, trimmed nails, and a clean, ironed outfit.</a:t>
              </a:r>
              <a:endParaRPr sz="1300">
                <a:solidFill>
                  <a:srgbClr val="4B5563"/>
                </a:solidFill>
                <a:latin typeface="DM Sans"/>
                <a:ea typeface="DM Sans"/>
                <a:cs typeface="DM Sans"/>
                <a:sym typeface="DM Sans"/>
              </a:endParaRPr>
            </a:p>
            <a:p>
              <a:pPr marL="609585" indent="-387764">
                <a:spcBef>
                  <a:spcPts val="1000"/>
                </a:spcBef>
                <a:buClr>
                  <a:srgbClr val="4B5563"/>
                </a:buClr>
                <a:buSzPts val="975"/>
                <a:buFont typeface="DM Sans"/>
                <a:buChar char="●"/>
              </a:pPr>
              <a:r>
                <a:rPr lang="en-GB" sz="1300" b="1">
                  <a:solidFill>
                    <a:srgbClr val="111827"/>
                  </a:solidFill>
                  <a:latin typeface="DM Sans"/>
                  <a:ea typeface="DM Sans"/>
                  <a:cs typeface="DM Sans"/>
                  <a:sym typeface="DM Sans"/>
                </a:rPr>
                <a:t>Body Language:</a:t>
              </a:r>
              <a:r>
                <a:rPr lang="en-GB" sz="1300">
                  <a:solidFill>
                    <a:srgbClr val="4B5563"/>
                  </a:solidFill>
                  <a:latin typeface="DM Sans"/>
                  <a:ea typeface="DM Sans"/>
                  <a:cs typeface="DM Sans"/>
                  <a:sym typeface="DM Sans"/>
                </a:rPr>
                <a:t> Maintain an upright posture, offer a firm handshake (if in person), and avoid fidgeting.</a:t>
              </a:r>
              <a:endParaRPr sz="1300">
                <a:solidFill>
                  <a:srgbClr val="4B5563"/>
                </a:solidFill>
                <a:latin typeface="DM Sans"/>
                <a:ea typeface="DM Sans"/>
                <a:cs typeface="DM Sans"/>
                <a:sym typeface="DM Sans"/>
              </a:endParaRPr>
            </a:p>
            <a:p>
              <a:pPr marL="609585" indent="-387764">
                <a:spcBef>
                  <a:spcPts val="1000"/>
                </a:spcBef>
                <a:buClr>
                  <a:srgbClr val="4B5563"/>
                </a:buClr>
                <a:buSzPts val="975"/>
                <a:buFont typeface="DM Sans"/>
                <a:buChar char="●"/>
              </a:pPr>
              <a:r>
                <a:rPr lang="en-GB" sz="1300" b="1">
                  <a:solidFill>
                    <a:srgbClr val="111827"/>
                  </a:solidFill>
                  <a:latin typeface="DM Sans"/>
                  <a:ea typeface="DM Sans"/>
                  <a:cs typeface="DM Sans"/>
                  <a:sym typeface="DM Sans"/>
                </a:rPr>
                <a:t>The First 30 Seconds:</a:t>
              </a:r>
              <a:r>
                <a:rPr lang="en-GB" sz="1300">
                  <a:solidFill>
                    <a:srgbClr val="4B5563"/>
                  </a:solidFill>
                  <a:latin typeface="DM Sans"/>
                  <a:ea typeface="DM Sans"/>
                  <a:cs typeface="DM Sans"/>
                  <a:sym typeface="DM Sans"/>
                </a:rPr>
                <a:t> Interviewers form a subconscious bias in the first minute; a confident smile and clear greeting are crucial.</a:t>
              </a:r>
              <a:endParaRPr sz="1300">
                <a:solidFill>
                  <a:srgbClr val="4B5563"/>
                </a:solidFill>
                <a:latin typeface="DM Sans"/>
                <a:ea typeface="DM Sans"/>
                <a:cs typeface="DM Sans"/>
                <a:sym typeface="DM Sans"/>
              </a:endParaRPr>
            </a:p>
          </p:txBody>
        </p:sp>
      </p:grpSp>
      <p:grpSp>
        <p:nvGrpSpPr>
          <p:cNvPr id="628" name="Google Shape;628;p33"/>
          <p:cNvGrpSpPr/>
          <p:nvPr/>
        </p:nvGrpSpPr>
        <p:grpSpPr>
          <a:xfrm>
            <a:off x="6223000" y="1651000"/>
            <a:ext cx="5537400" cy="4165800"/>
            <a:chOff x="0" y="0"/>
            <a:chExt cx="4153050" cy="3124350"/>
          </a:xfrm>
        </p:grpSpPr>
        <p:sp>
          <p:nvSpPr>
            <p:cNvPr id="629" name="Google Shape;629;p33"/>
            <p:cNvSpPr/>
            <p:nvPr/>
          </p:nvSpPr>
          <p:spPr>
            <a:xfrm>
              <a:off x="57150" y="57150"/>
              <a:ext cx="4095900" cy="3067200"/>
            </a:xfrm>
            <a:prstGeom prst="roundRect">
              <a:avLst>
                <a:gd name="adj" fmla="val 4968"/>
              </a:avLst>
            </a:prstGeom>
            <a:solidFill>
              <a:srgbClr val="111827"/>
            </a:solidFill>
            <a:ln>
              <a:noFill/>
            </a:ln>
          </p:spPr>
          <p:txBody>
            <a:bodyPr spcFirstLastPara="1" wrap="square" lIns="0" tIns="0" rIns="0" bIns="0" anchor="ctr" anchorCtr="0">
              <a:noAutofit/>
            </a:bodyPr>
            <a:lstStyle/>
            <a:p>
              <a:endParaRPr sz="2400"/>
            </a:p>
          </p:txBody>
        </p:sp>
        <p:sp>
          <p:nvSpPr>
            <p:cNvPr id="630" name="Google Shape;630;p33"/>
            <p:cNvSpPr/>
            <p:nvPr/>
          </p:nvSpPr>
          <p:spPr>
            <a:xfrm>
              <a:off x="0" y="0"/>
              <a:ext cx="4095900" cy="3067200"/>
            </a:xfrm>
            <a:prstGeom prst="roundRect">
              <a:avLst>
                <a:gd name="adj" fmla="val 4968"/>
              </a:avLst>
            </a:prstGeom>
            <a:solidFill>
              <a:srgbClr val="FFFFFF"/>
            </a:solidFill>
            <a:ln>
              <a:noFill/>
            </a:ln>
          </p:spPr>
          <p:txBody>
            <a:bodyPr spcFirstLastPara="1" wrap="square" lIns="0" tIns="0" rIns="0" bIns="0" anchor="ctr" anchorCtr="0">
              <a:noAutofit/>
            </a:bodyPr>
            <a:lstStyle/>
            <a:p>
              <a:endParaRPr sz="2400"/>
            </a:p>
          </p:txBody>
        </p:sp>
        <p:pic>
          <p:nvPicPr>
            <p:cNvPr id="631" name="Google Shape;631;p33"/>
            <p:cNvPicPr preferRelativeResize="0"/>
            <p:nvPr/>
          </p:nvPicPr>
          <p:blipFill rotWithShape="1">
            <a:blip r:embed="rId3"/>
            <a:srcRect t="80" b="80"/>
            <a:stretch>
              <a:fillRect/>
            </a:stretch>
          </p:blipFill>
          <p:spPr>
            <a:xfrm>
              <a:off x="0" y="0"/>
              <a:ext cx="4095900" cy="3067200"/>
            </a:xfrm>
            <a:prstGeom prst="roundRect">
              <a:avLst>
                <a:gd name="adj" fmla="val 4968"/>
              </a:avLst>
            </a:prstGeom>
            <a:noFill/>
            <a:ln>
              <a:noFill/>
            </a:ln>
          </p:spPr>
        </p:pic>
        <p:sp>
          <p:nvSpPr>
            <p:cNvPr id="632" name="Google Shape;632;p33"/>
            <p:cNvSpPr/>
            <p:nvPr/>
          </p:nvSpPr>
          <p:spPr>
            <a:xfrm>
              <a:off x="0" y="0"/>
              <a:ext cx="4095900" cy="3067200"/>
            </a:xfrm>
            <a:prstGeom prst="roundRect">
              <a:avLst>
                <a:gd name="adj" fmla="val 4968"/>
              </a:avLst>
            </a:prstGeom>
            <a:solidFill>
              <a:srgbClr val="000000">
                <a:alpha val="0"/>
              </a:srgbClr>
            </a:solidFill>
            <a:ln w="2857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2A1F47-86BB-D0D1-F709-7DDFA078934C}"/>
              </a:ext>
            </a:extLst>
          </p:cNvPr>
          <p:cNvSpPr txBox="1"/>
          <p:nvPr/>
        </p:nvSpPr>
        <p:spPr>
          <a:xfrm>
            <a:off x="518160" y="1624597"/>
            <a:ext cx="8829040" cy="3785652"/>
          </a:xfrm>
          <a:prstGeom prst="rect">
            <a:avLst/>
          </a:prstGeom>
          <a:noFill/>
        </p:spPr>
        <p:txBody>
          <a:bodyPr wrap="square">
            <a:spAutoFit/>
          </a:bodyPr>
          <a:lstStyle/>
          <a:p>
            <a:pPr>
              <a:buNone/>
            </a:pPr>
            <a:r>
              <a:rPr lang="en-US" sz="2400" b="1" dirty="0"/>
              <a:t>Appearance &amp; Grooming - First Impression Matters</a:t>
            </a:r>
          </a:p>
          <a:p>
            <a:pPr>
              <a:buNone/>
            </a:pPr>
            <a:endParaRPr lang="en-US" sz="2400" b="1" dirty="0"/>
          </a:p>
          <a:p>
            <a:pPr>
              <a:buNone/>
            </a:pPr>
            <a:r>
              <a:rPr lang="en-US" sz="2400" dirty="0"/>
              <a:t>✔ Dress neatly</a:t>
            </a:r>
            <a:br>
              <a:rPr lang="en-US" sz="2400" dirty="0"/>
            </a:br>
            <a:r>
              <a:rPr lang="en-US" sz="2400" dirty="0"/>
              <a:t>✔ Be presentable</a:t>
            </a:r>
            <a:br>
              <a:rPr lang="en-US" sz="2400" dirty="0"/>
            </a:br>
            <a:r>
              <a:rPr lang="en-US" sz="2400" dirty="0"/>
              <a:t>✔ Maintain hygiene</a:t>
            </a:r>
            <a:br>
              <a:rPr lang="en-US" sz="2400" dirty="0"/>
            </a:br>
            <a:r>
              <a:rPr lang="en-US" sz="2400" dirty="0"/>
              <a:t>✔ Sit confidently</a:t>
            </a:r>
          </a:p>
          <a:p>
            <a:pPr>
              <a:buNone/>
            </a:pPr>
            <a:endParaRPr lang="en-US" sz="2400" b="1" dirty="0"/>
          </a:p>
          <a:p>
            <a:pPr>
              <a:buNone/>
            </a:pPr>
            <a:endParaRPr lang="en-US" sz="2400" b="1" dirty="0"/>
          </a:p>
          <a:p>
            <a:pPr>
              <a:buNone/>
            </a:pPr>
            <a:r>
              <a:rPr lang="en-US" sz="2400" b="1" dirty="0"/>
              <a:t>Remember:</a:t>
            </a:r>
          </a:p>
          <a:p>
            <a:pPr>
              <a:buNone/>
            </a:pPr>
            <a:r>
              <a:rPr lang="en-US" sz="2400" dirty="0"/>
              <a:t>Confidence is visible</a:t>
            </a:r>
          </a:p>
        </p:txBody>
      </p:sp>
      <p:sp>
        <p:nvSpPr>
          <p:cNvPr id="2" name="Google Shape;183;p18">
            <a:extLst>
              <a:ext uri="{FF2B5EF4-FFF2-40B4-BE49-F238E27FC236}">
                <a16:creationId xmlns:a16="http://schemas.microsoft.com/office/drawing/2014/main" id="{6F817633-8185-72A0-5543-54836DCBD662}"/>
              </a:ext>
            </a:extLst>
          </p:cNvPr>
          <p:cNvSpPr txBox="1"/>
          <p:nvPr/>
        </p:nvSpPr>
        <p:spPr>
          <a:xfrm>
            <a:off x="508000" y="508000"/>
            <a:ext cx="11176000" cy="762000"/>
          </a:xfrm>
          <a:prstGeom prst="rect">
            <a:avLst/>
          </a:prstGeom>
          <a:noFill/>
          <a:ln>
            <a:noFill/>
          </a:ln>
        </p:spPr>
        <p:txBody>
          <a:bodyPr spcFirstLastPara="1" wrap="square" lIns="0" tIns="0" rIns="0" bIns="0" anchor="t" anchorCtr="0">
            <a:noAutofit/>
          </a:bodyPr>
          <a:lstStyle/>
          <a:p>
            <a:r>
              <a:rPr lang="en-GB" sz="3200" dirty="0">
                <a:solidFill>
                  <a:srgbClr val="111827"/>
                </a:solidFill>
                <a:latin typeface="Outfit ExtraBold"/>
                <a:ea typeface="Outfit ExtraBold"/>
                <a:cs typeface="Outfit ExtraBold"/>
                <a:sym typeface="Outfit ExtraBold"/>
              </a:rPr>
              <a:t>Navigating Face-to-Face vs. Online Interviews</a:t>
            </a:r>
          </a:p>
        </p:txBody>
      </p:sp>
      <p:cxnSp>
        <p:nvCxnSpPr>
          <p:cNvPr id="4" name="Google Shape;184;p18">
            <a:extLst>
              <a:ext uri="{FF2B5EF4-FFF2-40B4-BE49-F238E27FC236}">
                <a16:creationId xmlns:a16="http://schemas.microsoft.com/office/drawing/2014/main" id="{B7BC219A-609D-E988-8C43-8E28EB1268FC}"/>
              </a:ext>
            </a:extLst>
          </p:cNvPr>
          <p:cNvCxnSpPr/>
          <p:nvPr/>
        </p:nvCxnSpPr>
        <p:spPr>
          <a:xfrm>
            <a:off x="508000" y="127000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Tree>
    <p:extLst>
      <p:ext uri="{BB962C8B-B14F-4D97-AF65-F5344CB8AC3E}">
        <p14:creationId xmlns:p14="http://schemas.microsoft.com/office/powerpoint/2010/main" val="4248713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C8302-29AD-2D36-848D-BEC76C9509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3481C71-89C1-6078-03C5-546A07E32A61}"/>
              </a:ext>
            </a:extLst>
          </p:cNvPr>
          <p:cNvSpPr txBox="1"/>
          <p:nvPr/>
        </p:nvSpPr>
        <p:spPr>
          <a:xfrm>
            <a:off x="508000" y="1594116"/>
            <a:ext cx="10871200" cy="4524315"/>
          </a:xfrm>
          <a:prstGeom prst="rect">
            <a:avLst/>
          </a:prstGeom>
          <a:noFill/>
        </p:spPr>
        <p:txBody>
          <a:bodyPr wrap="square">
            <a:spAutoFit/>
          </a:bodyPr>
          <a:lstStyle/>
          <a:p>
            <a:pPr>
              <a:buNone/>
            </a:pPr>
            <a:r>
              <a:rPr lang="en-IN" sz="2400" b="1" dirty="0"/>
              <a:t>Face-to-Face Interview Etiquette - Interview Room </a:t>
            </a:r>
            <a:r>
              <a:rPr lang="en-IN" sz="2400" b="1" dirty="0" err="1"/>
              <a:t>Behavior</a:t>
            </a:r>
            <a:endParaRPr lang="en-IN" sz="2400" b="1" dirty="0"/>
          </a:p>
          <a:p>
            <a:pPr>
              <a:buNone/>
            </a:pPr>
            <a:endParaRPr lang="en-IN" sz="2400" b="1" dirty="0"/>
          </a:p>
          <a:p>
            <a:pPr>
              <a:buNone/>
            </a:pPr>
            <a:r>
              <a:rPr lang="en-IN" sz="2400" dirty="0"/>
              <a:t>✔ Enter confidently</a:t>
            </a:r>
            <a:br>
              <a:rPr lang="en-IN" sz="2400" dirty="0"/>
            </a:br>
            <a:r>
              <a:rPr lang="en-IN" sz="2400" dirty="0"/>
              <a:t>✔ Smile politely</a:t>
            </a:r>
            <a:br>
              <a:rPr lang="en-IN" sz="2400" dirty="0"/>
            </a:br>
            <a:r>
              <a:rPr lang="en-IN" sz="2400" dirty="0"/>
              <a:t>✔ Firm handshake (if initiated)</a:t>
            </a:r>
            <a:br>
              <a:rPr lang="en-IN" sz="2400" dirty="0"/>
            </a:br>
            <a:r>
              <a:rPr lang="en-IN" sz="2400" dirty="0"/>
              <a:t>✔ Maintain eye contact</a:t>
            </a:r>
          </a:p>
          <a:p>
            <a:pPr>
              <a:buNone/>
            </a:pPr>
            <a:endParaRPr lang="en-IN" sz="2400" dirty="0"/>
          </a:p>
          <a:p>
            <a:pPr>
              <a:buNone/>
            </a:pPr>
            <a:endParaRPr lang="en-IN" sz="2400" dirty="0"/>
          </a:p>
          <a:p>
            <a:pPr>
              <a:buNone/>
            </a:pPr>
            <a:r>
              <a:rPr lang="en-IN" sz="2400" dirty="0"/>
              <a:t>Avoid:</a:t>
            </a:r>
            <a:br>
              <a:rPr lang="en-IN" sz="2400" dirty="0"/>
            </a:br>
            <a:r>
              <a:rPr lang="en-IN" sz="2400" dirty="0"/>
              <a:t>❌ Overconfidence</a:t>
            </a:r>
            <a:br>
              <a:rPr lang="en-IN" sz="2400" dirty="0"/>
            </a:br>
            <a:r>
              <a:rPr lang="en-IN" sz="2400" dirty="0"/>
              <a:t>❌ Slouching</a:t>
            </a:r>
            <a:br>
              <a:rPr lang="en-IN" sz="2400" dirty="0"/>
            </a:br>
            <a:r>
              <a:rPr lang="en-IN" sz="2400" dirty="0"/>
              <a:t>❌ Looking nervous</a:t>
            </a:r>
          </a:p>
        </p:txBody>
      </p:sp>
      <p:sp>
        <p:nvSpPr>
          <p:cNvPr id="2" name="Google Shape;183;p18">
            <a:extLst>
              <a:ext uri="{FF2B5EF4-FFF2-40B4-BE49-F238E27FC236}">
                <a16:creationId xmlns:a16="http://schemas.microsoft.com/office/drawing/2014/main" id="{247D6F92-4456-F516-FA07-4095E5BD8443}"/>
              </a:ext>
            </a:extLst>
          </p:cNvPr>
          <p:cNvSpPr txBox="1"/>
          <p:nvPr/>
        </p:nvSpPr>
        <p:spPr>
          <a:xfrm>
            <a:off x="508000" y="508000"/>
            <a:ext cx="11176000" cy="762000"/>
          </a:xfrm>
          <a:prstGeom prst="rect">
            <a:avLst/>
          </a:prstGeom>
          <a:noFill/>
          <a:ln>
            <a:noFill/>
          </a:ln>
        </p:spPr>
        <p:txBody>
          <a:bodyPr spcFirstLastPara="1" wrap="square" lIns="0" tIns="0" rIns="0" bIns="0" anchor="t" anchorCtr="0">
            <a:noAutofit/>
          </a:bodyPr>
          <a:lstStyle/>
          <a:p>
            <a:r>
              <a:rPr lang="en-GB" sz="3200" dirty="0">
                <a:solidFill>
                  <a:srgbClr val="111827"/>
                </a:solidFill>
                <a:latin typeface="Outfit ExtraBold"/>
                <a:ea typeface="Outfit ExtraBold"/>
                <a:cs typeface="Outfit ExtraBold"/>
                <a:sym typeface="Outfit ExtraBold"/>
              </a:rPr>
              <a:t>Face-to-Face Interviews</a:t>
            </a:r>
          </a:p>
        </p:txBody>
      </p:sp>
      <p:cxnSp>
        <p:nvCxnSpPr>
          <p:cNvPr id="4" name="Google Shape;184;p18">
            <a:extLst>
              <a:ext uri="{FF2B5EF4-FFF2-40B4-BE49-F238E27FC236}">
                <a16:creationId xmlns:a16="http://schemas.microsoft.com/office/drawing/2014/main" id="{590A7DFD-C48D-8811-6297-FFD4D851D5C4}"/>
              </a:ext>
            </a:extLst>
          </p:cNvPr>
          <p:cNvCxnSpPr/>
          <p:nvPr/>
        </p:nvCxnSpPr>
        <p:spPr>
          <a:xfrm>
            <a:off x="508000" y="127000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Tree>
    <p:extLst>
      <p:ext uri="{BB962C8B-B14F-4D97-AF65-F5344CB8AC3E}">
        <p14:creationId xmlns:p14="http://schemas.microsoft.com/office/powerpoint/2010/main" val="2997010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5F1D7-AF82-0601-50A6-8B13727EF14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36C122-9418-DDD6-C90F-CE59B8D4D044}"/>
              </a:ext>
            </a:extLst>
          </p:cNvPr>
          <p:cNvSpPr txBox="1"/>
          <p:nvPr/>
        </p:nvSpPr>
        <p:spPr>
          <a:xfrm>
            <a:off x="508000" y="1594116"/>
            <a:ext cx="10871200" cy="4401205"/>
          </a:xfrm>
          <a:prstGeom prst="rect">
            <a:avLst/>
          </a:prstGeom>
          <a:noFill/>
        </p:spPr>
        <p:txBody>
          <a:bodyPr wrap="square">
            <a:spAutoFit/>
          </a:bodyPr>
          <a:lstStyle/>
          <a:p>
            <a:pPr>
              <a:buNone/>
            </a:pPr>
            <a:r>
              <a:rPr lang="en-IN" sz="2000" b="1" dirty="0"/>
              <a:t>Slide 18 – Online Interview Tips &amp; Readiness: </a:t>
            </a:r>
          </a:p>
          <a:p>
            <a:pPr>
              <a:buNone/>
            </a:pPr>
            <a:endParaRPr lang="en-IN" sz="2000" b="1" dirty="0"/>
          </a:p>
          <a:p>
            <a:pPr>
              <a:buNone/>
            </a:pPr>
            <a:r>
              <a:rPr lang="en-IN" sz="2000" dirty="0"/>
              <a:t>✔ Join on time</a:t>
            </a:r>
            <a:br>
              <a:rPr lang="en-IN" sz="2000" dirty="0"/>
            </a:br>
            <a:r>
              <a:rPr lang="en-IN" sz="2000" dirty="0"/>
              <a:t>✔ Video ON</a:t>
            </a:r>
            <a:br>
              <a:rPr lang="en-IN" sz="2000" dirty="0"/>
            </a:br>
            <a:r>
              <a:rPr lang="en-IN" sz="2000" dirty="0"/>
              <a:t>✔ Stable internet</a:t>
            </a:r>
            <a:br>
              <a:rPr lang="en-IN" sz="2000" dirty="0"/>
            </a:br>
            <a:r>
              <a:rPr lang="en-IN" sz="2000" dirty="0"/>
              <a:t>✔ Quiet environment</a:t>
            </a:r>
            <a:br>
              <a:rPr lang="en-IN" sz="2000" dirty="0"/>
            </a:br>
            <a:r>
              <a:rPr lang="en-IN" sz="2000" dirty="0"/>
              <a:t>✔ Proper lighting</a:t>
            </a:r>
          </a:p>
          <a:p>
            <a:pPr>
              <a:buNone/>
            </a:pPr>
            <a:endParaRPr lang="en-IN" sz="2000" b="1" dirty="0"/>
          </a:p>
          <a:p>
            <a:pPr>
              <a:buNone/>
            </a:pPr>
            <a:r>
              <a:rPr lang="en-IN" sz="2000" b="1" dirty="0"/>
              <a:t>Important:</a:t>
            </a:r>
          </a:p>
          <a:p>
            <a:pPr>
              <a:buNone/>
            </a:pPr>
            <a:r>
              <a:rPr lang="en-IN" sz="2000" dirty="0"/>
              <a:t>Look at camera while answering</a:t>
            </a:r>
          </a:p>
          <a:p>
            <a:pPr>
              <a:buNone/>
            </a:pPr>
            <a:endParaRPr lang="en-IN" sz="2000" dirty="0"/>
          </a:p>
          <a:p>
            <a:pPr>
              <a:buNone/>
            </a:pPr>
            <a:r>
              <a:rPr lang="en-IN" sz="2000" dirty="0"/>
              <a:t>Avoid:</a:t>
            </a:r>
            <a:br>
              <a:rPr lang="en-IN" sz="2000" dirty="0"/>
            </a:br>
            <a:r>
              <a:rPr lang="en-IN" sz="2000" dirty="0"/>
              <a:t>❌ Looking at other apps</a:t>
            </a:r>
            <a:br>
              <a:rPr lang="en-IN" sz="2000" dirty="0"/>
            </a:br>
            <a:r>
              <a:rPr lang="en-IN" sz="2000" dirty="0"/>
              <a:t>❌ Reading answers</a:t>
            </a:r>
          </a:p>
        </p:txBody>
      </p:sp>
      <p:sp>
        <p:nvSpPr>
          <p:cNvPr id="2" name="Google Shape;183;p18">
            <a:extLst>
              <a:ext uri="{FF2B5EF4-FFF2-40B4-BE49-F238E27FC236}">
                <a16:creationId xmlns:a16="http://schemas.microsoft.com/office/drawing/2014/main" id="{9063D4D6-B144-F5A2-8AA6-D5DBE26F8BB1}"/>
              </a:ext>
            </a:extLst>
          </p:cNvPr>
          <p:cNvSpPr txBox="1"/>
          <p:nvPr/>
        </p:nvSpPr>
        <p:spPr>
          <a:xfrm>
            <a:off x="508000" y="508000"/>
            <a:ext cx="11176000" cy="762000"/>
          </a:xfrm>
          <a:prstGeom prst="rect">
            <a:avLst/>
          </a:prstGeom>
          <a:noFill/>
          <a:ln>
            <a:noFill/>
          </a:ln>
        </p:spPr>
        <p:txBody>
          <a:bodyPr spcFirstLastPara="1" wrap="square" lIns="0" tIns="0" rIns="0" bIns="0" anchor="t" anchorCtr="0">
            <a:noAutofit/>
          </a:bodyPr>
          <a:lstStyle/>
          <a:p>
            <a:r>
              <a:rPr lang="en-GB" sz="3200" dirty="0">
                <a:solidFill>
                  <a:srgbClr val="111827"/>
                </a:solidFill>
                <a:latin typeface="Outfit ExtraBold"/>
                <a:ea typeface="Outfit ExtraBold"/>
                <a:cs typeface="Outfit ExtraBold"/>
                <a:sym typeface="Outfit ExtraBold"/>
              </a:rPr>
              <a:t>Online Interviews</a:t>
            </a:r>
          </a:p>
        </p:txBody>
      </p:sp>
      <p:cxnSp>
        <p:nvCxnSpPr>
          <p:cNvPr id="4" name="Google Shape;184;p18">
            <a:extLst>
              <a:ext uri="{FF2B5EF4-FFF2-40B4-BE49-F238E27FC236}">
                <a16:creationId xmlns:a16="http://schemas.microsoft.com/office/drawing/2014/main" id="{0A04F7A2-5E54-DE27-43E7-8E7C9A0E044A}"/>
              </a:ext>
            </a:extLst>
          </p:cNvPr>
          <p:cNvCxnSpPr/>
          <p:nvPr/>
        </p:nvCxnSpPr>
        <p:spPr>
          <a:xfrm>
            <a:off x="508000" y="127000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grpSp>
        <p:nvGrpSpPr>
          <p:cNvPr id="648" name="Google Shape;648;p34"/>
          <p:cNvGrpSpPr/>
          <p:nvPr/>
        </p:nvGrpSpPr>
        <p:grpSpPr>
          <a:xfrm>
            <a:off x="6223000" y="2367280"/>
            <a:ext cx="4739640" cy="3932120"/>
            <a:chOff x="4667250" y="1143000"/>
            <a:chExt cx="4153050" cy="3581550"/>
          </a:xfrm>
        </p:grpSpPr>
        <p:sp>
          <p:nvSpPr>
            <p:cNvPr id="649" name="Google Shape;649;p34"/>
            <p:cNvSpPr/>
            <p:nvPr/>
          </p:nvSpPr>
          <p:spPr>
            <a:xfrm>
              <a:off x="4724400" y="1200150"/>
              <a:ext cx="4095900" cy="3524400"/>
            </a:xfrm>
            <a:prstGeom prst="roundRect">
              <a:avLst>
                <a:gd name="adj" fmla="val 4324"/>
              </a:avLst>
            </a:prstGeom>
            <a:solidFill>
              <a:srgbClr val="111827"/>
            </a:solidFill>
            <a:ln>
              <a:noFill/>
            </a:ln>
          </p:spPr>
          <p:txBody>
            <a:bodyPr spcFirstLastPara="1" wrap="square" lIns="0" tIns="0" rIns="0" bIns="0" anchor="ctr" anchorCtr="0">
              <a:noAutofit/>
            </a:bodyPr>
            <a:lstStyle/>
            <a:p>
              <a:endParaRPr sz="2400"/>
            </a:p>
          </p:txBody>
        </p:sp>
        <p:sp>
          <p:nvSpPr>
            <p:cNvPr id="650" name="Google Shape;650;p34"/>
            <p:cNvSpPr/>
            <p:nvPr/>
          </p:nvSpPr>
          <p:spPr>
            <a:xfrm>
              <a:off x="4667250" y="1143000"/>
              <a:ext cx="4095900" cy="3524400"/>
            </a:xfrm>
            <a:prstGeom prst="roundRect">
              <a:avLst>
                <a:gd name="adj" fmla="val 4324"/>
              </a:avLst>
            </a:prstGeom>
            <a:solidFill>
              <a:srgbClr val="34D399"/>
            </a:solidFill>
            <a:ln w="2857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sp>
          <p:nvSpPr>
            <p:cNvPr id="651" name="Google Shape;651;p34"/>
            <p:cNvSpPr/>
            <p:nvPr/>
          </p:nvSpPr>
          <p:spPr>
            <a:xfrm>
              <a:off x="4924425" y="1400175"/>
              <a:ext cx="1238400" cy="285900"/>
            </a:xfrm>
            <a:prstGeom prst="roundRect">
              <a:avLst>
                <a:gd name="adj" fmla="val 50000"/>
              </a:avLst>
            </a:prstGeom>
            <a:solidFill>
              <a:srgbClr val="111827"/>
            </a:solidFill>
            <a:ln>
              <a:noFill/>
            </a:ln>
          </p:spPr>
          <p:txBody>
            <a:bodyPr spcFirstLastPara="1" wrap="square" lIns="0" tIns="0" rIns="0" bIns="0" anchor="ctr" anchorCtr="0">
              <a:noAutofit/>
            </a:bodyPr>
            <a:lstStyle/>
            <a:p>
              <a:endParaRPr sz="2400"/>
            </a:p>
          </p:txBody>
        </p:sp>
        <p:sp>
          <p:nvSpPr>
            <p:cNvPr id="652" name="Google Shape;652;p34"/>
            <p:cNvSpPr/>
            <p:nvPr/>
          </p:nvSpPr>
          <p:spPr>
            <a:xfrm>
              <a:off x="4905375" y="1381125"/>
              <a:ext cx="1238400" cy="285900"/>
            </a:xfrm>
            <a:prstGeom prst="roundRect">
              <a:avLst>
                <a:gd name="adj" fmla="val 50000"/>
              </a:avLst>
            </a:prstGeom>
            <a:solidFill>
              <a:srgbClr val="FBBF24"/>
            </a:solidFill>
            <a:ln w="19050"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sp>
          <p:nvSpPr>
            <p:cNvPr id="653" name="Google Shape;653;p34"/>
            <p:cNvSpPr txBox="1"/>
            <p:nvPr/>
          </p:nvSpPr>
          <p:spPr>
            <a:xfrm>
              <a:off x="4905375" y="1381125"/>
              <a:ext cx="1238400" cy="285900"/>
            </a:xfrm>
            <a:prstGeom prst="rect">
              <a:avLst/>
            </a:prstGeom>
            <a:noFill/>
            <a:ln>
              <a:noFill/>
            </a:ln>
          </p:spPr>
          <p:txBody>
            <a:bodyPr spcFirstLastPara="1" wrap="square" lIns="0" tIns="0" rIns="0" bIns="0" anchor="ctr" anchorCtr="0">
              <a:noAutofit/>
            </a:bodyPr>
            <a:lstStyle/>
            <a:p>
              <a:pPr algn="ctr"/>
              <a:r>
                <a:rPr lang="en-GB" sz="1100" b="1">
                  <a:solidFill>
                    <a:srgbClr val="111827"/>
                  </a:solidFill>
                  <a:latin typeface="Outfit"/>
                  <a:ea typeface="Outfit"/>
                  <a:cs typeface="Outfit"/>
                  <a:sym typeface="Outfit"/>
                </a:rPr>
                <a:t>VISUAL GUIDE</a:t>
              </a:r>
            </a:p>
          </p:txBody>
        </p:sp>
        <p:sp>
          <p:nvSpPr>
            <p:cNvPr id="654" name="Google Shape;654;p34"/>
            <p:cNvSpPr/>
            <p:nvPr/>
          </p:nvSpPr>
          <p:spPr>
            <a:xfrm>
              <a:off x="8191500" y="1333500"/>
              <a:ext cx="228600" cy="228600"/>
            </a:xfrm>
            <a:custGeom>
              <a:avLst/>
              <a:gdLst/>
              <a:ahLst/>
              <a:cxnLst/>
              <a:rect l="l" t="t" r="r" b="b"/>
              <a:pathLst>
                <a:path w="120000" h="120000" extrusionOk="0">
                  <a:moveTo>
                    <a:pt x="60000" y="0"/>
                  </a:moveTo>
                  <a:cubicBezTo>
                    <a:pt x="60000" y="33135"/>
                    <a:pt x="86865" y="60000"/>
                    <a:pt x="120000" y="60000"/>
                  </a:cubicBezTo>
                  <a:cubicBezTo>
                    <a:pt x="86865" y="60000"/>
                    <a:pt x="60000" y="86865"/>
                    <a:pt x="60000" y="120000"/>
                  </a:cubicBezTo>
                  <a:cubicBezTo>
                    <a:pt x="60000" y="86865"/>
                    <a:pt x="33135" y="60000"/>
                    <a:pt x="0" y="60000"/>
                  </a:cubicBezTo>
                  <a:cubicBezTo>
                    <a:pt x="33135" y="60000"/>
                    <a:pt x="60000" y="33135"/>
                    <a:pt x="60000" y="0"/>
                  </a:cubicBezTo>
                  <a:close/>
                </a:path>
              </a:pathLst>
            </a:custGeom>
            <a:solidFill>
              <a:srgbClr val="FBBF24"/>
            </a:solidFill>
            <a:ln w="19050"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sp>
          <p:nvSpPr>
            <p:cNvPr id="655" name="Google Shape;655;p34"/>
            <p:cNvSpPr/>
            <p:nvPr/>
          </p:nvSpPr>
          <p:spPr>
            <a:xfrm>
              <a:off x="5057775" y="1866900"/>
              <a:ext cx="3429000" cy="2571900"/>
            </a:xfrm>
            <a:prstGeom prst="roundRect">
              <a:avLst>
                <a:gd name="adj" fmla="val 4444"/>
              </a:avLst>
            </a:prstGeom>
            <a:solidFill>
              <a:srgbClr val="111827"/>
            </a:solidFill>
            <a:ln>
              <a:noFill/>
            </a:ln>
          </p:spPr>
          <p:txBody>
            <a:bodyPr spcFirstLastPara="1" wrap="square" lIns="0" tIns="0" rIns="0" bIns="0" anchor="ctr" anchorCtr="0">
              <a:noAutofit/>
            </a:bodyPr>
            <a:lstStyle/>
            <a:p>
              <a:endParaRPr sz="2400"/>
            </a:p>
          </p:txBody>
        </p:sp>
        <p:sp>
          <p:nvSpPr>
            <p:cNvPr id="656" name="Google Shape;656;p34"/>
            <p:cNvSpPr/>
            <p:nvPr/>
          </p:nvSpPr>
          <p:spPr>
            <a:xfrm>
              <a:off x="5000625" y="1809750"/>
              <a:ext cx="3429000" cy="2571900"/>
            </a:xfrm>
            <a:prstGeom prst="roundRect">
              <a:avLst>
                <a:gd name="adj" fmla="val 4444"/>
              </a:avLst>
            </a:prstGeom>
            <a:solidFill>
              <a:srgbClr val="FFFFFF"/>
            </a:solidFill>
            <a:ln w="28575" cap="flat" cmpd="sng">
              <a:solidFill>
                <a:srgbClr val="111827"/>
              </a:solidFill>
              <a:prstDash val="solid"/>
              <a:round/>
              <a:headEnd type="none" w="sm" len="sm"/>
              <a:tailEnd type="none" w="sm" len="sm"/>
            </a:ln>
          </p:spPr>
          <p:txBody>
            <a:bodyPr spcFirstLastPara="1" wrap="square" lIns="0" tIns="0" rIns="0" bIns="0" anchor="ctr" anchorCtr="0">
              <a:noAutofit/>
            </a:bodyPr>
            <a:lstStyle/>
            <a:p>
              <a:endParaRPr sz="2400"/>
            </a:p>
          </p:txBody>
        </p:sp>
        <p:pic>
          <p:nvPicPr>
            <p:cNvPr id="657" name="Google Shape;657;p34"/>
            <p:cNvPicPr preferRelativeResize="0"/>
            <p:nvPr/>
          </p:nvPicPr>
          <p:blipFill rotWithShape="1">
            <a:blip r:embed="rId2"/>
            <a:srcRect/>
            <a:stretch>
              <a:fillRect/>
            </a:stretch>
          </p:blipFill>
          <p:spPr>
            <a:xfrm>
              <a:off x="5000625" y="1809750"/>
              <a:ext cx="3429000" cy="2571900"/>
            </a:xfrm>
            <a:prstGeom prst="roundRect">
              <a:avLst>
                <a:gd name="adj" fmla="val 4444"/>
              </a:avLst>
            </a:prstGeom>
            <a:noFill/>
            <a:ln>
              <a:noFill/>
            </a:ln>
          </p:spPr>
        </p:pic>
      </p:grpSp>
    </p:spTree>
    <p:extLst>
      <p:ext uri="{BB962C8B-B14F-4D97-AF65-F5344CB8AC3E}">
        <p14:creationId xmlns:p14="http://schemas.microsoft.com/office/powerpoint/2010/main" val="416192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FDF15-D688-47AF-08D4-DD2CE57D6D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CBA1EA-36E6-C865-78D9-1EFE54C9DA39}"/>
              </a:ext>
            </a:extLst>
          </p:cNvPr>
          <p:cNvSpPr txBox="1"/>
          <p:nvPr/>
        </p:nvSpPr>
        <p:spPr>
          <a:xfrm>
            <a:off x="508000" y="1594116"/>
            <a:ext cx="10871200" cy="4708981"/>
          </a:xfrm>
          <a:prstGeom prst="rect">
            <a:avLst/>
          </a:prstGeom>
          <a:noFill/>
        </p:spPr>
        <p:txBody>
          <a:bodyPr wrap="square">
            <a:spAutoFit/>
          </a:bodyPr>
          <a:lstStyle/>
          <a:p>
            <a:pPr>
              <a:buNone/>
            </a:pPr>
            <a:r>
              <a:rPr lang="en-IN" sz="2400" b="1" dirty="0"/>
              <a:t>Interview Dos</a:t>
            </a:r>
          </a:p>
          <a:p>
            <a:pPr>
              <a:buNone/>
            </a:pPr>
            <a:endParaRPr lang="en-IN" sz="2400" b="1" dirty="0"/>
          </a:p>
          <a:p>
            <a:pPr>
              <a:buNone/>
            </a:pPr>
            <a:r>
              <a:rPr lang="en-IN" sz="2000" dirty="0"/>
              <a:t>✔ Listen carefully</a:t>
            </a:r>
            <a:br>
              <a:rPr lang="en-IN" sz="2000" dirty="0"/>
            </a:br>
            <a:r>
              <a:rPr lang="en-IN" sz="2000" dirty="0"/>
              <a:t>✔ Think before answering</a:t>
            </a:r>
            <a:br>
              <a:rPr lang="en-IN" sz="2000" dirty="0"/>
            </a:br>
            <a:r>
              <a:rPr lang="en-IN" sz="2000" dirty="0"/>
              <a:t>✔ Be honest</a:t>
            </a:r>
            <a:br>
              <a:rPr lang="en-IN" sz="2000" dirty="0"/>
            </a:br>
            <a:r>
              <a:rPr lang="en-IN" sz="2000" dirty="0"/>
              <a:t>✔ Ask clarifying questions</a:t>
            </a:r>
            <a:br>
              <a:rPr lang="en-IN" sz="2000" dirty="0"/>
            </a:br>
            <a:r>
              <a:rPr lang="en-IN" sz="2000" dirty="0"/>
              <a:t>✔ Speak confidently</a:t>
            </a:r>
          </a:p>
          <a:p>
            <a:pPr>
              <a:buNone/>
            </a:pPr>
            <a:endParaRPr lang="en-IN" sz="2400" dirty="0"/>
          </a:p>
          <a:p>
            <a:pPr>
              <a:buNone/>
            </a:pPr>
            <a:r>
              <a:rPr lang="en-IN" sz="2400" b="1" dirty="0"/>
              <a:t>Interview Don’ts</a:t>
            </a:r>
          </a:p>
          <a:p>
            <a:pPr>
              <a:buNone/>
            </a:pPr>
            <a:endParaRPr lang="en-IN" sz="2400" b="1" dirty="0"/>
          </a:p>
          <a:p>
            <a:pPr>
              <a:buNone/>
            </a:pPr>
            <a:r>
              <a:rPr lang="en-IN" sz="2000" dirty="0"/>
              <a:t>❌ Bluff answers</a:t>
            </a:r>
            <a:br>
              <a:rPr lang="en-IN" sz="2000" dirty="0"/>
            </a:br>
            <a:r>
              <a:rPr lang="en-IN" sz="2000" dirty="0"/>
              <a:t>❌ Interrupt interviewer</a:t>
            </a:r>
            <a:br>
              <a:rPr lang="en-IN" sz="2000" dirty="0"/>
            </a:br>
            <a:r>
              <a:rPr lang="en-IN" sz="2000" dirty="0"/>
              <a:t>❌ Speak negatively</a:t>
            </a:r>
            <a:br>
              <a:rPr lang="en-IN" sz="2000" dirty="0"/>
            </a:br>
            <a:r>
              <a:rPr lang="en-IN" sz="2000" dirty="0"/>
              <a:t>❌ Panic after one mistake</a:t>
            </a:r>
          </a:p>
        </p:txBody>
      </p:sp>
      <p:sp>
        <p:nvSpPr>
          <p:cNvPr id="2" name="Google Shape;183;p18">
            <a:extLst>
              <a:ext uri="{FF2B5EF4-FFF2-40B4-BE49-F238E27FC236}">
                <a16:creationId xmlns:a16="http://schemas.microsoft.com/office/drawing/2014/main" id="{37D17800-7E5F-6ADD-A2FC-595B0C125A0A}"/>
              </a:ext>
            </a:extLst>
          </p:cNvPr>
          <p:cNvSpPr txBox="1"/>
          <p:nvPr/>
        </p:nvSpPr>
        <p:spPr>
          <a:xfrm>
            <a:off x="508000" y="508000"/>
            <a:ext cx="11176000" cy="762000"/>
          </a:xfrm>
          <a:prstGeom prst="rect">
            <a:avLst/>
          </a:prstGeom>
          <a:noFill/>
          <a:ln>
            <a:noFill/>
          </a:ln>
        </p:spPr>
        <p:txBody>
          <a:bodyPr spcFirstLastPara="1" wrap="square" lIns="0" tIns="0" rIns="0" bIns="0" anchor="t" anchorCtr="0">
            <a:noAutofit/>
          </a:bodyPr>
          <a:lstStyle/>
          <a:p>
            <a:r>
              <a:rPr lang="en-GB" sz="3200" dirty="0">
                <a:solidFill>
                  <a:srgbClr val="111827"/>
                </a:solidFill>
                <a:latin typeface="Outfit ExtraBold"/>
                <a:ea typeface="Outfit ExtraBold"/>
                <a:cs typeface="Outfit ExtraBold"/>
                <a:sym typeface="Outfit ExtraBold"/>
              </a:rPr>
              <a:t>Dos &amp; DONTs</a:t>
            </a:r>
          </a:p>
        </p:txBody>
      </p:sp>
      <p:cxnSp>
        <p:nvCxnSpPr>
          <p:cNvPr id="4" name="Google Shape;184;p18">
            <a:extLst>
              <a:ext uri="{FF2B5EF4-FFF2-40B4-BE49-F238E27FC236}">
                <a16:creationId xmlns:a16="http://schemas.microsoft.com/office/drawing/2014/main" id="{A0163A79-443C-3A1B-D21E-1FF3A6AD5FE8}"/>
              </a:ext>
            </a:extLst>
          </p:cNvPr>
          <p:cNvCxnSpPr/>
          <p:nvPr/>
        </p:nvCxnSpPr>
        <p:spPr>
          <a:xfrm>
            <a:off x="508000" y="127000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Tree>
    <p:extLst>
      <p:ext uri="{BB962C8B-B14F-4D97-AF65-F5344CB8AC3E}">
        <p14:creationId xmlns:p14="http://schemas.microsoft.com/office/powerpoint/2010/main" val="2489261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FD56E-D2A9-14CD-F970-32A2660791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03C22E-FE30-8B58-E765-59EBA8CA029A}"/>
              </a:ext>
            </a:extLst>
          </p:cNvPr>
          <p:cNvSpPr txBox="1"/>
          <p:nvPr/>
        </p:nvSpPr>
        <p:spPr>
          <a:xfrm>
            <a:off x="508000" y="1594116"/>
            <a:ext cx="10871200" cy="3785652"/>
          </a:xfrm>
          <a:prstGeom prst="rect">
            <a:avLst/>
          </a:prstGeom>
          <a:noFill/>
        </p:spPr>
        <p:txBody>
          <a:bodyPr wrap="square">
            <a:spAutoFit/>
          </a:bodyPr>
          <a:lstStyle/>
          <a:p>
            <a:pPr>
              <a:buNone/>
            </a:pPr>
            <a:r>
              <a:rPr lang="en-US" sz="2400" b="1" dirty="0"/>
              <a:t>What If You Don’t Know an Answer?</a:t>
            </a:r>
          </a:p>
          <a:p>
            <a:pPr>
              <a:buNone/>
            </a:pPr>
            <a:endParaRPr lang="en-US" sz="2400" b="1" dirty="0"/>
          </a:p>
          <a:p>
            <a:pPr>
              <a:buNone/>
            </a:pPr>
            <a:r>
              <a:rPr lang="en-US" sz="2400" b="1" dirty="0"/>
              <a:t>Best Response</a:t>
            </a:r>
          </a:p>
          <a:p>
            <a:pPr>
              <a:buNone/>
            </a:pPr>
            <a:r>
              <a:rPr lang="en-US" sz="2400" dirty="0"/>
              <a:t>Instead of guessing:</a:t>
            </a:r>
          </a:p>
          <a:p>
            <a:pPr>
              <a:buNone/>
            </a:pPr>
            <a:r>
              <a:rPr lang="en-US" sz="2400" dirty="0"/>
              <a:t>“I am not fully sure, but based on my understanding…”</a:t>
            </a:r>
          </a:p>
          <a:p>
            <a:pPr>
              <a:buNone/>
            </a:pPr>
            <a:r>
              <a:rPr lang="en-US" sz="2400" dirty="0"/>
              <a:t>OR</a:t>
            </a:r>
          </a:p>
          <a:p>
            <a:pPr>
              <a:buNone/>
            </a:pPr>
            <a:r>
              <a:rPr lang="en-US" sz="2400" dirty="0"/>
              <a:t>“I have not worked on this yet, but I am interested in learning.”</a:t>
            </a:r>
          </a:p>
          <a:p>
            <a:pPr>
              <a:buNone/>
            </a:pPr>
            <a:endParaRPr lang="en-US" sz="2400" b="1" dirty="0"/>
          </a:p>
          <a:p>
            <a:pPr>
              <a:buNone/>
            </a:pPr>
            <a:r>
              <a:rPr lang="en-US" sz="2400" b="1" dirty="0"/>
              <a:t>Never:</a:t>
            </a:r>
          </a:p>
          <a:p>
            <a:pPr>
              <a:buNone/>
            </a:pPr>
            <a:r>
              <a:rPr lang="en-US" sz="2400" dirty="0"/>
              <a:t>Fake confidence</a:t>
            </a:r>
          </a:p>
        </p:txBody>
      </p:sp>
      <p:sp>
        <p:nvSpPr>
          <p:cNvPr id="2" name="Google Shape;183;p18">
            <a:extLst>
              <a:ext uri="{FF2B5EF4-FFF2-40B4-BE49-F238E27FC236}">
                <a16:creationId xmlns:a16="http://schemas.microsoft.com/office/drawing/2014/main" id="{86F1D552-B1E5-1A3B-360D-DB69818B6546}"/>
              </a:ext>
            </a:extLst>
          </p:cNvPr>
          <p:cNvSpPr txBox="1"/>
          <p:nvPr/>
        </p:nvSpPr>
        <p:spPr>
          <a:xfrm>
            <a:off x="508000" y="508000"/>
            <a:ext cx="11176000" cy="762000"/>
          </a:xfrm>
          <a:prstGeom prst="rect">
            <a:avLst/>
          </a:prstGeom>
          <a:noFill/>
          <a:ln>
            <a:noFill/>
          </a:ln>
        </p:spPr>
        <p:txBody>
          <a:bodyPr spcFirstLastPara="1" wrap="square" lIns="0" tIns="0" rIns="0" bIns="0" anchor="t" anchorCtr="0">
            <a:noAutofit/>
          </a:bodyPr>
          <a:lstStyle/>
          <a:p>
            <a:r>
              <a:rPr lang="en-GB" sz="3200" dirty="0">
                <a:solidFill>
                  <a:srgbClr val="111827"/>
                </a:solidFill>
                <a:latin typeface="Outfit ExtraBold"/>
                <a:ea typeface="Outfit ExtraBold"/>
                <a:cs typeface="Outfit ExtraBold"/>
                <a:sym typeface="Outfit ExtraBold"/>
              </a:rPr>
              <a:t>Dos &amp; DONTs</a:t>
            </a:r>
          </a:p>
        </p:txBody>
      </p:sp>
      <p:cxnSp>
        <p:nvCxnSpPr>
          <p:cNvPr id="4" name="Google Shape;184;p18">
            <a:extLst>
              <a:ext uri="{FF2B5EF4-FFF2-40B4-BE49-F238E27FC236}">
                <a16:creationId xmlns:a16="http://schemas.microsoft.com/office/drawing/2014/main" id="{E486756B-78EC-1272-EC60-AA1912C1A272}"/>
              </a:ext>
            </a:extLst>
          </p:cNvPr>
          <p:cNvCxnSpPr/>
          <p:nvPr/>
        </p:nvCxnSpPr>
        <p:spPr>
          <a:xfrm>
            <a:off x="508000" y="127000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Tree>
    <p:extLst>
      <p:ext uri="{BB962C8B-B14F-4D97-AF65-F5344CB8AC3E}">
        <p14:creationId xmlns:p14="http://schemas.microsoft.com/office/powerpoint/2010/main" val="3242023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4A699-0EDE-2D1C-30F3-414FE2703A8E}"/>
            </a:ext>
          </a:extLst>
        </p:cNvPr>
        <p:cNvGrpSpPr/>
        <p:nvPr/>
      </p:nvGrpSpPr>
      <p:grpSpPr>
        <a:xfrm>
          <a:off x="0" y="0"/>
          <a:ext cx="0" cy="0"/>
          <a:chOff x="0" y="0"/>
          <a:chExt cx="0" cy="0"/>
        </a:xfrm>
      </p:grpSpPr>
      <p:sp>
        <p:nvSpPr>
          <p:cNvPr id="2" name="Google Shape;183;p18">
            <a:extLst>
              <a:ext uri="{FF2B5EF4-FFF2-40B4-BE49-F238E27FC236}">
                <a16:creationId xmlns:a16="http://schemas.microsoft.com/office/drawing/2014/main" id="{EC81CC31-7E2E-E47C-F436-F3CEF096AE05}"/>
              </a:ext>
            </a:extLst>
          </p:cNvPr>
          <p:cNvSpPr txBox="1"/>
          <p:nvPr/>
        </p:nvSpPr>
        <p:spPr>
          <a:xfrm>
            <a:off x="508000" y="508000"/>
            <a:ext cx="11176000" cy="762000"/>
          </a:xfrm>
          <a:prstGeom prst="rect">
            <a:avLst/>
          </a:prstGeom>
          <a:noFill/>
          <a:ln>
            <a:noFill/>
          </a:ln>
        </p:spPr>
        <p:txBody>
          <a:bodyPr spcFirstLastPara="1" wrap="square" lIns="0" tIns="0" rIns="0" bIns="0" anchor="t" anchorCtr="0">
            <a:noAutofit/>
          </a:bodyPr>
          <a:lstStyle/>
          <a:p>
            <a:r>
              <a:rPr lang="en-GB" sz="3200" dirty="0">
                <a:solidFill>
                  <a:srgbClr val="111827"/>
                </a:solidFill>
                <a:latin typeface="Outfit ExtraBold"/>
                <a:ea typeface="Outfit ExtraBold"/>
                <a:cs typeface="Outfit ExtraBold"/>
                <a:sym typeface="Outfit ExtraBold"/>
              </a:rPr>
              <a:t>30-day Action Plan</a:t>
            </a:r>
          </a:p>
        </p:txBody>
      </p:sp>
      <p:cxnSp>
        <p:nvCxnSpPr>
          <p:cNvPr id="4" name="Google Shape;184;p18">
            <a:extLst>
              <a:ext uri="{FF2B5EF4-FFF2-40B4-BE49-F238E27FC236}">
                <a16:creationId xmlns:a16="http://schemas.microsoft.com/office/drawing/2014/main" id="{CBB01B72-CA8F-E78B-9A79-BAEFCA3BA3A8}"/>
              </a:ext>
            </a:extLst>
          </p:cNvPr>
          <p:cNvCxnSpPr/>
          <p:nvPr/>
        </p:nvCxnSpPr>
        <p:spPr>
          <a:xfrm>
            <a:off x="508000" y="1270000"/>
            <a:ext cx="11176000" cy="0"/>
          </a:xfrm>
          <a:prstGeom prst="straightConnector1">
            <a:avLst/>
          </a:prstGeom>
          <a:solidFill>
            <a:srgbClr val="FFFFFF"/>
          </a:solidFill>
          <a:ln w="38100" cap="flat" cmpd="sng">
            <a:solidFill>
              <a:srgbClr val="111827"/>
            </a:solidFill>
            <a:prstDash val="solid"/>
            <a:round/>
            <a:headEnd type="none" w="sm" len="sm"/>
            <a:tailEnd type="none" w="sm" len="sm"/>
          </a:ln>
        </p:spPr>
      </p:cxnSp>
      <p:sp>
        <p:nvSpPr>
          <p:cNvPr id="5" name="TextBox 4">
            <a:extLst>
              <a:ext uri="{FF2B5EF4-FFF2-40B4-BE49-F238E27FC236}">
                <a16:creationId xmlns:a16="http://schemas.microsoft.com/office/drawing/2014/main" id="{AC0666B7-78C3-0ADC-CA14-562708983156}"/>
              </a:ext>
            </a:extLst>
          </p:cNvPr>
          <p:cNvSpPr txBox="1"/>
          <p:nvPr/>
        </p:nvSpPr>
        <p:spPr>
          <a:xfrm>
            <a:off x="6390640" y="1702138"/>
            <a:ext cx="6096000" cy="3785652"/>
          </a:xfrm>
          <a:prstGeom prst="rect">
            <a:avLst/>
          </a:prstGeom>
          <a:noFill/>
        </p:spPr>
        <p:txBody>
          <a:bodyPr wrap="square">
            <a:spAutoFit/>
          </a:bodyPr>
          <a:lstStyle/>
          <a:p>
            <a:pPr>
              <a:buNone/>
            </a:pPr>
            <a:r>
              <a:rPr lang="en-IN" sz="2000" b="1" dirty="0"/>
              <a:t>Biggest Mistakes Students Make</a:t>
            </a:r>
          </a:p>
          <a:p>
            <a:pPr>
              <a:buNone/>
            </a:pPr>
            <a:r>
              <a:rPr lang="en-IN" sz="2000" b="1" dirty="0"/>
              <a:t>Avoid These Placement Killers</a:t>
            </a:r>
          </a:p>
          <a:p>
            <a:pPr>
              <a:buNone/>
            </a:pPr>
            <a:endParaRPr lang="en-IN" sz="2000" b="1" dirty="0"/>
          </a:p>
          <a:p>
            <a:pPr>
              <a:buNone/>
            </a:pPr>
            <a:r>
              <a:rPr lang="en-IN" sz="2000" dirty="0"/>
              <a:t>❌ Last-minute preparation</a:t>
            </a:r>
          </a:p>
          <a:p>
            <a:pPr>
              <a:buNone/>
            </a:pPr>
            <a:br>
              <a:rPr lang="en-IN" sz="2000" dirty="0"/>
            </a:br>
            <a:r>
              <a:rPr lang="en-IN" sz="2000" dirty="0"/>
              <a:t>❌ No coding practice</a:t>
            </a:r>
          </a:p>
          <a:p>
            <a:pPr>
              <a:buNone/>
            </a:pPr>
            <a:br>
              <a:rPr lang="en-IN" sz="2000" dirty="0"/>
            </a:br>
            <a:r>
              <a:rPr lang="en-IN" sz="2000" dirty="0"/>
              <a:t>❌ Weak fundamentals</a:t>
            </a:r>
          </a:p>
          <a:p>
            <a:pPr>
              <a:buNone/>
            </a:pPr>
            <a:br>
              <a:rPr lang="en-IN" sz="2000" dirty="0"/>
            </a:br>
            <a:r>
              <a:rPr lang="en-IN" sz="2000" dirty="0"/>
              <a:t>❌ Resume copied from internet</a:t>
            </a:r>
          </a:p>
          <a:p>
            <a:pPr>
              <a:buNone/>
            </a:pPr>
            <a:br>
              <a:rPr lang="en-IN" sz="2000" dirty="0"/>
            </a:br>
            <a:r>
              <a:rPr lang="en-IN" sz="2000" dirty="0"/>
              <a:t>❌ Poor communication</a:t>
            </a:r>
          </a:p>
        </p:txBody>
      </p:sp>
      <p:sp>
        <p:nvSpPr>
          <p:cNvPr id="7" name="TextBox 6">
            <a:extLst>
              <a:ext uri="{FF2B5EF4-FFF2-40B4-BE49-F238E27FC236}">
                <a16:creationId xmlns:a16="http://schemas.microsoft.com/office/drawing/2014/main" id="{126E0A85-99FA-1E08-6180-90F028BB6D7F}"/>
              </a:ext>
            </a:extLst>
          </p:cNvPr>
          <p:cNvSpPr txBox="1"/>
          <p:nvPr/>
        </p:nvSpPr>
        <p:spPr>
          <a:xfrm>
            <a:off x="365760" y="1833880"/>
            <a:ext cx="10749280" cy="3785652"/>
          </a:xfrm>
          <a:prstGeom prst="rect">
            <a:avLst/>
          </a:prstGeom>
          <a:noFill/>
        </p:spPr>
        <p:txBody>
          <a:bodyPr wrap="square">
            <a:spAutoFit/>
          </a:bodyPr>
          <a:lstStyle/>
          <a:p>
            <a:pPr>
              <a:buNone/>
            </a:pPr>
            <a:r>
              <a:rPr lang="en-IN" sz="2000" b="1" dirty="0"/>
              <a:t>Daily Practice Plan</a:t>
            </a:r>
          </a:p>
          <a:p>
            <a:pPr>
              <a:buNone/>
            </a:pPr>
            <a:endParaRPr lang="en-IN" sz="2000" b="1" dirty="0"/>
          </a:p>
          <a:p>
            <a:pPr>
              <a:buNone/>
            </a:pPr>
            <a:r>
              <a:rPr lang="en-IN" sz="2000" dirty="0"/>
              <a:t>30 mins → Aptitude</a:t>
            </a:r>
          </a:p>
          <a:p>
            <a:pPr>
              <a:buNone/>
            </a:pPr>
            <a:br>
              <a:rPr lang="en-IN" sz="2000" dirty="0"/>
            </a:br>
            <a:r>
              <a:rPr lang="en-IN" sz="2000" dirty="0"/>
              <a:t>45 mins → Coding</a:t>
            </a:r>
          </a:p>
          <a:p>
            <a:pPr>
              <a:buNone/>
            </a:pPr>
            <a:endParaRPr lang="en-IN" sz="2000" dirty="0"/>
          </a:p>
          <a:p>
            <a:pPr>
              <a:buNone/>
            </a:pPr>
            <a:r>
              <a:rPr lang="en-IN" sz="2000" dirty="0"/>
              <a:t>30 mins → Technical concepts</a:t>
            </a:r>
          </a:p>
          <a:p>
            <a:pPr>
              <a:buNone/>
            </a:pPr>
            <a:br>
              <a:rPr lang="en-IN" sz="2000" dirty="0"/>
            </a:br>
            <a:r>
              <a:rPr lang="en-IN" sz="2000" dirty="0"/>
              <a:t>15 mins → Resume/communication</a:t>
            </a:r>
          </a:p>
          <a:p>
            <a:pPr>
              <a:buNone/>
            </a:pPr>
            <a:endParaRPr lang="en-IN" sz="2000" b="1" dirty="0"/>
          </a:p>
          <a:p>
            <a:pPr>
              <a:buNone/>
            </a:pPr>
            <a:endParaRPr lang="en-IN" sz="2000" b="1" dirty="0"/>
          </a:p>
          <a:p>
            <a:pPr>
              <a:buNone/>
            </a:pPr>
            <a:endParaRPr lang="en-IN" sz="2000" b="1" dirty="0"/>
          </a:p>
        </p:txBody>
      </p:sp>
      <p:sp>
        <p:nvSpPr>
          <p:cNvPr id="17" name="TextBox 16">
            <a:extLst>
              <a:ext uri="{FF2B5EF4-FFF2-40B4-BE49-F238E27FC236}">
                <a16:creationId xmlns:a16="http://schemas.microsoft.com/office/drawing/2014/main" id="{A49E6B63-6437-B262-1370-F99828EF131A}"/>
              </a:ext>
            </a:extLst>
          </p:cNvPr>
          <p:cNvSpPr txBox="1"/>
          <p:nvPr/>
        </p:nvSpPr>
        <p:spPr>
          <a:xfrm>
            <a:off x="721360" y="5759283"/>
            <a:ext cx="10749280" cy="584775"/>
          </a:xfrm>
          <a:prstGeom prst="rect">
            <a:avLst/>
          </a:prstGeom>
          <a:noFill/>
        </p:spPr>
        <p:txBody>
          <a:bodyPr wrap="square" anchor="ctr">
            <a:spAutoFit/>
          </a:bodyPr>
          <a:lstStyle/>
          <a:p>
            <a:pPr algn="ctr">
              <a:buNone/>
            </a:pPr>
            <a:r>
              <a:rPr lang="en-IN" sz="3200" b="1" dirty="0"/>
              <a:t>Consistency beats last-minute effort</a:t>
            </a:r>
            <a:endParaRPr lang="en-IN" sz="3200" dirty="0"/>
          </a:p>
        </p:txBody>
      </p:sp>
    </p:spTree>
    <p:extLst>
      <p:ext uri="{BB962C8B-B14F-4D97-AF65-F5344CB8AC3E}">
        <p14:creationId xmlns:p14="http://schemas.microsoft.com/office/powerpoint/2010/main" val="35146820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1535E3-3039-77A0-8B46-8637C5119924}"/>
              </a:ext>
            </a:extLst>
          </p:cNvPr>
          <p:cNvSpPr txBox="1"/>
          <p:nvPr/>
        </p:nvSpPr>
        <p:spPr>
          <a:xfrm>
            <a:off x="2699264" y="2981960"/>
            <a:ext cx="6272871" cy="1569660"/>
          </a:xfrm>
          <a:prstGeom prst="rect">
            <a:avLst/>
          </a:prstGeom>
          <a:noFill/>
        </p:spPr>
        <p:txBody>
          <a:bodyPr wrap="none" rtlCol="0">
            <a:spAutoFit/>
          </a:bodyPr>
          <a:lstStyle/>
          <a:p>
            <a:pPr algn="ctr"/>
            <a:r>
              <a:rPr lang="en-US" sz="9600" i="1" dirty="0"/>
              <a:t>Thank you </a:t>
            </a:r>
          </a:p>
        </p:txBody>
      </p:sp>
    </p:spTree>
    <p:extLst>
      <p:ext uri="{BB962C8B-B14F-4D97-AF65-F5344CB8AC3E}">
        <p14:creationId xmlns:p14="http://schemas.microsoft.com/office/powerpoint/2010/main" val="15656314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TotalTime>
  <Words>1886</Words>
  <Application>Microsoft Office PowerPoint</Application>
  <PresentationFormat>Widescreen</PresentationFormat>
  <Paragraphs>162</Paragraphs>
  <Slides>20</Slides>
  <Notes>13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20</vt:i4>
      </vt:variant>
    </vt:vector>
  </HeadingPairs>
  <TitlesOfParts>
    <vt:vector size="33" baseType="lpstr">
      <vt:lpstr>Arial</vt:lpstr>
      <vt:lpstr>Calibri</vt:lpstr>
      <vt:lpstr>DM Sans</vt:lpstr>
      <vt:lpstr>DM Sans Medium</vt:lpstr>
      <vt:lpstr>Inter</vt:lpstr>
      <vt:lpstr>Inter SemiBold</vt:lpstr>
      <vt:lpstr>Outfit</vt:lpstr>
      <vt:lpstr>Outfit ExtraBold</vt:lpstr>
      <vt:lpstr>Poppins</vt:lpstr>
      <vt:lpstr>Poppins ExtraBold</vt:lpstr>
      <vt:lpstr>Poppins SemiBold</vt:lpstr>
      <vt:lpstr>Wingdings</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vipar</dc:creator>
  <cp:lastModifiedBy>Brinda Dorairaj</cp:lastModifiedBy>
  <cp:revision>19</cp:revision>
  <dcterms:created xsi:type="dcterms:W3CDTF">2026-07-08T09:16:17Z</dcterms:created>
  <dcterms:modified xsi:type="dcterms:W3CDTF">2026-09-10T07:15:26Z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841358CE702E77C220154E6A88366A58_41</vt:lpwstr>
  </property>
</Properties>
</file>