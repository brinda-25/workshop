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7" r:id="rId2"/>
    <p:sldId id="262" r:id="rId3"/>
    <p:sldId id="279" r:id="rId4"/>
    <p:sldId id="280" r:id="rId5"/>
    <p:sldId id="258" r:id="rId6"/>
    <p:sldId id="259" r:id="rId7"/>
    <p:sldId id="260" r:id="rId8"/>
    <p:sldId id="261" r:id="rId9"/>
    <p:sldId id="275" r:id="rId10"/>
    <p:sldId id="276" r:id="rId11"/>
    <p:sldId id="277" r:id="rId12"/>
    <p:sldId id="278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780" y="5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nda Dorairaj" userId="7fc80f17a859e336" providerId="LiveId" clId="{0C57EBA8-ABF7-443E-A1C3-F5FD856EBEAB}"/>
    <pc:docChg chg="addSld modSld">
      <pc:chgData name="Brinda Dorairaj" userId="7fc80f17a859e336" providerId="LiveId" clId="{0C57EBA8-ABF7-443E-A1C3-F5FD856EBEAB}" dt="2026-07-14T16:54:06.460" v="18" actId="1076"/>
      <pc:docMkLst>
        <pc:docMk/>
      </pc:docMkLst>
      <pc:sldChg chg="add">
        <pc:chgData name="Brinda Dorairaj" userId="7fc80f17a859e336" providerId="LiveId" clId="{0C57EBA8-ABF7-443E-A1C3-F5FD856EBEAB}" dt="2026-07-14T16:45:33.530" v="0"/>
        <pc:sldMkLst>
          <pc:docMk/>
          <pc:sldMk cId="0" sldId="262"/>
        </pc:sldMkLst>
      </pc:sldChg>
      <pc:sldChg chg="add setBg modNotes">
        <pc:chgData name="Brinda Dorairaj" userId="7fc80f17a859e336" providerId="LiveId" clId="{0C57EBA8-ABF7-443E-A1C3-F5FD856EBEAB}" dt="2026-07-14T16:46:32.893" v="1"/>
        <pc:sldMkLst>
          <pc:docMk/>
          <pc:sldMk cId="0" sldId="263"/>
        </pc:sldMkLst>
      </pc:sldChg>
      <pc:sldChg chg="add">
        <pc:chgData name="Brinda Dorairaj" userId="7fc80f17a859e336" providerId="LiveId" clId="{0C57EBA8-ABF7-443E-A1C3-F5FD856EBEAB}" dt="2026-07-14T16:47:24.021" v="2"/>
        <pc:sldMkLst>
          <pc:docMk/>
          <pc:sldMk cId="0" sldId="275"/>
        </pc:sldMkLst>
      </pc:sldChg>
      <pc:sldChg chg="add setBg modNotes">
        <pc:chgData name="Brinda Dorairaj" userId="7fc80f17a859e336" providerId="LiveId" clId="{0C57EBA8-ABF7-443E-A1C3-F5FD856EBEAB}" dt="2026-07-14T16:47:24.021" v="2"/>
        <pc:sldMkLst>
          <pc:docMk/>
          <pc:sldMk cId="0" sldId="276"/>
        </pc:sldMkLst>
      </pc:sldChg>
      <pc:sldChg chg="add setBg modNotes">
        <pc:chgData name="Brinda Dorairaj" userId="7fc80f17a859e336" providerId="LiveId" clId="{0C57EBA8-ABF7-443E-A1C3-F5FD856EBEAB}" dt="2026-07-14T16:47:24.021" v="2"/>
        <pc:sldMkLst>
          <pc:docMk/>
          <pc:sldMk cId="0" sldId="277"/>
        </pc:sldMkLst>
      </pc:sldChg>
      <pc:sldChg chg="add">
        <pc:chgData name="Brinda Dorairaj" userId="7fc80f17a859e336" providerId="LiveId" clId="{0C57EBA8-ABF7-443E-A1C3-F5FD856EBEAB}" dt="2026-07-14T16:47:24.021" v="2"/>
        <pc:sldMkLst>
          <pc:docMk/>
          <pc:sldMk cId="0" sldId="278"/>
        </pc:sldMkLst>
      </pc:sldChg>
      <pc:sldChg chg="addSp modSp new mod">
        <pc:chgData name="Brinda Dorairaj" userId="7fc80f17a859e336" providerId="LiveId" clId="{0C57EBA8-ABF7-443E-A1C3-F5FD856EBEAB}" dt="2026-07-14T16:53:29.099" v="11" actId="1076"/>
        <pc:sldMkLst>
          <pc:docMk/>
          <pc:sldMk cId="4248713634" sldId="279"/>
        </pc:sldMkLst>
        <pc:spChg chg="add mod">
          <ac:chgData name="Brinda Dorairaj" userId="7fc80f17a859e336" providerId="LiveId" clId="{0C57EBA8-ABF7-443E-A1C3-F5FD856EBEAB}" dt="2026-07-14T16:52:49.560" v="5" actId="1076"/>
          <ac:spMkLst>
            <pc:docMk/>
            <pc:sldMk cId="4248713634" sldId="279"/>
            <ac:spMk id="3" creationId="{A22A1F47-86BB-D0D1-F709-7DDFA078934C}"/>
          </ac:spMkLst>
        </pc:spChg>
        <pc:spChg chg="add mod">
          <ac:chgData name="Brinda Dorairaj" userId="7fc80f17a859e336" providerId="LiveId" clId="{0C57EBA8-ABF7-443E-A1C3-F5FD856EBEAB}" dt="2026-07-14T16:53:02.603" v="7" actId="1076"/>
          <ac:spMkLst>
            <pc:docMk/>
            <pc:sldMk cId="4248713634" sldId="279"/>
            <ac:spMk id="5" creationId="{D1DF3805-4A01-F479-9E25-6E75541B698A}"/>
          </ac:spMkLst>
        </pc:spChg>
        <pc:spChg chg="add mod">
          <ac:chgData name="Brinda Dorairaj" userId="7fc80f17a859e336" providerId="LiveId" clId="{0C57EBA8-ABF7-443E-A1C3-F5FD856EBEAB}" dt="2026-07-14T16:53:19.404" v="9" actId="1076"/>
          <ac:spMkLst>
            <pc:docMk/>
            <pc:sldMk cId="4248713634" sldId="279"/>
            <ac:spMk id="7" creationId="{B51F19F6-F208-6A3B-AF40-52E86BC15E4A}"/>
          </ac:spMkLst>
        </pc:spChg>
        <pc:spChg chg="add mod">
          <ac:chgData name="Brinda Dorairaj" userId="7fc80f17a859e336" providerId="LiveId" clId="{0C57EBA8-ABF7-443E-A1C3-F5FD856EBEAB}" dt="2026-07-14T16:53:29.099" v="11" actId="1076"/>
          <ac:spMkLst>
            <pc:docMk/>
            <pc:sldMk cId="4248713634" sldId="279"/>
            <ac:spMk id="9" creationId="{8BC3E035-B13B-D5FC-EB81-37D36177FC68}"/>
          </ac:spMkLst>
        </pc:spChg>
      </pc:sldChg>
      <pc:sldChg chg="addSp modSp new mod">
        <pc:chgData name="Brinda Dorairaj" userId="7fc80f17a859e336" providerId="LiveId" clId="{0C57EBA8-ABF7-443E-A1C3-F5FD856EBEAB}" dt="2026-07-14T16:54:06.460" v="18" actId="1076"/>
        <pc:sldMkLst>
          <pc:docMk/>
          <pc:sldMk cId="1565631495" sldId="280"/>
        </pc:sldMkLst>
        <pc:spChg chg="add mod">
          <ac:chgData name="Brinda Dorairaj" userId="7fc80f17a859e336" providerId="LiveId" clId="{0C57EBA8-ABF7-443E-A1C3-F5FD856EBEAB}" dt="2026-07-14T16:53:44.163" v="14" actId="1076"/>
          <ac:spMkLst>
            <pc:docMk/>
            <pc:sldMk cId="1565631495" sldId="280"/>
            <ac:spMk id="3" creationId="{AC98CB5C-610C-0B2B-88B3-7B6C298FDD2B}"/>
          </ac:spMkLst>
        </pc:spChg>
        <pc:spChg chg="add mod">
          <ac:chgData name="Brinda Dorairaj" userId="7fc80f17a859e336" providerId="LiveId" clId="{0C57EBA8-ABF7-443E-A1C3-F5FD856EBEAB}" dt="2026-07-14T16:53:56.235" v="16" actId="1076"/>
          <ac:spMkLst>
            <pc:docMk/>
            <pc:sldMk cId="1565631495" sldId="280"/>
            <ac:spMk id="5" creationId="{AC0666B7-78C3-0ADC-CA14-562708983156}"/>
          </ac:spMkLst>
        </pc:spChg>
        <pc:spChg chg="add mod">
          <ac:chgData name="Brinda Dorairaj" userId="7fc80f17a859e336" providerId="LiveId" clId="{0C57EBA8-ABF7-443E-A1C3-F5FD856EBEAB}" dt="2026-07-14T16:54:06.460" v="18" actId="1076"/>
          <ac:spMkLst>
            <pc:docMk/>
            <pc:sldMk cId="1565631495" sldId="280"/>
            <ac:spMk id="7" creationId="{126E0A85-99FA-1E08-6180-90F028BB6D7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f2cca4355c_1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f2cca4355c_1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00237150d_3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00237150d_3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2cca4355c_1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f2cca4355c_1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f2cca4355c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f2cca4355c_1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f2cca4355c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3f2cca4355c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0078361b1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f0078361b1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f00237150d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3f00237150d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f00237150d_1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f00237150d_1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f00237150d_1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3f00237150d_1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f002371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f00237150d_1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00237150d_3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00237150d_3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14-Jul-26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/>
              <a:t>Click to edit title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/>
              <a:t>Click to edit title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2cca4355c_14_0)">
  <p:cSld name="Generated (g3f2cca4355c_14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0078361b1_13_0)">
  <p:cSld name="Generated (g3f0078361b1_13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00237150d_16_0)">
  <p:cSld name="Generated (g3f00237150d_16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9606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3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6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1.xml"/><Relationship Id="rId20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31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pic>
        <p:nvPicPr>
          <p:cNvPr id="564" name="Google Shape;564;p3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68351" y="1530351"/>
            <a:ext cx="2070000" cy="23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3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9150351" y="1530351"/>
            <a:ext cx="2070000" cy="2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31"/>
          <p:cNvSpPr/>
          <p:nvPr/>
        </p:nvSpPr>
        <p:spPr>
          <a:xfrm>
            <a:off x="9652000" y="0"/>
            <a:ext cx="2540000" cy="254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0"/>
                </a:moveTo>
                <a:lnTo>
                  <a:pt x="120000" y="120000"/>
                </a:lnTo>
                <a:cubicBezTo>
                  <a:pt x="120000" y="53726"/>
                  <a:pt x="66274" y="0"/>
                  <a:pt x="0" y="0"/>
                </a:cubicBezTo>
                <a:close/>
              </a:path>
            </a:pathLst>
          </a:custGeom>
          <a:solidFill>
            <a:srgbClr val="FFC300">
              <a:alpha val="3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67" name="Google Shape;567;p31"/>
          <p:cNvSpPr/>
          <p:nvPr/>
        </p:nvSpPr>
        <p:spPr>
          <a:xfrm>
            <a:off x="11557000" y="6223000"/>
            <a:ext cx="635200" cy="635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lnTo>
                  <a:pt x="0" y="120000"/>
                </a:lnTo>
                <a:close/>
              </a:path>
            </a:pathLst>
          </a:custGeom>
          <a:solidFill>
            <a:srgbClr val="FFC300">
              <a:alpha val="6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68" name="Google Shape;568;p31"/>
          <p:cNvSpPr/>
          <p:nvPr/>
        </p:nvSpPr>
        <p:spPr>
          <a:xfrm>
            <a:off x="2768600" y="2133600"/>
            <a:ext cx="304800" cy="304800"/>
          </a:xfrm>
          <a:prstGeom prst="ellipse">
            <a:avLst/>
          </a:prstGeom>
          <a:solidFill>
            <a:srgbClr val="FF5733">
              <a:alpha val="89999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69" name="Google Shape;569;p31"/>
          <p:cNvSpPr/>
          <p:nvPr/>
        </p:nvSpPr>
        <p:spPr>
          <a:xfrm>
            <a:off x="9042400" y="3327400"/>
            <a:ext cx="457200" cy="457200"/>
          </a:xfrm>
          <a:prstGeom prst="ellipse">
            <a:avLst/>
          </a:prstGeom>
          <a:solidFill>
            <a:srgbClr val="FFC300">
              <a:alpha val="89999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0" name="Google Shape;570;p31"/>
          <p:cNvSpPr/>
          <p:nvPr/>
        </p:nvSpPr>
        <p:spPr>
          <a:xfrm>
            <a:off x="8940800" y="1828800"/>
            <a:ext cx="152400" cy="152400"/>
          </a:xfrm>
          <a:prstGeom prst="ellipse">
            <a:avLst/>
          </a:prstGeom>
          <a:solidFill>
            <a:srgbClr val="2D68FE">
              <a:alpha val="89999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1" name="Google Shape;571;p31"/>
          <p:cNvSpPr txBox="1"/>
          <p:nvPr/>
        </p:nvSpPr>
        <p:spPr>
          <a:xfrm>
            <a:off x="762000" y="508000"/>
            <a:ext cx="10668000" cy="127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FIRST IMPRESSIONS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GB" sz="36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Professional Grooming &amp; Appearance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572" name="Google Shape;572;p31"/>
          <p:cNvGrpSpPr/>
          <p:nvPr/>
        </p:nvGrpSpPr>
        <p:grpSpPr>
          <a:xfrm>
            <a:off x="3556000" y="1524000"/>
            <a:ext cx="5207000" cy="2984600"/>
            <a:chOff x="2667000" y="1143000"/>
            <a:chExt cx="3905250" cy="2238450"/>
          </a:xfrm>
        </p:grpSpPr>
        <p:sp>
          <p:nvSpPr>
            <p:cNvPr id="573" name="Google Shape;573;p31"/>
            <p:cNvSpPr/>
            <p:nvPr/>
          </p:nvSpPr>
          <p:spPr>
            <a:xfrm>
              <a:off x="2762250" y="1238250"/>
              <a:ext cx="3810000" cy="2143200"/>
            </a:xfrm>
            <a:prstGeom prst="roundRect">
              <a:avLst>
                <a:gd name="adj" fmla="val 5333"/>
              </a:avLst>
            </a:prstGeom>
            <a:solidFill>
              <a:srgbClr val="FF5733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574" name="Google Shape;574;p31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2667000" y="1143000"/>
              <a:ext cx="3810000" cy="21432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</p:grpSp>
      <p:grpSp>
        <p:nvGrpSpPr>
          <p:cNvPr id="575" name="Google Shape;575;p31"/>
          <p:cNvGrpSpPr/>
          <p:nvPr/>
        </p:nvGrpSpPr>
        <p:grpSpPr>
          <a:xfrm>
            <a:off x="469900" y="4445000"/>
            <a:ext cx="3886400" cy="2171600"/>
            <a:chOff x="-219075" y="-142875"/>
            <a:chExt cx="2914800" cy="1628700"/>
          </a:xfrm>
        </p:grpSpPr>
        <p:pic>
          <p:nvPicPr>
            <p:cNvPr id="576" name="Google Shape;576;p31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-219075" y="-142875"/>
              <a:ext cx="2914800" cy="1628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7" name="Google Shape;577;p31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name="adj" fmla="val 50000"/>
              </a:avLst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8" name="Google Shape;578;p31"/>
            <p:cNvSpPr txBox="1"/>
            <p:nvPr/>
          </p:nvSpPr>
          <p:spPr>
            <a:xfrm>
              <a:off x="190500" y="19050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0">
                  <a:solidFill>
                    <a:srgbClr val="2D68FE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01</a:t>
              </a:r>
              <a:endParaRPr sz="2400" b="0">
                <a:solidFill>
                  <a:srgbClr val="2D68FE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500" b="0">
                  <a:solidFill>
                    <a:srgbClr val="0B132B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Dress neatly and presentably.</a:t>
              </a:r>
              <a:endParaRPr sz="1500" b="0">
                <a:solidFill>
                  <a:srgbClr val="0B132B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579" name="Google Shape;579;p31"/>
          <p:cNvGrpSpPr/>
          <p:nvPr/>
        </p:nvGrpSpPr>
        <p:grpSpPr>
          <a:xfrm>
            <a:off x="4152900" y="4445000"/>
            <a:ext cx="3886400" cy="2171600"/>
            <a:chOff x="-219075" y="-142875"/>
            <a:chExt cx="2914800" cy="1628700"/>
          </a:xfrm>
        </p:grpSpPr>
        <p:pic>
          <p:nvPicPr>
            <p:cNvPr id="580" name="Google Shape;580;p31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-219075" y="-142875"/>
              <a:ext cx="2914800" cy="1628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1" name="Google Shape;581;p31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2" name="Google Shape;582;p31"/>
            <p:cNvSpPr txBox="1"/>
            <p:nvPr/>
          </p:nvSpPr>
          <p:spPr>
            <a:xfrm>
              <a:off x="190500" y="19050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0">
                  <a:solidFill>
                    <a:srgbClr val="FF573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02</a:t>
              </a:r>
              <a:endParaRPr sz="2400" b="0">
                <a:solidFill>
                  <a:srgbClr val="FF573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500" b="0">
                  <a:solidFill>
                    <a:srgbClr val="0B132B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Offer a firm handshake (if in person).</a:t>
              </a:r>
              <a:endParaRPr sz="1500" b="0">
                <a:solidFill>
                  <a:srgbClr val="0B132B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583" name="Google Shape;583;p31"/>
          <p:cNvGrpSpPr/>
          <p:nvPr/>
        </p:nvGrpSpPr>
        <p:grpSpPr>
          <a:xfrm>
            <a:off x="7835900" y="4445000"/>
            <a:ext cx="3886400" cy="2171600"/>
            <a:chOff x="-219075" y="-142875"/>
            <a:chExt cx="2914800" cy="1628700"/>
          </a:xfrm>
        </p:grpSpPr>
        <p:pic>
          <p:nvPicPr>
            <p:cNvPr id="584" name="Google Shape;584;p31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-219075" y="-142875"/>
              <a:ext cx="2914800" cy="1628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5" name="Google Shape;585;p31"/>
            <p:cNvSpPr/>
            <p:nvPr/>
          </p:nvSpPr>
          <p:spPr>
            <a:xfrm>
              <a:off x="0" y="0"/>
              <a:ext cx="2476500" cy="573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6" name="Google Shape;586;p31"/>
            <p:cNvSpPr txBox="1"/>
            <p:nvPr/>
          </p:nvSpPr>
          <p:spPr>
            <a:xfrm>
              <a:off x="190500" y="19050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0">
                  <a:solidFill>
                    <a:srgbClr val="FFC300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03</a:t>
              </a:r>
              <a:endParaRPr sz="2400" b="0">
                <a:solidFill>
                  <a:srgbClr val="FFC300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500" b="0">
                  <a:solidFill>
                    <a:srgbClr val="0B132B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Maintain a confident posture and deliver assured answers.</a:t>
              </a:r>
              <a:endParaRPr sz="1500" b="0">
                <a:solidFill>
                  <a:srgbClr val="0B132B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sp>
        <p:nvSpPr>
          <p:cNvPr id="171" name="Google Shape;171;p18"/>
          <p:cNvSpPr/>
          <p:nvPr/>
        </p:nvSpPr>
        <p:spPr>
          <a:xfrm>
            <a:off x="508000" y="5842000"/>
            <a:ext cx="508000" cy="508000"/>
          </a:xfrm>
          <a:prstGeom prst="ellipse">
            <a:avLst/>
          </a:prstGeom>
          <a:solidFill>
            <a:srgbClr val="34D399"/>
          </a:solidFill>
          <a:ln w="28575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sp>
        <p:nvSpPr>
          <p:cNvPr id="172" name="Google Shape;172;p18"/>
          <p:cNvSpPr/>
          <p:nvPr/>
        </p:nvSpPr>
        <p:spPr>
          <a:xfrm rot="900000">
            <a:off x="11176000" y="5842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60000" y="120000"/>
                </a:lnTo>
                <a:close/>
              </a:path>
            </a:pathLst>
          </a:custGeom>
          <a:solidFill>
            <a:srgbClr val="FF6B6B"/>
          </a:solidFill>
          <a:ln w="28575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grpSp>
        <p:nvGrpSpPr>
          <p:cNvPr id="173" name="Google Shape;173;p18"/>
          <p:cNvGrpSpPr/>
          <p:nvPr/>
        </p:nvGrpSpPr>
        <p:grpSpPr>
          <a:xfrm>
            <a:off x="5842000" y="5905500"/>
            <a:ext cx="508000" cy="508000"/>
            <a:chOff x="0" y="0"/>
            <a:chExt cx="381000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0" y="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152400" y="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6" name="Google Shape;176;p18"/>
            <p:cNvSpPr/>
            <p:nvPr/>
          </p:nvSpPr>
          <p:spPr>
            <a:xfrm>
              <a:off x="304800" y="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7" name="Google Shape;177;p18"/>
            <p:cNvSpPr/>
            <p:nvPr/>
          </p:nvSpPr>
          <p:spPr>
            <a:xfrm>
              <a:off x="0" y="15240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152400" y="15240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9" name="Google Shape;179;p18"/>
            <p:cNvSpPr/>
            <p:nvPr/>
          </p:nvSpPr>
          <p:spPr>
            <a:xfrm>
              <a:off x="304800" y="15240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0" y="30480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1" name="Google Shape;181;p18"/>
            <p:cNvSpPr/>
            <p:nvPr/>
          </p:nvSpPr>
          <p:spPr>
            <a:xfrm>
              <a:off x="152400" y="304800"/>
              <a:ext cx="76200" cy="76200"/>
            </a:xfrm>
            <a:prstGeom prst="ellipse">
              <a:avLst/>
            </a:prstGeom>
            <a:solidFill>
              <a:srgbClr val="4338C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182" name="Google Shape;182;p18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304800" y="304800"/>
              <a:ext cx="76200" cy="762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8"/>
          <p:cNvSpPr txBox="1"/>
          <p:nvPr/>
        </p:nvSpPr>
        <p:spPr>
          <a:xfrm>
            <a:off x="508000" y="508000"/>
            <a:ext cx="11176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sz="3200">
                <a:solidFill>
                  <a:srgbClr val="11182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Stage 3: Navigating Face-to-Face vs. Online Interviews</a:t>
            </a:r>
          </a:p>
        </p:txBody>
      </p:sp>
      <p:cxnSp>
        <p:nvCxnSpPr>
          <p:cNvPr id="184" name="Google Shape;184;p18"/>
          <p:cNvCxnSpPr/>
          <p:nvPr/>
        </p:nvCxnSpPr>
        <p:spPr>
          <a:xfrm>
            <a:off x="508000" y="1270000"/>
            <a:ext cx="11176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18"/>
          <p:cNvSpPr/>
          <p:nvPr/>
        </p:nvSpPr>
        <p:spPr>
          <a:xfrm>
            <a:off x="11404600" y="609600"/>
            <a:ext cx="304800" cy="304800"/>
          </a:xfrm>
          <a:prstGeom prst="ellipse">
            <a:avLst/>
          </a:prstGeom>
          <a:solidFill>
            <a:srgbClr val="4338CA"/>
          </a:solidFill>
          <a:ln w="1905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sp>
        <p:nvSpPr>
          <p:cNvPr id="186" name="Google Shape;186;p18"/>
          <p:cNvSpPr/>
          <p:nvPr/>
        </p:nvSpPr>
        <p:spPr>
          <a:xfrm>
            <a:off x="5943600" y="342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60000" y="0"/>
                </a:moveTo>
                <a:cubicBezTo>
                  <a:pt x="60000" y="33135"/>
                  <a:pt x="86865" y="60000"/>
                  <a:pt x="120000" y="60000"/>
                </a:cubicBezTo>
                <a:cubicBezTo>
                  <a:pt x="86865" y="60000"/>
                  <a:pt x="60000" y="86865"/>
                  <a:pt x="60000" y="120000"/>
                </a:cubicBezTo>
                <a:cubicBezTo>
                  <a:pt x="60000" y="86865"/>
                  <a:pt x="33135" y="60000"/>
                  <a:pt x="0" y="60000"/>
                </a:cubicBezTo>
                <a:cubicBezTo>
                  <a:pt x="33135" y="60000"/>
                  <a:pt x="60000" y="33135"/>
                  <a:pt x="60000" y="0"/>
                </a:cubicBezTo>
                <a:close/>
              </a:path>
            </a:pathLst>
          </a:custGeom>
          <a:solidFill>
            <a:srgbClr val="FBBF24"/>
          </a:solidFill>
          <a:ln w="1905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grpSp>
        <p:nvGrpSpPr>
          <p:cNvPr id="187" name="Google Shape;187;p18"/>
          <p:cNvGrpSpPr/>
          <p:nvPr/>
        </p:nvGrpSpPr>
        <p:grpSpPr>
          <a:xfrm>
            <a:off x="508000" y="1651000"/>
            <a:ext cx="5537400" cy="4648200"/>
            <a:chOff x="0" y="0"/>
            <a:chExt cx="4153050" cy="3486150"/>
          </a:xfrm>
        </p:grpSpPr>
        <p:sp>
          <p:nvSpPr>
            <p:cNvPr id="188" name="Google Shape;188;p18"/>
            <p:cNvSpPr/>
            <p:nvPr/>
          </p:nvSpPr>
          <p:spPr>
            <a:xfrm>
              <a:off x="57150" y="5715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0" y="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285750" y="285750"/>
              <a:ext cx="35244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000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Medium-Specific Tactics</a:t>
              </a:r>
              <a:endParaRPr sz="2000" b="1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>
                <a:spcBef>
                  <a:spcPts val="1200"/>
                </a:spcBef>
              </a:pP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The final stages involve direct interaction, requiring different strategies depending on the medium.</a:t>
              </a:r>
              <a:endParaRPr sz="14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>
                <a:spcBef>
                  <a:spcPts val="1600"/>
                </a:spcBef>
              </a:pPr>
              <a:r>
                <a:rPr lang="en-GB" sz="1400" b="1">
                  <a:solidFill>
                    <a:srgbClr val="4338CA"/>
                  </a:solidFill>
                  <a:latin typeface="DM Sans"/>
                  <a:ea typeface="DM Sans"/>
                  <a:cs typeface="DM Sans"/>
                  <a:sym typeface="DM Sans"/>
                </a:rPr>
                <a:t>Face-to-Face: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Emphasize body language, firm handshakes, and whiteboard coding. You must articulate your thought process while writing code manually.</a:t>
              </a:r>
              <a:endParaRPr sz="14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>
                <a:spcBef>
                  <a:spcPts val="1200"/>
                </a:spcBef>
              </a:pPr>
              <a:r>
                <a:rPr lang="en-GB" sz="1400" b="1">
                  <a:solidFill>
                    <a:srgbClr val="4338CA"/>
                  </a:solidFill>
                  <a:latin typeface="DM Sans"/>
                  <a:ea typeface="DM Sans"/>
                  <a:cs typeface="DM Sans"/>
                  <a:sym typeface="DM Sans"/>
                </a:rPr>
                <a:t>Online: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Rely heavily on shared screens and collaborative editors. Clear vocal communication is critical to compensate for the lack of physical presence.</a:t>
              </a:r>
              <a:endParaRPr sz="14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>
                <a:spcBef>
                  <a:spcPts val="1200"/>
                </a:spcBef>
              </a:pPr>
              <a:r>
                <a:rPr lang="en-GB" sz="1400" b="1">
                  <a:solidFill>
                    <a:srgbClr val="4338CA"/>
                  </a:solidFill>
                  <a:latin typeface="DM Sans"/>
                  <a:ea typeface="DM Sans"/>
                  <a:cs typeface="DM Sans"/>
                  <a:sym typeface="DM Sans"/>
                </a:rPr>
                <a:t>The HR Round: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Focuses on behavioral questions, situational judgment, and alignment with the company's core values, regardless of the format.</a:t>
              </a:r>
              <a:endParaRPr sz="14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  <p:grpSp>
        <p:nvGrpSpPr>
          <p:cNvPr id="191" name="Google Shape;191;p18"/>
          <p:cNvGrpSpPr/>
          <p:nvPr/>
        </p:nvGrpSpPr>
        <p:grpSpPr>
          <a:xfrm>
            <a:off x="6223000" y="1651000"/>
            <a:ext cx="5537400" cy="4165800"/>
            <a:chOff x="0" y="0"/>
            <a:chExt cx="4153050" cy="3124350"/>
          </a:xfrm>
        </p:grpSpPr>
        <p:sp>
          <p:nvSpPr>
            <p:cNvPr id="192" name="Google Shape;192;p18"/>
            <p:cNvSpPr/>
            <p:nvPr/>
          </p:nvSpPr>
          <p:spPr>
            <a:xfrm>
              <a:off x="57150" y="5715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193" name="Google Shape;193;p18"/>
            <p:cNvPicPr preferRelativeResize="0"/>
            <p:nvPr/>
          </p:nvPicPr>
          <p:blipFill rotWithShape="1">
            <a:blip r:embed="rId4"/>
            <a:srcRect t="80" b="80"/>
            <a:stretch>
              <a:fillRect/>
            </a:stretch>
          </p:blipFill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noFill/>
            <a:ln>
              <a:noFill/>
            </a:ln>
          </p:spPr>
        </p:pic>
        <p:sp>
          <p:nvSpPr>
            <p:cNvPr id="194" name="Google Shape;194;p18"/>
            <p:cNvSpPr/>
            <p:nvPr/>
          </p:nvSpPr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2A1F47-86BB-D0D1-F709-7DDFA078934C}"/>
              </a:ext>
            </a:extLst>
          </p:cNvPr>
          <p:cNvSpPr txBox="1"/>
          <p:nvPr/>
        </p:nvSpPr>
        <p:spPr>
          <a:xfrm>
            <a:off x="518160" y="2428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Appearance &amp; Grooming</a:t>
            </a:r>
          </a:p>
          <a:p>
            <a:pPr>
              <a:buNone/>
            </a:pPr>
            <a:r>
              <a:rPr lang="en-US" b="1" dirty="0"/>
              <a:t>First Impression Matters</a:t>
            </a:r>
          </a:p>
          <a:p>
            <a:pPr>
              <a:buNone/>
            </a:pPr>
            <a:r>
              <a:rPr lang="en-US" dirty="0"/>
              <a:t>✔ Dress neatly</a:t>
            </a:r>
            <a:br>
              <a:rPr lang="en-US" dirty="0"/>
            </a:br>
            <a:r>
              <a:rPr lang="en-US" dirty="0"/>
              <a:t>✔ Be presentable</a:t>
            </a:r>
            <a:br>
              <a:rPr lang="en-US" dirty="0"/>
            </a:br>
            <a:r>
              <a:rPr lang="en-US" dirty="0"/>
              <a:t>✔ Maintain hygiene</a:t>
            </a:r>
            <a:br>
              <a:rPr lang="en-US" dirty="0"/>
            </a:br>
            <a:r>
              <a:rPr lang="en-US" dirty="0"/>
              <a:t>✔ Sit confidently</a:t>
            </a:r>
          </a:p>
          <a:p>
            <a:pPr>
              <a:buNone/>
            </a:pPr>
            <a:r>
              <a:rPr lang="en-US" b="1" dirty="0"/>
              <a:t>Remember:</a:t>
            </a:r>
          </a:p>
          <a:p>
            <a:pPr>
              <a:buNone/>
            </a:pPr>
            <a:r>
              <a:rPr lang="en-US" dirty="0"/>
              <a:t>Confidence is visible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DF3805-4A01-F479-9E25-6E75541B698A}"/>
              </a:ext>
            </a:extLst>
          </p:cNvPr>
          <p:cNvSpPr txBox="1"/>
          <p:nvPr/>
        </p:nvSpPr>
        <p:spPr>
          <a:xfrm>
            <a:off x="6004560" y="646559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Face-to-Face Interview Etiquette</a:t>
            </a:r>
          </a:p>
          <a:p>
            <a:pPr>
              <a:buNone/>
            </a:pPr>
            <a:r>
              <a:rPr lang="en-IN" b="1" dirty="0"/>
              <a:t>Interview Room </a:t>
            </a:r>
            <a:r>
              <a:rPr lang="en-IN" b="1" dirty="0" err="1"/>
              <a:t>Behavior</a:t>
            </a:r>
            <a:endParaRPr lang="en-IN" b="1" dirty="0"/>
          </a:p>
          <a:p>
            <a:pPr>
              <a:buNone/>
            </a:pPr>
            <a:r>
              <a:rPr lang="en-IN" dirty="0"/>
              <a:t>✔ Enter confidently</a:t>
            </a:r>
            <a:br>
              <a:rPr lang="en-IN" dirty="0"/>
            </a:br>
            <a:r>
              <a:rPr lang="en-IN" dirty="0"/>
              <a:t>✔ Smile politely</a:t>
            </a:r>
            <a:br>
              <a:rPr lang="en-IN" dirty="0"/>
            </a:br>
            <a:r>
              <a:rPr lang="en-IN" dirty="0"/>
              <a:t>✔ Firm handshake (if initiated)</a:t>
            </a:r>
            <a:br>
              <a:rPr lang="en-IN" dirty="0"/>
            </a:br>
            <a:r>
              <a:rPr lang="en-IN" dirty="0"/>
              <a:t>✔ Maintain eye contact</a:t>
            </a:r>
          </a:p>
          <a:p>
            <a:pPr>
              <a:buNone/>
            </a:pPr>
            <a:r>
              <a:rPr lang="en-IN" dirty="0"/>
              <a:t>Avoid:</a:t>
            </a:r>
            <a:br>
              <a:rPr lang="en-IN" dirty="0"/>
            </a:br>
            <a:r>
              <a:rPr lang="en-IN" dirty="0"/>
              <a:t>❌ Overconfidence</a:t>
            </a:r>
            <a:br>
              <a:rPr lang="en-IN" dirty="0"/>
            </a:br>
            <a:r>
              <a:rPr lang="en-IN" dirty="0"/>
              <a:t>❌ Slouching</a:t>
            </a:r>
            <a:br>
              <a:rPr lang="en-IN" dirty="0"/>
            </a:br>
            <a:r>
              <a:rPr lang="en-IN" dirty="0"/>
              <a:t>❌ Looking nervous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1F19F6-F208-6A3B-AF40-52E86BC15E4A}"/>
              </a:ext>
            </a:extLst>
          </p:cNvPr>
          <p:cNvSpPr txBox="1"/>
          <p:nvPr/>
        </p:nvSpPr>
        <p:spPr>
          <a:xfrm>
            <a:off x="396240" y="2954883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Slide 18 – Online Interview Tips</a:t>
            </a:r>
          </a:p>
          <a:p>
            <a:pPr>
              <a:buNone/>
            </a:pPr>
            <a:r>
              <a:rPr lang="en-IN" b="1" dirty="0"/>
              <a:t>Online Interview Readiness</a:t>
            </a:r>
          </a:p>
          <a:p>
            <a:pPr>
              <a:buNone/>
            </a:pPr>
            <a:r>
              <a:rPr lang="en-IN" dirty="0"/>
              <a:t>✔ Join on time</a:t>
            </a:r>
            <a:br>
              <a:rPr lang="en-IN" dirty="0"/>
            </a:br>
            <a:r>
              <a:rPr lang="en-IN" dirty="0"/>
              <a:t>✔ Video ON</a:t>
            </a:r>
            <a:br>
              <a:rPr lang="en-IN" dirty="0"/>
            </a:br>
            <a:r>
              <a:rPr lang="en-IN" dirty="0"/>
              <a:t>✔ Stable internet</a:t>
            </a:r>
            <a:br>
              <a:rPr lang="en-IN" dirty="0"/>
            </a:br>
            <a:r>
              <a:rPr lang="en-IN" dirty="0"/>
              <a:t>✔ Quiet environment</a:t>
            </a:r>
            <a:br>
              <a:rPr lang="en-IN" dirty="0"/>
            </a:br>
            <a:r>
              <a:rPr lang="en-IN" dirty="0"/>
              <a:t>✔ Proper lighting</a:t>
            </a:r>
          </a:p>
          <a:p>
            <a:pPr>
              <a:buNone/>
            </a:pPr>
            <a:r>
              <a:rPr lang="en-IN" b="1" dirty="0"/>
              <a:t>Important:</a:t>
            </a:r>
          </a:p>
          <a:p>
            <a:pPr>
              <a:buNone/>
            </a:pPr>
            <a:r>
              <a:rPr lang="en-IN" dirty="0"/>
              <a:t>Look at camera while answering</a:t>
            </a:r>
          </a:p>
          <a:p>
            <a:pPr>
              <a:buNone/>
            </a:pPr>
            <a:r>
              <a:rPr lang="en-IN" dirty="0"/>
              <a:t>Avoid:</a:t>
            </a:r>
            <a:br>
              <a:rPr lang="en-IN" dirty="0"/>
            </a:br>
            <a:r>
              <a:rPr lang="en-IN" dirty="0"/>
              <a:t>❌ Looking at other apps</a:t>
            </a:r>
            <a:br>
              <a:rPr lang="en-IN" dirty="0"/>
            </a:br>
            <a:r>
              <a:rPr lang="en-IN" dirty="0"/>
              <a:t>❌ Reading answers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C3E035-B13B-D5FC-EB81-37D36177FC68}"/>
              </a:ext>
            </a:extLst>
          </p:cNvPr>
          <p:cNvSpPr txBox="1"/>
          <p:nvPr/>
        </p:nvSpPr>
        <p:spPr>
          <a:xfrm>
            <a:off x="8564880" y="2795121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Dos &amp; Don’ts</a:t>
            </a:r>
          </a:p>
          <a:p>
            <a:pPr>
              <a:buNone/>
            </a:pPr>
            <a:r>
              <a:rPr lang="en-IN" b="1" dirty="0"/>
              <a:t>Interview Dos</a:t>
            </a:r>
          </a:p>
          <a:p>
            <a:pPr>
              <a:buNone/>
            </a:pPr>
            <a:r>
              <a:rPr lang="en-IN" dirty="0"/>
              <a:t>✔ Listen carefully</a:t>
            </a:r>
            <a:br>
              <a:rPr lang="en-IN" dirty="0"/>
            </a:br>
            <a:r>
              <a:rPr lang="en-IN" dirty="0"/>
              <a:t>✔ Think before answering</a:t>
            </a:r>
            <a:br>
              <a:rPr lang="en-IN" dirty="0"/>
            </a:br>
            <a:r>
              <a:rPr lang="en-IN" dirty="0"/>
              <a:t>✔ Be honest</a:t>
            </a:r>
            <a:br>
              <a:rPr lang="en-IN" dirty="0"/>
            </a:br>
            <a:r>
              <a:rPr lang="en-IN" dirty="0"/>
              <a:t>✔ Ask clarifying questions</a:t>
            </a:r>
            <a:br>
              <a:rPr lang="en-IN" dirty="0"/>
            </a:br>
            <a:r>
              <a:rPr lang="en-IN" dirty="0"/>
              <a:t>✔ Speak confidently</a:t>
            </a:r>
          </a:p>
          <a:p>
            <a:pPr>
              <a:buNone/>
            </a:pPr>
            <a:r>
              <a:rPr lang="en-IN" b="1" dirty="0"/>
              <a:t>Interview Don’ts</a:t>
            </a:r>
          </a:p>
          <a:p>
            <a:pPr>
              <a:buNone/>
            </a:pPr>
            <a:r>
              <a:rPr lang="en-IN" dirty="0"/>
              <a:t>❌ Bluff answers</a:t>
            </a:r>
            <a:br>
              <a:rPr lang="en-IN" dirty="0"/>
            </a:br>
            <a:r>
              <a:rPr lang="en-IN" dirty="0"/>
              <a:t>❌ Interrupt interviewer</a:t>
            </a:r>
            <a:br>
              <a:rPr lang="en-IN" dirty="0"/>
            </a:br>
            <a:r>
              <a:rPr lang="en-IN" dirty="0"/>
              <a:t>❌ Speak negatively</a:t>
            </a:r>
            <a:br>
              <a:rPr lang="en-IN" dirty="0"/>
            </a:br>
            <a:r>
              <a:rPr lang="en-IN" dirty="0"/>
              <a:t>❌ Panic after one mistake</a:t>
            </a:r>
          </a:p>
        </p:txBody>
      </p:sp>
    </p:spTree>
    <p:extLst>
      <p:ext uri="{BB962C8B-B14F-4D97-AF65-F5344CB8AC3E}">
        <p14:creationId xmlns:p14="http://schemas.microsoft.com/office/powerpoint/2010/main" val="4248713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98CB5C-610C-0B2B-88B3-7B6C298FDD2B}"/>
              </a:ext>
            </a:extLst>
          </p:cNvPr>
          <p:cNvSpPr txBox="1"/>
          <p:nvPr/>
        </p:nvSpPr>
        <p:spPr>
          <a:xfrm>
            <a:off x="274320" y="561539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If You Don’t Know an Answer?</a:t>
            </a:r>
          </a:p>
          <a:p>
            <a:pPr>
              <a:buNone/>
            </a:pPr>
            <a:r>
              <a:rPr lang="en-US" b="1" dirty="0"/>
              <a:t>Best Response</a:t>
            </a:r>
          </a:p>
          <a:p>
            <a:pPr>
              <a:buNone/>
            </a:pPr>
            <a:r>
              <a:rPr lang="en-US" dirty="0"/>
              <a:t>Instead of guessing:</a:t>
            </a:r>
          </a:p>
          <a:p>
            <a:pPr>
              <a:buNone/>
            </a:pPr>
            <a:r>
              <a:rPr lang="en-US" dirty="0"/>
              <a:t>“I am not fully sure, but based on my understanding…”</a:t>
            </a:r>
          </a:p>
          <a:p>
            <a:pPr>
              <a:buNone/>
            </a:pPr>
            <a:r>
              <a:rPr lang="en-US" dirty="0"/>
              <a:t>OR</a:t>
            </a:r>
          </a:p>
          <a:p>
            <a:pPr>
              <a:buNone/>
            </a:pPr>
            <a:r>
              <a:rPr lang="en-US" dirty="0"/>
              <a:t>“I have not worked on this yet, but I am interested in learning.”</a:t>
            </a:r>
          </a:p>
          <a:p>
            <a:pPr>
              <a:buNone/>
            </a:pPr>
            <a:r>
              <a:rPr lang="en-US" b="1" dirty="0"/>
              <a:t>Never:</a:t>
            </a:r>
          </a:p>
          <a:p>
            <a:pPr>
              <a:buNone/>
            </a:pPr>
            <a:r>
              <a:rPr lang="en-US" dirty="0"/>
              <a:t>Fake confidence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66B7-78C3-0ADC-CA14-562708983156}"/>
              </a:ext>
            </a:extLst>
          </p:cNvPr>
          <p:cNvSpPr txBox="1"/>
          <p:nvPr/>
        </p:nvSpPr>
        <p:spPr>
          <a:xfrm>
            <a:off x="6786880" y="4321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Biggest Mistakes Students Make</a:t>
            </a:r>
          </a:p>
          <a:p>
            <a:pPr>
              <a:buNone/>
            </a:pPr>
            <a:r>
              <a:rPr lang="en-IN" b="1" dirty="0"/>
              <a:t>Avoid These Placement Killers</a:t>
            </a:r>
          </a:p>
          <a:p>
            <a:pPr>
              <a:buNone/>
            </a:pPr>
            <a:r>
              <a:rPr lang="en-IN" dirty="0"/>
              <a:t>❌ Last-minute preparation</a:t>
            </a:r>
            <a:br>
              <a:rPr lang="en-IN" dirty="0"/>
            </a:br>
            <a:r>
              <a:rPr lang="en-IN" dirty="0"/>
              <a:t>❌ No coding practice</a:t>
            </a:r>
            <a:br>
              <a:rPr lang="en-IN" dirty="0"/>
            </a:br>
            <a:r>
              <a:rPr lang="en-IN" dirty="0"/>
              <a:t>❌ Weak fundamentals</a:t>
            </a:r>
            <a:br>
              <a:rPr lang="en-IN" dirty="0"/>
            </a:br>
            <a:r>
              <a:rPr lang="en-IN" dirty="0"/>
              <a:t>❌ Resume copied from internet</a:t>
            </a:r>
            <a:br>
              <a:rPr lang="en-IN" dirty="0"/>
            </a:br>
            <a:r>
              <a:rPr lang="en-IN" dirty="0"/>
              <a:t>❌ Poor communication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6E0A85-99FA-1E08-6180-90F028BB6D7F}"/>
              </a:ext>
            </a:extLst>
          </p:cNvPr>
          <p:cNvSpPr txBox="1"/>
          <p:nvPr/>
        </p:nvSpPr>
        <p:spPr>
          <a:xfrm>
            <a:off x="274320" y="3429000"/>
            <a:ext cx="64414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30-Day Placement Plan</a:t>
            </a:r>
          </a:p>
          <a:p>
            <a:pPr>
              <a:buNone/>
            </a:pPr>
            <a:r>
              <a:rPr lang="en-IN" b="1" dirty="0"/>
              <a:t>Daily Practice Plan</a:t>
            </a:r>
          </a:p>
          <a:p>
            <a:pPr>
              <a:buNone/>
            </a:pPr>
            <a:r>
              <a:rPr lang="en-IN" dirty="0"/>
              <a:t>30 mins → Aptitude</a:t>
            </a:r>
            <a:br>
              <a:rPr lang="en-IN" dirty="0"/>
            </a:br>
            <a:r>
              <a:rPr lang="en-IN" dirty="0"/>
              <a:t>45 mins → Coding</a:t>
            </a:r>
            <a:br>
              <a:rPr lang="en-IN" dirty="0"/>
            </a:br>
            <a:r>
              <a:rPr lang="en-IN" dirty="0"/>
              <a:t>30 mins → Technical concepts</a:t>
            </a:r>
            <a:br>
              <a:rPr lang="en-IN" dirty="0"/>
            </a:br>
            <a:r>
              <a:rPr lang="en-IN" dirty="0"/>
              <a:t>15 mins → Resume/communication</a:t>
            </a:r>
          </a:p>
          <a:p>
            <a:pPr>
              <a:buNone/>
            </a:pPr>
            <a:r>
              <a:rPr lang="en-IN" b="1" dirty="0"/>
              <a:t>Formula:</a:t>
            </a:r>
          </a:p>
          <a:p>
            <a:pPr>
              <a:buNone/>
            </a:pPr>
            <a:r>
              <a:rPr lang="en-IN" b="1" dirty="0"/>
              <a:t>Consistency beats last-minute effort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5631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1" name="Google Shape;591;p32"/>
          <p:cNvGrpSpPr/>
          <p:nvPr/>
        </p:nvGrpSpPr>
        <p:grpSpPr>
          <a:xfrm>
            <a:off x="0" y="0"/>
            <a:ext cx="12192200" cy="6858200"/>
            <a:chOff x="0" y="0"/>
            <a:chExt cx="9144150" cy="5143650"/>
          </a:xfrm>
        </p:grpSpPr>
        <p:sp>
          <p:nvSpPr>
            <p:cNvPr id="592" name="Google Shape;592;p3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3" name="Google Shape;593;p32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594" name="Google Shape;594;p32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4763" y="4763"/>
              <a:ext cx="8982000" cy="498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95" name="Google Shape;595;p32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96" name="Google Shape;596;p32"/>
          <p:cNvGrpSpPr/>
          <p:nvPr/>
        </p:nvGrpSpPr>
        <p:grpSpPr>
          <a:xfrm>
            <a:off x="-1536700" y="1638300"/>
            <a:ext cx="14998700" cy="3581600"/>
            <a:chOff x="-1152525" y="1228725"/>
            <a:chExt cx="11249025" cy="2686200"/>
          </a:xfrm>
        </p:grpSpPr>
        <p:sp>
          <p:nvSpPr>
            <p:cNvPr id="597" name="Google Shape;597;p32"/>
            <p:cNvSpPr/>
            <p:nvPr/>
          </p:nvSpPr>
          <p:spPr>
            <a:xfrm>
              <a:off x="-762000" y="1809750"/>
              <a:ext cx="1524000" cy="1524000"/>
            </a:xfrm>
            <a:prstGeom prst="ellipse">
              <a:avLst/>
            </a:prstGeom>
            <a:solidFill>
              <a:srgbClr val="FF5733">
                <a:alpha val="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598" name="Google Shape;598;p32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-1152525" y="1419225"/>
              <a:ext cx="2305200" cy="2305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99" name="Google Shape;599;p32"/>
            <p:cNvSpPr/>
            <p:nvPr/>
          </p:nvSpPr>
          <p:spPr>
            <a:xfrm>
              <a:off x="8191500" y="1619250"/>
              <a:ext cx="1905000" cy="1905000"/>
            </a:xfrm>
            <a:prstGeom prst="ellipse">
              <a:avLst/>
            </a:prstGeom>
            <a:solidFill>
              <a:srgbClr val="2D68FE">
                <a:alpha val="3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600" name="Google Shape;600;p32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7800975" y="1228725"/>
              <a:ext cx="1343100" cy="26862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1" name="Google Shape;601;p32"/>
          <p:cNvSpPr txBox="1"/>
          <p:nvPr/>
        </p:nvSpPr>
        <p:spPr>
          <a:xfrm>
            <a:off x="762000" y="508000"/>
            <a:ext cx="9652000" cy="127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2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INTERVIEW PREP</a:t>
            </a:r>
            <a:endParaRPr sz="222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3335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Mastering the Online Interview Environment</a:t>
            </a:r>
            <a:endParaRPr sz="222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602" name="Google Shape;602;p32"/>
          <p:cNvGrpSpPr/>
          <p:nvPr/>
        </p:nvGrpSpPr>
        <p:grpSpPr>
          <a:xfrm>
            <a:off x="577851" y="2063751"/>
            <a:ext cx="10020400" cy="927200"/>
            <a:chOff x="-138112" y="-23812"/>
            <a:chExt cx="7515300" cy="695400"/>
          </a:xfrm>
        </p:grpSpPr>
        <p:pic>
          <p:nvPicPr>
            <p:cNvPr id="603" name="Google Shape;603;p32"/>
            <p:cNvPicPr preferRelativeResize="0"/>
            <p:nvPr/>
          </p:nvPicPr>
          <p:blipFill rotWithShape="1">
            <a:blip r:embed="rId6"/>
            <a:srcRect r="10"/>
            <a:stretch>
              <a:fillRect/>
            </a:stretch>
          </p:blipFill>
          <p:spPr>
            <a:xfrm>
              <a:off x="-138112" y="-23812"/>
              <a:ext cx="7515300" cy="6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04" name="Google Shape;604;p32"/>
            <p:cNvSpPr/>
            <p:nvPr/>
          </p:nvSpPr>
          <p:spPr>
            <a:xfrm>
              <a:off x="0" y="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5" name="Google Shape;605;p32"/>
            <p:cNvSpPr/>
            <p:nvPr/>
          </p:nvSpPr>
          <p:spPr>
            <a:xfrm>
              <a:off x="209550" y="133350"/>
              <a:ext cx="342900" cy="342900"/>
            </a:xfrm>
            <a:prstGeom prst="ellipse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6" name="Google Shape;606;p32"/>
            <p:cNvSpPr/>
            <p:nvPr/>
          </p:nvSpPr>
          <p:spPr>
            <a:xfrm>
              <a:off x="314325" y="257175"/>
              <a:ext cx="133500" cy="95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2857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/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7" name="Google Shape;607;p32"/>
            <p:cNvSpPr txBox="1"/>
            <p:nvPr/>
          </p:nvSpPr>
          <p:spPr>
            <a:xfrm>
              <a:off x="723900" y="0"/>
              <a:ext cx="62865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i="0" u="none" strike="noStrike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Ensure punctuality and keep your video on.</a:t>
              </a:r>
              <a:endParaRPr b="1" i="0" u="none" strike="noStrike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608" name="Google Shape;608;p32"/>
          <p:cNvGrpSpPr/>
          <p:nvPr/>
        </p:nvGrpSpPr>
        <p:grpSpPr>
          <a:xfrm>
            <a:off x="577851" y="3079751"/>
            <a:ext cx="10020400" cy="927200"/>
            <a:chOff x="-138112" y="-23812"/>
            <a:chExt cx="7515300" cy="695400"/>
          </a:xfrm>
        </p:grpSpPr>
        <p:pic>
          <p:nvPicPr>
            <p:cNvPr id="609" name="Google Shape;609;p32"/>
            <p:cNvPicPr preferRelativeResize="0"/>
            <p:nvPr/>
          </p:nvPicPr>
          <p:blipFill rotWithShape="1">
            <a:blip r:embed="rId6"/>
            <a:srcRect r="10"/>
            <a:stretch>
              <a:fillRect/>
            </a:stretch>
          </p:blipFill>
          <p:spPr>
            <a:xfrm>
              <a:off x="-138112" y="-23812"/>
              <a:ext cx="7515300" cy="6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0" name="Google Shape;610;p32"/>
            <p:cNvSpPr/>
            <p:nvPr/>
          </p:nvSpPr>
          <p:spPr>
            <a:xfrm>
              <a:off x="0" y="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1" name="Google Shape;611;p32"/>
            <p:cNvSpPr/>
            <p:nvPr/>
          </p:nvSpPr>
          <p:spPr>
            <a:xfrm>
              <a:off x="209550" y="133350"/>
              <a:ext cx="342900" cy="342900"/>
            </a:xfrm>
            <a:prstGeom prst="ellipse">
              <a:avLst/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2" name="Google Shape;612;p32"/>
            <p:cNvSpPr/>
            <p:nvPr/>
          </p:nvSpPr>
          <p:spPr>
            <a:xfrm>
              <a:off x="314325" y="257175"/>
              <a:ext cx="133500" cy="95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2857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/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3" name="Google Shape;613;p32"/>
            <p:cNvSpPr txBox="1"/>
            <p:nvPr/>
          </p:nvSpPr>
          <p:spPr>
            <a:xfrm>
              <a:off x="723900" y="0"/>
              <a:ext cx="62865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i="0" u="none" strike="noStrike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Verify network connectivity beforehand.</a:t>
              </a:r>
              <a:endParaRPr b="1" i="0" u="none" strike="noStrike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614" name="Google Shape;614;p32"/>
          <p:cNvGrpSpPr/>
          <p:nvPr/>
        </p:nvGrpSpPr>
        <p:grpSpPr>
          <a:xfrm>
            <a:off x="577851" y="4095751"/>
            <a:ext cx="10020400" cy="927200"/>
            <a:chOff x="-138112" y="-23812"/>
            <a:chExt cx="7515300" cy="695400"/>
          </a:xfrm>
        </p:grpSpPr>
        <p:pic>
          <p:nvPicPr>
            <p:cNvPr id="615" name="Google Shape;615;p32"/>
            <p:cNvPicPr preferRelativeResize="0"/>
            <p:nvPr/>
          </p:nvPicPr>
          <p:blipFill rotWithShape="1">
            <a:blip r:embed="rId6"/>
            <a:srcRect r="10"/>
            <a:stretch>
              <a:fillRect/>
            </a:stretch>
          </p:blipFill>
          <p:spPr>
            <a:xfrm>
              <a:off x="-138112" y="-23812"/>
              <a:ext cx="7515300" cy="6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6" name="Google Shape;616;p32"/>
            <p:cNvSpPr/>
            <p:nvPr/>
          </p:nvSpPr>
          <p:spPr>
            <a:xfrm>
              <a:off x="0" y="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7" name="Google Shape;617;p32"/>
            <p:cNvSpPr/>
            <p:nvPr/>
          </p:nvSpPr>
          <p:spPr>
            <a:xfrm>
              <a:off x="209550" y="133350"/>
              <a:ext cx="342900" cy="342900"/>
            </a:xfrm>
            <a:prstGeom prst="ellipse">
              <a:avLst/>
            </a:prstGeom>
            <a:solidFill>
              <a:srgbClr val="FFC3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8" name="Google Shape;618;p32"/>
            <p:cNvSpPr/>
            <p:nvPr/>
          </p:nvSpPr>
          <p:spPr>
            <a:xfrm>
              <a:off x="314325" y="257175"/>
              <a:ext cx="133500" cy="95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2857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/>
            </a:solidFill>
            <a:ln w="28575" cap="rnd" cmpd="sng">
              <a:solidFill>
                <a:srgbClr val="0B132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9" name="Google Shape;619;p32"/>
            <p:cNvSpPr txBox="1"/>
            <p:nvPr/>
          </p:nvSpPr>
          <p:spPr>
            <a:xfrm>
              <a:off x="723900" y="0"/>
              <a:ext cx="62865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i="0" u="none" strike="noStrike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Maintain camera eye contact.</a:t>
              </a:r>
              <a:endParaRPr b="1" i="0" u="none" strike="noStrike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620" name="Google Shape;620;p32"/>
          <p:cNvGrpSpPr/>
          <p:nvPr/>
        </p:nvGrpSpPr>
        <p:grpSpPr>
          <a:xfrm>
            <a:off x="577851" y="5111751"/>
            <a:ext cx="10020400" cy="927200"/>
            <a:chOff x="-138112" y="-23812"/>
            <a:chExt cx="7515300" cy="695400"/>
          </a:xfrm>
        </p:grpSpPr>
        <p:pic>
          <p:nvPicPr>
            <p:cNvPr id="621" name="Google Shape;621;p32"/>
            <p:cNvPicPr preferRelativeResize="0"/>
            <p:nvPr/>
          </p:nvPicPr>
          <p:blipFill rotWithShape="1">
            <a:blip r:embed="rId6"/>
            <a:srcRect r="10"/>
            <a:stretch>
              <a:fillRect/>
            </a:stretch>
          </p:blipFill>
          <p:spPr>
            <a:xfrm>
              <a:off x="-138112" y="-23812"/>
              <a:ext cx="7515300" cy="6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22" name="Google Shape;622;p32"/>
            <p:cNvSpPr/>
            <p:nvPr/>
          </p:nvSpPr>
          <p:spPr>
            <a:xfrm>
              <a:off x="0" y="0"/>
              <a:ext cx="76200" cy="609600"/>
            </a:xfrm>
            <a:prstGeom prst="roundRect">
              <a:avLst>
                <a:gd name="adj" fmla="val 50000"/>
              </a:avLst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3" name="Google Shape;623;p32"/>
            <p:cNvSpPr/>
            <p:nvPr/>
          </p:nvSpPr>
          <p:spPr>
            <a:xfrm>
              <a:off x="209550" y="133350"/>
              <a:ext cx="342900" cy="342900"/>
            </a:xfrm>
            <a:prstGeom prst="ellipse">
              <a:avLst/>
            </a:prstGeom>
            <a:solidFill>
              <a:srgbClr val="0B132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4" name="Google Shape;624;p32"/>
            <p:cNvSpPr/>
            <p:nvPr/>
          </p:nvSpPr>
          <p:spPr>
            <a:xfrm>
              <a:off x="314325" y="257175"/>
              <a:ext cx="133500" cy="95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42857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/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5" name="Google Shape;625;p32"/>
            <p:cNvSpPr txBox="1"/>
            <p:nvPr/>
          </p:nvSpPr>
          <p:spPr>
            <a:xfrm>
              <a:off x="723900" y="0"/>
              <a:ext cx="62865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i="0" u="none" strike="noStrike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Close all distracting apps.</a:t>
              </a:r>
              <a:endParaRPr b="1" i="0" u="none" strike="noStrike">
                <a:solidFill>
                  <a:srgbClr val="0B132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33"/>
          <p:cNvGrpSpPr/>
          <p:nvPr/>
        </p:nvGrpSpPr>
        <p:grpSpPr>
          <a:xfrm>
            <a:off x="0" y="0"/>
            <a:ext cx="12192200" cy="6858200"/>
            <a:chOff x="0" y="0"/>
            <a:chExt cx="9144150" cy="5143650"/>
          </a:xfrm>
        </p:grpSpPr>
        <p:sp>
          <p:nvSpPr>
            <p:cNvPr id="631" name="Google Shape;631;p3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2" name="Google Shape;632;p33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633" name="Google Shape;633;p33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7124700" y="1885950"/>
              <a:ext cx="1943100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4" name="Google Shape;634;p33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6657975" y="1419225"/>
              <a:ext cx="2486100" cy="2876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35" name="Google Shape;635;p33"/>
            <p:cNvSpPr/>
            <p:nvPr/>
          </p:nvSpPr>
          <p:spPr>
            <a:xfrm>
              <a:off x="8667750" y="4667250"/>
              <a:ext cx="476400" cy="4764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120000" y="12000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C300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36" name="Google Shape;636;p33"/>
          <p:cNvSpPr txBox="1"/>
          <p:nvPr/>
        </p:nvSpPr>
        <p:spPr>
          <a:xfrm>
            <a:off x="762000" y="508000"/>
            <a:ext cx="10668000" cy="127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INTERVIEW DO'S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36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SET YOURSELF UP FOR SUCCESS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637" name="Google Shape;637;p33"/>
          <p:cNvGrpSpPr/>
          <p:nvPr/>
        </p:nvGrpSpPr>
        <p:grpSpPr>
          <a:xfrm>
            <a:off x="762000" y="2235200"/>
            <a:ext cx="10134800" cy="3492700"/>
            <a:chOff x="0" y="-38100"/>
            <a:chExt cx="7601100" cy="2619525"/>
          </a:xfrm>
        </p:grpSpPr>
        <p:grpSp>
          <p:nvGrpSpPr>
            <p:cNvPr id="638" name="Google Shape;638;p33"/>
            <p:cNvGrpSpPr/>
            <p:nvPr/>
          </p:nvGrpSpPr>
          <p:grpSpPr>
            <a:xfrm>
              <a:off x="0" y="-38100"/>
              <a:ext cx="7601100" cy="476400"/>
              <a:chOff x="0" y="-38100"/>
              <a:chExt cx="7601100" cy="476400"/>
            </a:xfrm>
          </p:grpSpPr>
          <p:grpSp>
            <p:nvGrpSpPr>
              <p:cNvPr id="639" name="Google Shape;639;p33"/>
              <p:cNvGrpSpPr/>
              <p:nvPr/>
            </p:nvGrpSpPr>
            <p:grpSpPr>
              <a:xfrm>
                <a:off x="0" y="0"/>
                <a:ext cx="304800" cy="304800"/>
                <a:chOff x="0" y="0"/>
                <a:chExt cx="304800" cy="304800"/>
              </a:xfrm>
            </p:grpSpPr>
            <p:sp>
              <p:nvSpPr>
                <p:cNvPr id="640" name="Google Shape;640;p33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FF5733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1" name="Google Shape;641;p33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42" name="Google Shape;642;p33"/>
              <p:cNvSpPr txBox="1"/>
              <p:nvPr/>
            </p:nvSpPr>
            <p:spPr>
              <a:xfrm>
                <a:off x="457200" y="-38100"/>
                <a:ext cx="7143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200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Research the company.</a:t>
                </a:r>
                <a:endParaRPr sz="20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643" name="Google Shape;643;p33"/>
            <p:cNvGrpSpPr/>
            <p:nvPr/>
          </p:nvGrpSpPr>
          <p:grpSpPr>
            <a:xfrm>
              <a:off x="0" y="676275"/>
              <a:ext cx="7601100" cy="476400"/>
              <a:chOff x="0" y="-38100"/>
              <a:chExt cx="7601100" cy="476400"/>
            </a:xfrm>
          </p:grpSpPr>
          <p:grpSp>
            <p:nvGrpSpPr>
              <p:cNvPr id="644" name="Google Shape;644;p33"/>
              <p:cNvGrpSpPr/>
              <p:nvPr/>
            </p:nvGrpSpPr>
            <p:grpSpPr>
              <a:xfrm>
                <a:off x="0" y="0"/>
                <a:ext cx="304800" cy="304800"/>
                <a:chOff x="0" y="0"/>
                <a:chExt cx="304800" cy="304800"/>
              </a:xfrm>
            </p:grpSpPr>
            <p:sp>
              <p:nvSpPr>
                <p:cNvPr id="645" name="Google Shape;645;p33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FF5733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6" name="Google Shape;646;p33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47" name="Google Shape;647;p33"/>
              <p:cNvSpPr txBox="1"/>
              <p:nvPr/>
            </p:nvSpPr>
            <p:spPr>
              <a:xfrm>
                <a:off x="457200" y="-38100"/>
                <a:ext cx="7143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200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Listen carefully to questions.</a:t>
                </a:r>
                <a:endParaRPr sz="20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648" name="Google Shape;648;p33"/>
            <p:cNvGrpSpPr/>
            <p:nvPr/>
          </p:nvGrpSpPr>
          <p:grpSpPr>
            <a:xfrm>
              <a:off x="0" y="1390650"/>
              <a:ext cx="7601100" cy="476400"/>
              <a:chOff x="0" y="-38100"/>
              <a:chExt cx="7601100" cy="476400"/>
            </a:xfrm>
          </p:grpSpPr>
          <p:grpSp>
            <p:nvGrpSpPr>
              <p:cNvPr id="649" name="Google Shape;649;p33"/>
              <p:cNvGrpSpPr/>
              <p:nvPr/>
            </p:nvGrpSpPr>
            <p:grpSpPr>
              <a:xfrm>
                <a:off x="0" y="0"/>
                <a:ext cx="304800" cy="304800"/>
                <a:chOff x="0" y="0"/>
                <a:chExt cx="304800" cy="304800"/>
              </a:xfrm>
            </p:grpSpPr>
            <p:sp>
              <p:nvSpPr>
                <p:cNvPr id="650" name="Google Shape;650;p33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FF5733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1" name="Google Shape;651;p33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52" name="Google Shape;652;p33"/>
              <p:cNvSpPr txBox="1"/>
              <p:nvPr/>
            </p:nvSpPr>
            <p:spPr>
              <a:xfrm>
                <a:off x="457200" y="-38100"/>
                <a:ext cx="7143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200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Ask insightful questions at the end.</a:t>
                </a:r>
                <a:endParaRPr sz="20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653" name="Google Shape;653;p33"/>
            <p:cNvGrpSpPr/>
            <p:nvPr/>
          </p:nvGrpSpPr>
          <p:grpSpPr>
            <a:xfrm>
              <a:off x="0" y="2105025"/>
              <a:ext cx="7601100" cy="476400"/>
              <a:chOff x="0" y="-38100"/>
              <a:chExt cx="7601100" cy="476400"/>
            </a:xfrm>
          </p:grpSpPr>
          <p:grpSp>
            <p:nvGrpSpPr>
              <p:cNvPr id="654" name="Google Shape;654;p33"/>
              <p:cNvGrpSpPr/>
              <p:nvPr/>
            </p:nvGrpSpPr>
            <p:grpSpPr>
              <a:xfrm>
                <a:off x="0" y="0"/>
                <a:ext cx="304800" cy="304800"/>
                <a:chOff x="0" y="0"/>
                <a:chExt cx="304800" cy="304800"/>
              </a:xfrm>
            </p:grpSpPr>
            <p:sp>
              <p:nvSpPr>
                <p:cNvPr id="655" name="Google Shape;655;p33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FF5733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6" name="Google Shape;656;p33"/>
                <p:cNvSpPr/>
                <p:nvPr/>
              </p:nvSpPr>
              <p:spPr>
                <a:xfrm>
                  <a:off x="95250" y="1143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0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57" name="Google Shape;657;p33"/>
              <p:cNvSpPr txBox="1"/>
              <p:nvPr/>
            </p:nvSpPr>
            <p:spPr>
              <a:xfrm>
                <a:off x="457200" y="-38100"/>
                <a:ext cx="71439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2000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Show enthusiasm and willingness to learn.</a:t>
                </a:r>
                <a:endParaRPr sz="2000"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pic>
        <p:nvPicPr>
          <p:cNvPr id="663" name="Google Shape;663;p3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351" y="6351"/>
            <a:ext cx="11976000" cy="6642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34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2D68FE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5" name="Google Shape;665;p34"/>
          <p:cNvSpPr/>
          <p:nvPr/>
        </p:nvSpPr>
        <p:spPr>
          <a:xfrm>
            <a:off x="10922000" y="5588000"/>
            <a:ext cx="1270000" cy="127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120000" y="120000"/>
                </a:moveTo>
                <a:lnTo>
                  <a:pt x="120000" y="0"/>
                </a:lnTo>
                <a:cubicBezTo>
                  <a:pt x="53726" y="0"/>
                  <a:pt x="0" y="53726"/>
                  <a:pt x="0" y="120000"/>
                </a:cubicBezTo>
                <a:close/>
              </a:path>
            </a:pathLst>
          </a:custGeom>
          <a:solidFill>
            <a:srgbClr val="FFC300">
              <a:alpha val="80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6" name="Google Shape;666;p34"/>
          <p:cNvSpPr txBox="1"/>
          <p:nvPr/>
        </p:nvSpPr>
        <p:spPr>
          <a:xfrm>
            <a:off x="762000" y="508000"/>
            <a:ext cx="10668000" cy="1270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rPr>
              <a:t>Interview Prep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  <a:p>
            <a:pPr marL="0" lvl="0" indent="0"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3600" b="0" i="0" u="none" strike="noStrike">
                <a:solidFill>
                  <a:srgbClr val="0B132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INTERVIEW DON'TS: PITFALLS TO AVOID</a:t>
            </a:r>
            <a:endParaRPr sz="2400" b="1" i="0" u="none" strike="noStrike">
              <a:solidFill>
                <a:srgbClr val="FF5733"/>
              </a:solidFill>
              <a:latin typeface="Poppins" panose="00000800000000000000"/>
              <a:ea typeface="Poppins" panose="00000800000000000000"/>
              <a:cs typeface="Poppins" panose="00000800000000000000"/>
              <a:sym typeface="Poppins" panose="00000800000000000000"/>
            </a:endParaRPr>
          </a:p>
        </p:txBody>
      </p:sp>
      <p:grpSp>
        <p:nvGrpSpPr>
          <p:cNvPr id="667" name="Google Shape;667;p34"/>
          <p:cNvGrpSpPr/>
          <p:nvPr/>
        </p:nvGrpSpPr>
        <p:grpSpPr>
          <a:xfrm>
            <a:off x="368300" y="1739900"/>
            <a:ext cx="5867600" cy="4724400"/>
            <a:chOff x="-295275" y="-219075"/>
            <a:chExt cx="4400700" cy="3543300"/>
          </a:xfrm>
        </p:grpSpPr>
        <p:pic>
          <p:nvPicPr>
            <p:cNvPr id="668" name="Google Shape;668;p34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-295275" y="-219075"/>
              <a:ext cx="4400700" cy="3543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69" name="Google Shape;669;p34"/>
            <p:cNvSpPr/>
            <p:nvPr/>
          </p:nvSpPr>
          <p:spPr>
            <a:xfrm>
              <a:off x="0" y="0"/>
              <a:ext cx="3810000" cy="76200"/>
            </a:xfrm>
            <a:prstGeom prst="roundRect">
              <a:avLst>
                <a:gd name="adj" fmla="val 50000"/>
              </a:avLst>
            </a:prstGeom>
            <a:solidFill>
              <a:srgbClr val="FF57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0" name="Google Shape;670;p34"/>
            <p:cNvSpPr txBox="1"/>
            <p:nvPr/>
          </p:nvSpPr>
          <p:spPr>
            <a:xfrm>
              <a:off x="228600" y="228600"/>
              <a:ext cx="3352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FF5733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Communication Pitfalls</a:t>
              </a:r>
              <a:endParaRPr b="1">
                <a:solidFill>
                  <a:srgbClr val="FF5733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</p:txBody>
        </p:sp>
        <p:grpSp>
          <p:nvGrpSpPr>
            <p:cNvPr id="671" name="Google Shape;671;p34"/>
            <p:cNvGrpSpPr/>
            <p:nvPr/>
          </p:nvGrpSpPr>
          <p:grpSpPr>
            <a:xfrm>
              <a:off x="228600" y="762000"/>
              <a:ext cx="3286125" cy="666900"/>
              <a:chOff x="0" y="0"/>
              <a:chExt cx="3286125" cy="666900"/>
            </a:xfrm>
          </p:grpSpPr>
          <p:grpSp>
            <p:nvGrpSpPr>
              <p:cNvPr id="672" name="Google Shape;672;p34"/>
              <p:cNvGrpSpPr/>
              <p:nvPr/>
            </p:nvGrpSpPr>
            <p:grpSpPr>
              <a:xfrm>
                <a:off x="0" y="38100"/>
                <a:ext cx="304800" cy="304800"/>
                <a:chOff x="0" y="0"/>
                <a:chExt cx="304800" cy="304800"/>
              </a:xfrm>
            </p:grpSpPr>
            <p:sp>
              <p:nvSpPr>
                <p:cNvPr id="673" name="Google Shape;673;p34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B132B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4" name="Google Shape;674;p34"/>
                <p:cNvSpPr/>
                <p:nvPr/>
              </p:nvSpPr>
              <p:spPr>
                <a:xfrm>
                  <a:off x="104775" y="104775"/>
                  <a:ext cx="95400" cy="9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0"/>
                      </a:moveTo>
                      <a:lnTo>
                        <a:pt x="120000" y="120000"/>
                      </a:lnTo>
                      <a:moveTo>
                        <a:pt x="120000" y="0"/>
                      </a:moveTo>
                      <a:lnTo>
                        <a:pt x="0" y="12000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75" name="Google Shape;675;p34"/>
              <p:cNvSpPr txBox="1"/>
              <p:nvPr/>
            </p:nvSpPr>
            <p:spPr>
              <a:xfrm>
                <a:off x="428625" y="0"/>
                <a:ext cx="2857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Don't interrupt the interviewer.</a:t>
                </a:r>
                <a:endParaRPr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676" name="Google Shape;676;p34"/>
            <p:cNvGrpSpPr/>
            <p:nvPr/>
          </p:nvGrpSpPr>
          <p:grpSpPr>
            <a:xfrm>
              <a:off x="228600" y="1666875"/>
              <a:ext cx="3286125" cy="952500"/>
              <a:chOff x="0" y="0"/>
              <a:chExt cx="3286125" cy="952500"/>
            </a:xfrm>
          </p:grpSpPr>
          <p:grpSp>
            <p:nvGrpSpPr>
              <p:cNvPr id="677" name="Google Shape;677;p34"/>
              <p:cNvGrpSpPr/>
              <p:nvPr/>
            </p:nvGrpSpPr>
            <p:grpSpPr>
              <a:xfrm>
                <a:off x="0" y="38100"/>
                <a:ext cx="304800" cy="304800"/>
                <a:chOff x="0" y="0"/>
                <a:chExt cx="304800" cy="304800"/>
              </a:xfrm>
            </p:grpSpPr>
            <p:sp>
              <p:nvSpPr>
                <p:cNvPr id="678" name="Google Shape;678;p34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B132B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9" name="Google Shape;679;p34"/>
                <p:cNvSpPr/>
                <p:nvPr/>
              </p:nvSpPr>
              <p:spPr>
                <a:xfrm>
                  <a:off x="104775" y="104775"/>
                  <a:ext cx="95400" cy="9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0"/>
                      </a:moveTo>
                      <a:lnTo>
                        <a:pt x="120000" y="120000"/>
                      </a:lnTo>
                      <a:moveTo>
                        <a:pt x="120000" y="0"/>
                      </a:moveTo>
                      <a:lnTo>
                        <a:pt x="0" y="12000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80" name="Google Shape;680;p34"/>
              <p:cNvSpPr txBox="1"/>
              <p:nvPr/>
            </p:nvSpPr>
            <p:spPr>
              <a:xfrm>
                <a:off x="428625" y="0"/>
                <a:ext cx="2857500" cy="95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Avoid speaking negatively about past experiences or peers.</a:t>
                </a:r>
                <a:endParaRPr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grpSp>
        <p:nvGrpSpPr>
          <p:cNvPr id="681" name="Google Shape;681;p34"/>
          <p:cNvGrpSpPr/>
          <p:nvPr/>
        </p:nvGrpSpPr>
        <p:grpSpPr>
          <a:xfrm>
            <a:off x="5956300" y="1739900"/>
            <a:ext cx="5867600" cy="4724400"/>
            <a:chOff x="-295275" y="-219075"/>
            <a:chExt cx="4400700" cy="3543300"/>
          </a:xfrm>
        </p:grpSpPr>
        <p:pic>
          <p:nvPicPr>
            <p:cNvPr id="682" name="Google Shape;682;p34"/>
            <p:cNvPicPr preferRelativeResize="0"/>
            <p:nvPr/>
          </p:nvPicPr>
          <p:blipFill rotWithShape="1">
            <a:blip r:embed="rId4"/>
            <a:srcRect/>
            <a:stretch>
              <a:fillRect/>
            </a:stretch>
          </p:blipFill>
          <p:spPr>
            <a:xfrm>
              <a:off x="-295275" y="-219075"/>
              <a:ext cx="4400700" cy="3543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3" name="Google Shape;683;p34"/>
            <p:cNvSpPr/>
            <p:nvPr/>
          </p:nvSpPr>
          <p:spPr>
            <a:xfrm>
              <a:off x="0" y="0"/>
              <a:ext cx="3810000" cy="76200"/>
            </a:xfrm>
            <a:prstGeom prst="roundRect">
              <a:avLst>
                <a:gd name="adj" fmla="val 50000"/>
              </a:avLst>
            </a:prstGeom>
            <a:solidFill>
              <a:srgbClr val="2D68F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4" name="Google Shape;684;p34"/>
            <p:cNvSpPr txBox="1"/>
            <p:nvPr/>
          </p:nvSpPr>
          <p:spPr>
            <a:xfrm>
              <a:off x="228600" y="228600"/>
              <a:ext cx="3352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2D68FE"/>
                  </a:solidFill>
                  <a:latin typeface="Poppins" panose="00000800000000000000"/>
                  <a:ea typeface="Poppins" panose="00000800000000000000"/>
                  <a:cs typeface="Poppins" panose="00000800000000000000"/>
                  <a:sym typeface="Poppins" panose="00000800000000000000"/>
                </a:rPr>
                <a:t>Knowledge &amp; Attitude</a:t>
              </a:r>
              <a:endParaRPr b="1">
                <a:solidFill>
                  <a:srgbClr val="2D68FE"/>
                </a:solidFill>
                <a:latin typeface="Poppins" panose="00000800000000000000"/>
                <a:ea typeface="Poppins" panose="00000800000000000000"/>
                <a:cs typeface="Poppins" panose="00000800000000000000"/>
                <a:sym typeface="Poppins" panose="00000800000000000000"/>
              </a:endParaRPr>
            </a:p>
          </p:txBody>
        </p:sp>
        <p:grpSp>
          <p:nvGrpSpPr>
            <p:cNvPr id="685" name="Google Shape;685;p34"/>
            <p:cNvGrpSpPr/>
            <p:nvPr/>
          </p:nvGrpSpPr>
          <p:grpSpPr>
            <a:xfrm>
              <a:off x="228600" y="762000"/>
              <a:ext cx="3286125" cy="762000"/>
              <a:chOff x="0" y="0"/>
              <a:chExt cx="3286125" cy="762000"/>
            </a:xfrm>
          </p:grpSpPr>
          <p:grpSp>
            <p:nvGrpSpPr>
              <p:cNvPr id="686" name="Google Shape;686;p34"/>
              <p:cNvGrpSpPr/>
              <p:nvPr/>
            </p:nvGrpSpPr>
            <p:grpSpPr>
              <a:xfrm>
                <a:off x="0" y="38100"/>
                <a:ext cx="304800" cy="304800"/>
                <a:chOff x="0" y="0"/>
                <a:chExt cx="304800" cy="304800"/>
              </a:xfrm>
            </p:grpSpPr>
            <p:sp>
              <p:nvSpPr>
                <p:cNvPr id="687" name="Google Shape;687;p34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0B132B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8" name="Google Shape;688;p34"/>
                <p:cNvSpPr/>
                <p:nvPr/>
              </p:nvSpPr>
              <p:spPr>
                <a:xfrm>
                  <a:off x="104775" y="104775"/>
                  <a:ext cx="95400" cy="9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0"/>
                      </a:moveTo>
                      <a:lnTo>
                        <a:pt x="120000" y="120000"/>
                      </a:lnTo>
                      <a:moveTo>
                        <a:pt x="120000" y="0"/>
                      </a:moveTo>
                      <a:lnTo>
                        <a:pt x="0" y="12000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89" name="Google Shape;689;p34"/>
              <p:cNvSpPr txBox="1"/>
              <p:nvPr/>
            </p:nvSpPr>
            <p:spPr>
              <a:xfrm>
                <a:off x="428625" y="0"/>
                <a:ext cx="28575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0B132B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Don't bluff if you don't know the answer.</a:t>
                </a:r>
                <a:endParaRPr b="1">
                  <a:solidFill>
                    <a:srgbClr val="0B132B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690" name="Google Shape;690;p34"/>
            <p:cNvGrpSpPr/>
            <p:nvPr/>
          </p:nvGrpSpPr>
          <p:grpSpPr>
            <a:xfrm>
              <a:off x="2457450" y="1647825"/>
              <a:ext cx="990600" cy="990600"/>
              <a:chOff x="76200" y="76200"/>
              <a:chExt cx="990600" cy="990600"/>
            </a:xfrm>
          </p:grpSpPr>
          <p:pic>
            <p:nvPicPr>
              <p:cNvPr id="691" name="Google Shape;691;p34"/>
              <p:cNvPicPr preferRelativeResize="0"/>
              <p:nvPr/>
            </p:nvPicPr>
            <p:blipFill rotWithShape="1">
              <a:blip r:embed="rId5"/>
              <a:srcRect/>
              <a:stretch>
                <a:fillRect/>
              </a:stretch>
            </p:blipFill>
            <p:spPr>
              <a:xfrm>
                <a:off x="76200" y="76200"/>
                <a:ext cx="990600" cy="990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92" name="Google Shape;692;p34"/>
              <p:cNvSpPr/>
              <p:nvPr/>
            </p:nvSpPr>
            <p:spPr>
              <a:xfrm>
                <a:off x="285750" y="285750"/>
                <a:ext cx="571500" cy="571500"/>
              </a:xfrm>
              <a:prstGeom prst="ellipse">
                <a:avLst/>
              </a:prstGeom>
              <a:solidFill>
                <a:srgbClr val="2D68FE">
                  <a:alpha val="15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3" name="Google Shape;693;p34"/>
              <p:cNvSpPr/>
              <p:nvPr/>
            </p:nvSpPr>
            <p:spPr>
              <a:xfrm>
                <a:off x="476250" y="476250"/>
                <a:ext cx="190500" cy="190500"/>
              </a:xfrm>
              <a:prstGeom prst="ellipse">
                <a:avLst/>
              </a:prstGeom>
              <a:solidFill>
                <a:srgbClr val="FF5733">
                  <a:alpha val="80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8"/>
          <p:cNvGrpSpPr/>
          <p:nvPr/>
        </p:nvGrpSpPr>
        <p:grpSpPr>
          <a:xfrm>
            <a:off x="0" y="0"/>
            <a:ext cx="12192000" cy="6858000"/>
            <a:chOff x="0" y="0"/>
            <a:chExt cx="9144000" cy="5143500"/>
          </a:xfrm>
        </p:grpSpPr>
        <p:sp>
          <p:nvSpPr>
            <p:cNvPr id="359" name="Google Shape;359;p2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9FAF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0" name="Google Shape;360;p28"/>
            <p:cNvSpPr/>
            <p:nvPr/>
          </p:nvSpPr>
          <p:spPr>
            <a:xfrm>
              <a:off x="0" y="0"/>
              <a:ext cx="9144000" cy="76200"/>
            </a:xfrm>
            <a:prstGeom prst="rect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1" name="Google Shape;361;p28"/>
            <p:cNvSpPr/>
            <p:nvPr/>
          </p:nvSpPr>
          <p:spPr>
            <a:xfrm>
              <a:off x="7810500" y="190500"/>
              <a:ext cx="1333500" cy="133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62" name="Google Shape;362;p28"/>
          <p:cNvSpPr txBox="1"/>
          <p:nvPr/>
        </p:nvSpPr>
        <p:spPr>
          <a:xfrm>
            <a:off x="508000" y="5080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rPr>
              <a:t>Show Curiosity and Technical Depth</a:t>
            </a:r>
            <a:endParaRPr sz="3600" b="1">
              <a:solidFill>
                <a:srgbClr val="111827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63" name="Google Shape;363;p28"/>
          <p:cNvGrpSpPr/>
          <p:nvPr/>
        </p:nvGrpSpPr>
        <p:grpSpPr>
          <a:xfrm>
            <a:off x="508000" y="1905000"/>
            <a:ext cx="11023600" cy="4191200"/>
            <a:chOff x="381000" y="1428750"/>
            <a:chExt cx="8267700" cy="3143400"/>
          </a:xfrm>
        </p:grpSpPr>
        <p:grpSp>
          <p:nvGrpSpPr>
            <p:cNvPr id="364" name="Google Shape;364;p28"/>
            <p:cNvGrpSpPr/>
            <p:nvPr/>
          </p:nvGrpSpPr>
          <p:grpSpPr>
            <a:xfrm>
              <a:off x="381000" y="1428750"/>
              <a:ext cx="8267700" cy="857400"/>
              <a:chOff x="0" y="0"/>
              <a:chExt cx="8267700" cy="857400"/>
            </a:xfrm>
          </p:grpSpPr>
          <p:grpSp>
            <p:nvGrpSpPr>
              <p:cNvPr id="365" name="Google Shape;365;p28"/>
              <p:cNvGrpSpPr/>
              <p:nvPr/>
            </p:nvGrpSpPr>
            <p:grpSpPr>
              <a:xfrm>
                <a:off x="0" y="0"/>
                <a:ext cx="457200" cy="457200"/>
                <a:chOff x="0" y="0"/>
                <a:chExt cx="457200" cy="457200"/>
              </a:xfrm>
            </p:grpSpPr>
            <p:sp>
              <p:nvSpPr>
                <p:cNvPr id="366" name="Google Shape;366;p28"/>
                <p:cNvSpPr/>
                <p:nvPr/>
              </p:nvSpPr>
              <p:spPr>
                <a:xfrm>
                  <a:off x="0" y="0"/>
                  <a:ext cx="457200" cy="457200"/>
                </a:xfrm>
                <a:prstGeom prst="roundRect">
                  <a:avLst>
                    <a:gd name="adj" fmla="val 25000"/>
                  </a:avLst>
                </a:prstGeom>
                <a:solidFill>
                  <a:srgbClr val="2563EB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7" name="Google Shape;367;p28"/>
                <p:cNvSpPr/>
                <p:nvPr/>
              </p:nvSpPr>
              <p:spPr>
                <a:xfrm>
                  <a:off x="95250" y="133350"/>
                  <a:ext cx="2667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34286" y="12000"/>
                      </a:moveTo>
                      <a:lnTo>
                        <a:pt x="0" y="60000"/>
                      </a:lnTo>
                      <a:lnTo>
                        <a:pt x="34286" y="108000"/>
                      </a:lnTo>
                      <a:moveTo>
                        <a:pt x="85714" y="12000"/>
                      </a:moveTo>
                      <a:lnTo>
                        <a:pt x="120000" y="60000"/>
                      </a:lnTo>
                      <a:lnTo>
                        <a:pt x="85714" y="108000"/>
                      </a:lnTo>
                      <a:moveTo>
                        <a:pt x="68571" y="0"/>
                      </a:moveTo>
                      <a:lnTo>
                        <a:pt x="51429" y="12000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368" name="Google Shape;368;p28"/>
              <p:cNvSpPr txBox="1"/>
              <p:nvPr/>
            </p:nvSpPr>
            <p:spPr>
              <a:xfrm>
                <a:off x="647700" y="0"/>
                <a:ext cx="76200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111827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Inquire About the Tech Stack</a:t>
                </a:r>
                <a:endParaRPr b="1">
                  <a:solidFill>
                    <a:srgbClr val="111827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GB" b="0">
                    <a:solidFill>
                      <a:srgbClr val="4B5563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Ask specific questions about the tools, frameworks, and architecture the team uses daily.</a:t>
                </a:r>
                <a:endParaRPr b="0">
                  <a:solidFill>
                    <a:srgbClr val="4B5563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369" name="Google Shape;369;p28"/>
            <p:cNvGrpSpPr/>
            <p:nvPr/>
          </p:nvGrpSpPr>
          <p:grpSpPr>
            <a:xfrm>
              <a:off x="381000" y="2571750"/>
              <a:ext cx="8267700" cy="857400"/>
              <a:chOff x="0" y="0"/>
              <a:chExt cx="8267700" cy="857400"/>
            </a:xfrm>
          </p:grpSpPr>
          <p:grpSp>
            <p:nvGrpSpPr>
              <p:cNvPr id="370" name="Google Shape;370;p28"/>
              <p:cNvGrpSpPr/>
              <p:nvPr/>
            </p:nvGrpSpPr>
            <p:grpSpPr>
              <a:xfrm>
                <a:off x="0" y="0"/>
                <a:ext cx="457200" cy="457200"/>
                <a:chOff x="0" y="0"/>
                <a:chExt cx="457200" cy="457200"/>
              </a:xfrm>
            </p:grpSpPr>
            <p:sp>
              <p:nvSpPr>
                <p:cNvPr id="371" name="Google Shape;371;p28"/>
                <p:cNvSpPr/>
                <p:nvPr/>
              </p:nvSpPr>
              <p:spPr>
                <a:xfrm>
                  <a:off x="0" y="0"/>
                  <a:ext cx="457200" cy="457200"/>
                </a:xfrm>
                <a:prstGeom prst="ellipse">
                  <a:avLst/>
                </a:prstGeom>
                <a:solidFill>
                  <a:srgbClr val="FCD34D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2" name="Google Shape;372;p28"/>
                <p:cNvSpPr/>
                <p:nvPr/>
              </p:nvSpPr>
              <p:spPr>
                <a:xfrm>
                  <a:off x="76200" y="76200"/>
                  <a:ext cx="304800" cy="290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60000" y="0"/>
                      </a:moveTo>
                      <a:lnTo>
                        <a:pt x="78525" y="39462"/>
                      </a:lnTo>
                      <a:lnTo>
                        <a:pt x="120000" y="45802"/>
                      </a:lnTo>
                      <a:lnTo>
                        <a:pt x="90000" y="76521"/>
                      </a:lnTo>
                      <a:lnTo>
                        <a:pt x="97050" y="120000"/>
                      </a:lnTo>
                      <a:lnTo>
                        <a:pt x="60000" y="99521"/>
                      </a:lnTo>
                      <a:lnTo>
                        <a:pt x="22950" y="120000"/>
                      </a:lnTo>
                      <a:lnTo>
                        <a:pt x="30000" y="76521"/>
                      </a:lnTo>
                      <a:lnTo>
                        <a:pt x="0" y="45802"/>
                      </a:lnTo>
                      <a:lnTo>
                        <a:pt x="41475" y="39462"/>
                      </a:lnTo>
                      <a:close/>
                    </a:path>
                  </a:pathLst>
                </a:custGeom>
                <a:solidFill>
                  <a:srgbClr val="111827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373" name="Google Shape;373;p28"/>
              <p:cNvSpPr txBox="1"/>
              <p:nvPr/>
            </p:nvSpPr>
            <p:spPr>
              <a:xfrm>
                <a:off x="647700" y="0"/>
                <a:ext cx="76200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111827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Discuss Engineering Challenges</a:t>
                </a:r>
                <a:endParaRPr b="1">
                  <a:solidFill>
                    <a:srgbClr val="111827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GB" b="0">
                    <a:solidFill>
                      <a:srgbClr val="4B5563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Ask the interviewer about the most complex technical problem they are currently trying to solve.</a:t>
                </a:r>
                <a:endParaRPr b="0">
                  <a:solidFill>
                    <a:srgbClr val="4B5563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374" name="Google Shape;374;p28"/>
            <p:cNvGrpSpPr/>
            <p:nvPr/>
          </p:nvGrpSpPr>
          <p:grpSpPr>
            <a:xfrm>
              <a:off x="381000" y="3714750"/>
              <a:ext cx="8267700" cy="857400"/>
              <a:chOff x="0" y="0"/>
              <a:chExt cx="8267700" cy="857400"/>
            </a:xfrm>
          </p:grpSpPr>
          <p:grpSp>
            <p:nvGrpSpPr>
              <p:cNvPr id="375" name="Google Shape;375;p28"/>
              <p:cNvGrpSpPr/>
              <p:nvPr/>
            </p:nvGrpSpPr>
            <p:grpSpPr>
              <a:xfrm>
                <a:off x="0" y="0"/>
                <a:ext cx="457200" cy="457200"/>
                <a:chOff x="0" y="0"/>
                <a:chExt cx="457200" cy="457200"/>
              </a:xfrm>
            </p:grpSpPr>
            <p:sp>
              <p:nvSpPr>
                <p:cNvPr id="376" name="Google Shape;376;p28"/>
                <p:cNvSpPr/>
                <p:nvPr/>
              </p:nvSpPr>
              <p:spPr>
                <a:xfrm>
                  <a:off x="0" y="0"/>
                  <a:ext cx="457200" cy="457200"/>
                </a:xfrm>
                <a:prstGeom prst="ellipse">
                  <a:avLst/>
                </a:prstGeom>
                <a:solidFill>
                  <a:srgbClr val="10B981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7" name="Google Shape;377;p28"/>
                <p:cNvSpPr/>
                <p:nvPr/>
              </p:nvSpPr>
              <p:spPr>
                <a:xfrm>
                  <a:off x="133350" y="152400"/>
                  <a:ext cx="190500" cy="14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4000"/>
                      </a:moveTo>
                      <a:lnTo>
                        <a:pt x="42000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38100" cap="rnd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378" name="Google Shape;378;p28"/>
              <p:cNvSpPr txBox="1"/>
              <p:nvPr/>
            </p:nvSpPr>
            <p:spPr>
              <a:xfrm>
                <a:off x="647700" y="0"/>
                <a:ext cx="76200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b="1">
                    <a:solidFill>
                      <a:srgbClr val="111827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Understand Team Dynamics</a:t>
                </a:r>
                <a:endParaRPr b="1">
                  <a:solidFill>
                    <a:srgbClr val="111827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GB" b="0">
                    <a:solidFill>
                      <a:srgbClr val="4B5563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Ask about code review processes, mentorship opportunities, and how the engineering team collaborates on large features.</a:t>
                </a:r>
                <a:endParaRPr b="0">
                  <a:solidFill>
                    <a:srgbClr val="4B5563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3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grpSp>
        <p:nvGrpSpPr>
          <p:cNvPr id="620" name="Google Shape;620;p33"/>
          <p:cNvGrpSpPr/>
          <p:nvPr/>
        </p:nvGrpSpPr>
        <p:grpSpPr>
          <a:xfrm>
            <a:off x="508000" y="508000"/>
            <a:ext cx="11201400" cy="762000"/>
            <a:chOff x="381000" y="381000"/>
            <a:chExt cx="8401050" cy="571500"/>
          </a:xfrm>
        </p:grpSpPr>
        <p:sp>
          <p:nvSpPr>
            <p:cNvPr id="621" name="Google Shape;621;p33"/>
            <p:cNvSpPr txBox="1"/>
            <p:nvPr/>
          </p:nvSpPr>
          <p:spPr>
            <a:xfrm>
              <a:off x="381000" y="38100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3200">
                  <a:solidFill>
                    <a:srgbClr val="111827"/>
                  </a:solidFill>
                  <a:latin typeface="Outfit ExtraBold"/>
                  <a:ea typeface="Outfit ExtraBold"/>
                  <a:cs typeface="Outfit ExtraBold"/>
                  <a:sym typeface="Outfit ExtraBold"/>
                </a:rPr>
                <a:t>Professional Presence</a:t>
              </a:r>
            </a:p>
          </p:txBody>
        </p:sp>
        <p:cxnSp>
          <p:nvCxnSpPr>
            <p:cNvPr id="622" name="Google Shape;622;p33"/>
            <p:cNvCxnSpPr/>
            <p:nvPr/>
          </p:nvCxnSpPr>
          <p:spPr>
            <a:xfrm>
              <a:off x="381000" y="95250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w="3810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23" name="Google Shape;623;p33"/>
            <p:cNvSpPr/>
            <p:nvPr/>
          </p:nvSpPr>
          <p:spPr>
            <a:xfrm>
              <a:off x="8553450" y="457200"/>
              <a:ext cx="228600" cy="228600"/>
            </a:xfrm>
            <a:prstGeom prst="ellipse">
              <a:avLst/>
            </a:prstGeom>
            <a:solidFill>
              <a:srgbClr val="4338CA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624" name="Google Shape;624;p33"/>
          <p:cNvGrpSpPr/>
          <p:nvPr/>
        </p:nvGrpSpPr>
        <p:grpSpPr>
          <a:xfrm>
            <a:off x="508000" y="1651000"/>
            <a:ext cx="5537400" cy="4648200"/>
            <a:chOff x="0" y="0"/>
            <a:chExt cx="4153050" cy="3486150"/>
          </a:xfrm>
        </p:grpSpPr>
        <p:sp>
          <p:nvSpPr>
            <p:cNvPr id="625" name="Google Shape;625;p33"/>
            <p:cNvSpPr/>
            <p:nvPr/>
          </p:nvSpPr>
          <p:spPr>
            <a:xfrm>
              <a:off x="57150" y="5715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0" y="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27" name="Google Shape;627;p33"/>
            <p:cNvSpPr txBox="1"/>
            <p:nvPr/>
          </p:nvSpPr>
          <p:spPr>
            <a:xfrm>
              <a:off x="285750" y="285750"/>
              <a:ext cx="35244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000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Grooming, Attire, &amp; First Impressions</a:t>
              </a:r>
              <a:endParaRPr sz="2000" b="1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>
                <a:spcBef>
                  <a:spcPts val="1000"/>
                </a:spcBef>
              </a:pP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Your visual presentation communicates respect for the opportunity and sets the tone for the interview.</a:t>
              </a:r>
              <a:endParaRPr sz="14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609585" indent="-387764">
                <a:spcBef>
                  <a:spcPts val="1400"/>
                </a:spcBef>
                <a:buClr>
                  <a:srgbClr val="4B5563"/>
                </a:buClr>
                <a:buSzPts val="975"/>
                <a:buFont typeface="DM Sans"/>
                <a:buChar char="●"/>
              </a:pPr>
              <a:r>
                <a:rPr lang="en-GB" sz="13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Appropriate Attire:</a:t>
              </a:r>
              <a:r>
                <a:rPr lang="en-GB"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rPr>
                <a:t> Default to business professional (suit/tie or formal Indian wear) unless explicitly told otherwise.</a:t>
              </a:r>
              <a:endParaRPr sz="1300">
                <a:solidFill>
                  <a:srgbClr val="4B5563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387764">
                <a:spcBef>
                  <a:spcPts val="1000"/>
                </a:spcBef>
                <a:buClr>
                  <a:srgbClr val="4B5563"/>
                </a:buClr>
                <a:buSzPts val="975"/>
                <a:buFont typeface="DM Sans"/>
                <a:buChar char="●"/>
              </a:pPr>
              <a:r>
                <a:rPr lang="en-GB" sz="13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Impeccable Grooming:</a:t>
              </a:r>
              <a:r>
                <a:rPr lang="en-GB"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rPr>
                <a:t> Ensure neat hair, trimmed nails, and a clean, ironed outfit.</a:t>
              </a:r>
              <a:endParaRPr sz="1300">
                <a:solidFill>
                  <a:srgbClr val="4B5563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387764">
                <a:spcBef>
                  <a:spcPts val="1000"/>
                </a:spcBef>
                <a:buClr>
                  <a:srgbClr val="4B5563"/>
                </a:buClr>
                <a:buSzPts val="975"/>
                <a:buFont typeface="DM Sans"/>
                <a:buChar char="●"/>
              </a:pPr>
              <a:r>
                <a:rPr lang="en-GB" sz="13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Body Language:</a:t>
              </a:r>
              <a:r>
                <a:rPr lang="en-GB"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rPr>
                <a:t> Maintain an upright posture, offer a firm handshake (if in person), and avoid fidgeting.</a:t>
              </a:r>
              <a:endParaRPr sz="1300">
                <a:solidFill>
                  <a:srgbClr val="4B5563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387764">
                <a:spcBef>
                  <a:spcPts val="1000"/>
                </a:spcBef>
                <a:buClr>
                  <a:srgbClr val="4B5563"/>
                </a:buClr>
                <a:buSzPts val="975"/>
                <a:buFont typeface="DM Sans"/>
                <a:buChar char="●"/>
              </a:pPr>
              <a:r>
                <a:rPr lang="en-GB" sz="13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The First 30 Seconds:</a:t>
              </a:r>
              <a:r>
                <a:rPr lang="en-GB"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rPr>
                <a:t> Interviewers form a subconscious bias in the first minute; a confident smile and clear greeting are crucial.</a:t>
              </a:r>
              <a:endParaRPr sz="1300">
                <a:solidFill>
                  <a:srgbClr val="4B5563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628" name="Google Shape;628;p33"/>
          <p:cNvGrpSpPr/>
          <p:nvPr/>
        </p:nvGrpSpPr>
        <p:grpSpPr>
          <a:xfrm>
            <a:off x="6223000" y="1651000"/>
            <a:ext cx="5537400" cy="4165800"/>
            <a:chOff x="0" y="0"/>
            <a:chExt cx="4153050" cy="3124350"/>
          </a:xfrm>
        </p:grpSpPr>
        <p:sp>
          <p:nvSpPr>
            <p:cNvPr id="629" name="Google Shape;629;p33"/>
            <p:cNvSpPr/>
            <p:nvPr/>
          </p:nvSpPr>
          <p:spPr>
            <a:xfrm>
              <a:off x="57150" y="5715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30" name="Google Shape;630;p33"/>
            <p:cNvSpPr/>
            <p:nvPr/>
          </p:nvSpPr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631" name="Google Shape;631;p33"/>
            <p:cNvPicPr preferRelativeResize="0"/>
            <p:nvPr/>
          </p:nvPicPr>
          <p:blipFill rotWithShape="1">
            <a:blip r:embed="rId3"/>
            <a:srcRect t="80" b="80"/>
            <a:stretch>
              <a:fillRect/>
            </a:stretch>
          </p:blipFill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noFill/>
            <a:ln>
              <a:noFill/>
            </a:ln>
          </p:spPr>
        </p:pic>
        <p:sp>
          <p:nvSpPr>
            <p:cNvPr id="632" name="Google Shape;632;p33"/>
            <p:cNvSpPr/>
            <p:nvPr/>
          </p:nvSpPr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7" name="Google Shape;637;p34"/>
          <p:cNvGrpSpPr/>
          <p:nvPr/>
        </p:nvGrpSpPr>
        <p:grpSpPr>
          <a:xfrm>
            <a:off x="508000" y="279400"/>
            <a:ext cx="11201400" cy="736600"/>
            <a:chOff x="381000" y="209550"/>
            <a:chExt cx="8401050" cy="552450"/>
          </a:xfrm>
        </p:grpSpPr>
        <p:sp>
          <p:nvSpPr>
            <p:cNvPr id="638" name="Google Shape;638;p34"/>
            <p:cNvSpPr/>
            <p:nvPr/>
          </p:nvSpPr>
          <p:spPr>
            <a:xfrm>
              <a:off x="400050" y="304800"/>
              <a:ext cx="1524000" cy="285900"/>
            </a:xfrm>
            <a:prstGeom prst="roundRect">
              <a:avLst>
                <a:gd name="adj" fmla="val 50000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39" name="Google Shape;639;p34"/>
            <p:cNvSpPr/>
            <p:nvPr/>
          </p:nvSpPr>
          <p:spPr>
            <a:xfrm>
              <a:off x="381000" y="285750"/>
              <a:ext cx="1524000" cy="285900"/>
            </a:xfrm>
            <a:prstGeom prst="roundRect">
              <a:avLst>
                <a:gd name="adj" fmla="val 50000"/>
              </a:avLst>
            </a:prstGeom>
            <a:solidFill>
              <a:srgbClr val="FF6B6B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40" name="Google Shape;640;p34"/>
            <p:cNvSpPr txBox="1"/>
            <p:nvPr/>
          </p:nvSpPr>
          <p:spPr>
            <a:xfrm>
              <a:off x="381000" y="28575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en-GB" sz="1100" b="1">
                  <a:solidFill>
                    <a:srgbClr val="FFFFFF"/>
                  </a:solidFill>
                  <a:latin typeface="Outfit"/>
                  <a:ea typeface="Outfit"/>
                  <a:cs typeface="Outfit"/>
                  <a:sym typeface="Outfit"/>
                </a:rPr>
                <a:t>VIRTUAL ETIQUETTE</a:t>
              </a:r>
            </a:p>
          </p:txBody>
        </p:sp>
        <p:sp>
          <p:nvSpPr>
            <p:cNvPr id="641" name="Google Shape;641;p34"/>
            <p:cNvSpPr txBox="1"/>
            <p:nvPr/>
          </p:nvSpPr>
          <p:spPr>
            <a:xfrm>
              <a:off x="2095500" y="209550"/>
              <a:ext cx="61914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600">
                  <a:solidFill>
                    <a:srgbClr val="111827"/>
                  </a:solidFill>
                  <a:latin typeface="Outfit ExtraBold"/>
                  <a:ea typeface="Outfit ExtraBold"/>
                  <a:cs typeface="Outfit ExtraBold"/>
                  <a:sym typeface="Outfit ExtraBold"/>
                </a:rPr>
                <a:t>Setting Up for Success in Online Interviews</a:t>
              </a:r>
              <a:endParaRPr sz="2600">
                <a:solidFill>
                  <a:srgbClr val="111827"/>
                </a:solidFill>
                <a:latin typeface="Outfit ExtraBold"/>
                <a:ea typeface="Outfit ExtraBold"/>
                <a:cs typeface="Outfit ExtraBold"/>
                <a:sym typeface="Outfit ExtraBold"/>
              </a:endParaRPr>
            </a:p>
          </p:txBody>
        </p:sp>
        <p:cxnSp>
          <p:nvCxnSpPr>
            <p:cNvPr id="642" name="Google Shape;642;p34"/>
            <p:cNvCxnSpPr/>
            <p:nvPr/>
          </p:nvCxnSpPr>
          <p:spPr>
            <a:xfrm>
              <a:off x="381000" y="76200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w="3810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43" name="Google Shape;643;p34"/>
            <p:cNvSpPr/>
            <p:nvPr/>
          </p:nvSpPr>
          <p:spPr>
            <a:xfrm>
              <a:off x="8553450" y="314325"/>
              <a:ext cx="228600" cy="228600"/>
            </a:xfrm>
            <a:prstGeom prst="ellipse">
              <a:avLst/>
            </a:prstGeom>
            <a:solidFill>
              <a:srgbClr val="4338CA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644" name="Google Shape;644;p34"/>
          <p:cNvGrpSpPr/>
          <p:nvPr/>
        </p:nvGrpSpPr>
        <p:grpSpPr>
          <a:xfrm>
            <a:off x="508000" y="1524000"/>
            <a:ext cx="5537400" cy="4775400"/>
            <a:chOff x="381000" y="1143000"/>
            <a:chExt cx="4153050" cy="3581550"/>
          </a:xfrm>
        </p:grpSpPr>
        <p:sp>
          <p:nvSpPr>
            <p:cNvPr id="645" name="Google Shape;645;p34"/>
            <p:cNvSpPr/>
            <p:nvPr/>
          </p:nvSpPr>
          <p:spPr>
            <a:xfrm>
              <a:off x="438150" y="1200150"/>
              <a:ext cx="4095900" cy="3524400"/>
            </a:xfrm>
            <a:prstGeom prst="roundRect">
              <a:avLst>
                <a:gd name="adj" fmla="val 432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46" name="Google Shape;646;p34"/>
            <p:cNvSpPr/>
            <p:nvPr/>
          </p:nvSpPr>
          <p:spPr>
            <a:xfrm>
              <a:off x="381000" y="1143000"/>
              <a:ext cx="4095900" cy="352440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47" name="Google Shape;647;p34"/>
            <p:cNvSpPr txBox="1"/>
            <p:nvPr/>
          </p:nvSpPr>
          <p:spPr>
            <a:xfrm>
              <a:off x="619125" y="1381125"/>
              <a:ext cx="3619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000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Setup Requirements</a:t>
              </a:r>
              <a:endParaRPr sz="2000" b="1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>
                <a:spcBef>
                  <a:spcPts val="1000"/>
                </a:spcBef>
              </a:pPr>
              <a:r>
                <a:rPr lang="en-GB" sz="1400" b="1">
                  <a:solidFill>
                    <a:srgbClr val="4338CA"/>
                  </a:solidFill>
                  <a:latin typeface="DM Sans"/>
                  <a:ea typeface="DM Sans"/>
                  <a:cs typeface="DM Sans"/>
                  <a:sym typeface="DM Sans"/>
                </a:rPr>
                <a:t>Online interviews require specific technical preparations to ensure a seamless experience.</a:t>
              </a:r>
              <a:endParaRPr sz="1400" b="1">
                <a:solidFill>
                  <a:srgbClr val="4338C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423323">
                <a:spcBef>
                  <a:spcPts val="1400"/>
                </a:spcBef>
                <a:buSzPts val="1400"/>
                <a:buFont typeface="DM Sans"/>
                <a:buChar char="●"/>
              </a:pPr>
              <a:r>
                <a:rPr lang="en-GB" sz="14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The Environment: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Choose a quiet room with a neutral, uncluttered background.</a:t>
              </a:r>
              <a:endParaRPr sz="2400"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423323">
                <a:spcBef>
                  <a:spcPts val="1000"/>
                </a:spcBef>
                <a:buSzPts val="1400"/>
                <a:buFont typeface="DM Sans"/>
                <a:buChar char="●"/>
              </a:pPr>
              <a:r>
                <a:rPr lang="en-GB" sz="14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Lighting: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Ensure the light source is in front of you, illuminating your face clearly, not behind you.</a:t>
              </a:r>
              <a:endParaRPr sz="2400"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423323">
                <a:spcBef>
                  <a:spcPts val="1000"/>
                </a:spcBef>
                <a:buSzPts val="1400"/>
                <a:buFont typeface="DM Sans"/>
                <a:buChar char="●"/>
              </a:pPr>
              <a:r>
                <a:rPr lang="en-GB" sz="14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Audio Quality: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Use a dedicated headset or external microphone to eliminate echo and background noise.</a:t>
              </a:r>
              <a:endParaRPr sz="2400"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423323">
                <a:spcBef>
                  <a:spcPts val="1000"/>
                </a:spcBef>
                <a:buSzPts val="1400"/>
                <a:buFont typeface="DM Sans"/>
                <a:buChar char="●"/>
              </a:pPr>
              <a:r>
                <a:rPr lang="en-GB" sz="14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Technical Check:</a:t>
              </a:r>
              <a:r>
                <a:rPr lang="en-GB"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Test your internet stability, webcam, and screen-sharing permissions 15 minutes before the call.</a:t>
              </a:r>
              <a:endParaRPr sz="24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648" name="Google Shape;648;p34"/>
          <p:cNvGrpSpPr/>
          <p:nvPr/>
        </p:nvGrpSpPr>
        <p:grpSpPr>
          <a:xfrm>
            <a:off x="6223000" y="1524000"/>
            <a:ext cx="5537400" cy="4775400"/>
            <a:chOff x="4667250" y="1143000"/>
            <a:chExt cx="4153050" cy="3581550"/>
          </a:xfrm>
        </p:grpSpPr>
        <p:sp>
          <p:nvSpPr>
            <p:cNvPr id="649" name="Google Shape;649;p34"/>
            <p:cNvSpPr/>
            <p:nvPr/>
          </p:nvSpPr>
          <p:spPr>
            <a:xfrm>
              <a:off x="4724400" y="1200150"/>
              <a:ext cx="4095900" cy="3524400"/>
            </a:xfrm>
            <a:prstGeom prst="roundRect">
              <a:avLst>
                <a:gd name="adj" fmla="val 432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0" name="Google Shape;650;p34"/>
            <p:cNvSpPr/>
            <p:nvPr/>
          </p:nvSpPr>
          <p:spPr>
            <a:xfrm>
              <a:off x="4667250" y="1143000"/>
              <a:ext cx="4095900" cy="3524400"/>
            </a:xfrm>
            <a:prstGeom prst="roundRect">
              <a:avLst>
                <a:gd name="adj" fmla="val 4324"/>
              </a:avLst>
            </a:prstGeom>
            <a:solidFill>
              <a:srgbClr val="34D399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1" name="Google Shape;651;p34"/>
            <p:cNvSpPr/>
            <p:nvPr/>
          </p:nvSpPr>
          <p:spPr>
            <a:xfrm>
              <a:off x="4924425" y="1400175"/>
              <a:ext cx="1238400" cy="285900"/>
            </a:xfrm>
            <a:prstGeom prst="roundRect">
              <a:avLst>
                <a:gd name="adj" fmla="val 50000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2" name="Google Shape;652;p34"/>
            <p:cNvSpPr/>
            <p:nvPr/>
          </p:nvSpPr>
          <p:spPr>
            <a:xfrm>
              <a:off x="4905375" y="1381125"/>
              <a:ext cx="1238400" cy="2859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3" name="Google Shape;653;p34"/>
            <p:cNvSpPr txBox="1"/>
            <p:nvPr/>
          </p:nvSpPr>
          <p:spPr>
            <a:xfrm>
              <a:off x="4905375" y="1381125"/>
              <a:ext cx="1238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algn="ctr"/>
              <a:r>
                <a:rPr lang="en-GB" sz="1100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VISUAL GUIDE</a:t>
              </a:r>
            </a:p>
          </p:txBody>
        </p:sp>
        <p:sp>
          <p:nvSpPr>
            <p:cNvPr id="654" name="Google Shape;654;p34"/>
            <p:cNvSpPr/>
            <p:nvPr/>
          </p:nvSpPr>
          <p:spPr>
            <a:xfrm>
              <a:off x="8191500" y="13335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60000" y="33135"/>
                    <a:pt x="86865" y="60000"/>
                    <a:pt x="120000" y="60000"/>
                  </a:cubicBezTo>
                  <a:cubicBezTo>
                    <a:pt x="86865" y="60000"/>
                    <a:pt x="60000" y="86865"/>
                    <a:pt x="60000" y="120000"/>
                  </a:cubicBezTo>
                  <a:cubicBezTo>
                    <a:pt x="60000" y="86865"/>
                    <a:pt x="33135" y="60000"/>
                    <a:pt x="0" y="60000"/>
                  </a:cubicBezTo>
                  <a:cubicBezTo>
                    <a:pt x="33135" y="60000"/>
                    <a:pt x="60000" y="33135"/>
                    <a:pt x="60000" y="0"/>
                  </a:cubicBezTo>
                  <a:close/>
                </a:path>
              </a:pathLst>
            </a:custGeom>
            <a:solidFill>
              <a:srgbClr val="FBBF24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5" name="Google Shape;655;p34"/>
            <p:cNvSpPr/>
            <p:nvPr/>
          </p:nvSpPr>
          <p:spPr>
            <a:xfrm>
              <a:off x="5057775" y="1866900"/>
              <a:ext cx="3429000" cy="25719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56" name="Google Shape;656;p34"/>
            <p:cNvSpPr/>
            <p:nvPr/>
          </p:nvSpPr>
          <p:spPr>
            <a:xfrm>
              <a:off x="5000625" y="1809750"/>
              <a:ext cx="3429000" cy="25719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657" name="Google Shape;657;p34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5000625" y="1809750"/>
              <a:ext cx="3429000" cy="2571900"/>
            </a:xfrm>
            <a:prstGeom prst="roundRect">
              <a:avLst>
                <a:gd name="adj" fmla="val 4444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5"/>
          <p:cNvSpPr txBox="1"/>
          <p:nvPr/>
        </p:nvSpPr>
        <p:spPr>
          <a:xfrm>
            <a:off x="508000" y="508000"/>
            <a:ext cx="11176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sz="3200">
                <a:solidFill>
                  <a:srgbClr val="11182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Engaging the Screen: Eye Contact &amp; Camera Focus Online</a:t>
            </a:r>
          </a:p>
        </p:txBody>
      </p:sp>
      <p:cxnSp>
        <p:nvCxnSpPr>
          <p:cNvPr id="663" name="Google Shape;663;p35"/>
          <p:cNvCxnSpPr/>
          <p:nvPr/>
        </p:nvCxnSpPr>
        <p:spPr>
          <a:xfrm>
            <a:off x="508000" y="1270000"/>
            <a:ext cx="11176000" cy="0"/>
          </a:xfrm>
          <a:prstGeom prst="straightConnector1">
            <a:avLst/>
          </a:prstGeom>
          <a:solidFill>
            <a:srgbClr val="FFFFFF"/>
          </a:solidFill>
          <a:ln w="3810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4" name="Google Shape;664;p35"/>
          <p:cNvSpPr/>
          <p:nvPr/>
        </p:nvSpPr>
        <p:spPr>
          <a:xfrm>
            <a:off x="11404600" y="609600"/>
            <a:ext cx="304800" cy="304800"/>
          </a:xfrm>
          <a:prstGeom prst="ellipse">
            <a:avLst/>
          </a:prstGeom>
          <a:solidFill>
            <a:srgbClr val="4338CA"/>
          </a:solidFill>
          <a:ln w="19050" cap="flat" cmpd="sng">
            <a:solidFill>
              <a:srgbClr val="1118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grpSp>
        <p:nvGrpSpPr>
          <p:cNvPr id="665" name="Google Shape;665;p35"/>
          <p:cNvGrpSpPr/>
          <p:nvPr/>
        </p:nvGrpSpPr>
        <p:grpSpPr>
          <a:xfrm>
            <a:off x="508000" y="1778000"/>
            <a:ext cx="5537400" cy="4648200"/>
            <a:chOff x="0" y="0"/>
            <a:chExt cx="4153050" cy="3486150"/>
          </a:xfrm>
        </p:grpSpPr>
        <p:sp>
          <p:nvSpPr>
            <p:cNvPr id="666" name="Google Shape;666;p35"/>
            <p:cNvSpPr/>
            <p:nvPr/>
          </p:nvSpPr>
          <p:spPr>
            <a:xfrm>
              <a:off x="57150" y="5715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67" name="Google Shape;667;p35"/>
            <p:cNvSpPr/>
            <p:nvPr/>
          </p:nvSpPr>
          <p:spPr>
            <a:xfrm>
              <a:off x="0" y="0"/>
              <a:ext cx="4095900" cy="34290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68" name="Google Shape;668;p35"/>
            <p:cNvSpPr/>
            <p:nvPr/>
          </p:nvSpPr>
          <p:spPr>
            <a:xfrm>
              <a:off x="2895600" y="182880"/>
              <a:ext cx="182880" cy="18288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60000" y="33135"/>
                    <a:pt x="86865" y="60000"/>
                    <a:pt x="120000" y="60000"/>
                  </a:cubicBezTo>
                  <a:cubicBezTo>
                    <a:pt x="86865" y="60000"/>
                    <a:pt x="60000" y="86865"/>
                    <a:pt x="60000" y="120000"/>
                  </a:cubicBezTo>
                  <a:cubicBezTo>
                    <a:pt x="60000" y="86865"/>
                    <a:pt x="33135" y="60000"/>
                    <a:pt x="0" y="60000"/>
                  </a:cubicBezTo>
                  <a:cubicBezTo>
                    <a:pt x="33135" y="60000"/>
                    <a:pt x="60000" y="33135"/>
                    <a:pt x="60000" y="0"/>
                  </a:cubicBezTo>
                  <a:close/>
                </a:path>
              </a:pathLst>
            </a:custGeom>
            <a:solidFill>
              <a:srgbClr val="FBBF24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669" name="Google Shape;669;p35"/>
            <p:cNvSpPr txBox="1"/>
            <p:nvPr/>
          </p:nvSpPr>
          <p:spPr>
            <a:xfrm>
              <a:off x="285750" y="285750"/>
              <a:ext cx="35244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1853" b="1">
                  <a:solidFill>
                    <a:srgbClr val="111827"/>
                  </a:solidFill>
                  <a:latin typeface="Outfit"/>
                  <a:ea typeface="Outfit"/>
                  <a:cs typeface="Outfit"/>
                  <a:sym typeface="Outfit"/>
                </a:rPr>
                <a:t>Virtual Camera Focus</a:t>
              </a:r>
              <a:endParaRPr sz="1853" b="1">
                <a:solidFill>
                  <a:srgbClr val="111827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>
                <a:spcBef>
                  <a:spcPts val="1000"/>
                </a:spcBef>
              </a:pPr>
              <a:r>
                <a:rPr lang="en-GB" sz="1293" b="1">
                  <a:solidFill>
                    <a:srgbClr val="4338CA"/>
                  </a:solidFill>
                  <a:latin typeface="DM Sans"/>
                  <a:ea typeface="DM Sans"/>
                  <a:cs typeface="DM Sans"/>
                  <a:sym typeface="DM Sans"/>
                </a:rPr>
                <a:t>Building rapport virtually is challenging but achievable through deliberate camera techniques.</a:t>
              </a:r>
              <a:endParaRPr sz="1293" b="1">
                <a:solidFill>
                  <a:srgbClr val="4338C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609585" indent="-386917">
                <a:spcBef>
                  <a:spcPts val="1600"/>
                </a:spcBef>
                <a:buClr>
                  <a:srgbClr val="4B5563"/>
                </a:buClr>
                <a:buSzPts val="971"/>
                <a:buFont typeface="DM Sans"/>
                <a:buChar char="●"/>
              </a:pPr>
              <a:r>
                <a:rPr lang="en-GB" sz="1293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Look at the Lens:</a:t>
              </a:r>
              <a:r>
                <a:rPr lang="en-GB" sz="1293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Look directly into your webcam, not at their face on the screen to establish true virtual eye contact.</a:t>
              </a:r>
              <a:endParaRPr sz="1293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609585" indent="-386917">
                <a:spcBef>
                  <a:spcPts val="1000"/>
                </a:spcBef>
                <a:buClr>
                  <a:srgbClr val="4B5563"/>
                </a:buClr>
                <a:buSzPts val="971"/>
                <a:buFont typeface="DM Sans"/>
                <a:buChar char="●"/>
              </a:pPr>
              <a:r>
                <a:rPr lang="en-GB" sz="1293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Camera Positioning:</a:t>
              </a:r>
              <a:r>
                <a:rPr lang="en-GB" sz="1293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Elevate your laptop so the webcam sits at eye level, avoiding unflattering upward angles.</a:t>
              </a:r>
              <a:endParaRPr sz="1293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609585" indent="-386917">
                <a:spcBef>
                  <a:spcPts val="1000"/>
                </a:spcBef>
                <a:buClr>
                  <a:srgbClr val="4B5563"/>
                </a:buClr>
                <a:buSzPts val="971"/>
                <a:buFont typeface="DM Sans"/>
                <a:buChar char="●"/>
              </a:pPr>
              <a:r>
                <a:rPr lang="en-GB" sz="1293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Active Listening:</a:t>
              </a:r>
              <a:r>
                <a:rPr lang="en-GB" sz="1293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Nod and use verbal affirmations ('I see', 'Understood') to visually project engagement.</a:t>
              </a:r>
              <a:endParaRPr sz="1293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marL="609585" indent="-386917">
                <a:spcBef>
                  <a:spcPts val="1000"/>
                </a:spcBef>
                <a:buClr>
                  <a:srgbClr val="4B5563"/>
                </a:buClr>
                <a:buSzPts val="971"/>
                <a:buFont typeface="DM Sans"/>
                <a:buChar char="●"/>
              </a:pPr>
              <a:r>
                <a:rPr lang="en-GB" sz="1293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rPr>
                <a:t>Minimize Distractions:</a:t>
              </a:r>
              <a:r>
                <a:rPr lang="en-GB" sz="1293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Close all other active tabs and desktop notifications to maintain absolute focus.</a:t>
              </a:r>
              <a:endParaRPr sz="1293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  <p:grpSp>
        <p:nvGrpSpPr>
          <p:cNvPr id="670" name="Google Shape;670;p35"/>
          <p:cNvGrpSpPr/>
          <p:nvPr/>
        </p:nvGrpSpPr>
        <p:grpSpPr>
          <a:xfrm>
            <a:off x="6223000" y="1778000"/>
            <a:ext cx="5537400" cy="4165800"/>
            <a:chOff x="0" y="0"/>
            <a:chExt cx="4153050" cy="3124350"/>
          </a:xfrm>
        </p:grpSpPr>
        <p:sp>
          <p:nvSpPr>
            <p:cNvPr id="671" name="Google Shape;671;p35"/>
            <p:cNvSpPr/>
            <p:nvPr/>
          </p:nvSpPr>
          <p:spPr>
            <a:xfrm>
              <a:off x="57150" y="5715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11182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  <p:pic>
          <p:nvPicPr>
            <p:cNvPr id="672" name="Google Shape;672;p35"/>
            <p:cNvPicPr preferRelativeResize="0"/>
            <p:nvPr/>
          </p:nvPicPr>
          <p:blipFill rotWithShape="1">
            <a:blip r:embed="rId3"/>
            <a:srcRect t="80" b="80"/>
            <a:stretch>
              <a:fillRect/>
            </a:stretch>
          </p:blipFill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noFill/>
            <a:ln>
              <a:noFill/>
            </a:ln>
          </p:spPr>
        </p:pic>
        <p:sp>
          <p:nvSpPr>
            <p:cNvPr id="673" name="Google Shape;673;p35"/>
            <p:cNvSpPr/>
            <p:nvPr/>
          </p:nvSpPr>
          <p:spPr>
            <a:xfrm>
              <a:off x="0" y="0"/>
              <a:ext cx="4095900" cy="3067200"/>
            </a:xfrm>
            <a:prstGeom prst="roundRect">
              <a:avLst>
                <a:gd name="adj" fmla="val 4968"/>
              </a:avLst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endParaRPr sz="2400"/>
          </a:p>
        </p:txBody>
      </p:sp>
      <p:grpSp>
        <p:nvGrpSpPr>
          <p:cNvPr id="679" name="Google Shape;679;p36"/>
          <p:cNvGrpSpPr/>
          <p:nvPr/>
        </p:nvGrpSpPr>
        <p:grpSpPr>
          <a:xfrm>
            <a:off x="508000" y="406401"/>
            <a:ext cx="11226800" cy="927100"/>
            <a:chOff x="381000" y="304800"/>
            <a:chExt cx="8420100" cy="695325"/>
          </a:xfrm>
        </p:grpSpPr>
        <p:sp>
          <p:nvSpPr>
            <p:cNvPr id="680" name="Google Shape;680;p36"/>
            <p:cNvSpPr txBox="1"/>
            <p:nvPr/>
          </p:nvSpPr>
          <p:spPr>
            <a:xfrm>
              <a:off x="381000" y="304800"/>
              <a:ext cx="83820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800">
                  <a:solidFill>
                    <a:srgbClr val="111827"/>
                  </a:solidFill>
                  <a:latin typeface="Outfit ExtraBold"/>
                  <a:ea typeface="Outfit ExtraBold"/>
                  <a:cs typeface="Outfit ExtraBold"/>
                  <a:sym typeface="Outfit ExtraBold"/>
                </a:rPr>
                <a:t>Summary Guidelines: Core Dos and Don'ts of Interviewing</a:t>
              </a:r>
              <a:endParaRPr sz="2800">
                <a:solidFill>
                  <a:srgbClr val="111827"/>
                </a:solidFill>
                <a:latin typeface="Outfit ExtraBold"/>
                <a:ea typeface="Outfit ExtraBold"/>
                <a:cs typeface="Outfit ExtraBold"/>
                <a:sym typeface="Outfit ExtraBold"/>
              </a:endParaRPr>
            </a:p>
            <a:p>
              <a:pPr>
                <a:spcBef>
                  <a:spcPts val="400"/>
                </a:spcBef>
              </a:pPr>
              <a:r>
                <a:rPr lang="en-GB" sz="15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Final takeaways to ensure you leave a lasting, positive impression.</a:t>
              </a:r>
              <a:endParaRPr sz="1500">
                <a:solidFill>
                  <a:srgbClr val="4B5563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cxnSp>
          <p:nvCxnSpPr>
            <p:cNvPr id="681" name="Google Shape;681;p36"/>
            <p:cNvCxnSpPr/>
            <p:nvPr/>
          </p:nvCxnSpPr>
          <p:spPr>
            <a:xfrm>
              <a:off x="381000" y="1000125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w="3810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82" name="Google Shape;682;p36"/>
            <p:cNvSpPr/>
            <p:nvPr/>
          </p:nvSpPr>
          <p:spPr>
            <a:xfrm>
              <a:off x="8572500" y="428625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60000" y="33135"/>
                    <a:pt x="86865" y="60000"/>
                    <a:pt x="120000" y="60000"/>
                  </a:cubicBezTo>
                  <a:cubicBezTo>
                    <a:pt x="86865" y="60000"/>
                    <a:pt x="60000" y="86865"/>
                    <a:pt x="60000" y="120000"/>
                  </a:cubicBezTo>
                  <a:cubicBezTo>
                    <a:pt x="60000" y="86865"/>
                    <a:pt x="33135" y="60000"/>
                    <a:pt x="0" y="60000"/>
                  </a:cubicBezTo>
                  <a:cubicBezTo>
                    <a:pt x="33135" y="60000"/>
                    <a:pt x="60000" y="33135"/>
                    <a:pt x="60000" y="0"/>
                  </a:cubicBezTo>
                  <a:close/>
                </a:path>
              </a:pathLst>
            </a:custGeom>
            <a:solidFill>
              <a:srgbClr val="FBBF24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683" name="Google Shape;683;p36"/>
          <p:cNvGrpSpPr/>
          <p:nvPr/>
        </p:nvGrpSpPr>
        <p:grpSpPr>
          <a:xfrm>
            <a:off x="508000" y="1651000"/>
            <a:ext cx="11252400" cy="4648200"/>
            <a:chOff x="0" y="0"/>
            <a:chExt cx="8439300" cy="3486150"/>
          </a:xfrm>
        </p:grpSpPr>
        <p:grpSp>
          <p:nvGrpSpPr>
            <p:cNvPr id="684" name="Google Shape;684;p36"/>
            <p:cNvGrpSpPr/>
            <p:nvPr/>
          </p:nvGrpSpPr>
          <p:grpSpPr>
            <a:xfrm>
              <a:off x="0" y="0"/>
              <a:ext cx="4153050" cy="3486150"/>
              <a:chOff x="0" y="0"/>
              <a:chExt cx="4153050" cy="3486150"/>
            </a:xfrm>
          </p:grpSpPr>
          <p:sp>
            <p:nvSpPr>
              <p:cNvPr id="685" name="Google Shape;685;p36"/>
              <p:cNvSpPr/>
              <p:nvPr/>
            </p:nvSpPr>
            <p:spPr>
              <a:xfrm>
                <a:off x="57150" y="5715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111827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686" name="Google Shape;686;p36"/>
              <p:cNvSpPr/>
              <p:nvPr/>
            </p:nvSpPr>
            <p:spPr>
              <a:xfrm>
                <a:off x="0" y="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F0FDF4"/>
              </a:solidFill>
              <a:ln w="28575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grpSp>
            <p:nvGrpSpPr>
              <p:cNvPr id="687" name="Google Shape;687;p36"/>
              <p:cNvGrpSpPr/>
              <p:nvPr/>
            </p:nvGrpSpPr>
            <p:grpSpPr>
              <a:xfrm>
                <a:off x="285750" y="266700"/>
                <a:ext cx="304800" cy="304800"/>
                <a:chOff x="0" y="0"/>
                <a:chExt cx="304800" cy="304800"/>
              </a:xfrm>
            </p:grpSpPr>
            <p:sp>
              <p:nvSpPr>
                <p:cNvPr id="688" name="Google Shape;688;p36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34D399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689" name="Google Shape;689;p36"/>
                <p:cNvSpPr/>
                <p:nvPr/>
              </p:nvSpPr>
              <p:spPr>
                <a:xfrm>
                  <a:off x="85725" y="104775"/>
                  <a:ext cx="133500" cy="9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60000"/>
                      </a:moveTo>
                      <a:lnTo>
                        <a:pt x="42857" y="120000"/>
                      </a:lnTo>
                      <a:lnTo>
                        <a:pt x="120000" y="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</p:grpSp>
          <p:sp>
            <p:nvSpPr>
              <p:cNvPr id="690" name="Google Shape;690;p36"/>
              <p:cNvSpPr txBox="1"/>
              <p:nvPr/>
            </p:nvSpPr>
            <p:spPr>
              <a:xfrm>
                <a:off x="685800" y="228600"/>
                <a:ext cx="3124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/>
                <a:r>
                  <a:rPr lang="en-GB" sz="2200" b="1">
                    <a:solidFill>
                      <a:srgbClr val="065F46"/>
                    </a:solidFill>
                    <a:latin typeface="Outfit"/>
                    <a:ea typeface="Outfit"/>
                    <a:cs typeface="Outfit"/>
                    <a:sym typeface="Outfit"/>
                  </a:rPr>
                  <a:t>DO</a:t>
                </a:r>
              </a:p>
            </p:txBody>
          </p:sp>
          <p:sp>
            <p:nvSpPr>
              <p:cNvPr id="691" name="Google Shape;691;p36"/>
              <p:cNvSpPr txBox="1"/>
              <p:nvPr/>
            </p:nvSpPr>
            <p:spPr>
              <a:xfrm>
                <a:off x="285750" y="800100"/>
                <a:ext cx="3524400" cy="238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000" tIns="0" rIns="0" bIns="0" anchor="t" anchorCtr="0">
                <a:noAutofit/>
              </a:bodyPr>
              <a:lstStyle/>
              <a:p>
                <a:pPr marL="609585" indent="-423323">
                  <a:buClr>
                    <a:srgbClr val="065F46"/>
                  </a:buClr>
                  <a:buSzPts val="1400"/>
                  <a:buChar char="●"/>
                </a:pPr>
                <a:r>
                  <a:rPr lang="en-GB" sz="15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Research the company extensively, ask insightful questions at the end, and follow up with a thank-you email.</a:t>
                </a:r>
                <a:endParaRPr sz="1500">
                  <a:solidFill>
                    <a:srgbClr val="111827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609585" indent="-423323">
                  <a:spcBef>
                    <a:spcPts val="2400"/>
                  </a:spcBef>
                  <a:spcAft>
                    <a:spcPts val="2400"/>
                  </a:spcAft>
                  <a:buClr>
                    <a:srgbClr val="065F46"/>
                  </a:buClr>
                  <a:buSzPts val="1400"/>
                  <a:buChar char="●"/>
                </a:pPr>
                <a:r>
                  <a:rPr lang="en-GB" sz="15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Admit when you don't know an answer, but explain how you would find out.</a:t>
                </a:r>
                <a:endParaRPr sz="1500">
                  <a:solidFill>
                    <a:srgbClr val="111827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</p:txBody>
          </p:sp>
        </p:grpSp>
        <p:grpSp>
          <p:nvGrpSpPr>
            <p:cNvPr id="692" name="Google Shape;692;p36"/>
            <p:cNvGrpSpPr/>
            <p:nvPr/>
          </p:nvGrpSpPr>
          <p:grpSpPr>
            <a:xfrm>
              <a:off x="4286250" y="0"/>
              <a:ext cx="4153050" cy="3486150"/>
              <a:chOff x="4286250" y="0"/>
              <a:chExt cx="4153050" cy="3486150"/>
            </a:xfrm>
          </p:grpSpPr>
          <p:sp>
            <p:nvSpPr>
              <p:cNvPr id="693" name="Google Shape;693;p36"/>
              <p:cNvSpPr/>
              <p:nvPr/>
            </p:nvSpPr>
            <p:spPr>
              <a:xfrm>
                <a:off x="4343400" y="5715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111827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694" name="Google Shape;694;p36"/>
              <p:cNvSpPr/>
              <p:nvPr/>
            </p:nvSpPr>
            <p:spPr>
              <a:xfrm>
                <a:off x="4286250" y="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FEF2F2"/>
              </a:solidFill>
              <a:ln w="28575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grpSp>
            <p:nvGrpSpPr>
              <p:cNvPr id="695" name="Google Shape;695;p36"/>
              <p:cNvGrpSpPr/>
              <p:nvPr/>
            </p:nvGrpSpPr>
            <p:grpSpPr>
              <a:xfrm>
                <a:off x="4572000" y="266700"/>
                <a:ext cx="304800" cy="304800"/>
                <a:chOff x="0" y="0"/>
                <a:chExt cx="304800" cy="304800"/>
              </a:xfrm>
            </p:grpSpPr>
            <p:sp>
              <p:nvSpPr>
                <p:cNvPr id="696" name="Google Shape;696;p36"/>
                <p:cNvSpPr/>
                <p:nvPr/>
              </p:nvSpPr>
              <p:spPr>
                <a:xfrm>
                  <a:off x="0" y="0"/>
                  <a:ext cx="304800" cy="304800"/>
                </a:xfrm>
                <a:prstGeom prst="ellipse">
                  <a:avLst/>
                </a:prstGeom>
                <a:solidFill>
                  <a:srgbClr val="FF6B6B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697" name="Google Shape;697;p36"/>
                <p:cNvSpPr/>
                <p:nvPr/>
              </p:nvSpPr>
              <p:spPr>
                <a:xfrm>
                  <a:off x="95250" y="9525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0"/>
                      </a:moveTo>
                      <a:lnTo>
                        <a:pt x="120000" y="120000"/>
                      </a:lnTo>
                      <a:moveTo>
                        <a:pt x="120000" y="0"/>
                      </a:moveTo>
                      <a:lnTo>
                        <a:pt x="0" y="120000"/>
                      </a:lnTo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28575" cap="rnd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</p:grpSp>
          <p:sp>
            <p:nvSpPr>
              <p:cNvPr id="698" name="Google Shape;698;p36"/>
              <p:cNvSpPr txBox="1"/>
              <p:nvPr/>
            </p:nvSpPr>
            <p:spPr>
              <a:xfrm>
                <a:off x="4972050" y="228600"/>
                <a:ext cx="3124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/>
                <a:r>
                  <a:rPr lang="en-GB" sz="2200" b="1">
                    <a:solidFill>
                      <a:srgbClr val="991B1B"/>
                    </a:solidFill>
                    <a:latin typeface="Outfit"/>
                    <a:ea typeface="Outfit"/>
                    <a:cs typeface="Outfit"/>
                    <a:sym typeface="Outfit"/>
                  </a:rPr>
                  <a:t>DON'T</a:t>
                </a:r>
              </a:p>
            </p:txBody>
          </p:sp>
          <p:sp>
            <p:nvSpPr>
              <p:cNvPr id="699" name="Google Shape;699;p36"/>
              <p:cNvSpPr txBox="1"/>
              <p:nvPr/>
            </p:nvSpPr>
            <p:spPr>
              <a:xfrm>
                <a:off x="4572000" y="800100"/>
                <a:ext cx="3524400" cy="2381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000" tIns="0" rIns="0" bIns="0" anchor="t" anchorCtr="0">
                <a:noAutofit/>
              </a:bodyPr>
              <a:lstStyle/>
              <a:p>
                <a:pPr marL="609585" indent="-423323">
                  <a:buClr>
                    <a:srgbClr val="991B1B"/>
                  </a:buClr>
                  <a:buSzPts val="1400"/>
                  <a:buChar char="●"/>
                </a:pPr>
                <a:r>
                  <a:rPr lang="en-GB" sz="15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Lie on your resume, badmouth previous professors or teammates, or interrupt the interviewer.</a:t>
                </a:r>
                <a:endParaRPr sz="1500">
                  <a:solidFill>
                    <a:srgbClr val="111827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 marL="609585" indent="-423323">
                  <a:spcBef>
                    <a:spcPts val="2400"/>
                  </a:spcBef>
                  <a:spcAft>
                    <a:spcPts val="2400"/>
                  </a:spcAft>
                  <a:buClr>
                    <a:srgbClr val="991B1B"/>
                  </a:buClr>
                  <a:buSzPts val="1400"/>
                  <a:buChar char="●"/>
                </a:pPr>
                <a:r>
                  <a:rPr lang="en-GB" sz="15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Memorize answers. Focus on understanding concepts so you can adapt to unexpected questions.</a:t>
                </a:r>
                <a:endParaRPr sz="1500">
                  <a:solidFill>
                    <a:srgbClr val="111827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21"/>
          <p:cNvGrpSpPr/>
          <p:nvPr/>
        </p:nvGrpSpPr>
        <p:grpSpPr>
          <a:xfrm>
            <a:off x="508000" y="508000"/>
            <a:ext cx="11201400" cy="762000"/>
            <a:chOff x="381000" y="381000"/>
            <a:chExt cx="8401050" cy="571500"/>
          </a:xfrm>
        </p:grpSpPr>
        <p:sp>
          <p:nvSpPr>
            <p:cNvPr id="255" name="Google Shape;255;p21"/>
            <p:cNvSpPr txBox="1"/>
            <p:nvPr/>
          </p:nvSpPr>
          <p:spPr>
            <a:xfrm>
              <a:off x="381000" y="38100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r>
                <a:rPr lang="en-GB" sz="2960">
                  <a:solidFill>
                    <a:srgbClr val="111827"/>
                  </a:solidFill>
                  <a:latin typeface="Outfit ExtraBold"/>
                  <a:ea typeface="Outfit ExtraBold"/>
                  <a:cs typeface="Outfit ExtraBold"/>
                  <a:sym typeface="Outfit ExtraBold"/>
                </a:rPr>
                <a:t>Showcasing Authentic Strengths &amp; Avoiding Vague Buzzwords</a:t>
              </a:r>
              <a:endParaRPr sz="1727"/>
            </a:p>
          </p:txBody>
        </p:sp>
        <p:cxnSp>
          <p:nvCxnSpPr>
            <p:cNvPr id="256" name="Google Shape;256;p21"/>
            <p:cNvCxnSpPr/>
            <p:nvPr/>
          </p:nvCxnSpPr>
          <p:spPr>
            <a:xfrm>
              <a:off x="381000" y="95250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w="3810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57" name="Google Shape;257;p21"/>
            <p:cNvSpPr/>
            <p:nvPr/>
          </p:nvSpPr>
          <p:spPr>
            <a:xfrm>
              <a:off x="8553450" y="457200"/>
              <a:ext cx="228600" cy="228600"/>
            </a:xfrm>
            <a:prstGeom prst="ellipse">
              <a:avLst/>
            </a:prstGeom>
            <a:solidFill>
              <a:srgbClr val="4338CA"/>
            </a:solidFill>
            <a:ln w="19050" cap="flat" cmpd="sng">
              <a:solidFill>
                <a:srgbClr val="1118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endParaRPr sz="2400"/>
            </a:p>
          </p:txBody>
        </p:sp>
      </p:grpSp>
      <p:grpSp>
        <p:nvGrpSpPr>
          <p:cNvPr id="258" name="Google Shape;258;p21"/>
          <p:cNvGrpSpPr/>
          <p:nvPr/>
        </p:nvGrpSpPr>
        <p:grpSpPr>
          <a:xfrm>
            <a:off x="508000" y="1778000"/>
            <a:ext cx="11252400" cy="4648200"/>
            <a:chOff x="381000" y="1333500"/>
            <a:chExt cx="8439300" cy="3486150"/>
          </a:xfrm>
        </p:grpSpPr>
        <p:grpSp>
          <p:nvGrpSpPr>
            <p:cNvPr id="259" name="Google Shape;259;p21"/>
            <p:cNvGrpSpPr/>
            <p:nvPr/>
          </p:nvGrpSpPr>
          <p:grpSpPr>
            <a:xfrm>
              <a:off x="381000" y="1333500"/>
              <a:ext cx="4153050" cy="3486150"/>
              <a:chOff x="0" y="0"/>
              <a:chExt cx="4153050" cy="3486150"/>
            </a:xfrm>
          </p:grpSpPr>
          <p:sp>
            <p:nvSpPr>
              <p:cNvPr id="260" name="Google Shape;260;p21"/>
              <p:cNvSpPr/>
              <p:nvPr/>
            </p:nvSpPr>
            <p:spPr>
              <a:xfrm>
                <a:off x="57150" y="5715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111827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1" name="Google Shape;261;p21"/>
              <p:cNvSpPr/>
              <p:nvPr/>
            </p:nvSpPr>
            <p:spPr>
              <a:xfrm>
                <a:off x="0" y="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FFFFFF"/>
              </a:solidFill>
              <a:ln w="28575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2" name="Google Shape;262;p21"/>
              <p:cNvSpPr txBox="1"/>
              <p:nvPr/>
            </p:nvSpPr>
            <p:spPr>
              <a:xfrm>
                <a:off x="285750" y="285750"/>
                <a:ext cx="3524400" cy="285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r>
                  <a:rPr lang="en-GB" sz="2000" b="1">
                    <a:solidFill>
                      <a:srgbClr val="4338CA"/>
                    </a:solidFill>
                    <a:latin typeface="Outfit"/>
                    <a:ea typeface="Outfit"/>
                    <a:cs typeface="Outfit"/>
                    <a:sym typeface="Outfit"/>
                  </a:rPr>
                  <a:t>Why Buzzwords Fail</a:t>
                </a:r>
                <a:endParaRPr sz="2000" b="1">
                  <a:solidFill>
                    <a:srgbClr val="4338CA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  <a:p>
                <a:pPr>
                  <a:spcBef>
                    <a:spcPts val="1400"/>
                  </a:spcBef>
                </a:pPr>
                <a:r>
                  <a:rPr lang="en-GB" sz="1400">
                    <a:solidFill>
                      <a:srgbClr val="4B5563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rPr>
                  <a:t>Recruiters quickly skim past generic, subjective adjectives. To truly stand out, replace fluff with verifiable, high-impact accomplishments.</a:t>
                </a:r>
                <a:endParaRPr sz="1400">
                  <a:solidFill>
                    <a:srgbClr val="4B5563"/>
                  </a:solidFill>
                  <a:latin typeface="DM Sans Medium"/>
                  <a:ea typeface="DM Sans Medium"/>
                  <a:cs typeface="DM Sans Medium"/>
                  <a:sym typeface="DM Sans Medium"/>
                </a:endParaRPr>
              </a:p>
              <a:p>
                <a:pPr>
                  <a:spcBef>
                    <a:spcPts val="1600"/>
                  </a:spcBef>
                </a:pPr>
                <a:r>
                  <a:rPr lang="en-GB" sz="1400" b="1">
                    <a:solidFill>
                      <a:srgbClr val="111827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How to Write Strong Bullets:</a:t>
                </a:r>
                <a:endParaRPr sz="1400" b="1">
                  <a:solidFill>
                    <a:srgbClr val="111827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09585" indent="-387764">
                  <a:spcBef>
                    <a:spcPts val="800"/>
                  </a:spcBef>
                  <a:buClr>
                    <a:srgbClr val="4B5563"/>
                  </a:buClr>
                  <a:buSzPts val="975"/>
                  <a:buFont typeface="DM Sans"/>
                  <a:buChar char="●"/>
                </a:pPr>
                <a:r>
                  <a:rPr lang="en-GB" sz="1300">
                    <a:solidFill>
                      <a:srgbClr val="4B5563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Lead with action verbs instead of descriptive filler</a:t>
                </a:r>
                <a:endParaRPr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09585" indent="-387764">
                  <a:spcBef>
                    <a:spcPts val="800"/>
                  </a:spcBef>
                  <a:buClr>
                    <a:srgbClr val="4B5563"/>
                  </a:buClr>
                  <a:buSzPts val="975"/>
                  <a:buFont typeface="DM Sans"/>
                  <a:buChar char="●"/>
                </a:pPr>
                <a:r>
                  <a:rPr lang="en-GB" sz="1300">
                    <a:solidFill>
                      <a:srgbClr val="4B5563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Use technical depth and metrics to prove competence</a:t>
                </a:r>
                <a:endParaRPr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609585" indent="-387764">
                  <a:spcBef>
                    <a:spcPts val="800"/>
                  </a:spcBef>
                  <a:buClr>
                    <a:srgbClr val="4B5563"/>
                  </a:buClr>
                  <a:buSzPts val="975"/>
                  <a:buFont typeface="DM Sans"/>
                  <a:buChar char="●"/>
                </a:pPr>
                <a:r>
                  <a:rPr lang="en-GB" sz="1300">
                    <a:solidFill>
                      <a:srgbClr val="4B5563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Be ready to defend every bullet in a live interview</a:t>
                </a:r>
                <a:endParaRPr sz="1300">
                  <a:solidFill>
                    <a:srgbClr val="4B5563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</p:txBody>
          </p:sp>
        </p:grpSp>
        <p:grpSp>
          <p:nvGrpSpPr>
            <p:cNvPr id="263" name="Google Shape;263;p21"/>
            <p:cNvGrpSpPr/>
            <p:nvPr/>
          </p:nvGrpSpPr>
          <p:grpSpPr>
            <a:xfrm>
              <a:off x="4667250" y="1333500"/>
              <a:ext cx="4153050" cy="3486150"/>
              <a:chOff x="0" y="0"/>
              <a:chExt cx="4153050" cy="3486150"/>
            </a:xfrm>
          </p:grpSpPr>
          <p:sp>
            <p:nvSpPr>
              <p:cNvPr id="264" name="Google Shape;264;p21"/>
              <p:cNvSpPr/>
              <p:nvPr/>
            </p:nvSpPr>
            <p:spPr>
              <a:xfrm>
                <a:off x="57150" y="5715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111827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5" name="Google Shape;265;p21"/>
              <p:cNvSpPr/>
              <p:nvPr/>
            </p:nvSpPr>
            <p:spPr>
              <a:xfrm>
                <a:off x="0" y="0"/>
                <a:ext cx="4095900" cy="3429000"/>
              </a:xfrm>
              <a:prstGeom prst="roundRect">
                <a:avLst>
                  <a:gd name="adj" fmla="val 4444"/>
                </a:avLst>
              </a:prstGeom>
              <a:solidFill>
                <a:srgbClr val="FFFFFF"/>
              </a:solidFill>
              <a:ln w="28575" cap="flat" cmpd="sng">
                <a:solidFill>
                  <a:srgbClr val="11182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endParaRPr sz="2400"/>
              </a:p>
            </p:txBody>
          </p:sp>
          <p:grpSp>
            <p:nvGrpSpPr>
              <p:cNvPr id="266" name="Google Shape;266;p21"/>
              <p:cNvGrpSpPr/>
              <p:nvPr/>
            </p:nvGrpSpPr>
            <p:grpSpPr>
              <a:xfrm>
                <a:off x="190500" y="190500"/>
                <a:ext cx="1800300" cy="1467000"/>
                <a:chOff x="190500" y="190500"/>
                <a:chExt cx="1800300" cy="1467000"/>
              </a:xfrm>
            </p:grpSpPr>
            <p:sp>
              <p:nvSpPr>
                <p:cNvPr id="267" name="Google Shape;267;p21"/>
                <p:cNvSpPr/>
                <p:nvPr/>
              </p:nvSpPr>
              <p:spPr>
                <a:xfrm>
                  <a:off x="228600" y="22860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111827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68" name="Google Shape;268;p21"/>
                <p:cNvSpPr/>
                <p:nvPr/>
              </p:nvSpPr>
              <p:spPr>
                <a:xfrm>
                  <a:off x="190500" y="19050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FF6B6B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69" name="Google Shape;269;p21"/>
                <p:cNvSpPr txBox="1"/>
                <p:nvPr/>
              </p:nvSpPr>
              <p:spPr>
                <a:xfrm>
                  <a:off x="285750" y="285750"/>
                  <a:ext cx="1571700" cy="1238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r>
                    <a:rPr lang="en-GB" sz="1500" b="1">
                      <a:solidFill>
                        <a:srgbClr val="111827"/>
                      </a:solidFill>
                      <a:latin typeface="Outfit"/>
                      <a:ea typeface="Outfit"/>
                      <a:cs typeface="Outfit"/>
                      <a:sym typeface="Outfit"/>
                    </a:rPr>
                    <a:t>Avoid Buzzwords</a:t>
                  </a:r>
                  <a:endParaRPr sz="1500" b="1">
                    <a:solidFill>
                      <a:srgbClr val="111827"/>
                    </a:solidFill>
                    <a:latin typeface="Outfit"/>
                    <a:ea typeface="Outfit"/>
                    <a:cs typeface="Outfit"/>
                    <a:sym typeface="Outfit"/>
                  </a:endParaRPr>
                </a:p>
                <a:p>
                  <a:pPr>
                    <a:spcBef>
                      <a:spcPts val="400"/>
                    </a:spcBef>
                  </a:pPr>
                  <a:r>
                    <a:rPr lang="en-GB" sz="1200">
                      <a:solidFill>
                        <a:srgbClr val="111827"/>
                      </a:solidFill>
                      <a:latin typeface="DM Sans Medium"/>
                      <a:ea typeface="DM Sans Medium"/>
                      <a:cs typeface="DM Sans Medium"/>
                      <a:sym typeface="DM Sans Medium"/>
                    </a:rPr>
                    <a:t>Skip vague terms like 'Hardworking', 'Team Player', 'Detail-Oriented', or 'Quick Learner'.</a:t>
                  </a:r>
                  <a:endParaRPr sz="12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endParaRPr>
                </a:p>
              </p:txBody>
            </p:sp>
          </p:grpSp>
          <p:grpSp>
            <p:nvGrpSpPr>
              <p:cNvPr id="270" name="Google Shape;270;p21"/>
              <p:cNvGrpSpPr/>
              <p:nvPr/>
            </p:nvGrpSpPr>
            <p:grpSpPr>
              <a:xfrm>
                <a:off x="2143125" y="190500"/>
                <a:ext cx="1800300" cy="1467000"/>
                <a:chOff x="2143125" y="190500"/>
                <a:chExt cx="1800300" cy="1467000"/>
              </a:xfrm>
            </p:grpSpPr>
            <p:sp>
              <p:nvSpPr>
                <p:cNvPr id="271" name="Google Shape;271;p21"/>
                <p:cNvSpPr/>
                <p:nvPr/>
              </p:nvSpPr>
              <p:spPr>
                <a:xfrm>
                  <a:off x="2181225" y="22860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111827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72" name="Google Shape;272;p21"/>
                <p:cNvSpPr/>
                <p:nvPr/>
              </p:nvSpPr>
              <p:spPr>
                <a:xfrm>
                  <a:off x="2143125" y="19050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FBBF24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73" name="Google Shape;273;p21"/>
                <p:cNvSpPr txBox="1"/>
                <p:nvPr/>
              </p:nvSpPr>
              <p:spPr>
                <a:xfrm>
                  <a:off x="2238375" y="285750"/>
                  <a:ext cx="1571700" cy="1238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r>
                    <a:rPr lang="en-GB" sz="1500" b="1">
                      <a:solidFill>
                        <a:srgbClr val="111827"/>
                      </a:solidFill>
                      <a:latin typeface="Outfit"/>
                      <a:ea typeface="Outfit"/>
                      <a:cs typeface="Outfit"/>
                      <a:sym typeface="Outfit"/>
                    </a:rPr>
                    <a:t>Use Action Verbs</a:t>
                  </a:r>
                  <a:endParaRPr sz="1500" b="1">
                    <a:solidFill>
                      <a:srgbClr val="111827"/>
                    </a:solidFill>
                    <a:latin typeface="Outfit"/>
                    <a:ea typeface="Outfit"/>
                    <a:cs typeface="Outfit"/>
                    <a:sym typeface="Outfit"/>
                  </a:endParaRPr>
                </a:p>
                <a:p>
                  <a:pPr>
                    <a:spcBef>
                      <a:spcPts val="400"/>
                    </a:spcBef>
                  </a:pPr>
                  <a:r>
                    <a:rPr lang="en-GB" sz="1200">
                      <a:solidFill>
                        <a:srgbClr val="111827"/>
                      </a:solidFill>
                      <a:latin typeface="DM Sans Medium"/>
                      <a:ea typeface="DM Sans Medium"/>
                      <a:cs typeface="DM Sans Medium"/>
                      <a:sym typeface="DM Sans Medium"/>
                    </a:rPr>
                    <a:t>Start bullet points with 'Developed', 'Optimized', 'Led', or 'Architected' instead.</a:t>
                  </a:r>
                  <a:endParaRPr sz="12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endParaRPr>
                </a:p>
              </p:txBody>
            </p:sp>
          </p:grpSp>
          <p:grpSp>
            <p:nvGrpSpPr>
              <p:cNvPr id="274" name="Google Shape;274;p21"/>
              <p:cNvGrpSpPr/>
              <p:nvPr/>
            </p:nvGrpSpPr>
            <p:grpSpPr>
              <a:xfrm>
                <a:off x="190500" y="1809750"/>
                <a:ext cx="1800300" cy="1467000"/>
                <a:chOff x="190500" y="1809750"/>
                <a:chExt cx="1800300" cy="1467000"/>
              </a:xfrm>
            </p:grpSpPr>
            <p:sp>
              <p:nvSpPr>
                <p:cNvPr id="275" name="Google Shape;275;p21"/>
                <p:cNvSpPr/>
                <p:nvPr/>
              </p:nvSpPr>
              <p:spPr>
                <a:xfrm>
                  <a:off x="228600" y="184785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111827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76" name="Google Shape;276;p21"/>
                <p:cNvSpPr/>
                <p:nvPr/>
              </p:nvSpPr>
              <p:spPr>
                <a:xfrm>
                  <a:off x="190500" y="180975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34D399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77" name="Google Shape;277;p21"/>
                <p:cNvSpPr txBox="1"/>
                <p:nvPr/>
              </p:nvSpPr>
              <p:spPr>
                <a:xfrm>
                  <a:off x="285750" y="1905000"/>
                  <a:ext cx="1571700" cy="1238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r>
                    <a:rPr lang="en-GB" sz="1500" b="1">
                      <a:solidFill>
                        <a:srgbClr val="111827"/>
                      </a:solidFill>
                      <a:latin typeface="Outfit"/>
                      <a:ea typeface="Outfit"/>
                      <a:cs typeface="Outfit"/>
                      <a:sym typeface="Outfit"/>
                    </a:rPr>
                    <a:t>Provide Proof</a:t>
                  </a:r>
                  <a:endParaRPr sz="1500" b="1">
                    <a:solidFill>
                      <a:srgbClr val="111827"/>
                    </a:solidFill>
                    <a:latin typeface="Outfit"/>
                    <a:ea typeface="Outfit"/>
                    <a:cs typeface="Outfit"/>
                    <a:sym typeface="Outfit"/>
                  </a:endParaRPr>
                </a:p>
                <a:p>
                  <a:pPr>
                    <a:spcBef>
                      <a:spcPts val="400"/>
                    </a:spcBef>
                  </a:pPr>
                  <a:r>
                    <a:rPr lang="en-GB" sz="1200">
                      <a:solidFill>
                        <a:srgbClr val="111827"/>
                      </a:solidFill>
                      <a:latin typeface="DM Sans Medium"/>
                      <a:ea typeface="DM Sans Medium"/>
                      <a:cs typeface="DM Sans Medium"/>
                      <a:sym typeface="DM Sans Medium"/>
                    </a:rPr>
                    <a:t>Replace 'good at Python' with 'Developed Python scraper that automated daily data'.</a:t>
                  </a:r>
                  <a:endParaRPr sz="1200">
                    <a:solidFill>
                      <a:srgbClr val="111827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endParaRPr>
                </a:p>
              </p:txBody>
            </p:sp>
          </p:grpSp>
          <p:grpSp>
            <p:nvGrpSpPr>
              <p:cNvPr id="278" name="Google Shape;278;p21"/>
              <p:cNvGrpSpPr/>
              <p:nvPr/>
            </p:nvGrpSpPr>
            <p:grpSpPr>
              <a:xfrm>
                <a:off x="2143125" y="1809750"/>
                <a:ext cx="1800300" cy="1467000"/>
                <a:chOff x="2143125" y="1809750"/>
                <a:chExt cx="1800300" cy="1467000"/>
              </a:xfrm>
            </p:grpSpPr>
            <p:sp>
              <p:nvSpPr>
                <p:cNvPr id="279" name="Google Shape;279;p21"/>
                <p:cNvSpPr/>
                <p:nvPr/>
              </p:nvSpPr>
              <p:spPr>
                <a:xfrm>
                  <a:off x="2181225" y="184785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111827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80" name="Google Shape;280;p21"/>
                <p:cNvSpPr/>
                <p:nvPr/>
              </p:nvSpPr>
              <p:spPr>
                <a:xfrm>
                  <a:off x="2143125" y="1809750"/>
                  <a:ext cx="1762200" cy="1428900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4338CA"/>
                </a:solidFill>
                <a:ln w="19050" cap="flat" cmpd="sng">
                  <a:solidFill>
                    <a:srgbClr val="11182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endParaRPr sz="2400"/>
                </a:p>
              </p:txBody>
            </p:sp>
            <p:sp>
              <p:nvSpPr>
                <p:cNvPr id="281" name="Google Shape;281;p21"/>
                <p:cNvSpPr txBox="1"/>
                <p:nvPr/>
              </p:nvSpPr>
              <p:spPr>
                <a:xfrm>
                  <a:off x="2238375" y="1905000"/>
                  <a:ext cx="1571700" cy="1238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r>
                    <a:rPr lang="en-GB" sz="1500" b="1">
                      <a:solidFill>
                        <a:srgbClr val="FFFFFF"/>
                      </a:solidFill>
                      <a:latin typeface="Outfit"/>
                      <a:ea typeface="Outfit"/>
                      <a:cs typeface="Outfit"/>
                      <a:sym typeface="Outfit"/>
                    </a:rPr>
                    <a:t>Authenticity</a:t>
                  </a:r>
                  <a:endParaRPr sz="1500" b="1">
                    <a:solidFill>
                      <a:srgbClr val="FFFFFF"/>
                    </a:solidFill>
                    <a:latin typeface="Outfit"/>
                    <a:ea typeface="Outfit"/>
                    <a:cs typeface="Outfit"/>
                    <a:sym typeface="Outfit"/>
                  </a:endParaRPr>
                </a:p>
                <a:p>
                  <a:pPr>
                    <a:spcBef>
                      <a:spcPts val="400"/>
                    </a:spcBef>
                  </a:pPr>
                  <a:r>
                    <a:rPr lang="en-GB" sz="1200">
                      <a:solidFill>
                        <a:srgbClr val="F3F4F6"/>
                      </a:solidFill>
                      <a:latin typeface="DM Sans Medium"/>
                      <a:ea typeface="DM Sans Medium"/>
                      <a:cs typeface="DM Sans Medium"/>
                      <a:sym typeface="DM Sans Medium"/>
                    </a:rPr>
                    <a:t>Only list technical skills you can confidently defend in a live deep-dive session.</a:t>
                  </a:r>
                  <a:endParaRPr sz="1200">
                    <a:solidFill>
                      <a:srgbClr val="F3F4F6"/>
                    </a:solidFill>
                    <a:latin typeface="DM Sans Medium"/>
                    <a:ea typeface="DM Sans Medium"/>
                    <a:cs typeface="DM Sans Medium"/>
                    <a:sym typeface="DM Sans Medium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1092</Words>
  <Application>Microsoft Office PowerPoint</Application>
  <PresentationFormat>Widescreen</PresentationFormat>
  <Paragraphs>122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6" baseType="lpstr">
      <vt:lpstr>Arial</vt:lpstr>
      <vt:lpstr>Calibri</vt:lpstr>
      <vt:lpstr>DM Sans</vt:lpstr>
      <vt:lpstr>DM Sans Medium</vt:lpstr>
      <vt:lpstr>Inter</vt:lpstr>
      <vt:lpstr>Inter SemiBold</vt:lpstr>
      <vt:lpstr>Outfit</vt:lpstr>
      <vt:lpstr>Outfit ExtraBold</vt:lpstr>
      <vt:lpstr>Poppins</vt:lpstr>
      <vt:lpstr>Poppins ExtraBold</vt:lpstr>
      <vt:lpstr>Poppins SemiBold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vipar</dc:creator>
  <cp:lastModifiedBy>Brinda Dorairaj</cp:lastModifiedBy>
  <cp:revision>1</cp:revision>
  <dcterms:created xsi:type="dcterms:W3CDTF">2026-07-08T09:16:17Z</dcterms:created>
  <dcterms:modified xsi:type="dcterms:W3CDTF">2026-07-14T17:05:13Z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841358CE702E77C220154E6A88366A58_41</vt:lpwstr>
  </property>
</Properties>
</file>