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9" r:id="rId4"/>
    <p:sldId id="257" r:id="rId5"/>
    <p:sldId id="258" r:id="rId6"/>
    <p:sldId id="260" r:id="rId7"/>
    <p:sldId id="26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38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sp>
        <p:nvSpPr>
          <p:cNvPr id="16" name="Date Placeholder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title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text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en-US" smtClean="0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</a:fld>
            <a:endParaRPr lang="en-US"/>
          </a:p>
        </p:txBody>
      </p:sp>
      <p:sp>
        <p:nvSpPr>
          <p:cNvPr id="9" name="Title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8.xml"/><Relationship Id="rId2" Type="http://schemas.openxmlformats.org/officeDocument/2006/relationships/tags" Target="../tags/tag67.xml"/><Relationship Id="rId1" Type="http://schemas.openxmlformats.org/officeDocument/2006/relationships/tags" Target="../tags/tag66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tags" Target="../tags/tag69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4.xml"/><Relationship Id="rId2" Type="http://schemas.openxmlformats.org/officeDocument/2006/relationships/tags" Target="../tags/tag73.xml"/><Relationship Id="rId1" Type="http://schemas.openxmlformats.org/officeDocument/2006/relationships/tags" Target="../tags/tag72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7.xml"/><Relationship Id="rId2" Type="http://schemas.openxmlformats.org/officeDocument/2006/relationships/tags" Target="../tags/tag76.xml"/><Relationship Id="rId1" Type="http://schemas.openxmlformats.org/officeDocument/2006/relationships/tags" Target="../tags/tag7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9.xml"/><Relationship Id="rId1" Type="http://schemas.openxmlformats.org/officeDocument/2006/relationships/tags" Target="../tags/tag7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Markov Matrices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/>
          <a:p>
            <a:r>
              <a:rPr lang="en-US"/>
              <a:t>Next Word Prediction</a:t>
            </a:r>
            <a:endParaRPr lang="en-US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The Intelligent Agent - An Illusion ??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en-US"/>
              <a:t>Are agents really intelligent ?</a:t>
            </a:r>
            <a:endParaRPr lang="en-US"/>
          </a:p>
          <a:p>
            <a:r>
              <a:rPr lang="en-US"/>
              <a:t>Do the know what they are doing ?</a:t>
            </a:r>
            <a:endParaRPr lang="en-US"/>
          </a:p>
          <a:p>
            <a:r>
              <a:rPr lang="en-US"/>
              <a:t>How do LLMs that power inteligenet agents work ?</a:t>
            </a:r>
            <a:endParaRPr lang="en-US"/>
          </a:p>
          <a:p>
            <a:r>
              <a:rPr lang="en-US"/>
              <a:t>How do they excel at answering questions, summarizing text, performing seemingly intelligent actions ?</a:t>
            </a:r>
            <a:endParaRPr lang="en-US"/>
          </a:p>
          <a:p>
            <a:endParaRPr lang="en-US"/>
          </a:p>
          <a:p>
            <a:r>
              <a:rPr lang="en-US"/>
              <a:t>We’ll use a markov matrix as a tool / proxy to gain an intution about how LLMs work</a:t>
            </a:r>
            <a:endParaRPr lang="en-US"/>
          </a:p>
        </p:txBody>
      </p:sp>
    </p:spTree>
    <p:custDataLst>
      <p:tags r:id="rId3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Training Corpus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en-US"/>
              <a:t>Let’s say we have a corpus of 3 sentences</a:t>
            </a:r>
            <a:endParaRPr lang="en-US"/>
          </a:p>
          <a:p>
            <a:pPr lvl="1"/>
            <a:r>
              <a:rPr lang="en-US"/>
              <a:t>i like cats</a:t>
            </a:r>
            <a:endParaRPr lang="en-US"/>
          </a:p>
          <a:p>
            <a:pPr lvl="1"/>
            <a:r>
              <a:rPr lang="en-US"/>
              <a:t>cats like dogs</a:t>
            </a:r>
            <a:endParaRPr lang="en-US"/>
          </a:p>
          <a:p>
            <a:pPr lvl="1"/>
            <a:r>
              <a:rPr lang="en-US"/>
              <a:t>dogs like cats</a:t>
            </a:r>
            <a:endParaRPr lang="en-US"/>
          </a:p>
          <a:p>
            <a:pPr lvl="0"/>
            <a:r>
              <a:rPr lang="en-US"/>
              <a:t>The corpus has 4 distict words</a:t>
            </a:r>
            <a:endParaRPr lang="en-US"/>
          </a:p>
          <a:p>
            <a:pPr lvl="1"/>
            <a:r>
              <a:rPr lang="en-US" sz="1600"/>
              <a:t>i</a:t>
            </a:r>
            <a:endParaRPr lang="en-US" sz="1600"/>
          </a:p>
          <a:p>
            <a:pPr lvl="1"/>
            <a:r>
              <a:rPr lang="en-US" sz="1600"/>
              <a:t>like</a:t>
            </a:r>
            <a:endParaRPr lang="en-US" sz="1600"/>
          </a:p>
          <a:p>
            <a:pPr lvl="1"/>
            <a:r>
              <a:rPr lang="en-US" sz="1600"/>
              <a:t>cats</a:t>
            </a:r>
            <a:endParaRPr lang="en-US" sz="1600"/>
          </a:p>
          <a:p>
            <a:pPr lvl="1"/>
            <a:r>
              <a:rPr lang="en-US" sz="1600"/>
              <a:t>dogs</a:t>
            </a:r>
            <a:endParaRPr lang="en-US"/>
          </a:p>
          <a:p>
            <a:pPr lvl="0"/>
            <a:r>
              <a:rPr lang="en-US"/>
              <a:t>Can we do something interesting with this corpus to further our understanding of how LLMs work ?</a:t>
            </a:r>
            <a:endParaRPr lang="en-US"/>
          </a:p>
        </p:txBody>
      </p:sp>
    </p:spTree>
    <p:custDataLst>
      <p:tags r:id="rId3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Modelling word sequences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330" y="1490345"/>
            <a:ext cx="4318000" cy="4120515"/>
          </a:xfrm>
        </p:spPr>
        <p:txBody>
          <a:bodyPr>
            <a:normAutofit/>
          </a:bodyPr>
          <a:p>
            <a:r>
              <a:rPr lang="en-US"/>
              <a:t>Corpus</a:t>
            </a:r>
            <a:endParaRPr lang="en-US"/>
          </a:p>
          <a:p>
            <a:pPr lvl="1"/>
            <a:r>
              <a:rPr lang="en-US" sz="1600"/>
              <a:t>i like cats</a:t>
            </a:r>
            <a:endParaRPr lang="en-US" sz="1600"/>
          </a:p>
          <a:p>
            <a:pPr lvl="1"/>
            <a:r>
              <a:rPr lang="en-US" sz="1600"/>
              <a:t>cats like dogs</a:t>
            </a:r>
            <a:endParaRPr lang="en-US" sz="1600"/>
          </a:p>
          <a:p>
            <a:pPr lvl="1"/>
            <a:r>
              <a:rPr lang="en-US" sz="1600"/>
              <a:t>dogs like cats</a:t>
            </a:r>
            <a:endParaRPr lang="en-US" sz="1600"/>
          </a:p>
          <a:p>
            <a:pPr lvl="1"/>
            <a:endParaRPr lang="en-US"/>
          </a:p>
          <a:p>
            <a:r>
              <a:rPr lang="en-US"/>
              <a:t>We can model words sequences into a matrix as follows</a:t>
            </a:r>
            <a:endParaRPr lang="en-US"/>
          </a:p>
        </p:txBody>
      </p:sp>
      <p:graphicFrame>
        <p:nvGraphicFramePr>
          <p:cNvPr id="4" name="Table 3"/>
          <p:cNvGraphicFramePr/>
          <p:nvPr/>
        </p:nvGraphicFramePr>
        <p:xfrm>
          <a:off x="5990590" y="1759585"/>
          <a:ext cx="5438775" cy="1889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87755"/>
                <a:gridCol w="1087755"/>
                <a:gridCol w="1087755"/>
                <a:gridCol w="1087755"/>
                <a:gridCol w="1087755"/>
              </a:tblGrid>
              <a:tr h="340995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i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like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cats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dogs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i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1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like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2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1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cats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1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dogs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1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Table 4"/>
          <p:cNvGraphicFramePr/>
          <p:nvPr/>
        </p:nvGraphicFramePr>
        <p:xfrm>
          <a:off x="5990590" y="4476115"/>
          <a:ext cx="5438775" cy="1889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87755"/>
                <a:gridCol w="1087755"/>
                <a:gridCol w="1087755"/>
                <a:gridCol w="1087755"/>
                <a:gridCol w="1087755"/>
              </a:tblGrid>
              <a:tr h="340995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i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like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cats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dogs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i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1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like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0.66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0.33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cats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1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dogs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1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3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Fill in the blanks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7543800" y="1490345"/>
            <a:ext cx="4033520" cy="4759325"/>
          </a:xfrm>
        </p:spPr>
        <p:txBody>
          <a:bodyPr/>
          <a:p>
            <a:r>
              <a:rPr lang="en-US" b="1">
                <a:latin typeface="Arial Bold" panose="020B0604020202090204" charset="0"/>
                <a:cs typeface="Arial Bold" panose="020B0604020202090204" charset="0"/>
              </a:rPr>
              <a:t>Example 1</a:t>
            </a:r>
            <a:endParaRPr lang="en-US" b="1">
              <a:latin typeface="Arial Bold" panose="020B0604020202090204" charset="0"/>
              <a:cs typeface="Arial Bold" panose="020B0604020202090204" charset="0"/>
            </a:endParaRPr>
          </a:p>
          <a:p>
            <a:pPr lvl="1"/>
            <a:r>
              <a:rPr lang="en-US"/>
              <a:t>dogs </a:t>
            </a:r>
            <a:r>
              <a:rPr lang="en-US">
                <a:sym typeface="+mn-ea"/>
              </a:rPr>
              <a:t>___ ___</a:t>
            </a:r>
            <a:endParaRPr lang="en-US">
              <a:sym typeface="+mn-ea"/>
            </a:endParaRPr>
          </a:p>
          <a:p>
            <a:pPr lvl="1"/>
            <a:r>
              <a:rPr lang="en-US">
                <a:sym typeface="+mn-ea"/>
              </a:rPr>
              <a:t>dogs like</a:t>
            </a:r>
            <a:r>
              <a:rPr lang="en-US"/>
              <a:t> </a:t>
            </a:r>
            <a:r>
              <a:rPr lang="en-US">
                <a:sym typeface="+mn-ea"/>
              </a:rPr>
              <a:t>___</a:t>
            </a:r>
            <a:endParaRPr lang="en-US">
              <a:sym typeface="+mn-ea"/>
            </a:endParaRPr>
          </a:p>
          <a:p>
            <a:pPr lvl="1"/>
            <a:r>
              <a:rPr lang="en-US">
                <a:sym typeface="+mn-ea"/>
              </a:rPr>
              <a:t>dogs like cats</a:t>
            </a:r>
            <a:endParaRPr lang="en-US">
              <a:sym typeface="+mn-ea"/>
            </a:endParaRPr>
          </a:p>
          <a:p>
            <a:pPr marL="457200" lvl="1" indent="0">
              <a:buNone/>
            </a:pPr>
            <a:endParaRPr lang="en-US">
              <a:sym typeface="+mn-ea"/>
            </a:endParaRPr>
          </a:p>
          <a:p>
            <a:pPr lvl="0"/>
            <a:r>
              <a:rPr lang="en-US" b="1">
                <a:latin typeface="Arial Bold" panose="020B0604020202090204" charset="0"/>
                <a:cs typeface="Arial Bold" panose="020B0604020202090204" charset="0"/>
              </a:rPr>
              <a:t>Example 2</a:t>
            </a:r>
            <a:endParaRPr lang="en-US" b="1">
              <a:latin typeface="Arial Bold" panose="020B0604020202090204" charset="0"/>
              <a:cs typeface="Arial Bold" panose="020B0604020202090204" charset="0"/>
            </a:endParaRPr>
          </a:p>
          <a:p>
            <a:pPr lvl="1"/>
            <a:r>
              <a:rPr lang="en-US"/>
              <a:t>cats ___ ___</a:t>
            </a:r>
            <a:endParaRPr lang="en-US"/>
          </a:p>
          <a:p>
            <a:pPr lvl="1"/>
            <a:r>
              <a:rPr lang="en-US">
                <a:sym typeface="+mn-ea"/>
              </a:rPr>
              <a:t>cats like ___</a:t>
            </a:r>
            <a:endParaRPr lang="en-US"/>
          </a:p>
          <a:p>
            <a:pPr lvl="1"/>
            <a:r>
              <a:rPr lang="en-US"/>
              <a:t>cats like cats</a:t>
            </a:r>
            <a:endParaRPr lang="en-US"/>
          </a:p>
        </p:txBody>
      </p:sp>
      <p:graphicFrame>
        <p:nvGraphicFramePr>
          <p:cNvPr id="5" name="Table 4"/>
          <p:cNvGraphicFramePr/>
          <p:nvPr/>
        </p:nvGraphicFramePr>
        <p:xfrm>
          <a:off x="791845" y="1792605"/>
          <a:ext cx="5438775" cy="1889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87755"/>
                <a:gridCol w="1087755"/>
                <a:gridCol w="1087755"/>
                <a:gridCol w="1087755"/>
                <a:gridCol w="1087755"/>
              </a:tblGrid>
              <a:tr h="340995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i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like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cats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dogs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i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1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like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0.66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0.33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cats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1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dogs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1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 Box 3"/>
          <p:cNvSpPr txBox="1"/>
          <p:nvPr/>
        </p:nvSpPr>
        <p:spPr>
          <a:xfrm>
            <a:off x="697865" y="4326255"/>
            <a:ext cx="6096000" cy="11068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>
                <a:sym typeface="+mn-ea"/>
              </a:rPr>
              <a:t>Corpus</a:t>
            </a:r>
            <a:endParaRPr lang="en-US"/>
          </a:p>
          <a:p>
            <a:pPr lvl="1"/>
            <a:r>
              <a:rPr lang="en-US" sz="1600">
                <a:sym typeface="+mn-ea"/>
              </a:rPr>
              <a:t>i like cats</a:t>
            </a:r>
            <a:endParaRPr lang="en-US" sz="1600"/>
          </a:p>
          <a:p>
            <a:pPr lvl="1"/>
            <a:r>
              <a:rPr lang="en-US" sz="1600">
                <a:sym typeface="+mn-ea"/>
              </a:rPr>
              <a:t>cats like dogs</a:t>
            </a:r>
            <a:endParaRPr lang="en-US" sz="1600"/>
          </a:p>
          <a:p>
            <a:pPr lvl="1"/>
            <a:r>
              <a:rPr lang="en-US" sz="1600">
                <a:sym typeface="+mn-ea"/>
              </a:rPr>
              <a:t>dogs like cats</a:t>
            </a:r>
            <a:endParaRPr lang="en-US" sz="1600">
              <a:sym typeface="+mn-ea"/>
            </a:endParaRPr>
          </a:p>
        </p:txBody>
      </p:sp>
    </p:spTree>
    <p:custDataLst>
      <p:tags r:id="rId3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Extending to a 2nd Order Model</a:t>
            </a:r>
            <a:endParaRPr lang="en-US"/>
          </a:p>
        </p:txBody>
      </p:sp>
      <p:graphicFrame>
        <p:nvGraphicFramePr>
          <p:cNvPr id="5" name="Table 4"/>
          <p:cNvGraphicFramePr/>
          <p:nvPr/>
        </p:nvGraphicFramePr>
        <p:xfrm>
          <a:off x="791845" y="1792605"/>
          <a:ext cx="5438775" cy="2270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89710"/>
                <a:gridCol w="685800"/>
                <a:gridCol w="1087755"/>
                <a:gridCol w="1087755"/>
                <a:gridCol w="1087755"/>
              </a:tblGrid>
              <a:tr h="340995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i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like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cats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dogs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i like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like cats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cats like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like dogs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b="1">
                          <a:latin typeface="Arial Bold" panose="020B0604020202090204" charset="0"/>
                          <a:cs typeface="Arial Bold" panose="020B0604020202090204" charset="0"/>
                        </a:rPr>
                        <a:t>dogs like</a:t>
                      </a:r>
                      <a:endParaRPr lang="en-US" b="1">
                        <a:latin typeface="Arial Bold" panose="020B0604020202090204" charset="0"/>
                        <a:cs typeface="Arial Bold" panose="020B0604020202090204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...</a:t>
                      </a:r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 Box 3"/>
          <p:cNvSpPr txBox="1"/>
          <p:nvPr/>
        </p:nvSpPr>
        <p:spPr>
          <a:xfrm>
            <a:off x="7061200" y="1750060"/>
            <a:ext cx="4407535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/>
              <a:t>Better performance than a 1st order model</a:t>
            </a:r>
            <a:endParaRPr lang="en-US"/>
          </a:p>
          <a:p>
            <a:pPr marL="285750" indent="-285750">
              <a:buFont typeface="Arial" panose="020B060402020209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/>
              <a:t>Occupies much more space though</a:t>
            </a:r>
            <a:endParaRPr lang="en-US"/>
          </a:p>
          <a:p>
            <a:pPr marL="742950" lvl="1" indent="-285750">
              <a:buFont typeface="Arial" panose="020B0604020202090204" pitchFamily="34" charset="0"/>
              <a:buChar char="•"/>
            </a:pPr>
            <a:r>
              <a:rPr lang="en-US"/>
              <a:t>Performance vs size</a:t>
            </a:r>
            <a:endParaRPr lang="en-US"/>
          </a:p>
        </p:txBody>
      </p:sp>
    </p:spTree>
    <p:custDataLst>
      <p:tags r:id="rId2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</p:tagLst>
</file>

<file path=ppt/tags/tag7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</p:tagLst>
</file>

<file path=ppt/tags/tag7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</p:tagLst>
</file>

<file path=ppt/tags/tag7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1225</Words>
  <Application>WPS Sheets</Application>
  <PresentationFormat>Widescreen</PresentationFormat>
  <Paragraphs>195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8" baseType="lpstr">
      <vt:lpstr>Arial</vt:lpstr>
      <vt:lpstr>SimSun</vt:lpstr>
      <vt:lpstr>Wingdings</vt:lpstr>
      <vt:lpstr>Wingdings</vt:lpstr>
      <vt:lpstr>Microsoft YaHei</vt:lpstr>
      <vt:lpstr>汉仪旗黑</vt:lpstr>
      <vt:lpstr>Arial Unicode MS</vt:lpstr>
      <vt:lpstr>Calibri</vt:lpstr>
      <vt:lpstr>Helvetica Neue</vt:lpstr>
      <vt:lpstr>宋体-简</vt:lpstr>
      <vt:lpstr>Arial Bold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Markov Matrices</dc:title>
  <dc:creator>vipar</dc:creator>
  <cp:lastModifiedBy>vipar</cp:lastModifiedBy>
  <cp:revision>1</cp:revision>
  <dcterms:created xsi:type="dcterms:W3CDTF">2026-07-11T09:43:47Z</dcterms:created>
  <dcterms:modified xsi:type="dcterms:W3CDTF">2026-07-11T09:43:47Z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1033-12.1.26015.26015</vt:lpwstr>
  </property>
  <property fmtid="{D5CDD505-2E9C-101B-9397-08002B2CF9AE}" pid="3" name="ICV">
    <vt:lpwstr>0CB151FB914A3C606F05526A75D87685_41</vt:lpwstr>
  </property>
</Properties>
</file>