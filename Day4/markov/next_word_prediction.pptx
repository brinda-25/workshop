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How LLMs work ?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Gaining an intution 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The Intelligent Agent - An Illusion ??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Are agents really intelligent ?</a:t>
            </a:r>
            <a:endParaRPr lang="en-US"/>
          </a:p>
          <a:p>
            <a:r>
              <a:rPr lang="en-US"/>
              <a:t>Do they know what they are doing ?</a:t>
            </a:r>
            <a:endParaRPr lang="en-US"/>
          </a:p>
          <a:p>
            <a:r>
              <a:rPr lang="en-US"/>
              <a:t>How do LLMs that power intelligent agents work ?</a:t>
            </a:r>
            <a:endParaRPr lang="en-US"/>
          </a:p>
          <a:p>
            <a:r>
              <a:rPr lang="en-US"/>
              <a:t>How do they excel at answering questions, summarizing text, performing seemingly intelligent actions ?</a:t>
            </a:r>
            <a:endParaRPr lang="en-US"/>
          </a:p>
          <a:p>
            <a:endParaRPr lang="en-US"/>
          </a:p>
          <a:p>
            <a:r>
              <a:rPr lang="en-US"/>
              <a:t>LLMs are complex neural networks</a:t>
            </a:r>
            <a:endParaRPr lang="en-US"/>
          </a:p>
          <a:p>
            <a:pPr lvl="1"/>
            <a:r>
              <a:rPr lang="en-US"/>
              <a:t>Given a sequence of words (context), they excel at predicting the next word(s)</a:t>
            </a:r>
            <a:endParaRPr lang="en-US"/>
          </a:p>
          <a:p>
            <a:pPr lvl="2"/>
            <a:r>
              <a:rPr lang="en-US" i="1">
                <a:latin typeface="Arial Italic" panose="020B0604020202090204" charset="0"/>
                <a:cs typeface="Arial Italic" panose="020B0604020202090204" charset="0"/>
              </a:rPr>
              <a:t>P(next word | previous words in sequence)</a:t>
            </a:r>
            <a:endParaRPr lang="en-US" i="1">
              <a:latin typeface="Arial Italic" panose="020B0604020202090204" charset="0"/>
              <a:cs typeface="Arial Italic" panose="020B0604020202090204" charset="0"/>
            </a:endParaRPr>
          </a:p>
          <a:p>
            <a:r>
              <a:rPr lang="en-US"/>
              <a:t>We’ll use markov chains as a tool to gain an intuition about how LLMs work</a:t>
            </a:r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Training Corpus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Let’s say we have a corpus of 3 sentences</a:t>
            </a:r>
            <a:endParaRPr lang="en-US"/>
          </a:p>
          <a:p>
            <a:pPr lvl="1"/>
            <a:r>
              <a:rPr lang="en-US"/>
              <a:t>i like cats</a:t>
            </a:r>
            <a:endParaRPr lang="en-US"/>
          </a:p>
          <a:p>
            <a:pPr lvl="1"/>
            <a:r>
              <a:rPr lang="en-US"/>
              <a:t>cats like dogs</a:t>
            </a:r>
            <a:endParaRPr lang="en-US"/>
          </a:p>
          <a:p>
            <a:pPr lvl="1"/>
            <a:r>
              <a:rPr lang="en-US"/>
              <a:t>dogs like cats</a:t>
            </a:r>
            <a:endParaRPr lang="en-US"/>
          </a:p>
          <a:p>
            <a:pPr lvl="0"/>
            <a:r>
              <a:rPr lang="en-US"/>
              <a:t>The corpus has 4 distinct words</a:t>
            </a:r>
            <a:endParaRPr lang="en-US"/>
          </a:p>
          <a:p>
            <a:pPr lvl="1"/>
            <a:r>
              <a:rPr lang="en-US" sz="1600"/>
              <a:t>i</a:t>
            </a:r>
            <a:endParaRPr lang="en-US" sz="1600"/>
          </a:p>
          <a:p>
            <a:pPr lvl="1"/>
            <a:r>
              <a:rPr lang="en-US" sz="1600"/>
              <a:t>like</a:t>
            </a:r>
            <a:endParaRPr lang="en-US" sz="1600"/>
          </a:p>
          <a:p>
            <a:pPr lvl="1"/>
            <a:r>
              <a:rPr lang="en-US" sz="1600"/>
              <a:t>cats</a:t>
            </a:r>
            <a:endParaRPr lang="en-US" sz="1600"/>
          </a:p>
          <a:p>
            <a:pPr lvl="1"/>
            <a:r>
              <a:rPr lang="en-US" sz="1600"/>
              <a:t>dogs</a:t>
            </a:r>
            <a:endParaRPr lang="en-US"/>
          </a:p>
          <a:p>
            <a:pPr lvl="0"/>
            <a:r>
              <a:rPr lang="en-US"/>
              <a:t>Can we do something interesting with this corpus to further our understanding of how LLMs work ?</a:t>
            </a:r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Modelling word sequences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4318000" cy="4120515"/>
          </a:xfrm>
        </p:spPr>
        <p:txBody>
          <a:bodyPr>
            <a:normAutofit/>
          </a:bodyPr>
          <a:p>
            <a:r>
              <a:rPr lang="en-US"/>
              <a:t>Corpus</a:t>
            </a:r>
            <a:endParaRPr lang="en-US"/>
          </a:p>
          <a:p>
            <a:pPr lvl="1"/>
            <a:r>
              <a:rPr lang="en-US" sz="1600"/>
              <a:t>i like cats</a:t>
            </a:r>
            <a:endParaRPr lang="en-US" sz="1600"/>
          </a:p>
          <a:p>
            <a:pPr lvl="1"/>
            <a:r>
              <a:rPr lang="en-US" sz="1600"/>
              <a:t>cats like dogs</a:t>
            </a:r>
            <a:endParaRPr lang="en-US" sz="1600"/>
          </a:p>
          <a:p>
            <a:pPr lvl="1"/>
            <a:r>
              <a:rPr lang="en-US" sz="1600"/>
              <a:t>dogs like cats</a:t>
            </a:r>
            <a:endParaRPr lang="en-US" sz="1600"/>
          </a:p>
          <a:p>
            <a:pPr lvl="1"/>
            <a:endParaRPr lang="en-US"/>
          </a:p>
          <a:p>
            <a:r>
              <a:rPr lang="en-US"/>
              <a:t>We can model words sequences into a matrix as follows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5990590" y="1759585"/>
          <a:ext cx="5438775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755"/>
                <a:gridCol w="1087755"/>
                <a:gridCol w="1087755"/>
                <a:gridCol w="1087755"/>
                <a:gridCol w="1087755"/>
              </a:tblGrid>
              <a:tr h="340995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next word</a:t>
                      </a:r>
                      <a:endParaRPr lang="en-US" sz="2400" b="1">
                        <a:solidFill>
                          <a:schemeClr val="accent1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algn="l">
                        <a:buNone/>
                      </a:pPr>
                      <a:endParaRPr lang="en-US" sz="900"/>
                    </a:p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prev word</a:t>
                      </a:r>
                      <a:endParaRPr lang="en-US" sz="1000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5990590" y="4384675"/>
          <a:ext cx="5438775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755"/>
                <a:gridCol w="1087755"/>
                <a:gridCol w="1087755"/>
                <a:gridCol w="1087755"/>
                <a:gridCol w="1087755"/>
              </a:tblGrid>
              <a:tr h="340995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next word</a:t>
                      </a:r>
                      <a:endParaRPr lang="en-US" sz="2400" b="1">
                        <a:solidFill>
                          <a:schemeClr val="accent1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algn="l">
                        <a:buNone/>
                      </a:pPr>
                      <a:endParaRPr lang="en-US" sz="900"/>
                    </a:p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prev word</a:t>
                      </a:r>
                      <a:endParaRPr lang="en-US" sz="1000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can we do with a Markov Matrix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543800" y="1490345"/>
            <a:ext cx="4033520" cy="4759325"/>
          </a:xfrm>
        </p:spPr>
        <p:txBody>
          <a:bodyPr/>
          <a:p>
            <a:r>
              <a:rPr lang="en-US" b="1">
                <a:latin typeface="Arial Bold" panose="020B0604020202090204" charset="0"/>
                <a:cs typeface="Arial Bold" panose="020B0604020202090204" charset="0"/>
              </a:rPr>
              <a:t>Lets Fill in the Blanks</a:t>
            </a:r>
            <a:endParaRPr lang="en-US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b="1">
                <a:latin typeface="Arial Bold" panose="020B0604020202090204" charset="0"/>
                <a:cs typeface="Arial Bold" panose="020B0604020202090204" charset="0"/>
              </a:rPr>
              <a:t>Example 1</a:t>
            </a:r>
            <a:endParaRPr lang="en-US" b="1">
              <a:latin typeface="Arial Bold" panose="020B0604020202090204" charset="0"/>
              <a:cs typeface="Arial Bold" panose="020B0604020202090204" charset="0"/>
            </a:endParaRPr>
          </a:p>
          <a:p>
            <a:pPr lvl="1"/>
            <a:r>
              <a:rPr lang="en-US"/>
              <a:t>dogs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___ ___</a:t>
            </a:r>
            <a:endParaRPr lang="en-US">
              <a:solidFill>
                <a:schemeClr val="accent2">
                  <a:lumMod val="75000"/>
                </a:schemeClr>
              </a:solidFill>
              <a:sym typeface="+mn-ea"/>
            </a:endParaRPr>
          </a:p>
          <a:p>
            <a:pPr lvl="1"/>
            <a:r>
              <a:rPr lang="en-US">
                <a:sym typeface="+mn-ea"/>
              </a:rPr>
              <a:t>dogs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like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___</a:t>
            </a:r>
            <a:endParaRPr lang="en-US">
              <a:sym typeface="+mn-ea"/>
            </a:endParaRPr>
          </a:p>
          <a:p>
            <a:pPr lvl="1"/>
            <a:r>
              <a:rPr lang="en-US">
                <a:sym typeface="+mn-ea"/>
              </a:rPr>
              <a:t>dogs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like cats</a:t>
            </a:r>
            <a:endParaRPr lang="en-US">
              <a:sym typeface="+mn-ea"/>
            </a:endParaRPr>
          </a:p>
          <a:p>
            <a:pPr marL="457200" lvl="1" indent="0">
              <a:buNone/>
            </a:pPr>
            <a:endParaRPr lang="en-US">
              <a:sym typeface="+mn-ea"/>
            </a:endParaRPr>
          </a:p>
          <a:p>
            <a:pPr lvl="0"/>
            <a:r>
              <a:rPr lang="en-US" b="1">
                <a:latin typeface="Arial Bold" panose="020B0604020202090204" charset="0"/>
                <a:cs typeface="Arial Bold" panose="020B0604020202090204" charset="0"/>
              </a:rPr>
              <a:t>Example 2</a:t>
            </a:r>
            <a:endParaRPr lang="en-US" b="1">
              <a:latin typeface="Arial Bold" panose="020B0604020202090204" charset="0"/>
              <a:cs typeface="Arial Bold" panose="020B0604020202090204" charset="0"/>
            </a:endParaRPr>
          </a:p>
          <a:p>
            <a:pPr lvl="1"/>
            <a:r>
              <a:rPr lang="en-US"/>
              <a:t>cats 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___ ___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lang="en-US">
                <a:sym typeface="+mn-ea"/>
              </a:rPr>
              <a:t>cats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sym typeface="+mn-ea"/>
              </a:rPr>
              <a:t>like ___</a:t>
            </a:r>
            <a:endParaRPr lang="en-US"/>
          </a:p>
          <a:p>
            <a:pPr lvl="1"/>
            <a:r>
              <a:rPr lang="en-US"/>
              <a:t>cats 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like cats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97865" y="4326255"/>
            <a:ext cx="60960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Corpus</a:t>
            </a:r>
            <a:endParaRPr lang="en-US"/>
          </a:p>
          <a:p>
            <a:pPr lvl="1"/>
            <a:r>
              <a:rPr lang="en-US" sz="1600">
                <a:sym typeface="+mn-ea"/>
              </a:rPr>
              <a:t>i like cats</a:t>
            </a:r>
            <a:endParaRPr lang="en-US" sz="1600"/>
          </a:p>
          <a:p>
            <a:pPr lvl="1"/>
            <a:r>
              <a:rPr lang="en-US" sz="1600">
                <a:sym typeface="+mn-ea"/>
              </a:rPr>
              <a:t>cats like dogs</a:t>
            </a:r>
            <a:endParaRPr lang="en-US" sz="1600"/>
          </a:p>
          <a:p>
            <a:pPr lvl="1"/>
            <a:r>
              <a:rPr lang="en-US" sz="1600">
                <a:sym typeface="+mn-ea"/>
              </a:rPr>
              <a:t>dogs like cats</a:t>
            </a:r>
            <a:endParaRPr lang="en-US" sz="1600">
              <a:sym typeface="+mn-ea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697865" y="1690370"/>
          <a:ext cx="5438775" cy="188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755"/>
                <a:gridCol w="1087755"/>
                <a:gridCol w="1087755"/>
                <a:gridCol w="1087755"/>
                <a:gridCol w="1087755"/>
              </a:tblGrid>
              <a:tr h="340995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next word</a:t>
                      </a:r>
                      <a:endParaRPr lang="en-US" sz="2400" b="1">
                        <a:solidFill>
                          <a:schemeClr val="accent1">
                            <a:lumMod val="75000"/>
                          </a:schemeClr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 algn="l">
                        <a:buNone/>
                      </a:pPr>
                      <a:endParaRPr lang="en-US" sz="900"/>
                    </a:p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prev word</a:t>
                      </a:r>
                      <a:endParaRPr lang="en-US" sz="1000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0.66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0.33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Extending to a 2nd Order Model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791845" y="1792605"/>
          <a:ext cx="5438775" cy="2270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9710"/>
                <a:gridCol w="685800"/>
                <a:gridCol w="1087755"/>
                <a:gridCol w="1087755"/>
                <a:gridCol w="1087755"/>
              </a:tblGrid>
              <a:tr h="340995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next word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prev 2 words</a:t>
                      </a:r>
                      <a:endParaRPr lang="en-US" sz="1000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F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</a:t>
                      </a:r>
                      <a:endParaRPr lang="en-US" b="1">
                        <a:solidFill>
                          <a:srgbClr val="00B0F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i 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 cats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cats 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like dogs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dogs like</a:t>
                      </a:r>
                      <a:endParaRPr lang="en-US" b="1">
                        <a:solidFill>
                          <a:srgbClr val="00B05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...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7061200" y="1750060"/>
            <a:ext cx="44075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Better performance than a 1st order model</a:t>
            </a:r>
            <a:endParaRPr lang="en-US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Occupies much more space though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Performance vs size</a:t>
            </a:r>
            <a:endParaRPr 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WPS Docs</Application>
  <PresentationFormat>Widescreen</PresentationFormat>
  <Paragraphs>194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Wingdings</vt:lpstr>
      <vt:lpstr>Arial Italic</vt:lpstr>
      <vt:lpstr>Arial Bold</vt:lpstr>
      <vt:lpstr>Microsoft YaHei</vt:lpstr>
      <vt:lpstr>汉仪旗黑</vt:lpstr>
      <vt:lpstr>Arial Unicode MS</vt:lpstr>
      <vt:lpstr>Calibri</vt:lpstr>
      <vt:lpstr>Helvetica Neue</vt:lpstr>
      <vt:lpstr>WPS</vt:lpstr>
      <vt:lpstr>How LLMs work ?</vt:lpstr>
      <vt:lpstr>The Intelligent Agent - An Illusion ??</vt:lpstr>
      <vt:lpstr>Training Corpus</vt:lpstr>
      <vt:lpstr>Modelling word sequences</vt:lpstr>
      <vt:lpstr>What can we do with a Markov Matrix ?</vt:lpstr>
      <vt:lpstr>Extending to a 2nd Order Model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Markov Matrices</dc:title>
  <dc:creator>vipar</dc:creator>
  <cp:lastModifiedBy>Brinda Dorairaj</cp:lastModifiedBy>
  <cp:revision>14</cp:revision>
  <dcterms:created xsi:type="dcterms:W3CDTF">2026-08-24T07:20:05Z</dcterms:created>
  <dcterms:modified xsi:type="dcterms:W3CDTF">2026-08-24T07:20:05Z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0CB151FB914A3C606F05526A75D87685_41</vt:lpwstr>
  </property>
</Properties>
</file>