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69" r:id="rId5"/>
    <p:sldId id="257" r:id="rId6"/>
    <p:sldId id="258" r:id="rId7"/>
    <p:sldId id="261" r:id="rId8"/>
    <p:sldId id="259" r:id="rId9"/>
    <p:sldId id="260" r:id="rId10"/>
    <p:sldId id="264" r:id="rId11"/>
    <p:sldId id="265" r:id="rId12"/>
    <p:sldId id="266" r:id="rId13"/>
    <p:sldId id="267" r:id="rId14"/>
    <p:sldId id="268" r:id="rId15"/>
    <p:sldId id="270" r:id="rId16"/>
  </p:sldIdLst>
  <p:sldSz cx="12192000" cy="6858000"/>
  <p:notesSz cx="6858000" cy="9144000"/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2454C0B-2938-4650-A094-B9CD1A64035F}" styleName="表样式 1 17">
    <a:wholeTbl>
      <a:tcTxStyle>
        <a:fontRef idx="none">
          <a:srgbClr val="000000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0"/>
              <a:lumOff val="90000"/>
            </a:schemeClr>
          </a:solidFill>
        </a:fill>
      </a:tcStyle>
    </a:band2H>
    <a:band1V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10000"/>
              <a:lumOff val="90000"/>
            </a:schemeClr>
          </a:solidFill>
        </a:fill>
      </a:tcStyle>
    </a:band1V>
    <a:band2V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</a:tcStyle>
    </a:band2V>
    <a:la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rgbClr val="FFFFFF"/>
          </a:solidFill>
        </a:fill>
      </a:tcStyle>
    </a:firstRow>
    <a:ne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neCell>
    <a:n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165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0.xml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tags" Target="../tags/tag13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" Type="http://schemas.openxmlformats.org/officeDocument/2006/relationships/tags" Target="../tags/tag13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9.xml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" Type="http://schemas.openxmlformats.org/officeDocument/2006/relationships/tags" Target="../tags/tag14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6.xml"/><Relationship Id="rId2" Type="http://schemas.openxmlformats.org/officeDocument/2006/relationships/tags" Target="../tags/tag145.xml"/><Relationship Id="rId1" Type="http://schemas.openxmlformats.org/officeDocument/2006/relationships/tags" Target="../tags/tag14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" Type="http://schemas.openxmlformats.org/officeDocument/2006/relationships/tags" Target="../tags/tag14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" Type="http://schemas.openxmlformats.org/officeDocument/2006/relationships/tags" Target="../tags/tag158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Personal Finance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Disclaimer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This presentation is for educational purposes only</a:t>
            </a:r>
            <a:endParaRPr lang="en-US"/>
          </a:p>
          <a:p>
            <a:r>
              <a:rPr lang="en-US"/>
              <a:t>It does NOT constitute Financial Advice</a:t>
            </a:r>
            <a:endParaRPr lang="en-US"/>
          </a:p>
          <a:p>
            <a:r>
              <a:rPr lang="en-US"/>
              <a:t>We are NOT authorized Financial Advisors</a:t>
            </a:r>
            <a:endParaRPr lang="en-US"/>
          </a:p>
          <a:p>
            <a:r>
              <a:rPr lang="en-US"/>
              <a:t>Please do your own research or contact your Financial Advisor </a:t>
            </a:r>
            <a:r>
              <a:rPr lang="en-US">
                <a:sym typeface="+mn-ea"/>
              </a:rPr>
              <a:t>before making important financial decisions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How much tax do you pay ?</a:t>
            </a:r>
            <a:endParaRPr lang="en-US"/>
          </a:p>
        </p:txBody>
      </p:sp>
      <p:graphicFrame>
        <p:nvGraphicFramePr>
          <p:cNvPr id="8" name="Content Placeholder 7"/>
          <p:cNvGraphicFramePr/>
          <p:nvPr>
            <p:ph idx="1"/>
            <p:custDataLst>
              <p:tags r:id="rId2"/>
            </p:custDataLst>
          </p:nvPr>
        </p:nvGraphicFramePr>
        <p:xfrm>
          <a:off x="608330" y="1443990"/>
          <a:ext cx="4667250" cy="3094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4680"/>
                <a:gridCol w="2333625"/>
              </a:tblGrid>
              <a:tr h="4273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Tax Bracket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Tax %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Upto 4 Lakhs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Nil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 to 8 Lakhs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5%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8 to 12 Lakhs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10%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12 to 16 Lakhs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15%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16 to 20 Lakhs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20%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20 to 24 lakhs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25%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Above 24 Lakhs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30%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6161405" y="1507490"/>
            <a:ext cx="451231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/>
              <a:t>Question</a:t>
            </a:r>
            <a:endParaRPr 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/>
              <a:t>How much tax does an individual earning 20 Lakhs p.a. pay ?</a:t>
            </a:r>
            <a:endParaRPr 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How much tax do you pay ?</a:t>
            </a:r>
            <a:endParaRPr lang="en-US"/>
          </a:p>
        </p:txBody>
      </p:sp>
      <p:graphicFrame>
        <p:nvGraphicFramePr>
          <p:cNvPr id="8" name="Content Placeholder 7"/>
          <p:cNvGraphicFramePr/>
          <p:nvPr>
            <p:ph idx="1"/>
            <p:custDataLst>
              <p:tags r:id="rId2"/>
            </p:custDataLst>
          </p:nvPr>
        </p:nvGraphicFramePr>
        <p:xfrm>
          <a:off x="608330" y="1443990"/>
          <a:ext cx="5988685" cy="3844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4680"/>
                <a:gridCol w="1764665"/>
                <a:gridCol w="1104900"/>
                <a:gridCol w="1104900"/>
              </a:tblGrid>
              <a:tr h="4273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Tax Bracket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Tax 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Income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Tax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Upto 4 Lakhs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Nil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 Lakhs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0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 to 8 Lakhs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 Lakhs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20,000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8 to 12 Lakhs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10%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 Lakhs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40,000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12 to 16 Lakhs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15%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4 Lakhs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60,000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16 to 20 Lakhs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20%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4 Lakhs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80,000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20 to 24 lakhs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25%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Above 24 Lakhs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30%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8935">
                <a:tc gridSpan="3">
                  <a:txBody>
                    <a:bodyPr/>
                    <a:p>
                      <a:pPr algn="r">
                        <a:buNone/>
                      </a:pPr>
                      <a:r>
                        <a:rPr lang="en-US"/>
                        <a:t>Total </a:t>
                      </a:r>
                      <a:endParaRPr lang="en-US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 Lakhs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 Box 2"/>
          <p:cNvSpPr txBox="1"/>
          <p:nvPr/>
        </p:nvSpPr>
        <p:spPr>
          <a:xfrm>
            <a:off x="7065010" y="1443990"/>
            <a:ext cx="451231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/>
              <a:t>Question</a:t>
            </a:r>
            <a:endParaRPr 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/>
              <a:t>How much tax does an invidual earning 20 Lakhs p.a. pay ?</a:t>
            </a:r>
            <a:endParaRPr 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endParaRPr lang="en-US"/>
          </a:p>
          <a:p>
            <a:pPr marL="285750" lvl="0" indent="-285750">
              <a:buFont typeface="Arial" panose="020B0604020202090204" pitchFamily="34" charset="0"/>
              <a:buChar char="•"/>
            </a:pPr>
            <a:r>
              <a:rPr lang="en-US"/>
              <a:t>Answer</a:t>
            </a:r>
            <a:endParaRPr 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/>
              <a:t>Approximately 2 Lakhs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Inflation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Gradual increase in the costs of goods and service</a:t>
            </a:r>
            <a:endParaRPr lang="en-US"/>
          </a:p>
          <a:p>
            <a:r>
              <a:rPr lang="en-US"/>
              <a:t>Silently erodes the purchasing power of your money</a:t>
            </a:r>
            <a:endParaRPr lang="en-US"/>
          </a:p>
          <a:p>
            <a:r>
              <a:rPr lang="en-US"/>
              <a:t>India’s average inflation is at 6% p.a</a:t>
            </a:r>
            <a:endParaRPr lang="en-US"/>
          </a:p>
          <a:p>
            <a:r>
              <a:rPr lang="en-US"/>
              <a:t>An item costing Rs. 100 today might cost Rs. 106 next year</a:t>
            </a:r>
            <a:endParaRPr lang="en-US"/>
          </a:p>
          <a:p>
            <a:r>
              <a:rPr lang="en-US"/>
              <a:t>Your money needs to keep up / beat inflation to retain purchasing power</a:t>
            </a:r>
            <a:endParaRPr lang="en-US"/>
          </a:p>
        </p:txBody>
      </p:sp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/>
              <a:t>Rental Yields - how much rent can you expect?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505640"/>
          <a:ext cx="1096899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4495"/>
                <a:gridCol w="5484495"/>
              </a:tblGrid>
              <a:tr h="3346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/>
                        <a:t>Average Rental Yields in India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2% to 4% p.a.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>
            <p:custDataLst>
              <p:tags r:id="rId3"/>
            </p:custDataLst>
          </p:nvPr>
        </p:nvGraphicFramePr>
        <p:xfrm>
          <a:off x="608400" y="2317170"/>
          <a:ext cx="1096899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4495"/>
                <a:gridCol w="5484495"/>
              </a:tblGrid>
              <a:tr h="3263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/>
                        <a:t>Rental value for a 1 Crore Apartment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Rs. 2 to 4 Lakhs p.a</a:t>
                      </a: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~ Rs. 16,000 to 33,000 per month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 Box 8"/>
          <p:cNvSpPr txBox="1"/>
          <p:nvPr/>
        </p:nvSpPr>
        <p:spPr>
          <a:xfrm>
            <a:off x="608330" y="3729355"/>
            <a:ext cx="9972040" cy="1530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/>
              <a:t>Question</a:t>
            </a:r>
            <a:endParaRPr 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/>
              <a:t>Person XYZ pays a monthly rent of Rs. 25,000 per month</a:t>
            </a:r>
            <a:endParaRPr lang="en-US"/>
          </a:p>
          <a:p>
            <a:pPr marL="742950" lvl="1" indent="-285750">
              <a:buFont typeface="Arial" panose="020B0604020202090204" pitchFamily="34" charset="0"/>
              <a:buChar char="•"/>
            </a:pPr>
            <a:r>
              <a:rPr lang="en-US"/>
              <a:t>Can you estimate the value of the property they live on ? Give me a range</a:t>
            </a:r>
            <a:endParaRPr lang="en-US"/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Rental Yields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505640"/>
          <a:ext cx="10968990" cy="2560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4495"/>
                <a:gridCol w="5484495"/>
              </a:tblGrid>
              <a:tr h="3346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/>
                        <a:t>Monthly Rent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>
                          <a:sym typeface="+mn-ea"/>
                        </a:rPr>
                        <a:t>Rs. 25,000</a:t>
                      </a:r>
                      <a:endParaRPr lang="en-US"/>
                    </a:p>
                  </a:txBody>
                  <a:tcPr/>
                </a:tc>
              </a:tr>
              <a:tr h="3346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/>
                        <a:t>Annual Rent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Rs. 300,000  </a:t>
                      </a:r>
                      <a:r>
                        <a:rPr lang="en-US" sz="1200"/>
                        <a:t>(</a:t>
                      </a:r>
                      <a:r>
                        <a:rPr lang="en-US" sz="1200">
                          <a:sym typeface="+mn-ea"/>
                        </a:rPr>
                        <a:t>Rs. 25,000 x 12</a:t>
                      </a:r>
                      <a:r>
                        <a:rPr lang="en-US" sz="1200"/>
                        <a:t>)</a:t>
                      </a:r>
                      <a:endParaRPr lang="en-US" sz="1200"/>
                    </a:p>
                  </a:txBody>
                  <a:tcPr/>
                </a:tc>
              </a:tr>
              <a:tr h="334645">
                <a:tc>
                  <a:txBody>
                    <a:bodyPr/>
                    <a:p>
                      <a:pPr>
                        <a:buNone/>
                      </a:pP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sz="1200"/>
                    </a:p>
                  </a:txBody>
                  <a:tcPr/>
                </a:tc>
              </a:tr>
              <a:tr h="3346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/>
                        <a:t>Estimated Value at 2% Yield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Rs. 1.5 Crores </a:t>
                      </a:r>
                      <a:r>
                        <a:rPr lang="en-US" sz="1400"/>
                        <a:t>(</a:t>
                      </a:r>
                      <a:r>
                        <a:rPr lang="en-US" sz="1400">
                          <a:sym typeface="+mn-ea"/>
                        </a:rPr>
                        <a:t>Rs. 300,000 / 2%</a:t>
                      </a:r>
                      <a:r>
                        <a:rPr lang="en-US" sz="1400"/>
                        <a:t>)</a:t>
                      </a:r>
                      <a:endParaRPr lang="en-US" sz="1400"/>
                    </a:p>
                  </a:txBody>
                  <a:tcPr/>
                </a:tc>
              </a:tr>
              <a:tr h="3346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/>
                        <a:t>Estimated Value at 4% Yield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Rs. 75 Lakhs</a:t>
                      </a:r>
                      <a:r>
                        <a:rPr lang="en-US" sz="1800">
                          <a:sym typeface="+mn-ea"/>
                        </a:rPr>
                        <a:t> </a:t>
                      </a:r>
                      <a:r>
                        <a:rPr lang="en-US" sz="1400">
                          <a:sym typeface="+mn-ea"/>
                        </a:rPr>
                        <a:t>(</a:t>
                      </a:r>
                      <a:r>
                        <a:rPr lang="en-US" sz="1400">
                          <a:sym typeface="+mn-ea"/>
                        </a:rPr>
                        <a:t>Rs. 300,000 / 4%</a:t>
                      </a:r>
                      <a:r>
                        <a:rPr lang="en-US" sz="1400">
                          <a:sym typeface="+mn-ea"/>
                        </a:rPr>
                        <a:t>)</a:t>
                      </a:r>
                      <a:endParaRPr lang="en-US" sz="1400">
                        <a:sym typeface="+mn-ea"/>
                      </a:endParaRPr>
                    </a:p>
                  </a:txBody>
                  <a:tcPr/>
                </a:tc>
              </a:tr>
              <a:tr h="334645">
                <a:tc>
                  <a:txBody>
                    <a:bodyPr/>
                    <a:p>
                      <a:pPr>
                        <a:buNone/>
                      </a:pP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346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sz="1800"/>
                        <a:t>Estimate</a:t>
                      </a:r>
                      <a:endParaRPr lang="en-US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Rs. 75 Lakhs - Rs. 1.5 Crores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Fixed Deposits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1617345"/>
          </a:xfrm>
        </p:spPr>
        <p:txBody>
          <a:bodyPr/>
          <a:p>
            <a:r>
              <a:rPr lang="en-US"/>
              <a:t>Guaranteed returns over a fixed tenure</a:t>
            </a:r>
            <a:endParaRPr lang="en-US"/>
          </a:p>
          <a:p>
            <a:r>
              <a:rPr lang="en-US"/>
              <a:t>Returns usually at around 6 - 8% p.a.</a:t>
            </a:r>
            <a:endParaRPr lang="en-US"/>
          </a:p>
          <a:p>
            <a:r>
              <a:rPr lang="en-US">
                <a:sym typeface="+mn-ea"/>
              </a:rPr>
              <a:t>Very Safe</a:t>
            </a:r>
            <a:endParaRPr lang="en-US"/>
          </a:p>
        </p:txBody>
      </p:sp>
      <p:graphicFrame>
        <p:nvGraphicFramePr>
          <p:cNvPr id="4" name="Table 3"/>
          <p:cNvGraphicFramePr/>
          <p:nvPr>
            <p:custDataLst>
              <p:tags r:id="rId3"/>
            </p:custDataLst>
          </p:nvPr>
        </p:nvGraphicFramePr>
        <p:xfrm>
          <a:off x="808355" y="3107690"/>
          <a:ext cx="5974715" cy="2225040"/>
        </p:xfrm>
        <a:graphic>
          <a:graphicData uri="http://schemas.openxmlformats.org/drawingml/2006/table">
            <a:tbl>
              <a:tblPr firstRow="1">
                <a:tableStyleId>{B2454C0B-2938-4650-A094-B9CD1A64035F}</a:tableStyleId>
              </a:tblPr>
              <a:tblGrid>
                <a:gridCol w="2413000"/>
                <a:gridCol w="1669415"/>
                <a:gridCol w="18923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Outflow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Inflow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Initial Investment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Rs. 100,000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End of Year 1 </a:t>
                      </a: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@ 7% p.a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Rs. 100,000</a:t>
                      </a: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         + </a:t>
                      </a: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Rs. 7,000</a:t>
                      </a:r>
                      <a:endParaRPr lang="en-US"/>
                    </a:p>
                    <a:p>
                      <a:pPr>
                        <a:buNone/>
                      </a:pPr>
                      <a:endParaRPr lang="en-US"/>
                    </a:p>
                    <a:p>
                      <a:pPr>
                        <a:buNone/>
                      </a:pPr>
                      <a:r>
                        <a:rPr lang="en-US"/>
                        <a:t>= Rs. 107,000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 Box 4"/>
          <p:cNvSpPr txBox="1"/>
          <p:nvPr/>
        </p:nvSpPr>
        <p:spPr>
          <a:xfrm>
            <a:off x="7189470" y="3061970"/>
            <a:ext cx="4296410" cy="9207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Question - Is your fixed depost beating inflation ?</a:t>
            </a:r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6" name="Text Box 5"/>
          <p:cNvSpPr txBox="1"/>
          <p:nvPr/>
        </p:nvSpPr>
        <p:spPr>
          <a:xfrm>
            <a:off x="7220585" y="3982720"/>
            <a:ext cx="426529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Answer - Depends on your Tax Bracket.</a:t>
            </a:r>
            <a:endParaRPr lang="en-US"/>
          </a:p>
          <a:p>
            <a:r>
              <a:rPr lang="en-US"/>
              <a:t>If you are in the 30% Tax Bracket - you effectively receive back:</a:t>
            </a:r>
            <a:endParaRPr lang="en-US"/>
          </a:p>
          <a:p>
            <a:endParaRPr lang="en-US"/>
          </a:p>
          <a:p>
            <a:r>
              <a:rPr lang="en-US"/>
              <a:t>Rs. 100,000 + 70% of Rs. 7000</a:t>
            </a:r>
            <a:endParaRPr lang="en-US"/>
          </a:p>
          <a:p>
            <a:r>
              <a:rPr lang="en-US"/>
              <a:t>= Rs. 104,900 (i.e. 4.9% returns)</a:t>
            </a:r>
            <a:endParaRPr lang="en-US"/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Equity Markets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5007610" cy="4759325"/>
          </a:xfrm>
        </p:spPr>
        <p:txBody>
          <a:bodyPr/>
          <a:p>
            <a:r>
              <a:rPr lang="en-US"/>
              <a:t>Investments in the Stock Markets</a:t>
            </a:r>
            <a:endParaRPr lang="en-US"/>
          </a:p>
          <a:p>
            <a:pPr lvl="1"/>
            <a:r>
              <a:rPr lang="en-US"/>
              <a:t>Direct Equity</a:t>
            </a:r>
            <a:endParaRPr lang="en-US"/>
          </a:p>
          <a:p>
            <a:pPr lvl="1"/>
            <a:r>
              <a:rPr lang="en-US"/>
              <a:t>Mutual Funds</a:t>
            </a:r>
            <a:endParaRPr lang="en-US"/>
          </a:p>
          <a:p>
            <a:pPr lvl="0"/>
            <a:r>
              <a:rPr lang="en-US"/>
              <a:t>No Guarantee of Returns</a:t>
            </a:r>
            <a:endParaRPr lang="en-US"/>
          </a:p>
          <a:p>
            <a:pPr lvl="0"/>
            <a:r>
              <a:rPr lang="en-US"/>
              <a:t>Volatile over the short term</a:t>
            </a:r>
            <a:endParaRPr lang="en-US"/>
          </a:p>
          <a:p>
            <a:pPr lvl="0"/>
            <a:r>
              <a:rPr lang="en-US"/>
              <a:t>Returns may be huge</a:t>
            </a:r>
            <a:endParaRPr lang="en-US"/>
          </a:p>
          <a:p>
            <a:pPr lvl="0"/>
            <a:r>
              <a:rPr lang="en-US"/>
              <a:t>But can lead to loss of capital</a:t>
            </a:r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5485765" y="1785620"/>
          <a:ext cx="5689600" cy="112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44800"/>
                <a:gridCol w="2844800"/>
              </a:tblGrid>
              <a:tr h="321945"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90204" charset="0"/>
                          <a:cs typeface="Arial Bold" panose="020B0604020202090204" charset="0"/>
                        </a:rPr>
                        <a:t>Scenario A - Market gains 10%</a:t>
                      </a:r>
                      <a:endParaRPr lang="en-US" b="1"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Initial Investment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Rs. 100,000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Value at End of Year 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Rs. 110,000 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/>
        </p:nvGraphicFramePr>
        <p:xfrm>
          <a:off x="5485765" y="3502025"/>
          <a:ext cx="5689600" cy="112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44800"/>
                <a:gridCol w="2844800"/>
              </a:tblGrid>
              <a:tr h="321945">
                <a:tc gridSpan="2"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90204" charset="0"/>
                          <a:cs typeface="Arial Bold" panose="020B0604020202090204" charset="0"/>
                        </a:rPr>
                        <a:t>Scenario B - Market crashes by 10%</a:t>
                      </a:r>
                      <a:endParaRPr lang="en-US" b="1"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Initial Investment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Rs. 100,000</a:t>
                      </a: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Value at End of Year 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Rs. 90,000 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Cash Flow Mindset</a:t>
            </a:r>
            <a:endParaRPr lang="en-US"/>
          </a:p>
        </p:txBody>
      </p:sp>
      <p:graphicFrame>
        <p:nvGraphicFramePr>
          <p:cNvPr id="4" name="Table 3"/>
          <p:cNvGraphicFramePr/>
          <p:nvPr/>
        </p:nvGraphicFramePr>
        <p:xfrm>
          <a:off x="536575" y="2289810"/>
          <a:ext cx="4269740" cy="75565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9740"/>
              </a:tblGrid>
              <a:tr h="3746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FF000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Traditional Approach</a:t>
                      </a:r>
                      <a:endParaRPr lang="en-US" b="1">
                        <a:solidFill>
                          <a:srgbClr val="FF000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Income - Expenses = </a:t>
                      </a:r>
                      <a:r>
                        <a:rPr lang="en-US" altLang="en-US">
                          <a:solidFill>
                            <a:srgbClr val="FF0000"/>
                          </a:solidFill>
                        </a:rPr>
                        <a:t>Savings</a:t>
                      </a:r>
                      <a:endParaRPr lang="en-US" altLang="en-US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/>
        </p:nvGraphicFramePr>
        <p:xfrm>
          <a:off x="6815455" y="2289810"/>
          <a:ext cx="4269740" cy="75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69740"/>
              </a:tblGrid>
              <a:tr h="3708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solidFill>
                            <a:srgbClr val="0070C0"/>
                          </a:solidFill>
                          <a:latin typeface="Arial Bold" panose="020B0604020202090204" charset="0"/>
                          <a:cs typeface="Arial Bold" panose="020B0604020202090204" charset="0"/>
                        </a:rPr>
                        <a:t>Modern Wealth Mindset</a:t>
                      </a:r>
                      <a:endParaRPr lang="en-US" b="1">
                        <a:solidFill>
                          <a:srgbClr val="0070C0"/>
                        </a:solidFill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Income - Savings = </a:t>
                      </a:r>
                      <a:r>
                        <a:rPr lang="en-US" altLang="en-US">
                          <a:solidFill>
                            <a:srgbClr val="0070C0"/>
                          </a:solidFill>
                        </a:rPr>
                        <a:t>Expenses</a:t>
                      </a:r>
                      <a:endParaRPr lang="en-US" altLang="en-US">
                        <a:solidFill>
                          <a:srgbClr val="0070C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 Box 5"/>
          <p:cNvSpPr txBox="1"/>
          <p:nvPr/>
        </p:nvSpPr>
        <p:spPr>
          <a:xfrm>
            <a:off x="506095" y="3465830"/>
            <a:ext cx="4300220" cy="2720340"/>
          </a:xfrm>
          <a:prstGeom prst="rect">
            <a:avLst/>
          </a:prstGeom>
        </p:spPr>
        <p:txBody>
          <a:bodyPr wrap="square">
            <a:spAutoFit/>
          </a:bodyPr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sz="1600" b="1" i="0">
                <a:solidFill>
                  <a:srgbClr val="111827"/>
                </a:solidFill>
                <a:latin typeface="Inter"/>
                <a:ea typeface="Inter"/>
              </a:rPr>
              <a:t>An Afterthought Mindset</a:t>
            </a:r>
            <a:endParaRPr sz="1600" b="1" i="0">
              <a:solidFill>
                <a:srgbClr val="111827"/>
              </a:solidFill>
              <a:latin typeface="Inter"/>
              <a:ea typeface="Inter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4B5563"/>
                </a:solidFill>
                <a:latin typeface="Inter"/>
                <a:ea typeface="Inter"/>
              </a:rPr>
              <a:t>This approach treats saving as an afterthought, leaving you with whatever happens to remain at the end of the month.</a:t>
            </a:r>
            <a:endParaRPr sz="1600" b="0" i="0">
              <a:solidFill>
                <a:srgbClr val="4B5563"/>
              </a:solidFill>
              <a:latin typeface="Inter"/>
              <a:ea typeface="Inter"/>
            </a:endParaRPr>
          </a:p>
          <a:p>
            <a:pPr fontAlgn="base">
              <a:spcBef>
                <a:spcPts val="700"/>
              </a:spcBef>
              <a:spcAft>
                <a:spcPct val="0"/>
              </a:spcAft>
            </a:pPr>
            <a:r>
              <a:rPr sz="1600" b="0" i="0">
                <a:solidFill>
                  <a:srgbClr val="4B5563"/>
                </a:solidFill>
                <a:latin typeface="Inter"/>
                <a:ea typeface="Inter"/>
              </a:rPr>
              <a:t>Because expenses naturally expand to fill your available income, this flawed formula typically results in extremely low or inconsistent wealth accumulation over time.</a:t>
            </a:r>
            <a:endParaRPr sz="1600" b="0" i="0">
              <a:solidFill>
                <a:srgbClr val="4B5563"/>
              </a:solidFill>
              <a:latin typeface="Inter"/>
              <a:ea typeface="Inter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815455" y="3465830"/>
            <a:ext cx="4300220" cy="2827655"/>
          </a:xfrm>
          <a:prstGeom prst="rect">
            <a:avLst/>
          </a:prstGeom>
        </p:spPr>
        <p:txBody>
          <a:bodyPr wrap="square">
            <a:noAutofit/>
          </a:bodyPr>
          <a:p>
            <a:pPr fontAlgn="base">
              <a:spcBef>
                <a:spcPct val="0"/>
              </a:spcBef>
              <a:spcAft>
                <a:spcPts val="600"/>
              </a:spcAft>
            </a:pPr>
            <a:r>
              <a:rPr sz="1600" b="1" i="0">
                <a:solidFill>
                  <a:schemeClr val="tx1"/>
                </a:solidFill>
                <a:latin typeface="Inter"/>
                <a:ea typeface="Inter"/>
              </a:rPr>
              <a:t>Pay Yourself First</a:t>
            </a:r>
            <a:endParaRPr sz="1600" b="1" i="0">
              <a:solidFill>
                <a:schemeClr val="tx1"/>
              </a:solidFill>
              <a:latin typeface="Inter"/>
              <a:ea typeface="Inter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1600" b="0" i="0">
                <a:solidFill>
                  <a:srgbClr val="4B5563"/>
                </a:solidFill>
                <a:latin typeface="Inter"/>
                <a:ea typeface="Inter"/>
              </a:rPr>
              <a:t>By paying yourself first, you automatically allocate a fixed percentage of your salary to investments the moment you are paid.</a:t>
            </a:r>
            <a:endParaRPr sz="1600" b="0" i="0">
              <a:solidFill>
                <a:srgbClr val="4B5563"/>
              </a:solidFill>
              <a:latin typeface="Inter"/>
              <a:ea typeface="Inter"/>
            </a:endParaRPr>
          </a:p>
          <a:p>
            <a:pPr fontAlgn="base">
              <a:spcBef>
                <a:spcPts val="700"/>
              </a:spcBef>
              <a:spcAft>
                <a:spcPct val="0"/>
              </a:spcAft>
            </a:pPr>
            <a:r>
              <a:rPr sz="1600" b="0" i="0">
                <a:solidFill>
                  <a:srgbClr val="4B5563"/>
                </a:solidFill>
                <a:latin typeface="Inter"/>
                <a:ea typeface="Inter"/>
              </a:rPr>
              <a:t>This forces you to budget your lifestyle and daily expenses strictly around the remaining balance, automating financial discipline and compounding long-term wealth.</a:t>
            </a:r>
            <a:endParaRPr sz="1600" b="0" i="0">
              <a:solidFill>
                <a:srgbClr val="4B5563"/>
              </a:solidFill>
              <a:latin typeface="Inter"/>
              <a:ea typeface="Inter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82295" y="1501140"/>
            <a:ext cx="8014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Question - What would you do with your first salary ?</a:t>
            </a:r>
            <a:endParaRPr lang="en-US"/>
          </a:p>
        </p:txBody>
      </p:sp>
    </p:spTree>
    <p:custDataLst>
      <p:tags r:id="rId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The Allocation Dilemma</a:t>
            </a:r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843915" y="1732280"/>
            <a:ext cx="10217150" cy="3644265"/>
          </a:xfrm>
          <a:prstGeom prst="rect">
            <a:avLst/>
          </a:prstGeom>
        </p:spPr>
        <p:txBody>
          <a:bodyPr>
            <a:noAutofit/>
          </a:bodyPr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sz="2000" b="0" i="0">
                <a:solidFill>
                  <a:srgbClr val="111827"/>
                </a:solidFill>
                <a:latin typeface="Inter"/>
                <a:ea typeface="Inter"/>
              </a:rPr>
              <a:t>Imagine you are given </a:t>
            </a:r>
            <a:r>
              <a:rPr sz="2000" b="1" i="0">
                <a:solidFill>
                  <a:srgbClr val="111827"/>
                </a:solidFill>
                <a:latin typeface="Inter"/>
                <a:ea typeface="Inter"/>
              </a:rPr>
              <a:t>₹1 Lakh</a:t>
            </a:r>
            <a:r>
              <a:rPr sz="2000" b="0" i="0">
                <a:solidFill>
                  <a:srgbClr val="111827"/>
                </a:solidFill>
                <a:latin typeface="Inter"/>
                <a:ea typeface="Inter"/>
              </a:rPr>
              <a:t> today with one strict condition: </a:t>
            </a:r>
            <a:endParaRPr sz="2000" b="0" i="0">
              <a:solidFill>
                <a:srgbClr val="111827"/>
              </a:solidFill>
              <a:latin typeface="Inter"/>
              <a:ea typeface="Inter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sz="2000" b="0" i="0">
              <a:solidFill>
                <a:srgbClr val="111827"/>
              </a:solidFill>
              <a:latin typeface="Inter"/>
              <a:ea typeface="Inter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b="0" i="0">
                <a:solidFill>
                  <a:srgbClr val="111827"/>
                </a:solidFill>
                <a:latin typeface="Inter"/>
                <a:ea typeface="Inter"/>
              </a:rPr>
              <a:t>Y</a:t>
            </a:r>
            <a:r>
              <a:rPr sz="2000" b="0" i="0">
                <a:solidFill>
                  <a:srgbClr val="111827"/>
                </a:solidFill>
                <a:latin typeface="Inter"/>
                <a:ea typeface="Inter"/>
              </a:rPr>
              <a:t>ou must invest it and cannot touch it for 25 years. </a:t>
            </a:r>
            <a:endParaRPr sz="2000" b="0" i="0">
              <a:solidFill>
                <a:srgbClr val="111827"/>
              </a:solidFill>
              <a:latin typeface="Inter"/>
              <a:ea typeface="Inter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sz="2000" b="0" i="0">
              <a:solidFill>
                <a:srgbClr val="111827"/>
              </a:solidFill>
              <a:latin typeface="Inter"/>
              <a:ea typeface="Inter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2000" b="0" i="0">
                <a:solidFill>
                  <a:srgbClr val="111827"/>
                </a:solidFill>
                <a:latin typeface="Inter"/>
                <a:ea typeface="Inter"/>
              </a:rPr>
              <a:t>What % of this money would you allocate into</a:t>
            </a:r>
            <a:r>
              <a:rPr sz="2000" b="0" i="0">
                <a:solidFill>
                  <a:srgbClr val="111827"/>
                </a:solidFill>
                <a:latin typeface="Inter"/>
                <a:ea typeface="Inter"/>
              </a:rPr>
              <a:t> Fixed Deposit</a:t>
            </a:r>
            <a:r>
              <a:rPr lang="en-US" sz="2000" b="0" i="0">
                <a:solidFill>
                  <a:srgbClr val="111827"/>
                </a:solidFill>
                <a:latin typeface="Inter"/>
                <a:ea typeface="Inter"/>
              </a:rPr>
              <a:t>s ?</a:t>
            </a:r>
            <a:endParaRPr sz="2000" b="0" i="0">
              <a:solidFill>
                <a:srgbClr val="111827"/>
              </a:solidFill>
              <a:latin typeface="Inter"/>
              <a:ea typeface="Inter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Risk Mitigation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7985"/>
                <a:gridCol w="8041005"/>
              </a:tblGrid>
              <a:tr h="5937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Medical Insurance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Protects your hard-earned savings from being wiped out by a single unexpected healthcare emergency or hospitalization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/>
          <p:nvPr>
            <p:custDataLst>
              <p:tags r:id="rId3"/>
            </p:custDataLst>
          </p:nvPr>
        </p:nvGraphicFramePr>
        <p:xfrm>
          <a:off x="608400" y="2668960"/>
          <a:ext cx="10968990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27985"/>
                <a:gridCol w="8041005"/>
              </a:tblGrid>
              <a:tr h="5937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Term Insurance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/>
                        <a:t>Protects your family's financial future by replacing your income if you pass away prematurely. Buying term in your 20s locks in exceptionally low premiums for life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Checklist</a:t>
            </a:r>
            <a:endParaRPr 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2"/>
            </p:custDataLst>
          </p:nvPr>
        </p:nvGraphicFramePr>
        <p:xfrm>
          <a:off x="608400" y="1444045"/>
          <a:ext cx="10968990" cy="3581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6663"/>
                <a:gridCol w="2768600"/>
                <a:gridCol w="7493727"/>
              </a:tblGrid>
              <a:tr h="4273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90204" charset="0"/>
                          <a:cs typeface="Arial Bold" panose="020B0604020202090204" charset="0"/>
                        </a:rPr>
                        <a:t>S. No</a:t>
                      </a:r>
                      <a:endParaRPr lang="en-US" b="1"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90204" charset="0"/>
                          <a:cs typeface="Arial Bold" panose="020B0604020202090204" charset="0"/>
                        </a:rPr>
                        <a:t>Category</a:t>
                      </a:r>
                      <a:endParaRPr lang="en-US" b="1"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b="1">
                          <a:latin typeface="Arial Bold" panose="020B0604020202090204" charset="0"/>
                          <a:cs typeface="Arial Bold" panose="020B0604020202090204" charset="0"/>
                        </a:rPr>
                        <a:t>Item</a:t>
                      </a:r>
                      <a:endParaRPr lang="en-US" b="1">
                        <a:latin typeface="Arial Bold" panose="020B0604020202090204" charset="0"/>
                        <a:cs typeface="Arial Bold" panose="020B0604020202090204" charset="0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1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Taxes &amp; Inflation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800">
                          <a:solidFill>
                            <a:srgbClr val="4B5563"/>
                          </a:solidFill>
                          <a:latin typeface="Inter"/>
                          <a:ea typeface="Inter"/>
                          <a:sym typeface="+mn-ea"/>
                        </a:rPr>
                        <a:t>Calculate how taxes and inflation impact your real earnings to set realistic goals</a:t>
                      </a:r>
                      <a:endParaRPr sz="1800">
                        <a:solidFill>
                          <a:srgbClr val="4B5563"/>
                        </a:solidFill>
                        <a:latin typeface="Inter"/>
                        <a:ea typeface="Inter"/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60896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2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FDs vs Equity Appreciation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800">
                          <a:solidFill>
                            <a:srgbClr val="4B5563"/>
                          </a:solidFill>
                          <a:latin typeface="Inter"/>
                          <a:ea typeface="Inter"/>
                          <a:sym typeface="+mn-ea"/>
                        </a:rPr>
                        <a:t>Recognize that FDs offer short-term safety, while Equities drive long-term wealth creation</a:t>
                      </a:r>
                      <a:endParaRPr sz="1800">
                        <a:solidFill>
                          <a:srgbClr val="4B5563"/>
                        </a:solidFill>
                        <a:latin typeface="Inter"/>
                        <a:ea typeface="Inter"/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3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Asset Allocation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800">
                          <a:solidFill>
                            <a:srgbClr val="4B5563"/>
                          </a:solidFill>
                          <a:latin typeface="Inter"/>
                          <a:ea typeface="Inter"/>
                          <a:sym typeface="+mn-ea"/>
                        </a:rPr>
                        <a:t>Determine your ideal Equity-to-Fixed Income allocation based on your age and risk tolerance</a:t>
                      </a:r>
                      <a:endParaRPr sz="1800">
                        <a:solidFill>
                          <a:srgbClr val="4B5563"/>
                        </a:solidFill>
                        <a:latin typeface="Inter"/>
                        <a:ea typeface="Inter"/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4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Disciplined Savings Mindset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800">
                          <a:solidFill>
                            <a:srgbClr val="4B5563"/>
                          </a:solidFill>
                          <a:latin typeface="Inter"/>
                          <a:ea typeface="Inter"/>
                          <a:sym typeface="+mn-ea"/>
                        </a:rPr>
                        <a:t>Implement the 'Income - Savings = Expenses' rule to automate your monthly investments</a:t>
                      </a:r>
                      <a:endParaRPr sz="1800">
                        <a:solidFill>
                          <a:srgbClr val="4B5563"/>
                        </a:solidFill>
                        <a:latin typeface="Inter"/>
                        <a:ea typeface="Inter"/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5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Essential Insurance Activation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sz="1800">
                          <a:solidFill>
                            <a:srgbClr val="4B5563"/>
                          </a:solidFill>
                          <a:latin typeface="Inter"/>
                          <a:ea typeface="Inter"/>
                          <a:sym typeface="+mn-ea"/>
                        </a:rPr>
                        <a:t>Purchase comprehensive medical coverage and a term life policy immediately upon starting your first job</a:t>
                      </a: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TABLE_ENDDRAG_ORIGIN_RECT" val="367*90"/>
  <p:tag name="TABLE_ENDDRAG_RECT" val="47*117*367*90"/>
</p:tagLst>
</file>

<file path=ppt/tags/tag13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TABLE_ENDDRAG_ORIGIN_RECT" val="471*243"/>
  <p:tag name="TABLE_ENDDRAG_RECT" val="47*113*471*243"/>
</p:tagLst>
</file>

<file path=ppt/tags/tag13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149.xml><?xml version="1.0" encoding="utf-8"?>
<p:tagLst xmlns:p="http://schemas.openxmlformats.org/presentationml/2006/main">
  <p:tag name="TABLE_ENDDRAG_ORIGIN_RECT" val="470*175"/>
  <p:tag name="TABLE_ENDDRAG_RECT" val="63*244*470*175"/>
</p:tagLst>
</file>

<file path=ppt/tags/tag1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29&quot;:[50000159],&quot;65&quot;:[20205081]}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15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</p:tagLst>
</file>

<file path=ppt/tags/tag16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65.xml><?xml version="1.0" encoding="utf-8"?>
<p:tagLst xmlns:p="http://schemas.openxmlformats.org/presentationml/2006/main">
  <p:tag name="resource_record_key" val="{&quot;29&quot;:[50000159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4384</Words>
  <Application>WPS Presentation</Application>
  <PresentationFormat>Widescreen</PresentationFormat>
  <Paragraphs>310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Arial</vt:lpstr>
      <vt:lpstr>SimSun</vt:lpstr>
      <vt:lpstr>Wingdings</vt:lpstr>
      <vt:lpstr>Wingdings</vt:lpstr>
      <vt:lpstr>Arial Bold</vt:lpstr>
      <vt:lpstr>Inter</vt:lpstr>
      <vt:lpstr>Thonburi</vt:lpstr>
      <vt:lpstr>Microsoft YaHei</vt:lpstr>
      <vt:lpstr>汉仪旗黑</vt:lpstr>
      <vt:lpstr>Arial Unicode MS</vt:lpstr>
      <vt:lpstr>Calibri</vt:lpstr>
      <vt:lpstr>Helvetica Neue</vt:lpstr>
      <vt:lpstr>宋体-简</vt:lpstr>
      <vt:lpstr>WPS</vt:lpstr>
      <vt:lpstr>1_WPS</vt:lpstr>
      <vt:lpstr>Personal Finance</vt:lpstr>
      <vt:lpstr>Disclaimer</vt:lpstr>
      <vt:lpstr>How much tax do you pay ?</vt:lpstr>
      <vt:lpstr>How much tax do you pay ?</vt:lpstr>
      <vt:lpstr>Inflation</vt:lpstr>
      <vt:lpstr>Rental Yields - how much rent can you expect?</vt:lpstr>
      <vt:lpstr>Rental Yields</vt:lpstr>
      <vt:lpstr>Fixed Deposits</vt:lpstr>
      <vt:lpstr>Equity Markets</vt:lpstr>
      <vt:lpstr>Cash Flow Mindset</vt:lpstr>
      <vt:lpstr>The Allocation Dilemma</vt:lpstr>
      <vt:lpstr>Risk Mitigation</vt:lpstr>
      <vt:lpstr>Checklist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Finance</dc:title>
  <dc:creator>vipar</dc:creator>
  <cp:lastModifiedBy>Brinda Dorairaj</cp:lastModifiedBy>
  <cp:revision>22</cp:revision>
  <dcterms:created xsi:type="dcterms:W3CDTF">2026-09-10T03:42:05Z</dcterms:created>
  <dcterms:modified xsi:type="dcterms:W3CDTF">2026-09-10T03:42:05Z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1033-12.1.26015.26015</vt:lpwstr>
  </property>
  <property fmtid="{D5CDD505-2E9C-101B-9397-08002B2CF9AE}" pid="3" name="ICV">
    <vt:lpwstr>04E1B200B1A52D7532D94C6AE17ECF0F_41</vt:lpwstr>
  </property>
</Properties>
</file>