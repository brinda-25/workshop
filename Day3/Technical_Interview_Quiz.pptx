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5"/>
  </p:notesMasterIdLst>
  <p:sldIdLst>
    <p:sldId id="256" r:id="rId2"/>
    <p:sldId id="257" r:id="rId3"/>
    <p:sldId id="258" r:id="rId4"/>
    <p:sldId id="259" r:id="rId5"/>
    <p:sldId id="274" r:id="rId6"/>
    <p:sldId id="275" r:id="rId7"/>
    <p:sldId id="260" r:id="rId8"/>
    <p:sldId id="261" r:id="rId9"/>
    <p:sldId id="262" r:id="rId10"/>
    <p:sldId id="276" r:id="rId11"/>
    <p:sldId id="263" r:id="rId12"/>
    <p:sldId id="278" r:id="rId13"/>
    <p:sldId id="277" r:id="rId14"/>
    <p:sldId id="264" r:id="rId15"/>
    <p:sldId id="279" r:id="rId16"/>
    <p:sldId id="280" r:id="rId17"/>
    <p:sldId id="265" r:id="rId18"/>
    <p:sldId id="266" r:id="rId19"/>
    <p:sldId id="267" r:id="rId20"/>
    <p:sldId id="281" r:id="rId21"/>
    <p:sldId id="268" r:id="rId22"/>
    <p:sldId id="282" r:id="rId23"/>
    <p:sldId id="283" r:id="rId24"/>
    <p:sldId id="284" r:id="rId25"/>
    <p:sldId id="285" r:id="rId26"/>
    <p:sldId id="269" r:id="rId27"/>
    <p:sldId id="270" r:id="rId28"/>
    <p:sldId id="271" r:id="rId29"/>
    <p:sldId id="286" r:id="rId30"/>
    <p:sldId id="287" r:id="rId31"/>
    <p:sldId id="288" r:id="rId32"/>
    <p:sldId id="289" r:id="rId33"/>
    <p:sldId id="272" r:id="rId34"/>
  </p:sldIdLst>
  <p:sldSz cx="12192000" cy="6858000"/>
  <p:notesSz cx="6858000" cy="9144000"/>
  <p:embeddedFontLst>
    <p:embeddedFont>
      <p:font typeface="Inter" panose="020B0604020202020204" charset="0"/>
      <p:regular r:id="rId36"/>
    </p:embeddedFont>
    <p:embeddedFont>
      <p:font typeface="Inter Black" panose="020B0604020202020204" charset="0"/>
      <p:regular r:id="rId37"/>
    </p:embeddedFont>
    <p:embeddedFont>
      <p:font typeface="JetBrains Mono" panose="020B0604020202020204" charset="0"/>
      <p:regular r:id="rId3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defaultTextStyle>
  <p:extLst>
    <p:ext uri="{EFAFB233-063F-42B5-8137-9DF3F51BA10A}">
      <p15:sldGuideLst xmlns:p15="http://schemas.microsoft.com/office/powerpoint/2012/main">
        <p15:guide id="1" orient="horz" pos="2160" userDrawn="1">
          <p15:clr>
            <a:srgbClr val="000000"/>
          </p15:clr>
        </p15:guide>
        <p15:guide id="2" pos="2880" userDrawn="1">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howGuides="1">
      <p:cViewPr varScale="1">
        <p:scale>
          <a:sx n="59" d="100"/>
          <a:sy n="59" d="100"/>
        </p:scale>
        <p:origin x="868" y="28"/>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2.fntdata"/><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1.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3.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1" name="Google Shape;91;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0" name="Google Shape;100;p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6" name="Google Shape;126;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6" name="Google Shape;126;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6" name="Google Shape;126;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9" name="Google Shape;139;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8" name="Google Shape;148;p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4" name="Google Shape;174;p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4" name="Google Shape;174;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0" name="Google Shape;200;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0" name="Google Shape;200;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0" name="Google Shape;200;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6" name="Google Shape;226;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6" name="Google Shape;226;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6" name="Google Shape;226;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p:cNvGrpSpPr/>
        <p:nvPr/>
      </p:nvGrpSpPr>
      <p:grpSpPr>
        <a:xfrm>
          <a:off x="0" y="0"/>
          <a:ext cx="0" cy="0"/>
          <a:chOff x="0" y="0"/>
          <a:chExt cx="0" cy="0"/>
        </a:xfrm>
      </p:grpSpPr>
      <p:sp>
        <p:nvSpPr>
          <p:cNvPr id="238" name="Google Shape;238;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9" name="Google Shape;239;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p:cNvGrpSpPr/>
        <p:nvPr/>
      </p:nvGrpSpPr>
      <p:grpSpPr>
        <a:xfrm>
          <a:off x="0" y="0"/>
          <a:ext cx="0" cy="0"/>
          <a:chOff x="0" y="0"/>
          <a:chExt cx="0" cy="0"/>
        </a:xfrm>
      </p:grpSpPr>
      <p:sp>
        <p:nvSpPr>
          <p:cNvPr id="247" name="Google Shape;247;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8" name="Google Shape;248;p1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2"/>
        <p:cNvGrpSpPr/>
        <p:nvPr/>
      </p:nvGrpSpPr>
      <p:grpSpPr>
        <a:xfrm>
          <a:off x="0" y="0"/>
          <a:ext cx="0" cy="0"/>
          <a:chOff x="0" y="0"/>
          <a:chExt cx="0" cy="0"/>
        </a:xfrm>
      </p:grpSpPr>
      <p:sp>
        <p:nvSpPr>
          <p:cNvPr id="273" name="Google Shape;273;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4" name="Google Shape;274;p1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2"/>
        <p:cNvGrpSpPr/>
        <p:nvPr/>
      </p:nvGrpSpPr>
      <p:grpSpPr>
        <a:xfrm>
          <a:off x="0" y="0"/>
          <a:ext cx="0" cy="0"/>
          <a:chOff x="0" y="0"/>
          <a:chExt cx="0" cy="0"/>
        </a:xfrm>
      </p:grpSpPr>
      <p:sp>
        <p:nvSpPr>
          <p:cNvPr id="273" name="Google Shape;273;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4" name="Google Shape;274;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8"/>
        <p:cNvGrpSpPr/>
        <p:nvPr/>
      </p:nvGrpSpPr>
      <p:grpSpPr>
        <a:xfrm>
          <a:off x="0" y="0"/>
          <a:ext cx="0" cy="0"/>
          <a:chOff x="0" y="0"/>
          <a:chExt cx="0" cy="0"/>
        </a:xfrm>
      </p:grpSpPr>
      <p:sp>
        <p:nvSpPr>
          <p:cNvPr id="299" name="Google Shape;299;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0" name="Google Shape;300;p1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8"/>
        <p:cNvGrpSpPr/>
        <p:nvPr/>
      </p:nvGrpSpPr>
      <p:grpSpPr>
        <a:xfrm>
          <a:off x="0" y="0"/>
          <a:ext cx="0" cy="0"/>
          <a:chOff x="0" y="0"/>
          <a:chExt cx="0" cy="0"/>
        </a:xfrm>
      </p:grpSpPr>
      <p:sp>
        <p:nvSpPr>
          <p:cNvPr id="299" name="Google Shape;299;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0" name="Google Shape;300;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8"/>
        <p:cNvGrpSpPr/>
        <p:nvPr/>
      </p:nvGrpSpPr>
      <p:grpSpPr>
        <a:xfrm>
          <a:off x="0" y="0"/>
          <a:ext cx="0" cy="0"/>
          <a:chOff x="0" y="0"/>
          <a:chExt cx="0" cy="0"/>
        </a:xfrm>
      </p:grpSpPr>
      <p:sp>
        <p:nvSpPr>
          <p:cNvPr id="299" name="Google Shape;299;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0" name="Google Shape;300;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6" name="Google Shape;226;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6" name="Google Shape;226;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p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26" name="Google Shape;326;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3"/>
        <p:cNvGrpSpPr/>
        <p:nvPr/>
      </p:nvGrpSpPr>
      <p:grpSpPr>
        <a:xfrm>
          <a:off x="0" y="0"/>
          <a:ext cx="0" cy="0"/>
          <a:chOff x="0" y="0"/>
          <a:chExt cx="0" cy="0"/>
        </a:xfrm>
      </p:grpSpPr>
      <p:sp>
        <p:nvSpPr>
          <p:cNvPr id="334" name="Google Shape;334;p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35" name="Google Shape;335;p1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
        <p:cNvGrpSpPr/>
        <p:nvPr/>
      </p:nvGrpSpPr>
      <p:grpSpPr>
        <a:xfrm>
          <a:off x="0" y="0"/>
          <a:ext cx="0" cy="0"/>
          <a:chOff x="0" y="0"/>
          <a:chExt cx="0" cy="0"/>
        </a:xfrm>
      </p:grpSpPr>
      <p:sp>
        <p:nvSpPr>
          <p:cNvPr id="360" name="Google Shape;360;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61" name="Google Shape;361;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
        <p:cNvGrpSpPr/>
        <p:nvPr/>
      </p:nvGrpSpPr>
      <p:grpSpPr>
        <a:xfrm>
          <a:off x="0" y="0"/>
          <a:ext cx="0" cy="0"/>
          <a:chOff x="0" y="0"/>
          <a:chExt cx="0" cy="0"/>
        </a:xfrm>
      </p:grpSpPr>
      <p:sp>
        <p:nvSpPr>
          <p:cNvPr id="360" name="Google Shape;360;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61" name="Google Shape;361;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
        <p:cNvGrpSpPr/>
        <p:nvPr/>
      </p:nvGrpSpPr>
      <p:grpSpPr>
        <a:xfrm>
          <a:off x="0" y="0"/>
          <a:ext cx="0" cy="0"/>
          <a:chOff x="0" y="0"/>
          <a:chExt cx="0" cy="0"/>
        </a:xfrm>
      </p:grpSpPr>
      <p:sp>
        <p:nvSpPr>
          <p:cNvPr id="360" name="Google Shape;360;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61" name="Google Shape;361;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
        <p:cNvGrpSpPr/>
        <p:nvPr/>
      </p:nvGrpSpPr>
      <p:grpSpPr>
        <a:xfrm>
          <a:off x="0" y="0"/>
          <a:ext cx="0" cy="0"/>
          <a:chOff x="0" y="0"/>
          <a:chExt cx="0" cy="0"/>
        </a:xfrm>
      </p:grpSpPr>
      <p:sp>
        <p:nvSpPr>
          <p:cNvPr id="360" name="Google Shape;360;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61" name="Google Shape;361;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
        <p:cNvGrpSpPr/>
        <p:nvPr/>
      </p:nvGrpSpPr>
      <p:grpSpPr>
        <a:xfrm>
          <a:off x="0" y="0"/>
          <a:ext cx="0" cy="0"/>
          <a:chOff x="0" y="0"/>
          <a:chExt cx="0" cy="0"/>
        </a:xfrm>
      </p:grpSpPr>
      <p:sp>
        <p:nvSpPr>
          <p:cNvPr id="360" name="Google Shape;360;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61" name="Google Shape;361;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5"/>
        <p:cNvGrpSpPr/>
        <p:nvPr/>
      </p:nvGrpSpPr>
      <p:grpSpPr>
        <a:xfrm>
          <a:off x="0" y="0"/>
          <a:ext cx="0" cy="0"/>
          <a:chOff x="0" y="0"/>
          <a:chExt cx="0" cy="0"/>
        </a:xfrm>
      </p:grpSpPr>
      <p:sp>
        <p:nvSpPr>
          <p:cNvPr id="386" name="Google Shape;386;p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87" name="Google Shape;387;p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3"/>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3"/>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0"/>
          <p:cNvSpPr>
            <a:spLocks noGrp="1"/>
          </p:cNvSpPr>
          <p:nvPr>
            <p:ph type="pic" idx="2"/>
          </p:nvPr>
        </p:nvSpPr>
        <p:spPr>
          <a:xfrm>
            <a:off x="1792288" y="612775"/>
            <a:ext cx="5486400" cy="4114800"/>
          </a:xfrm>
          <a:prstGeom prst="rect">
            <a:avLst/>
          </a:prstGeom>
          <a:noFill/>
          <a:ln>
            <a:noFill/>
          </a:ln>
        </p:spPr>
      </p:sp>
      <p:sp>
        <p:nvSpPr>
          <p:cNvPr id="64" name="Google Shape;64;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panose="020B0604020202090204"/>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panose="020B0604020202090204"/>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panose="020B0604020202090204"/>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panose="020B0604020202090204"/>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panose="020B0604020202090204"/>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panose="020B0604020202090204"/>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panose="020B0604020202090204"/>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panose="020B0604020202090204"/>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panose="020B0604020202090204"/>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13.png"/><Relationship Id="rId4" Type="http://schemas.openxmlformats.org/officeDocument/2006/relationships/image" Target="../media/image12.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13.png"/><Relationship Id="rId4" Type="http://schemas.openxmlformats.org/officeDocument/2006/relationships/image" Target="../media/image12.png"/></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16.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17.pn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17.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18.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18.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18.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13.png"/><Relationship Id="rId4" Type="http://schemas.openxmlformats.org/officeDocument/2006/relationships/image" Target="../media/image12.png"/></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13.png"/><Relationship Id="rId4" Type="http://schemas.openxmlformats.org/officeDocument/2006/relationships/image" Target="../media/image12.png"/></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19.png"/></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20.png"/></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9.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20.png"/></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0.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20.png"/></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1.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20.png"/></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2.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20.png"/></Relationships>
</file>

<file path=ppt/slides/_rels/slide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E293B"/>
        </a:solidFill>
        <a:effectLst/>
      </p:bgPr>
    </p:bg>
    <p:spTree>
      <p:nvGrpSpPr>
        <p:cNvPr id="1" name="Shape 83"/>
        <p:cNvGrpSpPr/>
        <p:nvPr/>
      </p:nvGrpSpPr>
      <p:grpSpPr>
        <a:xfrm>
          <a:off x="0" y="0"/>
          <a:ext cx="0" cy="0"/>
          <a:chOff x="0" y="0"/>
          <a:chExt cx="0" cy="0"/>
        </a:xfrm>
      </p:grpSpPr>
      <p:pic>
        <p:nvPicPr>
          <p:cNvPr id="84" name="Google Shape;84;p13" descr="image.png"/>
          <p:cNvPicPr preferRelativeResize="0"/>
          <p:nvPr/>
        </p:nvPicPr>
        <p:blipFill rotWithShape="1">
          <a:blip r:embed="rId3"/>
          <a:srcRect/>
          <a:stretch>
            <a:fillRect/>
          </a:stretch>
        </p:blipFill>
        <p:spPr>
          <a:xfrm>
            <a:off x="0" y="0"/>
            <a:ext cx="12192000" cy="6858000"/>
          </a:xfrm>
          <a:prstGeom prst="rect">
            <a:avLst/>
          </a:prstGeom>
          <a:noFill/>
          <a:ln>
            <a:noFill/>
          </a:ln>
        </p:spPr>
      </p:pic>
      <p:sp>
        <p:nvSpPr>
          <p:cNvPr id="85" name="Google Shape;85;p13"/>
          <p:cNvSpPr txBox="1"/>
          <p:nvPr/>
        </p:nvSpPr>
        <p:spPr>
          <a:xfrm>
            <a:off x="1575434" y="1831627"/>
            <a:ext cx="9041130" cy="115379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7500" b="1" i="0" u="none" strike="noStrike" cap="none">
                <a:solidFill>
                  <a:srgbClr val="38BDF8"/>
                </a:solidFill>
                <a:latin typeface="Inter" panose="02000503000000020004"/>
                <a:ea typeface="Inter" panose="02000503000000020004"/>
                <a:cs typeface="Inter" panose="02000503000000020004"/>
                <a:sym typeface="Inter" panose="02000503000000020004"/>
              </a:rPr>
              <a:t>Technical Interview</a:t>
            </a:r>
          </a:p>
        </p:txBody>
      </p:sp>
      <p:sp>
        <p:nvSpPr>
          <p:cNvPr id="86" name="Google Shape;86;p13"/>
          <p:cNvSpPr txBox="1"/>
          <p:nvPr/>
        </p:nvSpPr>
        <p:spPr>
          <a:xfrm>
            <a:off x="2915602" y="2984152"/>
            <a:ext cx="6360795" cy="571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3750" b="1" i="0" u="none" strike="noStrike" cap="none" dirty="0">
                <a:solidFill>
                  <a:srgbClr val="F8FAFC"/>
                </a:solidFill>
                <a:latin typeface="Inter" panose="02000503000000020004"/>
                <a:ea typeface="Inter" panose="02000503000000020004"/>
                <a:cs typeface="Inter" panose="02000503000000020004"/>
                <a:sym typeface="Inter" panose="02000503000000020004"/>
              </a:rPr>
              <a:t>Undergraduate Level Quiz</a:t>
            </a:r>
          </a:p>
        </p:txBody>
      </p:sp>
      <p:sp>
        <p:nvSpPr>
          <p:cNvPr id="87" name="Google Shape;87;p13"/>
          <p:cNvSpPr/>
          <p:nvPr/>
        </p:nvSpPr>
        <p:spPr>
          <a:xfrm>
            <a:off x="5381625" y="3841402"/>
            <a:ext cx="1428750" cy="76200"/>
          </a:xfrm>
          <a:prstGeom prst="rect">
            <a:avLst/>
          </a:prstGeom>
          <a:solidFill>
            <a:srgbClr val="38BDF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88" name="Google Shape;88;p13"/>
          <p:cNvSpPr txBox="1"/>
          <p:nvPr/>
        </p:nvSpPr>
        <p:spPr>
          <a:xfrm>
            <a:off x="2899680" y="4540809"/>
            <a:ext cx="6360795" cy="443198"/>
          </a:xfrm>
          <a:prstGeom prst="rect">
            <a:avLst/>
          </a:prstGeom>
          <a:noFill/>
          <a:ln>
            <a:noFill/>
          </a:ln>
        </p:spPr>
        <p:txBody>
          <a:bodyPr spcFirstLastPara="1" wrap="square" lIns="0" tIns="0" rIns="0" bIns="0" anchor="t" anchorCtr="0">
            <a:spAutoFit/>
          </a:bodyPr>
          <a:lstStyle/>
          <a:p>
            <a:pPr lvl="0" algn="ctr">
              <a:lnSpc>
                <a:spcPct val="160000"/>
              </a:lnSpc>
            </a:pPr>
            <a:r>
              <a:rPr lang="en-US" sz="1800" b="0" i="0" u="none" strike="noStrike" cap="none" dirty="0">
                <a:solidFill>
                  <a:srgbClr val="94A3B8"/>
                </a:solidFill>
                <a:latin typeface="Inter" panose="02000503000000020004"/>
                <a:ea typeface="Inter" panose="02000503000000020004"/>
                <a:cs typeface="Inter" panose="02000503000000020004"/>
                <a:sym typeface="Inter" panose="02000503000000020004"/>
              </a:rPr>
              <a:t>Data Structures | OOP | DBMS | Machine</a:t>
            </a:r>
            <a:r>
              <a:rPr lang="en-US" sz="1800" dirty="0">
                <a:solidFill>
                  <a:srgbClr val="94A3B8"/>
                </a:solidFill>
                <a:latin typeface="Inter" panose="02000503000000020004"/>
                <a:ea typeface="Inter" panose="02000503000000020004"/>
                <a:cs typeface="Inter" panose="02000503000000020004"/>
                <a:sym typeface="Inter" panose="02000503000000020004"/>
              </a:rPr>
              <a:t> Learning</a:t>
            </a:r>
            <a:endParaRPr lang="en-US" sz="1800" b="0" i="0" u="none" strike="noStrike" cap="none" dirty="0">
              <a:solidFill>
                <a:srgbClr val="94A3B8"/>
              </a:solidFill>
              <a:latin typeface="Inter" panose="02000503000000020004"/>
              <a:ea typeface="Inter" panose="02000503000000020004"/>
              <a:cs typeface="Inter" panose="02000503000000020004"/>
              <a:sym typeface="Inter" panose="020005030000000200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E293B"/>
        </a:solidFill>
        <a:effectLst/>
      </p:bgPr>
    </p:bg>
    <p:spTree>
      <p:nvGrpSpPr>
        <p:cNvPr id="1" name="Shape 92"/>
        <p:cNvGrpSpPr/>
        <p:nvPr/>
      </p:nvGrpSpPr>
      <p:grpSpPr>
        <a:xfrm>
          <a:off x="0" y="0"/>
          <a:ext cx="0" cy="0"/>
          <a:chOff x="0" y="0"/>
          <a:chExt cx="0" cy="0"/>
        </a:xfrm>
      </p:grpSpPr>
      <p:pic>
        <p:nvPicPr>
          <p:cNvPr id="93" name="Google Shape;93;p14" descr="image.png"/>
          <p:cNvPicPr preferRelativeResize="0"/>
          <p:nvPr/>
        </p:nvPicPr>
        <p:blipFill rotWithShape="1">
          <a:blip r:embed="rId3"/>
          <a:srcRect/>
          <a:stretch>
            <a:fillRect/>
          </a:stretch>
        </p:blipFill>
        <p:spPr>
          <a:xfrm>
            <a:off x="0" y="0"/>
            <a:ext cx="12192000" cy="6858000"/>
          </a:xfrm>
          <a:prstGeom prst="rect">
            <a:avLst/>
          </a:prstGeom>
          <a:noFill/>
          <a:ln>
            <a:noFill/>
          </a:ln>
        </p:spPr>
      </p:pic>
      <p:sp>
        <p:nvSpPr>
          <p:cNvPr id="94" name="Google Shape;94;p14"/>
          <p:cNvSpPr/>
          <p:nvPr/>
        </p:nvSpPr>
        <p:spPr>
          <a:xfrm>
            <a:off x="0" y="0"/>
            <a:ext cx="12192000" cy="6858000"/>
          </a:xfrm>
          <a:prstGeom prst="rect">
            <a:avLst/>
          </a:prstGeom>
          <a:solidFill>
            <a:srgbClr val="0F172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95" name="Google Shape;95;p14"/>
          <p:cNvSpPr txBox="1"/>
          <p:nvPr/>
        </p:nvSpPr>
        <p:spPr>
          <a:xfrm>
            <a:off x="5638800" y="1932319"/>
            <a:ext cx="914400" cy="36567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800" b="1" i="0" u="none" strike="noStrike" cap="none" dirty="0">
                <a:solidFill>
                  <a:srgbClr val="38BDF8"/>
                </a:solidFill>
                <a:latin typeface="Inter" panose="02000503000000020004"/>
                <a:ea typeface="Inter" panose="02000503000000020004"/>
                <a:cs typeface="Inter" panose="02000503000000020004"/>
                <a:sym typeface="Inter" panose="02000503000000020004"/>
              </a:rPr>
              <a:t>PART 01</a:t>
            </a:r>
            <a:endParaRPr dirty="0"/>
          </a:p>
        </p:txBody>
      </p:sp>
      <p:sp>
        <p:nvSpPr>
          <p:cNvPr id="96" name="Google Shape;96;p14"/>
          <p:cNvSpPr txBox="1"/>
          <p:nvPr/>
        </p:nvSpPr>
        <p:spPr>
          <a:xfrm>
            <a:off x="405288" y="2940248"/>
            <a:ext cx="11381422" cy="92392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6000" b="1" i="0" u="none" strike="noStrike" cap="none" dirty="0">
                <a:solidFill>
                  <a:srgbClr val="F8FAFC"/>
                </a:solidFill>
                <a:latin typeface="Inter" panose="02000503000000020004"/>
                <a:ea typeface="Inter" panose="02000503000000020004"/>
                <a:cs typeface="Inter" panose="02000503000000020004"/>
                <a:sym typeface="Inter" panose="02000503000000020004"/>
              </a:rPr>
              <a:t>Data Structures &amp; Algorithms</a:t>
            </a:r>
            <a:endParaRPr dirty="0"/>
          </a:p>
        </p:txBody>
      </p:sp>
      <p:sp>
        <p:nvSpPr>
          <p:cNvPr id="97" name="Google Shape;97;p14"/>
          <p:cNvSpPr/>
          <p:nvPr/>
        </p:nvSpPr>
        <p:spPr>
          <a:xfrm>
            <a:off x="5381625" y="4149923"/>
            <a:ext cx="1428750" cy="76200"/>
          </a:xfrm>
          <a:prstGeom prst="rect">
            <a:avLst/>
          </a:prstGeom>
          <a:solidFill>
            <a:srgbClr val="38BDF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E293B"/>
        </a:solidFill>
        <a:effectLst/>
      </p:bgPr>
    </p:bg>
    <p:spTree>
      <p:nvGrpSpPr>
        <p:cNvPr id="1" name="Shape 101"/>
        <p:cNvGrpSpPr/>
        <p:nvPr/>
      </p:nvGrpSpPr>
      <p:grpSpPr>
        <a:xfrm>
          <a:off x="0" y="0"/>
          <a:ext cx="0" cy="0"/>
          <a:chOff x="0" y="0"/>
          <a:chExt cx="0" cy="0"/>
        </a:xfrm>
      </p:grpSpPr>
      <p:pic>
        <p:nvPicPr>
          <p:cNvPr id="102" name="Google Shape;102;p15" descr="image.png"/>
          <p:cNvPicPr preferRelativeResize="0"/>
          <p:nvPr/>
        </p:nvPicPr>
        <p:blipFill rotWithShape="1">
          <a:blip r:embed="rId3"/>
          <a:srcRect/>
          <a:stretch>
            <a:fillRect/>
          </a:stretch>
        </p:blipFill>
        <p:spPr>
          <a:xfrm>
            <a:off x="0" y="0"/>
            <a:ext cx="12192000" cy="6858000"/>
          </a:xfrm>
          <a:prstGeom prst="rect">
            <a:avLst/>
          </a:prstGeom>
          <a:noFill/>
          <a:ln>
            <a:noFill/>
          </a:ln>
        </p:spPr>
      </p:pic>
      <p:pic>
        <p:nvPicPr>
          <p:cNvPr id="103" name="Google Shape;103;p15" descr="image.png"/>
          <p:cNvPicPr preferRelativeResize="0"/>
          <p:nvPr/>
        </p:nvPicPr>
        <p:blipFill rotWithShape="1">
          <a:blip r:embed="rId4"/>
          <a:srcRect/>
          <a:stretch>
            <a:fillRect/>
          </a:stretch>
        </p:blipFill>
        <p:spPr>
          <a:xfrm>
            <a:off x="571500" y="6871989"/>
            <a:ext cx="11049000" cy="838200"/>
          </a:xfrm>
          <a:prstGeom prst="rect">
            <a:avLst/>
          </a:prstGeom>
          <a:noFill/>
          <a:ln>
            <a:noFill/>
          </a:ln>
        </p:spPr>
      </p:pic>
      <p:sp>
        <p:nvSpPr>
          <p:cNvPr id="104" name="Google Shape;104;p15"/>
          <p:cNvSpPr txBox="1"/>
          <p:nvPr/>
        </p:nvSpPr>
        <p:spPr>
          <a:xfrm>
            <a:off x="571500" y="2043261"/>
            <a:ext cx="11049000" cy="36567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800" b="0" i="0" u="none" strike="noStrike" cap="none">
                <a:solidFill>
                  <a:srgbClr val="CBD5E1"/>
                </a:solidFill>
                <a:latin typeface="Inter" panose="02000503000000020004"/>
                <a:ea typeface="Inter" panose="02000503000000020004"/>
                <a:cs typeface="Inter" panose="02000503000000020004"/>
                <a:sym typeface="Inter" panose="02000503000000020004"/>
              </a:rPr>
              <a:t>Which data structure is used by the compiler to manage function calls and local variables?</a:t>
            </a:r>
          </a:p>
        </p:txBody>
      </p:sp>
      <p:sp>
        <p:nvSpPr>
          <p:cNvPr id="105" name="Google Shape;105;p15"/>
          <p:cNvSpPr txBox="1"/>
          <p:nvPr/>
        </p:nvSpPr>
        <p:spPr>
          <a:xfrm>
            <a:off x="6657975" y="7129164"/>
            <a:ext cx="1076325" cy="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100" b="0" i="0" u="none" strike="noStrike" cap="none">
                <a:solidFill>
                  <a:srgbClr val="FEF08A"/>
                </a:solidFill>
                <a:latin typeface="Inter Black"/>
                <a:ea typeface="Inter Black"/>
                <a:cs typeface="Inter Black"/>
                <a:sym typeface="Inter Black"/>
              </a:rPr>
              <a:t>B) Stack</a:t>
            </a:r>
          </a:p>
        </p:txBody>
      </p:sp>
      <p:sp>
        <p:nvSpPr>
          <p:cNvPr id="106" name="Google Shape;106;p15"/>
          <p:cNvSpPr/>
          <p:nvPr/>
        </p:nvSpPr>
        <p:spPr>
          <a:xfrm>
            <a:off x="952500" y="2847082"/>
            <a:ext cx="10668000" cy="765720"/>
          </a:xfrm>
          <a:prstGeom prst="roundRect">
            <a:avLst>
              <a:gd name="adj" fmla="val 9951"/>
            </a:avLst>
          </a:prstGeom>
          <a:solidFill>
            <a:srgbClr val="334155"/>
          </a:solidFill>
          <a:ln w="9525" cap="flat" cmpd="sng">
            <a:solidFill>
              <a:srgbClr val="94A3B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07" name="Google Shape;107;p15"/>
          <p:cNvSpPr txBox="1"/>
          <p:nvPr/>
        </p:nvSpPr>
        <p:spPr>
          <a:xfrm>
            <a:off x="1600200" y="3037582"/>
            <a:ext cx="9734550" cy="384720"/>
          </a:xfrm>
          <a:prstGeom prst="rect">
            <a:avLst/>
          </a:prstGeom>
          <a:noFill/>
          <a:ln>
            <a:noFill/>
          </a:ln>
        </p:spPr>
        <p:txBody>
          <a:bodyPr spcFirstLastPara="1" wrap="square" lIns="0" tIns="0" rIns="0" bIns="0" anchor="ctr" anchorCtr="0">
            <a:spAutoFit/>
          </a:bodyPr>
          <a:lstStyle/>
          <a:p>
            <a:pPr marL="0" marR="0" lvl="0" indent="0" algn="l" rtl="0">
              <a:lnSpc>
                <a:spcPct val="160000"/>
              </a:lnSpc>
              <a:spcBef>
                <a:spcPts val="0"/>
              </a:spcBef>
              <a:spcAft>
                <a:spcPts val="0"/>
              </a:spcAft>
              <a:buNone/>
            </a:pPr>
            <a:r>
              <a:rPr lang="en-US" sz="1800" b="0" i="0" u="none" strike="noStrike" cap="none">
                <a:solidFill>
                  <a:srgbClr val="CBD5E1"/>
                </a:solidFill>
                <a:latin typeface="Inter" panose="02000503000000020004"/>
                <a:ea typeface="Inter" panose="02000503000000020004"/>
                <a:cs typeface="Inter" panose="02000503000000020004"/>
                <a:sym typeface="Inter" panose="02000503000000020004"/>
              </a:rPr>
              <a:t>A) Queue</a:t>
            </a:r>
          </a:p>
        </p:txBody>
      </p:sp>
      <p:sp>
        <p:nvSpPr>
          <p:cNvPr id="108" name="Google Shape;108;p15"/>
          <p:cNvSpPr/>
          <p:nvPr/>
        </p:nvSpPr>
        <p:spPr>
          <a:xfrm>
            <a:off x="952500" y="3755677"/>
            <a:ext cx="10668000" cy="765720"/>
          </a:xfrm>
          <a:prstGeom prst="roundRect">
            <a:avLst>
              <a:gd name="adj" fmla="val 9951"/>
            </a:avLst>
          </a:prstGeom>
          <a:solidFill>
            <a:srgbClr val="334155"/>
          </a:solidFill>
          <a:ln w="9525" cap="flat" cmpd="sng">
            <a:solidFill>
              <a:srgbClr val="94A3B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09" name="Google Shape;109;p15"/>
          <p:cNvSpPr txBox="1"/>
          <p:nvPr/>
        </p:nvSpPr>
        <p:spPr>
          <a:xfrm>
            <a:off x="1600200" y="3946177"/>
            <a:ext cx="9734550" cy="384720"/>
          </a:xfrm>
          <a:prstGeom prst="rect">
            <a:avLst/>
          </a:prstGeom>
          <a:noFill/>
          <a:ln>
            <a:noFill/>
          </a:ln>
        </p:spPr>
        <p:txBody>
          <a:bodyPr spcFirstLastPara="1" wrap="square" lIns="0" tIns="0" rIns="0" bIns="0" anchor="ctr" anchorCtr="0">
            <a:spAutoFit/>
          </a:bodyPr>
          <a:lstStyle/>
          <a:p>
            <a:pPr marL="0" marR="0" lvl="0" indent="0" algn="l" rtl="0">
              <a:lnSpc>
                <a:spcPct val="160000"/>
              </a:lnSpc>
              <a:spcBef>
                <a:spcPts val="0"/>
              </a:spcBef>
              <a:spcAft>
                <a:spcPts val="0"/>
              </a:spcAft>
              <a:buNone/>
            </a:pPr>
            <a:r>
              <a:rPr lang="en-US" sz="1800" b="0" i="0" u="none" strike="noStrike" cap="none">
                <a:solidFill>
                  <a:srgbClr val="CBD5E1"/>
                </a:solidFill>
                <a:latin typeface="Inter" panose="02000503000000020004"/>
                <a:ea typeface="Inter" panose="02000503000000020004"/>
                <a:cs typeface="Inter" panose="02000503000000020004"/>
                <a:sym typeface="Inter" panose="02000503000000020004"/>
              </a:rPr>
              <a:t>B) Stack</a:t>
            </a:r>
          </a:p>
        </p:txBody>
      </p:sp>
      <p:sp>
        <p:nvSpPr>
          <p:cNvPr id="110" name="Google Shape;110;p15"/>
          <p:cNvSpPr/>
          <p:nvPr/>
        </p:nvSpPr>
        <p:spPr>
          <a:xfrm>
            <a:off x="952500" y="4664273"/>
            <a:ext cx="10668000" cy="765720"/>
          </a:xfrm>
          <a:prstGeom prst="roundRect">
            <a:avLst>
              <a:gd name="adj" fmla="val 9951"/>
            </a:avLst>
          </a:prstGeom>
          <a:solidFill>
            <a:srgbClr val="334155"/>
          </a:solidFill>
          <a:ln w="9525" cap="flat" cmpd="sng">
            <a:solidFill>
              <a:srgbClr val="94A3B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11" name="Google Shape;111;p15"/>
          <p:cNvSpPr txBox="1"/>
          <p:nvPr/>
        </p:nvSpPr>
        <p:spPr>
          <a:xfrm>
            <a:off x="1600200" y="4854773"/>
            <a:ext cx="9734550" cy="384720"/>
          </a:xfrm>
          <a:prstGeom prst="rect">
            <a:avLst/>
          </a:prstGeom>
          <a:noFill/>
          <a:ln>
            <a:noFill/>
          </a:ln>
        </p:spPr>
        <p:txBody>
          <a:bodyPr spcFirstLastPara="1" wrap="square" lIns="0" tIns="0" rIns="0" bIns="0" anchor="ctr" anchorCtr="0">
            <a:spAutoFit/>
          </a:bodyPr>
          <a:lstStyle/>
          <a:p>
            <a:pPr marL="0" marR="0" lvl="0" indent="0" algn="l" rtl="0">
              <a:lnSpc>
                <a:spcPct val="160000"/>
              </a:lnSpc>
              <a:spcBef>
                <a:spcPts val="0"/>
              </a:spcBef>
              <a:spcAft>
                <a:spcPts val="0"/>
              </a:spcAft>
              <a:buNone/>
            </a:pPr>
            <a:r>
              <a:rPr lang="en-US" sz="1800" b="0" i="0" u="none" strike="noStrike" cap="none">
                <a:solidFill>
                  <a:srgbClr val="CBD5E1"/>
                </a:solidFill>
                <a:latin typeface="Inter" panose="02000503000000020004"/>
                <a:ea typeface="Inter" panose="02000503000000020004"/>
                <a:cs typeface="Inter" panose="02000503000000020004"/>
                <a:sym typeface="Inter" panose="02000503000000020004"/>
              </a:rPr>
              <a:t>C) Tree</a:t>
            </a:r>
          </a:p>
        </p:txBody>
      </p:sp>
      <p:sp>
        <p:nvSpPr>
          <p:cNvPr id="112" name="Google Shape;112;p15"/>
          <p:cNvSpPr/>
          <p:nvPr/>
        </p:nvSpPr>
        <p:spPr>
          <a:xfrm>
            <a:off x="952500" y="5572869"/>
            <a:ext cx="10668000" cy="765720"/>
          </a:xfrm>
          <a:prstGeom prst="roundRect">
            <a:avLst>
              <a:gd name="adj" fmla="val 9951"/>
            </a:avLst>
          </a:prstGeom>
          <a:solidFill>
            <a:srgbClr val="334155"/>
          </a:solidFill>
          <a:ln w="9525" cap="flat" cmpd="sng">
            <a:solidFill>
              <a:srgbClr val="94A3B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13" name="Google Shape;113;p15"/>
          <p:cNvSpPr txBox="1"/>
          <p:nvPr/>
        </p:nvSpPr>
        <p:spPr>
          <a:xfrm>
            <a:off x="1600200" y="5763369"/>
            <a:ext cx="9734550" cy="384720"/>
          </a:xfrm>
          <a:prstGeom prst="rect">
            <a:avLst/>
          </a:prstGeom>
          <a:noFill/>
          <a:ln>
            <a:noFill/>
          </a:ln>
        </p:spPr>
        <p:txBody>
          <a:bodyPr spcFirstLastPara="1" wrap="square" lIns="0" tIns="0" rIns="0" bIns="0" anchor="ctr" anchorCtr="0">
            <a:spAutoFit/>
          </a:bodyPr>
          <a:lstStyle/>
          <a:p>
            <a:pPr marL="0" marR="0" lvl="0" indent="0" algn="l" rtl="0">
              <a:lnSpc>
                <a:spcPct val="160000"/>
              </a:lnSpc>
              <a:spcBef>
                <a:spcPts val="0"/>
              </a:spcBef>
              <a:spcAft>
                <a:spcPts val="0"/>
              </a:spcAft>
              <a:buNone/>
            </a:pPr>
            <a:r>
              <a:rPr lang="en-US" sz="1800" b="0" i="0" u="none" strike="noStrike" cap="none">
                <a:solidFill>
                  <a:srgbClr val="CBD5E1"/>
                </a:solidFill>
                <a:latin typeface="Inter" panose="02000503000000020004"/>
                <a:ea typeface="Inter" panose="02000503000000020004"/>
                <a:cs typeface="Inter" panose="02000503000000020004"/>
                <a:sym typeface="Inter" panose="02000503000000020004"/>
              </a:rPr>
              <a:t>D) Linked List</a:t>
            </a:r>
          </a:p>
        </p:txBody>
      </p:sp>
      <p:sp>
        <p:nvSpPr>
          <p:cNvPr id="114" name="Google Shape;114;p15"/>
          <p:cNvSpPr/>
          <p:nvPr/>
        </p:nvSpPr>
        <p:spPr>
          <a:xfrm>
            <a:off x="952500" y="3603277"/>
            <a:ext cx="10668000" cy="9525"/>
          </a:xfrm>
          <a:prstGeom prst="rect">
            <a:avLst/>
          </a:prstGeom>
          <a:solidFill>
            <a:srgbClr val="94A3B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15" name="Google Shape;115;p15"/>
          <p:cNvSpPr/>
          <p:nvPr/>
        </p:nvSpPr>
        <p:spPr>
          <a:xfrm>
            <a:off x="952500" y="4511873"/>
            <a:ext cx="10668000" cy="9525"/>
          </a:xfrm>
          <a:prstGeom prst="rect">
            <a:avLst/>
          </a:prstGeom>
          <a:solidFill>
            <a:srgbClr val="94A3B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16" name="Google Shape;116;p15"/>
          <p:cNvSpPr/>
          <p:nvPr/>
        </p:nvSpPr>
        <p:spPr>
          <a:xfrm>
            <a:off x="952500" y="5420469"/>
            <a:ext cx="10668000" cy="9525"/>
          </a:xfrm>
          <a:prstGeom prst="rect">
            <a:avLst/>
          </a:prstGeom>
          <a:solidFill>
            <a:srgbClr val="94A3B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17" name="Google Shape;117;p15"/>
          <p:cNvSpPr/>
          <p:nvPr/>
        </p:nvSpPr>
        <p:spPr>
          <a:xfrm>
            <a:off x="952500" y="6329064"/>
            <a:ext cx="10668000" cy="9525"/>
          </a:xfrm>
          <a:prstGeom prst="rect">
            <a:avLst/>
          </a:prstGeom>
          <a:solidFill>
            <a:srgbClr val="94A3B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118" name="Google Shape;118;p15" descr="image.png"/>
          <p:cNvPicPr preferRelativeResize="0"/>
          <p:nvPr/>
        </p:nvPicPr>
        <p:blipFill rotWithShape="1">
          <a:blip r:embed="rId5"/>
          <a:srcRect/>
          <a:stretch>
            <a:fillRect/>
          </a:stretch>
        </p:blipFill>
        <p:spPr>
          <a:xfrm>
            <a:off x="1247775" y="3129855"/>
            <a:ext cx="171450" cy="200025"/>
          </a:xfrm>
          <a:prstGeom prst="rect">
            <a:avLst/>
          </a:prstGeom>
          <a:noFill/>
          <a:ln>
            <a:noFill/>
          </a:ln>
        </p:spPr>
      </p:pic>
      <p:pic>
        <p:nvPicPr>
          <p:cNvPr id="119" name="Google Shape;119;p15" descr="image.png"/>
          <p:cNvPicPr preferRelativeResize="0"/>
          <p:nvPr/>
        </p:nvPicPr>
        <p:blipFill rotWithShape="1">
          <a:blip r:embed="rId5"/>
          <a:srcRect/>
          <a:stretch>
            <a:fillRect/>
          </a:stretch>
        </p:blipFill>
        <p:spPr>
          <a:xfrm>
            <a:off x="1247775" y="4038451"/>
            <a:ext cx="171450" cy="200025"/>
          </a:xfrm>
          <a:prstGeom prst="rect">
            <a:avLst/>
          </a:prstGeom>
          <a:noFill/>
          <a:ln>
            <a:noFill/>
          </a:ln>
        </p:spPr>
      </p:pic>
      <p:pic>
        <p:nvPicPr>
          <p:cNvPr id="120" name="Google Shape;120;p15" descr="image.png"/>
          <p:cNvPicPr preferRelativeResize="0"/>
          <p:nvPr/>
        </p:nvPicPr>
        <p:blipFill rotWithShape="1">
          <a:blip r:embed="rId5"/>
          <a:srcRect/>
          <a:stretch>
            <a:fillRect/>
          </a:stretch>
        </p:blipFill>
        <p:spPr>
          <a:xfrm>
            <a:off x="1247775" y="4947046"/>
            <a:ext cx="171450" cy="200025"/>
          </a:xfrm>
          <a:prstGeom prst="rect">
            <a:avLst/>
          </a:prstGeom>
          <a:noFill/>
          <a:ln>
            <a:noFill/>
          </a:ln>
        </p:spPr>
      </p:pic>
      <p:pic>
        <p:nvPicPr>
          <p:cNvPr id="121" name="Google Shape;121;p15" descr="image.png"/>
          <p:cNvPicPr preferRelativeResize="0"/>
          <p:nvPr/>
        </p:nvPicPr>
        <p:blipFill rotWithShape="1">
          <a:blip r:embed="rId5"/>
          <a:srcRect/>
          <a:stretch>
            <a:fillRect/>
          </a:stretch>
        </p:blipFill>
        <p:spPr>
          <a:xfrm>
            <a:off x="1247775" y="5855642"/>
            <a:ext cx="171450" cy="200025"/>
          </a:xfrm>
          <a:prstGeom prst="rect">
            <a:avLst/>
          </a:prstGeom>
          <a:noFill/>
          <a:ln>
            <a:noFill/>
          </a:ln>
        </p:spPr>
      </p:pic>
      <p:sp>
        <p:nvSpPr>
          <p:cNvPr id="122" name="Google Shape;122;p15"/>
          <p:cNvSpPr txBox="1"/>
          <p:nvPr/>
        </p:nvSpPr>
        <p:spPr>
          <a:xfrm>
            <a:off x="800100" y="919311"/>
            <a:ext cx="11361420" cy="5143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00" b="1" i="0" u="none" strike="noStrike" cap="none">
                <a:solidFill>
                  <a:srgbClr val="38BDF8"/>
                </a:solidFill>
                <a:latin typeface="Inter" panose="02000503000000020004"/>
                <a:ea typeface="Inter" panose="02000503000000020004"/>
                <a:cs typeface="Inter" panose="02000503000000020004"/>
                <a:sym typeface="Inter" panose="02000503000000020004"/>
              </a:rPr>
              <a:t>FUNCTION CALL MANAGEMENT</a:t>
            </a:r>
          </a:p>
        </p:txBody>
      </p:sp>
      <p:sp>
        <p:nvSpPr>
          <p:cNvPr id="123" name="Google Shape;123;p15"/>
          <p:cNvSpPr/>
          <p:nvPr/>
        </p:nvSpPr>
        <p:spPr>
          <a:xfrm>
            <a:off x="571500" y="919311"/>
            <a:ext cx="76200" cy="514350"/>
          </a:xfrm>
          <a:prstGeom prst="rect">
            <a:avLst/>
          </a:prstGeom>
          <a:solidFill>
            <a:srgbClr val="38BDF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mph" presetSubtype="2" fill="hold" nodeType="clickEffect">
                                  <p:stCondLst>
                                    <p:cond delay="0"/>
                                  </p:stCondLst>
                                  <p:childTnLst>
                                    <p:animClr clrSpc="rgb" dir="cw">
                                      <p:cBhvr>
                                        <p:cTn id="6" dur="2000" fill="hold"/>
                                        <p:tgtEl>
                                          <p:spTgt spid="108"/>
                                        </p:tgtEl>
                                        <p:attrNameLst>
                                          <p:attrName>fillcolor</p:attrName>
                                        </p:attrNameLst>
                                      </p:cBhvr>
                                      <p:to>
                                        <a:srgbClr val="00B050"/>
                                      </p:to>
                                    </p:animClr>
                                    <p:set>
                                      <p:cBhvr>
                                        <p:cTn id="7" dur="2000" fill="hold"/>
                                        <p:tgtEl>
                                          <p:spTgt spid="108"/>
                                        </p:tgtEl>
                                        <p:attrNameLst>
                                          <p:attrName>fill.type</p:attrName>
                                        </p:attrNameLst>
                                      </p:cBhvr>
                                      <p:to>
                                        <p:strVal val="solid"/>
                                      </p:to>
                                    </p:set>
                                    <p:set>
                                      <p:cBhvr>
                                        <p:cTn id="8" dur="2000" fill="hold"/>
                                        <p:tgtEl>
                                          <p:spTgt spid="108"/>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E293B"/>
        </a:solidFill>
        <a:effectLst/>
      </p:bgPr>
    </p:bg>
    <p:spTree>
      <p:nvGrpSpPr>
        <p:cNvPr id="1" name="Shape 127"/>
        <p:cNvGrpSpPr/>
        <p:nvPr/>
      </p:nvGrpSpPr>
      <p:grpSpPr>
        <a:xfrm>
          <a:off x="0" y="0"/>
          <a:ext cx="0" cy="0"/>
          <a:chOff x="0" y="0"/>
          <a:chExt cx="0" cy="0"/>
        </a:xfrm>
      </p:grpSpPr>
      <p:pic>
        <p:nvPicPr>
          <p:cNvPr id="128" name="Google Shape;128;p16" descr="image.png"/>
          <p:cNvPicPr preferRelativeResize="0"/>
          <p:nvPr/>
        </p:nvPicPr>
        <p:blipFill rotWithShape="1">
          <a:blip r:embed="rId3"/>
          <a:srcRect/>
          <a:stretch>
            <a:fillRect/>
          </a:stretch>
        </p:blipFill>
        <p:spPr>
          <a:xfrm>
            <a:off x="0" y="0"/>
            <a:ext cx="12192000" cy="6858000"/>
          </a:xfrm>
          <a:prstGeom prst="rect">
            <a:avLst/>
          </a:prstGeom>
          <a:noFill/>
          <a:ln>
            <a:noFill/>
          </a:ln>
        </p:spPr>
      </p:pic>
      <p:pic>
        <p:nvPicPr>
          <p:cNvPr id="129" name="Google Shape;129;p16" descr="image.png"/>
          <p:cNvPicPr preferRelativeResize="0"/>
          <p:nvPr/>
        </p:nvPicPr>
        <p:blipFill rotWithShape="1">
          <a:blip r:embed="rId4"/>
          <a:srcRect/>
          <a:stretch>
            <a:fillRect/>
          </a:stretch>
        </p:blipFill>
        <p:spPr>
          <a:xfrm>
            <a:off x="571500" y="1814661"/>
            <a:ext cx="5334000" cy="4727971"/>
          </a:xfrm>
          <a:prstGeom prst="rect">
            <a:avLst/>
          </a:prstGeom>
          <a:noFill/>
          <a:ln>
            <a:noFill/>
          </a:ln>
        </p:spPr>
      </p:pic>
      <p:pic>
        <p:nvPicPr>
          <p:cNvPr id="130" name="Google Shape;130;p16" descr="image.png"/>
          <p:cNvPicPr preferRelativeResize="0"/>
          <p:nvPr/>
        </p:nvPicPr>
        <p:blipFill rotWithShape="1">
          <a:blip r:embed="rId5"/>
          <a:srcRect/>
          <a:stretch>
            <a:fillRect/>
          </a:stretch>
        </p:blipFill>
        <p:spPr>
          <a:xfrm>
            <a:off x="6286500" y="1814661"/>
            <a:ext cx="5334000" cy="4727971"/>
          </a:xfrm>
          <a:prstGeom prst="rect">
            <a:avLst/>
          </a:prstGeom>
          <a:noFill/>
          <a:ln>
            <a:noFill/>
          </a:ln>
        </p:spPr>
      </p:pic>
      <p:pic>
        <p:nvPicPr>
          <p:cNvPr id="131" name="Google Shape;131;p16" descr="image.png"/>
          <p:cNvPicPr preferRelativeResize="0"/>
          <p:nvPr/>
        </p:nvPicPr>
        <p:blipFill rotWithShape="1">
          <a:blip r:embed="rId6"/>
          <a:srcRect/>
          <a:stretch>
            <a:fillRect/>
          </a:stretch>
        </p:blipFill>
        <p:spPr>
          <a:xfrm>
            <a:off x="6677025" y="4266158"/>
            <a:ext cx="4552950" cy="838200"/>
          </a:xfrm>
          <a:prstGeom prst="rect">
            <a:avLst/>
          </a:prstGeom>
          <a:noFill/>
          <a:ln>
            <a:noFill/>
          </a:ln>
        </p:spPr>
      </p:pic>
      <p:sp>
        <p:nvSpPr>
          <p:cNvPr id="132" name="Google Shape;132;p16"/>
          <p:cNvSpPr txBox="1"/>
          <p:nvPr/>
        </p:nvSpPr>
        <p:spPr>
          <a:xfrm>
            <a:off x="962025" y="2471886"/>
            <a:ext cx="4552950" cy="3413521"/>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2100" b="0" i="1" u="none" strike="noStrike" cap="none">
                <a:solidFill>
                  <a:srgbClr val="E2E8F0"/>
                </a:solidFill>
                <a:latin typeface="JetBrains Mono" panose="02000009000000000000"/>
                <a:ea typeface="JetBrains Mono" panose="02000009000000000000"/>
                <a:cs typeface="JetBrains Mono" panose="02000009000000000000"/>
                <a:sym typeface="JetBrains Mono" panose="02000009000000000000"/>
              </a:rPr>
              <a:t>"I operate under a very strict rule: 'First In, First Out'. If you want to insert something, you have to do it at my Rear, but if you want to remove something, you must take it from my Front."</a:t>
            </a:r>
          </a:p>
        </p:txBody>
      </p:sp>
      <p:sp>
        <p:nvSpPr>
          <p:cNvPr id="133" name="Google Shape;133;p16"/>
          <p:cNvSpPr txBox="1"/>
          <p:nvPr/>
        </p:nvSpPr>
        <p:spPr>
          <a:xfrm>
            <a:off x="6677025" y="3481387"/>
            <a:ext cx="4552950" cy="36567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800" b="0" i="0" u="none" strike="noStrike" cap="none">
                <a:solidFill>
                  <a:srgbClr val="94A3B8"/>
                </a:solidFill>
                <a:latin typeface="Inter" panose="02000503000000020004"/>
                <a:ea typeface="Inter" panose="02000503000000020004"/>
                <a:cs typeface="Inter" panose="02000503000000020004"/>
                <a:sym typeface="Inter" panose="02000503000000020004"/>
              </a:rPr>
              <a:t>Who am I?</a:t>
            </a:r>
          </a:p>
        </p:txBody>
      </p:sp>
      <p:sp>
        <p:nvSpPr>
          <p:cNvPr id="134" name="Google Shape;134;p16"/>
          <p:cNvSpPr txBox="1"/>
          <p:nvPr/>
        </p:nvSpPr>
        <p:spPr>
          <a:xfrm>
            <a:off x="8939212" y="4523333"/>
            <a:ext cx="1260702" cy="331696"/>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100" b="0" i="0" u="none" strike="noStrike" cap="none" dirty="0">
                <a:solidFill>
                  <a:srgbClr val="FEF08A"/>
                </a:solidFill>
                <a:latin typeface="Inter Black"/>
                <a:ea typeface="Inter Black"/>
                <a:cs typeface="Inter Black"/>
                <a:sym typeface="Inter Black"/>
              </a:rPr>
              <a:t>Queue</a:t>
            </a:r>
            <a:endParaRPr dirty="0"/>
          </a:p>
        </p:txBody>
      </p:sp>
      <p:sp>
        <p:nvSpPr>
          <p:cNvPr id="135" name="Google Shape;135;p16"/>
          <p:cNvSpPr txBox="1"/>
          <p:nvPr/>
        </p:nvSpPr>
        <p:spPr>
          <a:xfrm>
            <a:off x="800100" y="919311"/>
            <a:ext cx="11361420" cy="5143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00" b="1" i="0" u="none" strike="noStrike" cap="none">
                <a:solidFill>
                  <a:srgbClr val="38BDF8"/>
                </a:solidFill>
                <a:latin typeface="Inter" panose="02000503000000020004"/>
                <a:ea typeface="Inter" panose="02000503000000020004"/>
                <a:cs typeface="Inter" panose="02000503000000020004"/>
                <a:sym typeface="Inter" panose="02000503000000020004"/>
              </a:rPr>
              <a:t>IDENTIFY THE STRUCTURE</a:t>
            </a:r>
          </a:p>
        </p:txBody>
      </p:sp>
      <p:sp>
        <p:nvSpPr>
          <p:cNvPr id="136" name="Google Shape;136;p16"/>
          <p:cNvSpPr/>
          <p:nvPr/>
        </p:nvSpPr>
        <p:spPr>
          <a:xfrm>
            <a:off x="571500" y="919311"/>
            <a:ext cx="76200" cy="514350"/>
          </a:xfrm>
          <a:prstGeom prst="rect">
            <a:avLst/>
          </a:prstGeom>
          <a:solidFill>
            <a:srgbClr val="38BDF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pic>
        <p:nvPicPr>
          <p:cNvPr id="128" name="Google Shape;128;p16" descr="image.png"/>
          <p:cNvPicPr preferRelativeResize="0"/>
          <p:nvPr/>
        </p:nvPicPr>
        <p:blipFill rotWithShape="1">
          <a:blip r:embed="rId3"/>
          <a:srcRect/>
          <a:stretch>
            <a:fillRect/>
          </a:stretch>
        </p:blipFill>
        <p:spPr>
          <a:xfrm>
            <a:off x="0" y="0"/>
            <a:ext cx="12192000" cy="6858000"/>
          </a:xfrm>
          <a:prstGeom prst="rect">
            <a:avLst/>
          </a:prstGeom>
          <a:noFill/>
          <a:ln>
            <a:noFill/>
          </a:ln>
        </p:spPr>
      </p:pic>
      <p:pic>
        <p:nvPicPr>
          <p:cNvPr id="129" name="Google Shape;129;p16" descr="image.png"/>
          <p:cNvPicPr preferRelativeResize="0"/>
          <p:nvPr/>
        </p:nvPicPr>
        <p:blipFill rotWithShape="1">
          <a:blip r:embed="rId4"/>
          <a:srcRect/>
          <a:stretch>
            <a:fillRect/>
          </a:stretch>
        </p:blipFill>
        <p:spPr>
          <a:xfrm>
            <a:off x="571500" y="1814661"/>
            <a:ext cx="5334000" cy="4727971"/>
          </a:xfrm>
          <a:prstGeom prst="rect">
            <a:avLst/>
          </a:prstGeom>
          <a:noFill/>
          <a:ln>
            <a:noFill/>
          </a:ln>
        </p:spPr>
      </p:pic>
      <p:pic>
        <p:nvPicPr>
          <p:cNvPr id="130" name="Google Shape;130;p16" descr="image.png"/>
          <p:cNvPicPr preferRelativeResize="0"/>
          <p:nvPr/>
        </p:nvPicPr>
        <p:blipFill rotWithShape="1">
          <a:blip r:embed="rId5"/>
          <a:srcRect/>
          <a:stretch>
            <a:fillRect/>
          </a:stretch>
        </p:blipFill>
        <p:spPr>
          <a:xfrm>
            <a:off x="6286500" y="1814661"/>
            <a:ext cx="5334000" cy="4727971"/>
          </a:xfrm>
          <a:prstGeom prst="rect">
            <a:avLst/>
          </a:prstGeom>
          <a:noFill/>
          <a:ln>
            <a:noFill/>
          </a:ln>
        </p:spPr>
      </p:pic>
      <p:pic>
        <p:nvPicPr>
          <p:cNvPr id="131" name="Google Shape;131;p16" descr="image.png"/>
          <p:cNvPicPr preferRelativeResize="0"/>
          <p:nvPr/>
        </p:nvPicPr>
        <p:blipFill rotWithShape="1">
          <a:blip r:embed="rId6"/>
          <a:srcRect/>
          <a:stretch>
            <a:fillRect/>
          </a:stretch>
        </p:blipFill>
        <p:spPr>
          <a:xfrm>
            <a:off x="6677025" y="4266158"/>
            <a:ext cx="4552950" cy="838200"/>
          </a:xfrm>
          <a:prstGeom prst="rect">
            <a:avLst/>
          </a:prstGeom>
          <a:noFill/>
          <a:ln>
            <a:noFill/>
          </a:ln>
        </p:spPr>
      </p:pic>
      <p:sp>
        <p:nvSpPr>
          <p:cNvPr id="132" name="Google Shape;132;p16"/>
          <p:cNvSpPr txBox="1"/>
          <p:nvPr/>
        </p:nvSpPr>
        <p:spPr>
          <a:xfrm>
            <a:off x="962025" y="1894944"/>
            <a:ext cx="4552950" cy="4653582"/>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2100" b="0" i="1" u="none" strike="noStrike" cap="none" dirty="0">
                <a:solidFill>
                  <a:srgbClr val="E2E8F0"/>
                </a:solidFill>
                <a:latin typeface="JetBrains Mono" panose="02000009000000000000"/>
                <a:ea typeface="JetBrains Mono" panose="02000009000000000000"/>
                <a:cs typeface="JetBrains Mono" panose="02000009000000000000"/>
                <a:sym typeface="JetBrains Mono" panose="02000009000000000000"/>
              </a:rPr>
              <a:t>"I am a searching algorithm. I am simple but not very efficient for large datasets. I start at the very beginning of a collection and check every single item one by one until I find a match or run out of elements. Who am I?"</a:t>
            </a:r>
            <a:endParaRPr dirty="0"/>
          </a:p>
        </p:txBody>
      </p:sp>
      <p:sp>
        <p:nvSpPr>
          <p:cNvPr id="133" name="Google Shape;133;p16"/>
          <p:cNvSpPr txBox="1"/>
          <p:nvPr/>
        </p:nvSpPr>
        <p:spPr>
          <a:xfrm>
            <a:off x="6677025" y="3481387"/>
            <a:ext cx="4552950" cy="36567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800" b="0" i="0" u="none" strike="noStrike" cap="none">
                <a:solidFill>
                  <a:srgbClr val="94A3B8"/>
                </a:solidFill>
                <a:latin typeface="Inter" panose="02000503000000020004"/>
                <a:ea typeface="Inter" panose="02000503000000020004"/>
                <a:cs typeface="Inter" panose="02000503000000020004"/>
                <a:sym typeface="Inter" panose="02000503000000020004"/>
              </a:rPr>
              <a:t>Who am I?</a:t>
            </a:r>
          </a:p>
        </p:txBody>
      </p:sp>
      <p:sp>
        <p:nvSpPr>
          <p:cNvPr id="134" name="Google Shape;134;p16"/>
          <p:cNvSpPr txBox="1"/>
          <p:nvPr/>
        </p:nvSpPr>
        <p:spPr>
          <a:xfrm>
            <a:off x="8939211" y="4523333"/>
            <a:ext cx="1848531" cy="32316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100" b="0" i="0" u="none" strike="noStrike" cap="none" dirty="0">
                <a:solidFill>
                  <a:srgbClr val="FEF08A"/>
                </a:solidFill>
                <a:latin typeface="Inter Black"/>
                <a:ea typeface="Inter Black"/>
                <a:cs typeface="Inter Black"/>
                <a:sym typeface="Inter Black"/>
              </a:rPr>
              <a:t>Linear Search</a:t>
            </a:r>
            <a:endParaRPr dirty="0"/>
          </a:p>
        </p:txBody>
      </p:sp>
      <p:sp>
        <p:nvSpPr>
          <p:cNvPr id="135" name="Google Shape;135;p16"/>
          <p:cNvSpPr txBox="1"/>
          <p:nvPr/>
        </p:nvSpPr>
        <p:spPr>
          <a:xfrm>
            <a:off x="800100" y="919311"/>
            <a:ext cx="11361420" cy="5143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00" b="1" i="0" u="none" strike="noStrike" cap="none" dirty="0">
                <a:solidFill>
                  <a:srgbClr val="38BDF8"/>
                </a:solidFill>
                <a:latin typeface="Inter" panose="02000503000000020004"/>
                <a:ea typeface="Inter" panose="02000503000000020004"/>
                <a:cs typeface="Inter" panose="02000503000000020004"/>
                <a:sym typeface="Inter" panose="02000503000000020004"/>
              </a:rPr>
              <a:t>IDENTIFY </a:t>
            </a:r>
            <a:r>
              <a:rPr lang="en-US" sz="3300" b="1" dirty="0">
                <a:solidFill>
                  <a:srgbClr val="38BDF8"/>
                </a:solidFill>
                <a:latin typeface="Inter" panose="02000503000000020004"/>
                <a:ea typeface="Inter" panose="02000503000000020004"/>
                <a:cs typeface="Inter" panose="02000503000000020004"/>
                <a:sym typeface="Inter" panose="02000503000000020004"/>
              </a:rPr>
              <a:t>ME</a:t>
            </a:r>
            <a:endParaRPr dirty="0"/>
          </a:p>
        </p:txBody>
      </p:sp>
      <p:sp>
        <p:nvSpPr>
          <p:cNvPr id="136" name="Google Shape;136;p16"/>
          <p:cNvSpPr/>
          <p:nvPr/>
        </p:nvSpPr>
        <p:spPr>
          <a:xfrm>
            <a:off x="571500" y="919311"/>
            <a:ext cx="76200" cy="514350"/>
          </a:xfrm>
          <a:prstGeom prst="rect">
            <a:avLst/>
          </a:prstGeom>
          <a:solidFill>
            <a:srgbClr val="38BDF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pic>
        <p:nvPicPr>
          <p:cNvPr id="128" name="Google Shape;128;p16" descr="image.png"/>
          <p:cNvPicPr preferRelativeResize="0"/>
          <p:nvPr/>
        </p:nvPicPr>
        <p:blipFill rotWithShape="1">
          <a:blip r:embed="rId3"/>
          <a:srcRect/>
          <a:stretch>
            <a:fillRect/>
          </a:stretch>
        </p:blipFill>
        <p:spPr>
          <a:xfrm>
            <a:off x="0" y="0"/>
            <a:ext cx="12192000" cy="6858000"/>
          </a:xfrm>
          <a:prstGeom prst="rect">
            <a:avLst/>
          </a:prstGeom>
          <a:noFill/>
          <a:ln>
            <a:noFill/>
          </a:ln>
        </p:spPr>
      </p:pic>
      <p:pic>
        <p:nvPicPr>
          <p:cNvPr id="129" name="Google Shape;129;p16" descr="image.png"/>
          <p:cNvPicPr preferRelativeResize="0"/>
          <p:nvPr/>
        </p:nvPicPr>
        <p:blipFill rotWithShape="1">
          <a:blip r:embed="rId4"/>
          <a:srcRect/>
          <a:stretch>
            <a:fillRect/>
          </a:stretch>
        </p:blipFill>
        <p:spPr>
          <a:xfrm>
            <a:off x="571500" y="1814661"/>
            <a:ext cx="5334000" cy="4727971"/>
          </a:xfrm>
          <a:prstGeom prst="rect">
            <a:avLst/>
          </a:prstGeom>
          <a:noFill/>
          <a:ln>
            <a:noFill/>
          </a:ln>
        </p:spPr>
      </p:pic>
      <p:pic>
        <p:nvPicPr>
          <p:cNvPr id="130" name="Google Shape;130;p16" descr="image.png"/>
          <p:cNvPicPr preferRelativeResize="0"/>
          <p:nvPr/>
        </p:nvPicPr>
        <p:blipFill rotWithShape="1">
          <a:blip r:embed="rId5"/>
          <a:srcRect/>
          <a:stretch>
            <a:fillRect/>
          </a:stretch>
        </p:blipFill>
        <p:spPr>
          <a:xfrm>
            <a:off x="6286500" y="1814661"/>
            <a:ext cx="5334000" cy="4727971"/>
          </a:xfrm>
          <a:prstGeom prst="rect">
            <a:avLst/>
          </a:prstGeom>
          <a:noFill/>
          <a:ln>
            <a:noFill/>
          </a:ln>
        </p:spPr>
      </p:pic>
      <p:pic>
        <p:nvPicPr>
          <p:cNvPr id="131" name="Google Shape;131;p16" descr="image.png"/>
          <p:cNvPicPr preferRelativeResize="0"/>
          <p:nvPr/>
        </p:nvPicPr>
        <p:blipFill rotWithShape="1">
          <a:blip r:embed="rId6"/>
          <a:srcRect/>
          <a:stretch>
            <a:fillRect/>
          </a:stretch>
        </p:blipFill>
        <p:spPr>
          <a:xfrm>
            <a:off x="6477000" y="4331464"/>
            <a:ext cx="4552950" cy="838200"/>
          </a:xfrm>
          <a:prstGeom prst="rect">
            <a:avLst/>
          </a:prstGeom>
          <a:noFill/>
          <a:ln>
            <a:noFill/>
          </a:ln>
        </p:spPr>
      </p:pic>
      <p:sp>
        <p:nvSpPr>
          <p:cNvPr id="132" name="Google Shape;132;p16"/>
          <p:cNvSpPr txBox="1"/>
          <p:nvPr/>
        </p:nvSpPr>
        <p:spPr>
          <a:xfrm>
            <a:off x="962025" y="1894944"/>
            <a:ext cx="4552950" cy="4653582"/>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2100" b="0" i="1" u="none" strike="noStrike" cap="none" dirty="0">
                <a:solidFill>
                  <a:srgbClr val="E2E8F0"/>
                </a:solidFill>
                <a:latin typeface="JetBrains Mono" panose="02000009000000000000"/>
                <a:ea typeface="JetBrains Mono" panose="02000009000000000000"/>
                <a:cs typeface="JetBrains Mono" panose="02000009000000000000"/>
                <a:sym typeface="JetBrains Mono" panose="02000009000000000000"/>
              </a:rPr>
              <a:t>"I am a self-referential linear data structure. Unlike arrays, my elements are not stored in contiguous memory locations. Instead, each of my nodes holds a piece of data and a pointer pointing to the next node in line. Who am I?</a:t>
            </a:r>
            <a:endParaRPr dirty="0"/>
          </a:p>
        </p:txBody>
      </p:sp>
      <p:sp>
        <p:nvSpPr>
          <p:cNvPr id="133" name="Google Shape;133;p16"/>
          <p:cNvSpPr txBox="1"/>
          <p:nvPr/>
        </p:nvSpPr>
        <p:spPr>
          <a:xfrm>
            <a:off x="6677025" y="3481387"/>
            <a:ext cx="4552950" cy="36567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800" b="0" i="0" u="none" strike="noStrike" cap="none">
                <a:solidFill>
                  <a:srgbClr val="94A3B8"/>
                </a:solidFill>
                <a:latin typeface="Inter" panose="02000503000000020004"/>
                <a:ea typeface="Inter" panose="02000503000000020004"/>
                <a:cs typeface="Inter" panose="02000503000000020004"/>
                <a:sym typeface="Inter" panose="02000503000000020004"/>
              </a:rPr>
              <a:t>Who am I?</a:t>
            </a:r>
          </a:p>
        </p:txBody>
      </p:sp>
      <p:sp>
        <p:nvSpPr>
          <p:cNvPr id="134" name="Google Shape;134;p16"/>
          <p:cNvSpPr txBox="1"/>
          <p:nvPr/>
        </p:nvSpPr>
        <p:spPr>
          <a:xfrm>
            <a:off x="8939211" y="4523333"/>
            <a:ext cx="1848531" cy="646331"/>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100" b="0" i="0" u="none" strike="noStrike" cap="none" dirty="0">
                <a:solidFill>
                  <a:srgbClr val="FEF08A"/>
                </a:solidFill>
                <a:latin typeface="Inter Black"/>
                <a:ea typeface="Inter Black"/>
                <a:cs typeface="Inter Black"/>
                <a:sym typeface="Inter Black"/>
              </a:rPr>
              <a:t>Singly Linked List</a:t>
            </a:r>
            <a:endParaRPr dirty="0"/>
          </a:p>
        </p:txBody>
      </p:sp>
      <p:sp>
        <p:nvSpPr>
          <p:cNvPr id="135" name="Google Shape;135;p16"/>
          <p:cNvSpPr txBox="1"/>
          <p:nvPr/>
        </p:nvSpPr>
        <p:spPr>
          <a:xfrm>
            <a:off x="800100" y="919311"/>
            <a:ext cx="11361420" cy="5143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00" b="1" i="0" u="none" strike="noStrike" cap="none" dirty="0">
                <a:solidFill>
                  <a:srgbClr val="38BDF8"/>
                </a:solidFill>
                <a:latin typeface="Inter" panose="02000503000000020004"/>
                <a:ea typeface="Inter" panose="02000503000000020004"/>
                <a:cs typeface="Inter" panose="02000503000000020004"/>
                <a:sym typeface="Inter" panose="02000503000000020004"/>
              </a:rPr>
              <a:t>IDENTIFY </a:t>
            </a:r>
            <a:r>
              <a:rPr lang="en-US" sz="3300" b="1" dirty="0">
                <a:solidFill>
                  <a:srgbClr val="38BDF8"/>
                </a:solidFill>
                <a:latin typeface="Inter" panose="02000503000000020004"/>
                <a:ea typeface="Inter" panose="02000503000000020004"/>
                <a:cs typeface="Inter" panose="02000503000000020004"/>
                <a:sym typeface="Inter" panose="02000503000000020004"/>
              </a:rPr>
              <a:t>ME</a:t>
            </a:r>
            <a:endParaRPr dirty="0"/>
          </a:p>
        </p:txBody>
      </p:sp>
      <p:sp>
        <p:nvSpPr>
          <p:cNvPr id="136" name="Google Shape;136;p16"/>
          <p:cNvSpPr/>
          <p:nvPr/>
        </p:nvSpPr>
        <p:spPr>
          <a:xfrm>
            <a:off x="571500" y="919311"/>
            <a:ext cx="76200" cy="514350"/>
          </a:xfrm>
          <a:prstGeom prst="rect">
            <a:avLst/>
          </a:prstGeom>
          <a:solidFill>
            <a:srgbClr val="38BDF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4"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E293B"/>
        </a:solidFill>
        <a:effectLst/>
      </p:bgPr>
    </p:bg>
    <p:spTree>
      <p:nvGrpSpPr>
        <p:cNvPr id="1" name="Shape 140"/>
        <p:cNvGrpSpPr/>
        <p:nvPr/>
      </p:nvGrpSpPr>
      <p:grpSpPr>
        <a:xfrm>
          <a:off x="0" y="0"/>
          <a:ext cx="0" cy="0"/>
          <a:chOff x="0" y="0"/>
          <a:chExt cx="0" cy="0"/>
        </a:xfrm>
      </p:grpSpPr>
      <p:pic>
        <p:nvPicPr>
          <p:cNvPr id="141" name="Google Shape;141;p17" descr="image.png"/>
          <p:cNvPicPr preferRelativeResize="0"/>
          <p:nvPr/>
        </p:nvPicPr>
        <p:blipFill rotWithShape="1">
          <a:blip r:embed="rId3"/>
          <a:srcRect/>
          <a:stretch>
            <a:fillRect/>
          </a:stretch>
        </p:blipFill>
        <p:spPr>
          <a:xfrm>
            <a:off x="0" y="0"/>
            <a:ext cx="12192000" cy="6858000"/>
          </a:xfrm>
          <a:prstGeom prst="rect">
            <a:avLst/>
          </a:prstGeom>
          <a:noFill/>
          <a:ln>
            <a:noFill/>
          </a:ln>
        </p:spPr>
      </p:pic>
      <p:sp>
        <p:nvSpPr>
          <p:cNvPr id="142" name="Google Shape;142;p17"/>
          <p:cNvSpPr/>
          <p:nvPr/>
        </p:nvSpPr>
        <p:spPr>
          <a:xfrm>
            <a:off x="0" y="0"/>
            <a:ext cx="12192000" cy="6858000"/>
          </a:xfrm>
          <a:prstGeom prst="rect">
            <a:avLst/>
          </a:prstGeom>
          <a:solidFill>
            <a:srgbClr val="0F172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43" name="Google Shape;143;p17"/>
          <p:cNvSpPr txBox="1"/>
          <p:nvPr/>
        </p:nvSpPr>
        <p:spPr>
          <a:xfrm>
            <a:off x="5614987" y="1513901"/>
            <a:ext cx="962025" cy="36567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800" b="1" i="0" u="none" strike="noStrike" cap="none" dirty="0">
                <a:solidFill>
                  <a:srgbClr val="38BDF8"/>
                </a:solidFill>
                <a:latin typeface="Inter" panose="02000503000000020004"/>
                <a:ea typeface="Inter" panose="02000503000000020004"/>
                <a:cs typeface="Inter" panose="02000503000000020004"/>
                <a:sym typeface="Inter" panose="02000503000000020004"/>
              </a:rPr>
              <a:t>PART 02</a:t>
            </a:r>
            <a:endParaRPr dirty="0"/>
          </a:p>
        </p:txBody>
      </p:sp>
      <p:sp>
        <p:nvSpPr>
          <p:cNvPr id="144" name="Google Shape;144;p17"/>
          <p:cNvSpPr txBox="1"/>
          <p:nvPr/>
        </p:nvSpPr>
        <p:spPr>
          <a:xfrm>
            <a:off x="295275" y="2478285"/>
            <a:ext cx="11601450" cy="184785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6000" b="1" i="0" u="none" strike="noStrike" cap="none">
                <a:solidFill>
                  <a:srgbClr val="F8FAFC"/>
                </a:solidFill>
                <a:latin typeface="Inter" panose="02000503000000020004"/>
                <a:ea typeface="Inter" panose="02000503000000020004"/>
                <a:cs typeface="Inter" panose="02000503000000020004"/>
                <a:sym typeface="Inter" panose="02000503000000020004"/>
              </a:rPr>
              <a:t>Object-Oriented Programming</a:t>
            </a:r>
          </a:p>
        </p:txBody>
      </p:sp>
      <p:sp>
        <p:nvSpPr>
          <p:cNvPr id="145" name="Google Shape;145;p17"/>
          <p:cNvSpPr/>
          <p:nvPr/>
        </p:nvSpPr>
        <p:spPr>
          <a:xfrm>
            <a:off x="5381625" y="4611885"/>
            <a:ext cx="1428750" cy="76200"/>
          </a:xfrm>
          <a:prstGeom prst="rect">
            <a:avLst/>
          </a:prstGeom>
          <a:solidFill>
            <a:srgbClr val="38BDF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E293B"/>
        </a:solidFill>
        <a:effectLst/>
      </p:bgPr>
    </p:bg>
    <p:spTree>
      <p:nvGrpSpPr>
        <p:cNvPr id="1" name="Shape 149"/>
        <p:cNvGrpSpPr/>
        <p:nvPr/>
      </p:nvGrpSpPr>
      <p:grpSpPr>
        <a:xfrm>
          <a:off x="0" y="0"/>
          <a:ext cx="0" cy="0"/>
          <a:chOff x="0" y="0"/>
          <a:chExt cx="0" cy="0"/>
        </a:xfrm>
      </p:grpSpPr>
      <p:pic>
        <p:nvPicPr>
          <p:cNvPr id="150" name="Google Shape;150;p18" descr="image.png"/>
          <p:cNvPicPr preferRelativeResize="0"/>
          <p:nvPr/>
        </p:nvPicPr>
        <p:blipFill rotWithShape="1">
          <a:blip r:embed="rId3"/>
          <a:srcRect/>
          <a:stretch>
            <a:fillRect/>
          </a:stretch>
        </p:blipFill>
        <p:spPr>
          <a:xfrm>
            <a:off x="0" y="0"/>
            <a:ext cx="12192000" cy="6858000"/>
          </a:xfrm>
          <a:prstGeom prst="rect">
            <a:avLst/>
          </a:prstGeom>
          <a:noFill/>
          <a:ln>
            <a:noFill/>
          </a:ln>
        </p:spPr>
      </p:pic>
      <p:pic>
        <p:nvPicPr>
          <p:cNvPr id="151" name="Google Shape;151;p18" descr="image.png"/>
          <p:cNvPicPr preferRelativeResize="0"/>
          <p:nvPr/>
        </p:nvPicPr>
        <p:blipFill rotWithShape="1">
          <a:blip r:embed="rId4"/>
          <a:srcRect/>
          <a:stretch>
            <a:fillRect/>
          </a:stretch>
        </p:blipFill>
        <p:spPr>
          <a:xfrm>
            <a:off x="571500" y="6871989"/>
            <a:ext cx="11049000" cy="838200"/>
          </a:xfrm>
          <a:prstGeom prst="rect">
            <a:avLst/>
          </a:prstGeom>
          <a:noFill/>
          <a:ln>
            <a:noFill/>
          </a:ln>
        </p:spPr>
      </p:pic>
      <p:sp>
        <p:nvSpPr>
          <p:cNvPr id="152" name="Google Shape;152;p18"/>
          <p:cNvSpPr txBox="1"/>
          <p:nvPr/>
        </p:nvSpPr>
        <p:spPr>
          <a:xfrm>
            <a:off x="571500" y="2043261"/>
            <a:ext cx="11049000" cy="36567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800" b="0" i="0" u="none" strike="noStrike" cap="none">
                <a:solidFill>
                  <a:srgbClr val="CBD5E1"/>
                </a:solidFill>
                <a:latin typeface="Inter" panose="02000503000000020004"/>
                <a:ea typeface="Inter" panose="02000503000000020004"/>
                <a:cs typeface="Inter" panose="02000503000000020004"/>
                <a:sym typeface="Inter" panose="02000503000000020004"/>
              </a:rPr>
              <a:t>Wrapping data and methods together into a single unit is known as:</a:t>
            </a:r>
          </a:p>
        </p:txBody>
      </p:sp>
      <p:sp>
        <p:nvSpPr>
          <p:cNvPr id="153" name="Google Shape;153;p18"/>
          <p:cNvSpPr txBox="1"/>
          <p:nvPr/>
        </p:nvSpPr>
        <p:spPr>
          <a:xfrm>
            <a:off x="6091237" y="7129164"/>
            <a:ext cx="2209800" cy="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100" b="0" i="0" u="none" strike="noStrike" cap="none">
                <a:solidFill>
                  <a:srgbClr val="FEF08A"/>
                </a:solidFill>
                <a:latin typeface="Inter Black"/>
                <a:ea typeface="Inter Black"/>
                <a:cs typeface="Inter Black"/>
                <a:sym typeface="Inter Black"/>
              </a:rPr>
              <a:t>C) Encapsulation</a:t>
            </a:r>
          </a:p>
        </p:txBody>
      </p:sp>
      <p:sp>
        <p:nvSpPr>
          <p:cNvPr id="154" name="Google Shape;154;p18"/>
          <p:cNvSpPr/>
          <p:nvPr/>
        </p:nvSpPr>
        <p:spPr>
          <a:xfrm>
            <a:off x="952500" y="2847082"/>
            <a:ext cx="10668000" cy="765720"/>
          </a:xfrm>
          <a:prstGeom prst="roundRect">
            <a:avLst>
              <a:gd name="adj" fmla="val 9951"/>
            </a:avLst>
          </a:prstGeom>
          <a:solidFill>
            <a:srgbClr val="334155"/>
          </a:solidFill>
          <a:ln w="9525" cap="flat" cmpd="sng">
            <a:solidFill>
              <a:srgbClr val="94A3B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55" name="Google Shape;155;p18"/>
          <p:cNvSpPr txBox="1"/>
          <p:nvPr/>
        </p:nvSpPr>
        <p:spPr>
          <a:xfrm>
            <a:off x="1600200" y="3037582"/>
            <a:ext cx="9734550" cy="384720"/>
          </a:xfrm>
          <a:prstGeom prst="rect">
            <a:avLst/>
          </a:prstGeom>
          <a:noFill/>
          <a:ln>
            <a:noFill/>
          </a:ln>
        </p:spPr>
        <p:txBody>
          <a:bodyPr spcFirstLastPara="1" wrap="square" lIns="0" tIns="0" rIns="0" bIns="0" anchor="ctr" anchorCtr="0">
            <a:spAutoFit/>
          </a:bodyPr>
          <a:lstStyle/>
          <a:p>
            <a:pPr marL="0" marR="0" lvl="0" indent="0" algn="l" rtl="0">
              <a:lnSpc>
                <a:spcPct val="160000"/>
              </a:lnSpc>
              <a:spcBef>
                <a:spcPts val="0"/>
              </a:spcBef>
              <a:spcAft>
                <a:spcPts val="0"/>
              </a:spcAft>
              <a:buNone/>
            </a:pPr>
            <a:r>
              <a:rPr lang="en-US" sz="1800" b="0" i="0" u="none" strike="noStrike" cap="none">
                <a:solidFill>
                  <a:srgbClr val="CBD5E1"/>
                </a:solidFill>
                <a:latin typeface="Inter" panose="02000503000000020004"/>
                <a:ea typeface="Inter" panose="02000503000000020004"/>
                <a:cs typeface="Inter" panose="02000503000000020004"/>
                <a:sym typeface="Inter" panose="02000503000000020004"/>
              </a:rPr>
              <a:t>A) Inheritance</a:t>
            </a:r>
          </a:p>
        </p:txBody>
      </p:sp>
      <p:sp>
        <p:nvSpPr>
          <p:cNvPr id="156" name="Google Shape;156;p18"/>
          <p:cNvSpPr/>
          <p:nvPr/>
        </p:nvSpPr>
        <p:spPr>
          <a:xfrm>
            <a:off x="952500" y="3755677"/>
            <a:ext cx="10668000" cy="765720"/>
          </a:xfrm>
          <a:prstGeom prst="roundRect">
            <a:avLst>
              <a:gd name="adj" fmla="val 9951"/>
            </a:avLst>
          </a:prstGeom>
          <a:solidFill>
            <a:srgbClr val="334155"/>
          </a:solidFill>
          <a:ln w="9525" cap="flat" cmpd="sng">
            <a:solidFill>
              <a:srgbClr val="94A3B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57" name="Google Shape;157;p18"/>
          <p:cNvSpPr txBox="1"/>
          <p:nvPr/>
        </p:nvSpPr>
        <p:spPr>
          <a:xfrm>
            <a:off x="1600200" y="3946177"/>
            <a:ext cx="9734550" cy="384720"/>
          </a:xfrm>
          <a:prstGeom prst="rect">
            <a:avLst/>
          </a:prstGeom>
          <a:noFill/>
          <a:ln>
            <a:noFill/>
          </a:ln>
        </p:spPr>
        <p:txBody>
          <a:bodyPr spcFirstLastPara="1" wrap="square" lIns="0" tIns="0" rIns="0" bIns="0" anchor="ctr" anchorCtr="0">
            <a:spAutoFit/>
          </a:bodyPr>
          <a:lstStyle/>
          <a:p>
            <a:pPr marL="0" marR="0" lvl="0" indent="0" algn="l" rtl="0">
              <a:lnSpc>
                <a:spcPct val="160000"/>
              </a:lnSpc>
              <a:spcBef>
                <a:spcPts val="0"/>
              </a:spcBef>
              <a:spcAft>
                <a:spcPts val="0"/>
              </a:spcAft>
              <a:buNone/>
            </a:pPr>
            <a:r>
              <a:rPr lang="en-US" sz="1800" b="0" i="0" u="none" strike="noStrike" cap="none">
                <a:solidFill>
                  <a:srgbClr val="CBD5E1"/>
                </a:solidFill>
                <a:latin typeface="Inter" panose="02000503000000020004"/>
                <a:ea typeface="Inter" panose="02000503000000020004"/>
                <a:cs typeface="Inter" panose="02000503000000020004"/>
                <a:sym typeface="Inter" panose="02000503000000020004"/>
              </a:rPr>
              <a:t>B) Polymorphism</a:t>
            </a:r>
          </a:p>
        </p:txBody>
      </p:sp>
      <p:sp>
        <p:nvSpPr>
          <p:cNvPr id="158" name="Google Shape;158;p18"/>
          <p:cNvSpPr/>
          <p:nvPr/>
        </p:nvSpPr>
        <p:spPr>
          <a:xfrm>
            <a:off x="952500" y="4664273"/>
            <a:ext cx="10668000" cy="765720"/>
          </a:xfrm>
          <a:prstGeom prst="roundRect">
            <a:avLst>
              <a:gd name="adj" fmla="val 9951"/>
            </a:avLst>
          </a:prstGeom>
          <a:solidFill>
            <a:srgbClr val="334155"/>
          </a:solidFill>
          <a:ln w="9525" cap="flat" cmpd="sng">
            <a:solidFill>
              <a:srgbClr val="94A3B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59" name="Google Shape;159;p18"/>
          <p:cNvSpPr txBox="1"/>
          <p:nvPr/>
        </p:nvSpPr>
        <p:spPr>
          <a:xfrm>
            <a:off x="1600200" y="4854773"/>
            <a:ext cx="9734550" cy="384720"/>
          </a:xfrm>
          <a:prstGeom prst="rect">
            <a:avLst/>
          </a:prstGeom>
          <a:noFill/>
          <a:ln>
            <a:noFill/>
          </a:ln>
        </p:spPr>
        <p:txBody>
          <a:bodyPr spcFirstLastPara="1" wrap="square" lIns="0" tIns="0" rIns="0" bIns="0" anchor="ctr" anchorCtr="0">
            <a:spAutoFit/>
          </a:bodyPr>
          <a:lstStyle/>
          <a:p>
            <a:pPr marL="0" marR="0" lvl="0" indent="0" algn="l" rtl="0">
              <a:lnSpc>
                <a:spcPct val="160000"/>
              </a:lnSpc>
              <a:spcBef>
                <a:spcPts val="0"/>
              </a:spcBef>
              <a:spcAft>
                <a:spcPts val="0"/>
              </a:spcAft>
              <a:buNone/>
            </a:pPr>
            <a:r>
              <a:rPr lang="en-US" sz="1800" b="0" i="0" u="none" strike="noStrike" cap="none">
                <a:solidFill>
                  <a:srgbClr val="CBD5E1"/>
                </a:solidFill>
                <a:latin typeface="Inter" panose="02000503000000020004"/>
                <a:ea typeface="Inter" panose="02000503000000020004"/>
                <a:cs typeface="Inter" panose="02000503000000020004"/>
                <a:sym typeface="Inter" panose="02000503000000020004"/>
              </a:rPr>
              <a:t>C) Encapsulation</a:t>
            </a:r>
          </a:p>
        </p:txBody>
      </p:sp>
      <p:sp>
        <p:nvSpPr>
          <p:cNvPr id="160" name="Google Shape;160;p18"/>
          <p:cNvSpPr/>
          <p:nvPr/>
        </p:nvSpPr>
        <p:spPr>
          <a:xfrm>
            <a:off x="952500" y="5572869"/>
            <a:ext cx="10668000" cy="765720"/>
          </a:xfrm>
          <a:prstGeom prst="roundRect">
            <a:avLst>
              <a:gd name="adj" fmla="val 9951"/>
            </a:avLst>
          </a:prstGeom>
          <a:solidFill>
            <a:srgbClr val="334155"/>
          </a:solidFill>
          <a:ln w="9525" cap="flat" cmpd="sng">
            <a:solidFill>
              <a:srgbClr val="94A3B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61" name="Google Shape;161;p18"/>
          <p:cNvSpPr txBox="1"/>
          <p:nvPr/>
        </p:nvSpPr>
        <p:spPr>
          <a:xfrm>
            <a:off x="1600200" y="5763369"/>
            <a:ext cx="9734550" cy="384720"/>
          </a:xfrm>
          <a:prstGeom prst="rect">
            <a:avLst/>
          </a:prstGeom>
          <a:noFill/>
          <a:ln>
            <a:noFill/>
          </a:ln>
        </p:spPr>
        <p:txBody>
          <a:bodyPr spcFirstLastPara="1" wrap="square" lIns="0" tIns="0" rIns="0" bIns="0" anchor="ctr" anchorCtr="0">
            <a:spAutoFit/>
          </a:bodyPr>
          <a:lstStyle/>
          <a:p>
            <a:pPr marL="0" marR="0" lvl="0" indent="0" algn="l" rtl="0">
              <a:lnSpc>
                <a:spcPct val="160000"/>
              </a:lnSpc>
              <a:spcBef>
                <a:spcPts val="0"/>
              </a:spcBef>
              <a:spcAft>
                <a:spcPts val="0"/>
              </a:spcAft>
              <a:buNone/>
            </a:pPr>
            <a:r>
              <a:rPr lang="en-US" sz="1800" b="0" i="0" u="none" strike="noStrike" cap="none">
                <a:solidFill>
                  <a:srgbClr val="CBD5E1"/>
                </a:solidFill>
                <a:latin typeface="Inter" panose="02000503000000020004"/>
                <a:ea typeface="Inter" panose="02000503000000020004"/>
                <a:cs typeface="Inter" panose="02000503000000020004"/>
                <a:sym typeface="Inter" panose="02000503000000020004"/>
              </a:rPr>
              <a:t>D) Abstraction</a:t>
            </a:r>
          </a:p>
        </p:txBody>
      </p:sp>
      <p:sp>
        <p:nvSpPr>
          <p:cNvPr id="162" name="Google Shape;162;p18"/>
          <p:cNvSpPr/>
          <p:nvPr/>
        </p:nvSpPr>
        <p:spPr>
          <a:xfrm>
            <a:off x="952500" y="3603277"/>
            <a:ext cx="10668000" cy="9525"/>
          </a:xfrm>
          <a:prstGeom prst="rect">
            <a:avLst/>
          </a:prstGeom>
          <a:solidFill>
            <a:srgbClr val="94A3B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63" name="Google Shape;163;p18"/>
          <p:cNvSpPr/>
          <p:nvPr/>
        </p:nvSpPr>
        <p:spPr>
          <a:xfrm>
            <a:off x="952500" y="4511873"/>
            <a:ext cx="10668000" cy="9525"/>
          </a:xfrm>
          <a:prstGeom prst="rect">
            <a:avLst/>
          </a:prstGeom>
          <a:solidFill>
            <a:srgbClr val="94A3B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64" name="Google Shape;164;p18"/>
          <p:cNvSpPr/>
          <p:nvPr/>
        </p:nvSpPr>
        <p:spPr>
          <a:xfrm>
            <a:off x="952500" y="5420469"/>
            <a:ext cx="10668000" cy="9525"/>
          </a:xfrm>
          <a:prstGeom prst="rect">
            <a:avLst/>
          </a:prstGeom>
          <a:solidFill>
            <a:srgbClr val="94A3B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65" name="Google Shape;165;p18"/>
          <p:cNvSpPr/>
          <p:nvPr/>
        </p:nvSpPr>
        <p:spPr>
          <a:xfrm>
            <a:off x="952500" y="6329064"/>
            <a:ext cx="10668000" cy="9525"/>
          </a:xfrm>
          <a:prstGeom prst="rect">
            <a:avLst/>
          </a:prstGeom>
          <a:solidFill>
            <a:srgbClr val="94A3B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166" name="Google Shape;166;p18" descr="image.png"/>
          <p:cNvPicPr preferRelativeResize="0"/>
          <p:nvPr/>
        </p:nvPicPr>
        <p:blipFill rotWithShape="1">
          <a:blip r:embed="rId5"/>
          <a:srcRect/>
          <a:stretch>
            <a:fillRect/>
          </a:stretch>
        </p:blipFill>
        <p:spPr>
          <a:xfrm>
            <a:off x="1247775" y="3129855"/>
            <a:ext cx="171450" cy="200025"/>
          </a:xfrm>
          <a:prstGeom prst="rect">
            <a:avLst/>
          </a:prstGeom>
          <a:noFill/>
          <a:ln>
            <a:noFill/>
          </a:ln>
        </p:spPr>
      </p:pic>
      <p:pic>
        <p:nvPicPr>
          <p:cNvPr id="167" name="Google Shape;167;p18" descr="image.png"/>
          <p:cNvPicPr preferRelativeResize="0"/>
          <p:nvPr/>
        </p:nvPicPr>
        <p:blipFill rotWithShape="1">
          <a:blip r:embed="rId5"/>
          <a:srcRect/>
          <a:stretch>
            <a:fillRect/>
          </a:stretch>
        </p:blipFill>
        <p:spPr>
          <a:xfrm>
            <a:off x="1247775" y="4038451"/>
            <a:ext cx="171450" cy="200025"/>
          </a:xfrm>
          <a:prstGeom prst="rect">
            <a:avLst/>
          </a:prstGeom>
          <a:noFill/>
          <a:ln>
            <a:noFill/>
          </a:ln>
        </p:spPr>
      </p:pic>
      <p:pic>
        <p:nvPicPr>
          <p:cNvPr id="168" name="Google Shape;168;p18" descr="image.png"/>
          <p:cNvPicPr preferRelativeResize="0"/>
          <p:nvPr/>
        </p:nvPicPr>
        <p:blipFill rotWithShape="1">
          <a:blip r:embed="rId5"/>
          <a:srcRect/>
          <a:stretch>
            <a:fillRect/>
          </a:stretch>
        </p:blipFill>
        <p:spPr>
          <a:xfrm>
            <a:off x="1247775" y="4947046"/>
            <a:ext cx="171450" cy="200025"/>
          </a:xfrm>
          <a:prstGeom prst="rect">
            <a:avLst/>
          </a:prstGeom>
          <a:noFill/>
          <a:ln>
            <a:noFill/>
          </a:ln>
        </p:spPr>
      </p:pic>
      <p:pic>
        <p:nvPicPr>
          <p:cNvPr id="169" name="Google Shape;169;p18" descr="image.png"/>
          <p:cNvPicPr preferRelativeResize="0"/>
          <p:nvPr/>
        </p:nvPicPr>
        <p:blipFill rotWithShape="1">
          <a:blip r:embed="rId5"/>
          <a:srcRect/>
          <a:stretch>
            <a:fillRect/>
          </a:stretch>
        </p:blipFill>
        <p:spPr>
          <a:xfrm>
            <a:off x="1247775" y="5855642"/>
            <a:ext cx="171450" cy="200025"/>
          </a:xfrm>
          <a:prstGeom prst="rect">
            <a:avLst/>
          </a:prstGeom>
          <a:noFill/>
          <a:ln>
            <a:noFill/>
          </a:ln>
        </p:spPr>
      </p:pic>
      <p:sp>
        <p:nvSpPr>
          <p:cNvPr id="170" name="Google Shape;170;p18"/>
          <p:cNvSpPr txBox="1"/>
          <p:nvPr/>
        </p:nvSpPr>
        <p:spPr>
          <a:xfrm>
            <a:off x="800100" y="919311"/>
            <a:ext cx="11361420" cy="5143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00" b="1" i="0" u="none" strike="noStrike" cap="none">
                <a:solidFill>
                  <a:srgbClr val="38BDF8"/>
                </a:solidFill>
                <a:latin typeface="Inter" panose="02000503000000020004"/>
                <a:ea typeface="Inter" panose="02000503000000020004"/>
                <a:cs typeface="Inter" panose="02000503000000020004"/>
                <a:sym typeface="Inter" panose="02000503000000020004"/>
              </a:rPr>
              <a:t>CORE PRINCIPLES</a:t>
            </a:r>
          </a:p>
        </p:txBody>
      </p:sp>
      <p:sp>
        <p:nvSpPr>
          <p:cNvPr id="171" name="Google Shape;171;p18"/>
          <p:cNvSpPr/>
          <p:nvPr/>
        </p:nvSpPr>
        <p:spPr>
          <a:xfrm>
            <a:off x="571500" y="919311"/>
            <a:ext cx="76200" cy="514350"/>
          </a:xfrm>
          <a:prstGeom prst="rect">
            <a:avLst/>
          </a:prstGeom>
          <a:solidFill>
            <a:srgbClr val="38BDF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mph" presetSubtype="2" fill="hold" nodeType="clickEffect">
                                  <p:stCondLst>
                                    <p:cond delay="0"/>
                                  </p:stCondLst>
                                  <p:childTnLst>
                                    <p:animClr clrSpc="rgb" dir="cw">
                                      <p:cBhvr>
                                        <p:cTn id="6" dur="2000" fill="hold"/>
                                        <p:tgtEl>
                                          <p:spTgt spid="158"/>
                                        </p:tgtEl>
                                        <p:attrNameLst>
                                          <p:attrName>fillcolor</p:attrName>
                                        </p:attrNameLst>
                                      </p:cBhvr>
                                      <p:to>
                                        <a:srgbClr val="00B050"/>
                                      </p:to>
                                    </p:animClr>
                                    <p:set>
                                      <p:cBhvr>
                                        <p:cTn id="7" dur="2000" fill="hold"/>
                                        <p:tgtEl>
                                          <p:spTgt spid="158"/>
                                        </p:tgtEl>
                                        <p:attrNameLst>
                                          <p:attrName>fill.type</p:attrName>
                                        </p:attrNameLst>
                                      </p:cBhvr>
                                      <p:to>
                                        <p:strVal val="solid"/>
                                      </p:to>
                                    </p:set>
                                    <p:set>
                                      <p:cBhvr>
                                        <p:cTn id="8" dur="2000" fill="hold"/>
                                        <p:tgtEl>
                                          <p:spTgt spid="158"/>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E293B"/>
        </a:solidFill>
        <a:effectLst/>
      </p:bgPr>
    </p:bg>
    <p:spTree>
      <p:nvGrpSpPr>
        <p:cNvPr id="1" name="Shape 175"/>
        <p:cNvGrpSpPr/>
        <p:nvPr/>
      </p:nvGrpSpPr>
      <p:grpSpPr>
        <a:xfrm>
          <a:off x="0" y="0"/>
          <a:ext cx="0" cy="0"/>
          <a:chOff x="0" y="0"/>
          <a:chExt cx="0" cy="0"/>
        </a:xfrm>
      </p:grpSpPr>
      <p:pic>
        <p:nvPicPr>
          <p:cNvPr id="176" name="Google Shape;176;p19" descr="image.png"/>
          <p:cNvPicPr preferRelativeResize="0"/>
          <p:nvPr/>
        </p:nvPicPr>
        <p:blipFill rotWithShape="1">
          <a:blip r:embed="rId3"/>
          <a:srcRect/>
          <a:stretch>
            <a:fillRect/>
          </a:stretch>
        </p:blipFill>
        <p:spPr>
          <a:xfrm>
            <a:off x="0" y="0"/>
            <a:ext cx="12192000" cy="6858000"/>
          </a:xfrm>
          <a:prstGeom prst="rect">
            <a:avLst/>
          </a:prstGeom>
          <a:noFill/>
          <a:ln>
            <a:noFill/>
          </a:ln>
        </p:spPr>
      </p:pic>
      <p:pic>
        <p:nvPicPr>
          <p:cNvPr id="177" name="Google Shape;177;p19" descr="image.png"/>
          <p:cNvPicPr preferRelativeResize="0"/>
          <p:nvPr/>
        </p:nvPicPr>
        <p:blipFill rotWithShape="1">
          <a:blip r:embed="rId4"/>
          <a:srcRect/>
          <a:stretch>
            <a:fillRect/>
          </a:stretch>
        </p:blipFill>
        <p:spPr>
          <a:xfrm>
            <a:off x="571500" y="7237660"/>
            <a:ext cx="11049000" cy="838200"/>
          </a:xfrm>
          <a:prstGeom prst="rect">
            <a:avLst/>
          </a:prstGeom>
          <a:noFill/>
          <a:ln>
            <a:noFill/>
          </a:ln>
        </p:spPr>
      </p:pic>
      <p:sp>
        <p:nvSpPr>
          <p:cNvPr id="178" name="Google Shape;178;p19"/>
          <p:cNvSpPr txBox="1"/>
          <p:nvPr/>
        </p:nvSpPr>
        <p:spPr>
          <a:xfrm>
            <a:off x="571500" y="2043261"/>
            <a:ext cx="11049000" cy="731341"/>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800" b="0" i="0" u="none" strike="noStrike" cap="none">
                <a:solidFill>
                  <a:srgbClr val="CBD5E1"/>
                </a:solidFill>
                <a:latin typeface="Inter" panose="02000503000000020004"/>
                <a:ea typeface="Inter" panose="02000503000000020004"/>
                <a:cs typeface="Inter" panose="02000503000000020004"/>
                <a:sym typeface="Inter" panose="02000503000000020004"/>
              </a:rPr>
              <a:t>Which concept allows a subclass to provide a specific implementation of a method already defined in its superclass?</a:t>
            </a:r>
          </a:p>
        </p:txBody>
      </p:sp>
      <p:sp>
        <p:nvSpPr>
          <p:cNvPr id="179" name="Google Shape;179;p19"/>
          <p:cNvSpPr txBox="1"/>
          <p:nvPr/>
        </p:nvSpPr>
        <p:spPr>
          <a:xfrm>
            <a:off x="5791200" y="7494835"/>
            <a:ext cx="2809875" cy="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100" b="0" i="0" u="none" strike="noStrike" cap="none">
                <a:solidFill>
                  <a:srgbClr val="FEF08A"/>
                </a:solidFill>
                <a:latin typeface="Inter Black"/>
                <a:ea typeface="Inter Black"/>
                <a:cs typeface="Inter Black"/>
                <a:sym typeface="Inter Black"/>
              </a:rPr>
              <a:t>B) Method Overriding</a:t>
            </a:r>
          </a:p>
        </p:txBody>
      </p:sp>
      <p:sp>
        <p:nvSpPr>
          <p:cNvPr id="180" name="Google Shape;180;p19"/>
          <p:cNvSpPr/>
          <p:nvPr/>
        </p:nvSpPr>
        <p:spPr>
          <a:xfrm>
            <a:off x="952500" y="3212752"/>
            <a:ext cx="10668000" cy="765720"/>
          </a:xfrm>
          <a:prstGeom prst="roundRect">
            <a:avLst>
              <a:gd name="adj" fmla="val 9951"/>
            </a:avLst>
          </a:prstGeom>
          <a:solidFill>
            <a:srgbClr val="334155"/>
          </a:solidFill>
          <a:ln w="9525" cap="flat" cmpd="sng">
            <a:solidFill>
              <a:srgbClr val="94A3B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81" name="Google Shape;181;p19"/>
          <p:cNvSpPr txBox="1"/>
          <p:nvPr/>
        </p:nvSpPr>
        <p:spPr>
          <a:xfrm>
            <a:off x="1600200" y="3403252"/>
            <a:ext cx="9734550" cy="384720"/>
          </a:xfrm>
          <a:prstGeom prst="rect">
            <a:avLst/>
          </a:prstGeom>
          <a:noFill/>
          <a:ln>
            <a:noFill/>
          </a:ln>
        </p:spPr>
        <p:txBody>
          <a:bodyPr spcFirstLastPara="1" wrap="square" lIns="0" tIns="0" rIns="0" bIns="0" anchor="ctr" anchorCtr="0">
            <a:spAutoFit/>
          </a:bodyPr>
          <a:lstStyle/>
          <a:p>
            <a:pPr marL="0" marR="0" lvl="0" indent="0" algn="l" rtl="0">
              <a:lnSpc>
                <a:spcPct val="160000"/>
              </a:lnSpc>
              <a:spcBef>
                <a:spcPts val="0"/>
              </a:spcBef>
              <a:spcAft>
                <a:spcPts val="0"/>
              </a:spcAft>
              <a:buNone/>
            </a:pPr>
            <a:r>
              <a:rPr lang="en-US" sz="1800" b="0" i="0" u="none" strike="noStrike" cap="none">
                <a:solidFill>
                  <a:srgbClr val="CBD5E1"/>
                </a:solidFill>
                <a:latin typeface="Inter" panose="02000503000000020004"/>
                <a:ea typeface="Inter" panose="02000503000000020004"/>
                <a:cs typeface="Inter" panose="02000503000000020004"/>
                <a:sym typeface="Inter" panose="02000503000000020004"/>
              </a:rPr>
              <a:t>A) Method Overloading</a:t>
            </a:r>
          </a:p>
        </p:txBody>
      </p:sp>
      <p:sp>
        <p:nvSpPr>
          <p:cNvPr id="182" name="Google Shape;182;p19"/>
          <p:cNvSpPr/>
          <p:nvPr/>
        </p:nvSpPr>
        <p:spPr>
          <a:xfrm>
            <a:off x="952500" y="4121348"/>
            <a:ext cx="10668000" cy="765720"/>
          </a:xfrm>
          <a:prstGeom prst="roundRect">
            <a:avLst>
              <a:gd name="adj" fmla="val 9951"/>
            </a:avLst>
          </a:prstGeom>
          <a:solidFill>
            <a:srgbClr val="334155"/>
          </a:solidFill>
          <a:ln w="9525" cap="flat" cmpd="sng">
            <a:solidFill>
              <a:srgbClr val="94A3B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83" name="Google Shape;183;p19"/>
          <p:cNvSpPr txBox="1"/>
          <p:nvPr/>
        </p:nvSpPr>
        <p:spPr>
          <a:xfrm>
            <a:off x="1600200" y="4311848"/>
            <a:ext cx="9734550" cy="384720"/>
          </a:xfrm>
          <a:prstGeom prst="rect">
            <a:avLst/>
          </a:prstGeom>
          <a:noFill/>
          <a:ln>
            <a:noFill/>
          </a:ln>
        </p:spPr>
        <p:txBody>
          <a:bodyPr spcFirstLastPara="1" wrap="square" lIns="0" tIns="0" rIns="0" bIns="0" anchor="ctr" anchorCtr="0">
            <a:spAutoFit/>
          </a:bodyPr>
          <a:lstStyle/>
          <a:p>
            <a:pPr marL="0" marR="0" lvl="0" indent="0" algn="l" rtl="0">
              <a:lnSpc>
                <a:spcPct val="160000"/>
              </a:lnSpc>
              <a:spcBef>
                <a:spcPts val="0"/>
              </a:spcBef>
              <a:spcAft>
                <a:spcPts val="0"/>
              </a:spcAft>
              <a:buNone/>
            </a:pPr>
            <a:r>
              <a:rPr lang="en-US" sz="1800" b="0" i="0" u="none" strike="noStrike" cap="none">
                <a:solidFill>
                  <a:srgbClr val="CBD5E1"/>
                </a:solidFill>
                <a:latin typeface="Inter" panose="02000503000000020004"/>
                <a:ea typeface="Inter" panose="02000503000000020004"/>
                <a:cs typeface="Inter" panose="02000503000000020004"/>
                <a:sym typeface="Inter" panose="02000503000000020004"/>
              </a:rPr>
              <a:t>B) Method Overriding</a:t>
            </a:r>
          </a:p>
        </p:txBody>
      </p:sp>
      <p:sp>
        <p:nvSpPr>
          <p:cNvPr id="184" name="Google Shape;184;p19"/>
          <p:cNvSpPr/>
          <p:nvPr/>
        </p:nvSpPr>
        <p:spPr>
          <a:xfrm>
            <a:off x="952500" y="5029944"/>
            <a:ext cx="10668000" cy="765720"/>
          </a:xfrm>
          <a:prstGeom prst="roundRect">
            <a:avLst>
              <a:gd name="adj" fmla="val 9951"/>
            </a:avLst>
          </a:prstGeom>
          <a:solidFill>
            <a:srgbClr val="334155"/>
          </a:solidFill>
          <a:ln w="9525" cap="flat" cmpd="sng">
            <a:solidFill>
              <a:srgbClr val="94A3B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85" name="Google Shape;185;p19"/>
          <p:cNvSpPr txBox="1"/>
          <p:nvPr/>
        </p:nvSpPr>
        <p:spPr>
          <a:xfrm>
            <a:off x="1600200" y="5220444"/>
            <a:ext cx="9734550" cy="384720"/>
          </a:xfrm>
          <a:prstGeom prst="rect">
            <a:avLst/>
          </a:prstGeom>
          <a:noFill/>
          <a:ln>
            <a:noFill/>
          </a:ln>
        </p:spPr>
        <p:txBody>
          <a:bodyPr spcFirstLastPara="1" wrap="square" lIns="0" tIns="0" rIns="0" bIns="0" anchor="ctr" anchorCtr="0">
            <a:spAutoFit/>
          </a:bodyPr>
          <a:lstStyle/>
          <a:p>
            <a:pPr marL="0" marR="0" lvl="0" indent="0" algn="l" rtl="0">
              <a:lnSpc>
                <a:spcPct val="160000"/>
              </a:lnSpc>
              <a:spcBef>
                <a:spcPts val="0"/>
              </a:spcBef>
              <a:spcAft>
                <a:spcPts val="0"/>
              </a:spcAft>
              <a:buNone/>
            </a:pPr>
            <a:r>
              <a:rPr lang="en-US" sz="1800" b="0" i="0" u="none" strike="noStrike" cap="none">
                <a:solidFill>
                  <a:srgbClr val="CBD5E1"/>
                </a:solidFill>
                <a:latin typeface="Inter" panose="02000503000000020004"/>
                <a:ea typeface="Inter" panose="02000503000000020004"/>
                <a:cs typeface="Inter" panose="02000503000000020004"/>
                <a:sym typeface="Inter" panose="02000503000000020004"/>
              </a:rPr>
              <a:t>C) Composition</a:t>
            </a:r>
          </a:p>
        </p:txBody>
      </p:sp>
      <p:sp>
        <p:nvSpPr>
          <p:cNvPr id="186" name="Google Shape;186;p19"/>
          <p:cNvSpPr/>
          <p:nvPr/>
        </p:nvSpPr>
        <p:spPr>
          <a:xfrm>
            <a:off x="952500" y="5938539"/>
            <a:ext cx="10668000" cy="765720"/>
          </a:xfrm>
          <a:prstGeom prst="roundRect">
            <a:avLst>
              <a:gd name="adj" fmla="val 9951"/>
            </a:avLst>
          </a:prstGeom>
          <a:solidFill>
            <a:srgbClr val="334155"/>
          </a:solidFill>
          <a:ln w="9525" cap="flat" cmpd="sng">
            <a:solidFill>
              <a:srgbClr val="94A3B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87" name="Google Shape;187;p19"/>
          <p:cNvSpPr txBox="1"/>
          <p:nvPr/>
        </p:nvSpPr>
        <p:spPr>
          <a:xfrm>
            <a:off x="1600200" y="6129039"/>
            <a:ext cx="9734550" cy="384720"/>
          </a:xfrm>
          <a:prstGeom prst="rect">
            <a:avLst/>
          </a:prstGeom>
          <a:noFill/>
          <a:ln>
            <a:noFill/>
          </a:ln>
        </p:spPr>
        <p:txBody>
          <a:bodyPr spcFirstLastPara="1" wrap="square" lIns="0" tIns="0" rIns="0" bIns="0" anchor="ctr" anchorCtr="0">
            <a:spAutoFit/>
          </a:bodyPr>
          <a:lstStyle/>
          <a:p>
            <a:pPr marL="0" marR="0" lvl="0" indent="0" algn="l" rtl="0">
              <a:lnSpc>
                <a:spcPct val="160000"/>
              </a:lnSpc>
              <a:spcBef>
                <a:spcPts val="0"/>
              </a:spcBef>
              <a:spcAft>
                <a:spcPts val="0"/>
              </a:spcAft>
              <a:buNone/>
            </a:pPr>
            <a:r>
              <a:rPr lang="en-US" sz="1800" b="0" i="0" u="none" strike="noStrike" cap="none">
                <a:solidFill>
                  <a:srgbClr val="CBD5E1"/>
                </a:solidFill>
                <a:latin typeface="Inter" panose="02000503000000020004"/>
                <a:ea typeface="Inter" panose="02000503000000020004"/>
                <a:cs typeface="Inter" panose="02000503000000020004"/>
                <a:sym typeface="Inter" panose="02000503000000020004"/>
              </a:rPr>
              <a:t>D) Encapsulation</a:t>
            </a:r>
          </a:p>
        </p:txBody>
      </p:sp>
      <p:sp>
        <p:nvSpPr>
          <p:cNvPr id="188" name="Google Shape;188;p19"/>
          <p:cNvSpPr/>
          <p:nvPr/>
        </p:nvSpPr>
        <p:spPr>
          <a:xfrm>
            <a:off x="952500" y="3968948"/>
            <a:ext cx="10668000" cy="9525"/>
          </a:xfrm>
          <a:prstGeom prst="rect">
            <a:avLst/>
          </a:prstGeom>
          <a:solidFill>
            <a:srgbClr val="94A3B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89" name="Google Shape;189;p19"/>
          <p:cNvSpPr/>
          <p:nvPr/>
        </p:nvSpPr>
        <p:spPr>
          <a:xfrm>
            <a:off x="952500" y="4877544"/>
            <a:ext cx="10668000" cy="9525"/>
          </a:xfrm>
          <a:prstGeom prst="rect">
            <a:avLst/>
          </a:prstGeom>
          <a:solidFill>
            <a:srgbClr val="94A3B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90" name="Google Shape;190;p19"/>
          <p:cNvSpPr/>
          <p:nvPr/>
        </p:nvSpPr>
        <p:spPr>
          <a:xfrm>
            <a:off x="952500" y="5786139"/>
            <a:ext cx="10668000" cy="9525"/>
          </a:xfrm>
          <a:prstGeom prst="rect">
            <a:avLst/>
          </a:prstGeom>
          <a:solidFill>
            <a:srgbClr val="94A3B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91" name="Google Shape;191;p19"/>
          <p:cNvSpPr/>
          <p:nvPr/>
        </p:nvSpPr>
        <p:spPr>
          <a:xfrm>
            <a:off x="952500" y="6694735"/>
            <a:ext cx="10668000" cy="9525"/>
          </a:xfrm>
          <a:prstGeom prst="rect">
            <a:avLst/>
          </a:prstGeom>
          <a:solidFill>
            <a:srgbClr val="94A3B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192" name="Google Shape;192;p19" descr="image.png"/>
          <p:cNvPicPr preferRelativeResize="0"/>
          <p:nvPr/>
        </p:nvPicPr>
        <p:blipFill rotWithShape="1">
          <a:blip r:embed="rId5"/>
          <a:srcRect/>
          <a:stretch>
            <a:fillRect/>
          </a:stretch>
        </p:blipFill>
        <p:spPr>
          <a:xfrm>
            <a:off x="1247775" y="3495526"/>
            <a:ext cx="171450" cy="200025"/>
          </a:xfrm>
          <a:prstGeom prst="rect">
            <a:avLst/>
          </a:prstGeom>
          <a:noFill/>
          <a:ln>
            <a:noFill/>
          </a:ln>
        </p:spPr>
      </p:pic>
      <p:pic>
        <p:nvPicPr>
          <p:cNvPr id="193" name="Google Shape;193;p19" descr="image.png"/>
          <p:cNvPicPr preferRelativeResize="0"/>
          <p:nvPr/>
        </p:nvPicPr>
        <p:blipFill rotWithShape="1">
          <a:blip r:embed="rId5"/>
          <a:srcRect/>
          <a:stretch>
            <a:fillRect/>
          </a:stretch>
        </p:blipFill>
        <p:spPr>
          <a:xfrm>
            <a:off x="1247775" y="4404121"/>
            <a:ext cx="171450" cy="200025"/>
          </a:xfrm>
          <a:prstGeom prst="rect">
            <a:avLst/>
          </a:prstGeom>
          <a:noFill/>
          <a:ln>
            <a:noFill/>
          </a:ln>
        </p:spPr>
      </p:pic>
      <p:pic>
        <p:nvPicPr>
          <p:cNvPr id="194" name="Google Shape;194;p19" descr="image.png"/>
          <p:cNvPicPr preferRelativeResize="0"/>
          <p:nvPr/>
        </p:nvPicPr>
        <p:blipFill rotWithShape="1">
          <a:blip r:embed="rId5"/>
          <a:srcRect/>
          <a:stretch>
            <a:fillRect/>
          </a:stretch>
        </p:blipFill>
        <p:spPr>
          <a:xfrm>
            <a:off x="1247775" y="5312717"/>
            <a:ext cx="171450" cy="200025"/>
          </a:xfrm>
          <a:prstGeom prst="rect">
            <a:avLst/>
          </a:prstGeom>
          <a:noFill/>
          <a:ln>
            <a:noFill/>
          </a:ln>
        </p:spPr>
      </p:pic>
      <p:pic>
        <p:nvPicPr>
          <p:cNvPr id="195" name="Google Shape;195;p19" descr="image.png"/>
          <p:cNvPicPr preferRelativeResize="0"/>
          <p:nvPr/>
        </p:nvPicPr>
        <p:blipFill rotWithShape="1">
          <a:blip r:embed="rId5"/>
          <a:srcRect/>
          <a:stretch>
            <a:fillRect/>
          </a:stretch>
        </p:blipFill>
        <p:spPr>
          <a:xfrm>
            <a:off x="1247775" y="6221313"/>
            <a:ext cx="171450" cy="200025"/>
          </a:xfrm>
          <a:prstGeom prst="rect">
            <a:avLst/>
          </a:prstGeom>
          <a:noFill/>
          <a:ln>
            <a:noFill/>
          </a:ln>
        </p:spPr>
      </p:pic>
      <p:sp>
        <p:nvSpPr>
          <p:cNvPr id="196" name="Google Shape;196;p19"/>
          <p:cNvSpPr txBox="1"/>
          <p:nvPr/>
        </p:nvSpPr>
        <p:spPr>
          <a:xfrm>
            <a:off x="800100" y="919311"/>
            <a:ext cx="11361420" cy="5143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00" b="1" i="0" u="none" strike="noStrike" cap="none">
                <a:solidFill>
                  <a:srgbClr val="38BDF8"/>
                </a:solidFill>
                <a:latin typeface="Inter" panose="02000503000000020004"/>
                <a:ea typeface="Inter" panose="02000503000000020004"/>
                <a:cs typeface="Inter" panose="02000503000000020004"/>
                <a:sym typeface="Inter" panose="02000503000000020004"/>
              </a:rPr>
              <a:t>METHOD REDEFINITION</a:t>
            </a:r>
          </a:p>
        </p:txBody>
      </p:sp>
      <p:sp>
        <p:nvSpPr>
          <p:cNvPr id="197" name="Google Shape;197;p19"/>
          <p:cNvSpPr/>
          <p:nvPr/>
        </p:nvSpPr>
        <p:spPr>
          <a:xfrm>
            <a:off x="571500" y="919311"/>
            <a:ext cx="76200" cy="514350"/>
          </a:xfrm>
          <a:prstGeom prst="rect">
            <a:avLst/>
          </a:prstGeom>
          <a:solidFill>
            <a:srgbClr val="38BDF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mph" presetSubtype="2" fill="hold" nodeType="clickEffect">
                                  <p:stCondLst>
                                    <p:cond delay="0"/>
                                  </p:stCondLst>
                                  <p:childTnLst>
                                    <p:animClr clrSpc="rgb" dir="cw">
                                      <p:cBhvr>
                                        <p:cTn id="6" dur="2000" fill="hold"/>
                                        <p:tgtEl>
                                          <p:spTgt spid="182"/>
                                        </p:tgtEl>
                                        <p:attrNameLst>
                                          <p:attrName>fillcolor</p:attrName>
                                        </p:attrNameLst>
                                      </p:cBhvr>
                                      <p:to>
                                        <a:srgbClr val="00B050"/>
                                      </p:to>
                                    </p:animClr>
                                    <p:set>
                                      <p:cBhvr>
                                        <p:cTn id="7" dur="2000" fill="hold"/>
                                        <p:tgtEl>
                                          <p:spTgt spid="182"/>
                                        </p:tgtEl>
                                        <p:attrNameLst>
                                          <p:attrName>fill.type</p:attrName>
                                        </p:attrNameLst>
                                      </p:cBhvr>
                                      <p:to>
                                        <p:strVal val="solid"/>
                                      </p:to>
                                    </p:set>
                                    <p:set>
                                      <p:cBhvr>
                                        <p:cTn id="8" dur="2000" fill="hold"/>
                                        <p:tgtEl>
                                          <p:spTgt spid="182"/>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pic>
        <p:nvPicPr>
          <p:cNvPr id="176" name="Google Shape;176;p19" descr="image.png"/>
          <p:cNvPicPr preferRelativeResize="0"/>
          <p:nvPr/>
        </p:nvPicPr>
        <p:blipFill rotWithShape="1">
          <a:blip r:embed="rId3"/>
          <a:srcRect/>
          <a:stretch>
            <a:fillRect/>
          </a:stretch>
        </p:blipFill>
        <p:spPr>
          <a:xfrm>
            <a:off x="0" y="0"/>
            <a:ext cx="12192000" cy="6858000"/>
          </a:xfrm>
          <a:prstGeom prst="rect">
            <a:avLst/>
          </a:prstGeom>
          <a:noFill/>
          <a:ln>
            <a:noFill/>
          </a:ln>
        </p:spPr>
      </p:pic>
      <p:pic>
        <p:nvPicPr>
          <p:cNvPr id="177" name="Google Shape;177;p19" descr="image.png"/>
          <p:cNvPicPr preferRelativeResize="0"/>
          <p:nvPr/>
        </p:nvPicPr>
        <p:blipFill rotWithShape="1">
          <a:blip r:embed="rId4"/>
          <a:srcRect/>
          <a:stretch>
            <a:fillRect/>
          </a:stretch>
        </p:blipFill>
        <p:spPr>
          <a:xfrm>
            <a:off x="571500" y="7237660"/>
            <a:ext cx="11049000" cy="838200"/>
          </a:xfrm>
          <a:prstGeom prst="rect">
            <a:avLst/>
          </a:prstGeom>
          <a:noFill/>
          <a:ln>
            <a:noFill/>
          </a:ln>
        </p:spPr>
      </p:pic>
      <p:sp>
        <p:nvSpPr>
          <p:cNvPr id="178" name="Google Shape;178;p19"/>
          <p:cNvSpPr txBox="1"/>
          <p:nvPr/>
        </p:nvSpPr>
        <p:spPr>
          <a:xfrm>
            <a:off x="571500" y="2043261"/>
            <a:ext cx="11049000" cy="443198"/>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800" b="0" i="0" u="none" strike="noStrike" cap="none" dirty="0">
                <a:solidFill>
                  <a:srgbClr val="CBD5E1"/>
                </a:solidFill>
                <a:latin typeface="Inter" panose="02000503000000020004"/>
                <a:ea typeface="Inter" panose="02000503000000020004"/>
                <a:cs typeface="Inter" panose="02000503000000020004"/>
                <a:sym typeface="Inter" panose="02000503000000020004"/>
              </a:rPr>
              <a:t>What is method overloading?</a:t>
            </a:r>
            <a:endParaRPr dirty="0"/>
          </a:p>
        </p:txBody>
      </p:sp>
      <p:sp>
        <p:nvSpPr>
          <p:cNvPr id="179" name="Google Shape;179;p19"/>
          <p:cNvSpPr txBox="1"/>
          <p:nvPr/>
        </p:nvSpPr>
        <p:spPr>
          <a:xfrm>
            <a:off x="5791200" y="7494835"/>
            <a:ext cx="2809875" cy="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100" b="0" i="0" u="none" strike="noStrike" cap="none">
                <a:solidFill>
                  <a:srgbClr val="FEF08A"/>
                </a:solidFill>
                <a:latin typeface="Inter Black"/>
                <a:ea typeface="Inter Black"/>
                <a:cs typeface="Inter Black"/>
                <a:sym typeface="Inter Black"/>
              </a:rPr>
              <a:t>B) Method Overriding</a:t>
            </a:r>
          </a:p>
        </p:txBody>
      </p:sp>
      <p:sp>
        <p:nvSpPr>
          <p:cNvPr id="180" name="Google Shape;180;p19"/>
          <p:cNvSpPr/>
          <p:nvPr/>
        </p:nvSpPr>
        <p:spPr>
          <a:xfrm>
            <a:off x="952500" y="3212752"/>
            <a:ext cx="10668000" cy="765720"/>
          </a:xfrm>
          <a:prstGeom prst="roundRect">
            <a:avLst>
              <a:gd name="adj" fmla="val 9951"/>
            </a:avLst>
          </a:prstGeom>
          <a:solidFill>
            <a:srgbClr val="334155"/>
          </a:solidFill>
          <a:ln w="9525" cap="flat" cmpd="sng">
            <a:solidFill>
              <a:srgbClr val="94A3B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81" name="Google Shape;181;p19"/>
          <p:cNvSpPr txBox="1"/>
          <p:nvPr/>
        </p:nvSpPr>
        <p:spPr>
          <a:xfrm>
            <a:off x="1600200" y="3374013"/>
            <a:ext cx="9734550" cy="443198"/>
          </a:xfrm>
          <a:prstGeom prst="rect">
            <a:avLst/>
          </a:prstGeom>
          <a:noFill/>
          <a:ln>
            <a:noFill/>
          </a:ln>
        </p:spPr>
        <p:txBody>
          <a:bodyPr spcFirstLastPara="1" wrap="square" lIns="0" tIns="0" rIns="0" bIns="0" anchor="ctr" anchorCtr="0">
            <a:spAutoFit/>
          </a:bodyPr>
          <a:lstStyle/>
          <a:p>
            <a:pPr marL="0" marR="0" lvl="0" indent="0" algn="l" rtl="0">
              <a:lnSpc>
                <a:spcPct val="160000"/>
              </a:lnSpc>
              <a:spcBef>
                <a:spcPts val="0"/>
              </a:spcBef>
              <a:spcAft>
                <a:spcPts val="0"/>
              </a:spcAft>
              <a:buNone/>
            </a:pPr>
            <a:r>
              <a:rPr lang="en-US" sz="1800" b="0" i="0" u="none" strike="noStrike" cap="none" dirty="0">
                <a:solidFill>
                  <a:srgbClr val="CBD5E1"/>
                </a:solidFill>
                <a:latin typeface="Inter" panose="02000503000000020004"/>
                <a:ea typeface="Inter" panose="02000503000000020004"/>
                <a:cs typeface="Inter" panose="02000503000000020004"/>
                <a:sym typeface="Inter" panose="02000503000000020004"/>
              </a:rPr>
              <a:t>A) Same method with different implementation in child class</a:t>
            </a:r>
            <a:endParaRPr dirty="0"/>
          </a:p>
        </p:txBody>
      </p:sp>
      <p:sp>
        <p:nvSpPr>
          <p:cNvPr id="182" name="Google Shape;182;p19"/>
          <p:cNvSpPr/>
          <p:nvPr/>
        </p:nvSpPr>
        <p:spPr>
          <a:xfrm>
            <a:off x="952500" y="4121348"/>
            <a:ext cx="10668000" cy="765720"/>
          </a:xfrm>
          <a:prstGeom prst="roundRect">
            <a:avLst>
              <a:gd name="adj" fmla="val 9951"/>
            </a:avLst>
          </a:prstGeom>
          <a:solidFill>
            <a:srgbClr val="334155"/>
          </a:solidFill>
          <a:ln w="9525" cap="flat" cmpd="sng">
            <a:solidFill>
              <a:srgbClr val="94A3B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83" name="Google Shape;183;p19"/>
          <p:cNvSpPr txBox="1"/>
          <p:nvPr/>
        </p:nvSpPr>
        <p:spPr>
          <a:xfrm>
            <a:off x="1600200" y="4282609"/>
            <a:ext cx="9734550" cy="443198"/>
          </a:xfrm>
          <a:prstGeom prst="rect">
            <a:avLst/>
          </a:prstGeom>
          <a:noFill/>
          <a:ln>
            <a:noFill/>
          </a:ln>
        </p:spPr>
        <p:txBody>
          <a:bodyPr spcFirstLastPara="1" wrap="square" lIns="0" tIns="0" rIns="0" bIns="0" anchor="ctr" anchorCtr="0">
            <a:spAutoFit/>
          </a:bodyPr>
          <a:lstStyle/>
          <a:p>
            <a:pPr marL="0" marR="0" lvl="0" indent="0" algn="l" rtl="0">
              <a:lnSpc>
                <a:spcPct val="160000"/>
              </a:lnSpc>
              <a:spcBef>
                <a:spcPts val="0"/>
              </a:spcBef>
              <a:spcAft>
                <a:spcPts val="0"/>
              </a:spcAft>
              <a:buNone/>
            </a:pPr>
            <a:r>
              <a:rPr lang="en-US" sz="1800" b="0" i="0" u="none" strike="noStrike" cap="none" dirty="0">
                <a:solidFill>
                  <a:srgbClr val="CBD5E1"/>
                </a:solidFill>
                <a:latin typeface="Inter" panose="02000503000000020004"/>
                <a:ea typeface="Inter" panose="02000503000000020004"/>
                <a:cs typeface="Inter" panose="02000503000000020004"/>
                <a:sym typeface="Inter" panose="02000503000000020004"/>
              </a:rPr>
              <a:t>B) Same method name with different parameters</a:t>
            </a:r>
            <a:endParaRPr dirty="0"/>
          </a:p>
        </p:txBody>
      </p:sp>
      <p:sp>
        <p:nvSpPr>
          <p:cNvPr id="184" name="Google Shape;184;p19"/>
          <p:cNvSpPr/>
          <p:nvPr/>
        </p:nvSpPr>
        <p:spPr>
          <a:xfrm>
            <a:off x="952500" y="5029944"/>
            <a:ext cx="10668000" cy="765720"/>
          </a:xfrm>
          <a:prstGeom prst="roundRect">
            <a:avLst>
              <a:gd name="adj" fmla="val 9951"/>
            </a:avLst>
          </a:prstGeom>
          <a:solidFill>
            <a:srgbClr val="334155"/>
          </a:solidFill>
          <a:ln w="9525" cap="flat" cmpd="sng">
            <a:solidFill>
              <a:srgbClr val="94A3B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85" name="Google Shape;185;p19"/>
          <p:cNvSpPr txBox="1"/>
          <p:nvPr/>
        </p:nvSpPr>
        <p:spPr>
          <a:xfrm>
            <a:off x="1600200" y="5191205"/>
            <a:ext cx="9734550" cy="443198"/>
          </a:xfrm>
          <a:prstGeom prst="rect">
            <a:avLst/>
          </a:prstGeom>
          <a:noFill/>
          <a:ln>
            <a:noFill/>
          </a:ln>
        </p:spPr>
        <p:txBody>
          <a:bodyPr spcFirstLastPara="1" wrap="square" lIns="0" tIns="0" rIns="0" bIns="0" anchor="ctr" anchorCtr="0">
            <a:spAutoFit/>
          </a:bodyPr>
          <a:lstStyle/>
          <a:p>
            <a:pPr marL="0" marR="0" lvl="0" indent="0" algn="l" rtl="0">
              <a:lnSpc>
                <a:spcPct val="160000"/>
              </a:lnSpc>
              <a:spcBef>
                <a:spcPts val="0"/>
              </a:spcBef>
              <a:spcAft>
                <a:spcPts val="0"/>
              </a:spcAft>
              <a:buNone/>
            </a:pPr>
            <a:r>
              <a:rPr lang="en-US" sz="1800" b="0" i="0" u="none" strike="noStrike" cap="none" dirty="0">
                <a:solidFill>
                  <a:srgbClr val="CBD5E1"/>
                </a:solidFill>
                <a:latin typeface="Inter" panose="02000503000000020004"/>
                <a:ea typeface="Inter" panose="02000503000000020004"/>
                <a:cs typeface="Inter" panose="02000503000000020004"/>
                <a:sym typeface="Inter" panose="02000503000000020004"/>
              </a:rPr>
              <a:t>C) Multiple classes with same name</a:t>
            </a:r>
            <a:endParaRPr dirty="0"/>
          </a:p>
        </p:txBody>
      </p:sp>
      <p:sp>
        <p:nvSpPr>
          <p:cNvPr id="186" name="Google Shape;186;p19"/>
          <p:cNvSpPr/>
          <p:nvPr/>
        </p:nvSpPr>
        <p:spPr>
          <a:xfrm>
            <a:off x="952500" y="5938539"/>
            <a:ext cx="10668000" cy="765720"/>
          </a:xfrm>
          <a:prstGeom prst="roundRect">
            <a:avLst>
              <a:gd name="adj" fmla="val 9951"/>
            </a:avLst>
          </a:prstGeom>
          <a:solidFill>
            <a:srgbClr val="334155"/>
          </a:solidFill>
          <a:ln w="9525" cap="flat" cmpd="sng">
            <a:solidFill>
              <a:srgbClr val="94A3B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87" name="Google Shape;187;p19"/>
          <p:cNvSpPr txBox="1"/>
          <p:nvPr/>
        </p:nvSpPr>
        <p:spPr>
          <a:xfrm>
            <a:off x="1600200" y="6099800"/>
            <a:ext cx="9734550" cy="443198"/>
          </a:xfrm>
          <a:prstGeom prst="rect">
            <a:avLst/>
          </a:prstGeom>
          <a:noFill/>
          <a:ln>
            <a:noFill/>
          </a:ln>
        </p:spPr>
        <p:txBody>
          <a:bodyPr spcFirstLastPara="1" wrap="square" lIns="0" tIns="0" rIns="0" bIns="0" anchor="ctr" anchorCtr="0">
            <a:spAutoFit/>
          </a:bodyPr>
          <a:lstStyle/>
          <a:p>
            <a:pPr marL="0" marR="0" lvl="0" indent="0" algn="l" rtl="0">
              <a:lnSpc>
                <a:spcPct val="160000"/>
              </a:lnSpc>
              <a:spcBef>
                <a:spcPts val="0"/>
              </a:spcBef>
              <a:spcAft>
                <a:spcPts val="0"/>
              </a:spcAft>
              <a:buNone/>
            </a:pPr>
            <a:r>
              <a:rPr lang="en-US" sz="1800" b="0" i="0" u="none" strike="noStrike" cap="none" dirty="0">
                <a:solidFill>
                  <a:srgbClr val="CBD5E1"/>
                </a:solidFill>
                <a:latin typeface="Inter" panose="02000503000000020004"/>
                <a:ea typeface="Inter" panose="02000503000000020004"/>
                <a:cs typeface="Inter" panose="02000503000000020004"/>
                <a:sym typeface="Inter" panose="02000503000000020004"/>
              </a:rPr>
              <a:t>D) Multiple objects</a:t>
            </a:r>
            <a:endParaRPr dirty="0"/>
          </a:p>
        </p:txBody>
      </p:sp>
      <p:sp>
        <p:nvSpPr>
          <p:cNvPr id="188" name="Google Shape;188;p19"/>
          <p:cNvSpPr/>
          <p:nvPr/>
        </p:nvSpPr>
        <p:spPr>
          <a:xfrm>
            <a:off x="952500" y="3968948"/>
            <a:ext cx="10668000" cy="9525"/>
          </a:xfrm>
          <a:prstGeom prst="rect">
            <a:avLst/>
          </a:prstGeom>
          <a:solidFill>
            <a:srgbClr val="94A3B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89" name="Google Shape;189;p19"/>
          <p:cNvSpPr/>
          <p:nvPr/>
        </p:nvSpPr>
        <p:spPr>
          <a:xfrm>
            <a:off x="952500" y="4877544"/>
            <a:ext cx="10668000" cy="9525"/>
          </a:xfrm>
          <a:prstGeom prst="rect">
            <a:avLst/>
          </a:prstGeom>
          <a:solidFill>
            <a:srgbClr val="94A3B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90" name="Google Shape;190;p19"/>
          <p:cNvSpPr/>
          <p:nvPr/>
        </p:nvSpPr>
        <p:spPr>
          <a:xfrm>
            <a:off x="952500" y="5786139"/>
            <a:ext cx="10668000" cy="9525"/>
          </a:xfrm>
          <a:prstGeom prst="rect">
            <a:avLst/>
          </a:prstGeom>
          <a:solidFill>
            <a:srgbClr val="94A3B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91" name="Google Shape;191;p19"/>
          <p:cNvSpPr/>
          <p:nvPr/>
        </p:nvSpPr>
        <p:spPr>
          <a:xfrm>
            <a:off x="952500" y="6694735"/>
            <a:ext cx="10668000" cy="9525"/>
          </a:xfrm>
          <a:prstGeom prst="rect">
            <a:avLst/>
          </a:prstGeom>
          <a:solidFill>
            <a:srgbClr val="94A3B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192" name="Google Shape;192;p19" descr="image.png"/>
          <p:cNvPicPr preferRelativeResize="0"/>
          <p:nvPr/>
        </p:nvPicPr>
        <p:blipFill rotWithShape="1">
          <a:blip r:embed="rId5"/>
          <a:srcRect/>
          <a:stretch>
            <a:fillRect/>
          </a:stretch>
        </p:blipFill>
        <p:spPr>
          <a:xfrm>
            <a:off x="1247775" y="3495526"/>
            <a:ext cx="171450" cy="200025"/>
          </a:xfrm>
          <a:prstGeom prst="rect">
            <a:avLst/>
          </a:prstGeom>
          <a:noFill/>
          <a:ln>
            <a:noFill/>
          </a:ln>
        </p:spPr>
      </p:pic>
      <p:pic>
        <p:nvPicPr>
          <p:cNvPr id="193" name="Google Shape;193;p19" descr="image.png"/>
          <p:cNvPicPr preferRelativeResize="0"/>
          <p:nvPr/>
        </p:nvPicPr>
        <p:blipFill rotWithShape="1">
          <a:blip r:embed="rId5"/>
          <a:srcRect/>
          <a:stretch>
            <a:fillRect/>
          </a:stretch>
        </p:blipFill>
        <p:spPr>
          <a:xfrm>
            <a:off x="1247775" y="4404121"/>
            <a:ext cx="171450" cy="200025"/>
          </a:xfrm>
          <a:prstGeom prst="rect">
            <a:avLst/>
          </a:prstGeom>
          <a:noFill/>
          <a:ln>
            <a:noFill/>
          </a:ln>
        </p:spPr>
      </p:pic>
      <p:pic>
        <p:nvPicPr>
          <p:cNvPr id="194" name="Google Shape;194;p19" descr="image.png"/>
          <p:cNvPicPr preferRelativeResize="0"/>
          <p:nvPr/>
        </p:nvPicPr>
        <p:blipFill rotWithShape="1">
          <a:blip r:embed="rId5"/>
          <a:srcRect/>
          <a:stretch>
            <a:fillRect/>
          </a:stretch>
        </p:blipFill>
        <p:spPr>
          <a:xfrm>
            <a:off x="1247775" y="5312717"/>
            <a:ext cx="171450" cy="200025"/>
          </a:xfrm>
          <a:prstGeom prst="rect">
            <a:avLst/>
          </a:prstGeom>
          <a:noFill/>
          <a:ln>
            <a:noFill/>
          </a:ln>
        </p:spPr>
      </p:pic>
      <p:pic>
        <p:nvPicPr>
          <p:cNvPr id="195" name="Google Shape;195;p19" descr="image.png"/>
          <p:cNvPicPr preferRelativeResize="0"/>
          <p:nvPr/>
        </p:nvPicPr>
        <p:blipFill rotWithShape="1">
          <a:blip r:embed="rId5"/>
          <a:srcRect/>
          <a:stretch>
            <a:fillRect/>
          </a:stretch>
        </p:blipFill>
        <p:spPr>
          <a:xfrm>
            <a:off x="1247775" y="6221313"/>
            <a:ext cx="171450" cy="200025"/>
          </a:xfrm>
          <a:prstGeom prst="rect">
            <a:avLst/>
          </a:prstGeom>
          <a:noFill/>
          <a:ln>
            <a:noFill/>
          </a:ln>
        </p:spPr>
      </p:pic>
      <p:sp>
        <p:nvSpPr>
          <p:cNvPr id="196" name="Google Shape;196;p19"/>
          <p:cNvSpPr txBox="1"/>
          <p:nvPr/>
        </p:nvSpPr>
        <p:spPr>
          <a:xfrm>
            <a:off x="800100" y="919311"/>
            <a:ext cx="11361420" cy="5143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00" b="1" i="0" u="none" strike="noStrike" cap="none">
                <a:solidFill>
                  <a:srgbClr val="38BDF8"/>
                </a:solidFill>
                <a:latin typeface="Inter" panose="02000503000000020004"/>
                <a:ea typeface="Inter" panose="02000503000000020004"/>
                <a:cs typeface="Inter" panose="02000503000000020004"/>
                <a:sym typeface="Inter" panose="02000503000000020004"/>
              </a:rPr>
              <a:t>METHOD REDEFINITION</a:t>
            </a:r>
          </a:p>
        </p:txBody>
      </p:sp>
      <p:sp>
        <p:nvSpPr>
          <p:cNvPr id="197" name="Google Shape;197;p19"/>
          <p:cNvSpPr/>
          <p:nvPr/>
        </p:nvSpPr>
        <p:spPr>
          <a:xfrm>
            <a:off x="571500" y="919311"/>
            <a:ext cx="76200" cy="514350"/>
          </a:xfrm>
          <a:prstGeom prst="rect">
            <a:avLst/>
          </a:prstGeom>
          <a:solidFill>
            <a:srgbClr val="38BDF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mph" presetSubtype="2" fill="hold" nodeType="clickEffect">
                                  <p:stCondLst>
                                    <p:cond delay="0"/>
                                  </p:stCondLst>
                                  <p:childTnLst>
                                    <p:animClr clrSpc="rgb" dir="cw">
                                      <p:cBhvr>
                                        <p:cTn id="6" dur="2000" fill="hold"/>
                                        <p:tgtEl>
                                          <p:spTgt spid="182"/>
                                        </p:tgtEl>
                                        <p:attrNameLst>
                                          <p:attrName>fillcolor</p:attrName>
                                        </p:attrNameLst>
                                      </p:cBhvr>
                                      <p:to>
                                        <a:srgbClr val="00B050"/>
                                      </p:to>
                                    </p:animClr>
                                    <p:set>
                                      <p:cBhvr>
                                        <p:cTn id="7" dur="2000" fill="hold"/>
                                        <p:tgtEl>
                                          <p:spTgt spid="182"/>
                                        </p:tgtEl>
                                        <p:attrNameLst>
                                          <p:attrName>fill.type</p:attrName>
                                        </p:attrNameLst>
                                      </p:cBhvr>
                                      <p:to>
                                        <p:strVal val="solid"/>
                                      </p:to>
                                    </p:set>
                                    <p:set>
                                      <p:cBhvr>
                                        <p:cTn id="8" dur="2000" fill="hold"/>
                                        <p:tgtEl>
                                          <p:spTgt spid="182"/>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1E293B"/>
        </a:solidFill>
        <a:effectLst/>
      </p:bgPr>
    </p:bg>
    <p:spTree>
      <p:nvGrpSpPr>
        <p:cNvPr id="1" name="Shape 201"/>
        <p:cNvGrpSpPr/>
        <p:nvPr/>
      </p:nvGrpSpPr>
      <p:grpSpPr>
        <a:xfrm>
          <a:off x="0" y="0"/>
          <a:ext cx="0" cy="0"/>
          <a:chOff x="0" y="0"/>
          <a:chExt cx="0" cy="0"/>
        </a:xfrm>
      </p:grpSpPr>
      <p:pic>
        <p:nvPicPr>
          <p:cNvPr id="202" name="Google Shape;202;p20" descr="image.png"/>
          <p:cNvPicPr preferRelativeResize="0"/>
          <p:nvPr/>
        </p:nvPicPr>
        <p:blipFill rotWithShape="1">
          <a:blip r:embed="rId3"/>
          <a:srcRect/>
          <a:stretch>
            <a:fillRect/>
          </a:stretch>
        </p:blipFill>
        <p:spPr>
          <a:xfrm>
            <a:off x="0" y="0"/>
            <a:ext cx="12192000" cy="6858000"/>
          </a:xfrm>
          <a:prstGeom prst="rect">
            <a:avLst/>
          </a:prstGeom>
          <a:noFill/>
          <a:ln>
            <a:noFill/>
          </a:ln>
        </p:spPr>
      </p:pic>
      <p:pic>
        <p:nvPicPr>
          <p:cNvPr id="203" name="Google Shape;203;p20" descr="image.png"/>
          <p:cNvPicPr preferRelativeResize="0"/>
          <p:nvPr/>
        </p:nvPicPr>
        <p:blipFill rotWithShape="1">
          <a:blip r:embed="rId4"/>
          <a:srcRect/>
          <a:stretch>
            <a:fillRect/>
          </a:stretch>
        </p:blipFill>
        <p:spPr>
          <a:xfrm>
            <a:off x="571500" y="6871989"/>
            <a:ext cx="11049000" cy="838200"/>
          </a:xfrm>
          <a:prstGeom prst="rect">
            <a:avLst/>
          </a:prstGeom>
          <a:noFill/>
          <a:ln>
            <a:noFill/>
          </a:ln>
        </p:spPr>
      </p:pic>
      <p:sp>
        <p:nvSpPr>
          <p:cNvPr id="204" name="Google Shape;204;p20"/>
          <p:cNvSpPr txBox="1"/>
          <p:nvPr/>
        </p:nvSpPr>
        <p:spPr>
          <a:xfrm>
            <a:off x="571500" y="2043261"/>
            <a:ext cx="11049000" cy="443198"/>
          </a:xfrm>
          <a:prstGeom prst="rect">
            <a:avLst/>
          </a:prstGeom>
          <a:noFill/>
          <a:ln>
            <a:noFill/>
          </a:ln>
        </p:spPr>
        <p:txBody>
          <a:bodyPr spcFirstLastPara="1" wrap="square" lIns="0" tIns="0" rIns="0" bIns="0" anchor="t" anchorCtr="0">
            <a:spAutoFit/>
          </a:bodyPr>
          <a:lstStyle/>
          <a:p>
            <a:pPr lvl="0">
              <a:lnSpc>
                <a:spcPct val="160000"/>
              </a:lnSpc>
            </a:pPr>
            <a:r>
              <a:rPr lang="en-US" sz="1800" dirty="0">
                <a:solidFill>
                  <a:srgbClr val="CBD5E1"/>
                </a:solidFill>
                <a:latin typeface="Inter" panose="02000503000000020004"/>
                <a:ea typeface="Inter" panose="02000503000000020004"/>
                <a:cs typeface="Inter" panose="02000503000000020004"/>
                <a:sym typeface="Inter" panose="02000503000000020004"/>
              </a:rPr>
              <a:t>Which OOP pillar is primarily used to eliminate redundant code by reusing existing code structures?</a:t>
            </a:r>
            <a:endParaRPr dirty="0"/>
          </a:p>
        </p:txBody>
      </p:sp>
      <p:sp>
        <p:nvSpPr>
          <p:cNvPr id="205" name="Google Shape;205;p20"/>
          <p:cNvSpPr txBox="1"/>
          <p:nvPr/>
        </p:nvSpPr>
        <p:spPr>
          <a:xfrm>
            <a:off x="6724650" y="7129164"/>
            <a:ext cx="942975" cy="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100" b="0" i="0" u="none" strike="noStrike" cap="none">
                <a:solidFill>
                  <a:srgbClr val="FEF08A"/>
                </a:solidFill>
                <a:latin typeface="Inter Black"/>
                <a:ea typeface="Inter Black"/>
                <a:cs typeface="Inter Black"/>
                <a:sym typeface="Inter Black"/>
              </a:rPr>
              <a:t>C) final</a:t>
            </a:r>
          </a:p>
        </p:txBody>
      </p:sp>
      <p:sp>
        <p:nvSpPr>
          <p:cNvPr id="206" name="Google Shape;206;p20"/>
          <p:cNvSpPr/>
          <p:nvPr/>
        </p:nvSpPr>
        <p:spPr>
          <a:xfrm>
            <a:off x="952500" y="2847082"/>
            <a:ext cx="10668000" cy="765720"/>
          </a:xfrm>
          <a:prstGeom prst="roundRect">
            <a:avLst>
              <a:gd name="adj" fmla="val 9951"/>
            </a:avLst>
          </a:prstGeom>
          <a:solidFill>
            <a:srgbClr val="334155"/>
          </a:solidFill>
          <a:ln w="9525" cap="flat" cmpd="sng">
            <a:solidFill>
              <a:srgbClr val="94A3B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07" name="Google Shape;207;p20"/>
          <p:cNvSpPr txBox="1"/>
          <p:nvPr/>
        </p:nvSpPr>
        <p:spPr>
          <a:xfrm>
            <a:off x="1600200" y="3008343"/>
            <a:ext cx="9734550" cy="443198"/>
          </a:xfrm>
          <a:prstGeom prst="rect">
            <a:avLst/>
          </a:prstGeom>
          <a:noFill/>
          <a:ln>
            <a:noFill/>
          </a:ln>
        </p:spPr>
        <p:txBody>
          <a:bodyPr spcFirstLastPara="1" wrap="square" lIns="0" tIns="0" rIns="0" bIns="0" anchor="ctr" anchorCtr="0">
            <a:spAutoFit/>
          </a:bodyPr>
          <a:lstStyle/>
          <a:p>
            <a:pPr marL="0" marR="0" lvl="0" indent="0" algn="l" rtl="0">
              <a:lnSpc>
                <a:spcPct val="160000"/>
              </a:lnSpc>
              <a:spcBef>
                <a:spcPts val="0"/>
              </a:spcBef>
              <a:spcAft>
                <a:spcPts val="0"/>
              </a:spcAft>
              <a:buNone/>
            </a:pPr>
            <a:r>
              <a:rPr lang="en-US" sz="1800" b="0" i="0" u="none" strike="noStrike" cap="none" dirty="0">
                <a:solidFill>
                  <a:srgbClr val="CBD5E1"/>
                </a:solidFill>
                <a:latin typeface="Inter" panose="02000503000000020004"/>
                <a:ea typeface="Inter" panose="02000503000000020004"/>
                <a:cs typeface="Inter" panose="02000503000000020004"/>
                <a:sym typeface="Inter" panose="02000503000000020004"/>
              </a:rPr>
              <a:t>A) Abstraction</a:t>
            </a:r>
            <a:endParaRPr dirty="0"/>
          </a:p>
        </p:txBody>
      </p:sp>
      <p:sp>
        <p:nvSpPr>
          <p:cNvPr id="208" name="Google Shape;208;p20"/>
          <p:cNvSpPr/>
          <p:nvPr/>
        </p:nvSpPr>
        <p:spPr>
          <a:xfrm>
            <a:off x="952500" y="3755677"/>
            <a:ext cx="10668000" cy="765720"/>
          </a:xfrm>
          <a:prstGeom prst="roundRect">
            <a:avLst>
              <a:gd name="adj" fmla="val 9951"/>
            </a:avLst>
          </a:prstGeom>
          <a:solidFill>
            <a:srgbClr val="334155"/>
          </a:solidFill>
          <a:ln w="9525" cap="flat" cmpd="sng">
            <a:solidFill>
              <a:srgbClr val="94A3B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09" name="Google Shape;209;p20"/>
          <p:cNvSpPr txBox="1"/>
          <p:nvPr/>
        </p:nvSpPr>
        <p:spPr>
          <a:xfrm>
            <a:off x="1600200" y="3916938"/>
            <a:ext cx="9734550" cy="443198"/>
          </a:xfrm>
          <a:prstGeom prst="rect">
            <a:avLst/>
          </a:prstGeom>
          <a:noFill/>
          <a:ln>
            <a:noFill/>
          </a:ln>
        </p:spPr>
        <p:txBody>
          <a:bodyPr spcFirstLastPara="1" wrap="square" lIns="0" tIns="0" rIns="0" bIns="0" anchor="ctr" anchorCtr="0">
            <a:spAutoFit/>
          </a:bodyPr>
          <a:lstStyle/>
          <a:p>
            <a:pPr marL="0" marR="0" lvl="0" indent="0" algn="l" rtl="0">
              <a:lnSpc>
                <a:spcPct val="160000"/>
              </a:lnSpc>
              <a:spcBef>
                <a:spcPts val="0"/>
              </a:spcBef>
              <a:spcAft>
                <a:spcPts val="0"/>
              </a:spcAft>
              <a:buNone/>
            </a:pPr>
            <a:r>
              <a:rPr lang="en-US" sz="1800" b="0" i="0" u="none" strike="noStrike" cap="none" dirty="0">
                <a:solidFill>
                  <a:srgbClr val="CBD5E1"/>
                </a:solidFill>
                <a:latin typeface="Inter" panose="02000503000000020004"/>
                <a:ea typeface="Inter" panose="02000503000000020004"/>
                <a:cs typeface="Inter" panose="02000503000000020004"/>
                <a:sym typeface="Inter" panose="02000503000000020004"/>
              </a:rPr>
              <a:t>B) Polymorphism</a:t>
            </a:r>
            <a:endParaRPr dirty="0"/>
          </a:p>
        </p:txBody>
      </p:sp>
      <p:sp>
        <p:nvSpPr>
          <p:cNvPr id="210" name="Google Shape;210;p20"/>
          <p:cNvSpPr/>
          <p:nvPr/>
        </p:nvSpPr>
        <p:spPr>
          <a:xfrm>
            <a:off x="952500" y="4664273"/>
            <a:ext cx="10668000" cy="765720"/>
          </a:xfrm>
          <a:prstGeom prst="roundRect">
            <a:avLst>
              <a:gd name="adj" fmla="val 9951"/>
            </a:avLst>
          </a:prstGeom>
          <a:solidFill>
            <a:srgbClr val="334155"/>
          </a:solidFill>
          <a:ln w="9525" cap="flat" cmpd="sng">
            <a:solidFill>
              <a:srgbClr val="94A3B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11" name="Google Shape;211;p20"/>
          <p:cNvSpPr txBox="1"/>
          <p:nvPr/>
        </p:nvSpPr>
        <p:spPr>
          <a:xfrm>
            <a:off x="1600200" y="4825534"/>
            <a:ext cx="9734550" cy="443198"/>
          </a:xfrm>
          <a:prstGeom prst="rect">
            <a:avLst/>
          </a:prstGeom>
          <a:noFill/>
          <a:ln>
            <a:noFill/>
          </a:ln>
        </p:spPr>
        <p:txBody>
          <a:bodyPr spcFirstLastPara="1" wrap="square" lIns="0" tIns="0" rIns="0" bIns="0" anchor="ctr" anchorCtr="0">
            <a:spAutoFit/>
          </a:bodyPr>
          <a:lstStyle/>
          <a:p>
            <a:pPr marL="0" marR="0" lvl="0" indent="0" algn="l" rtl="0">
              <a:lnSpc>
                <a:spcPct val="160000"/>
              </a:lnSpc>
              <a:spcBef>
                <a:spcPts val="0"/>
              </a:spcBef>
              <a:spcAft>
                <a:spcPts val="0"/>
              </a:spcAft>
              <a:buNone/>
            </a:pPr>
            <a:r>
              <a:rPr lang="en-US" sz="1800" b="0" i="0" u="none" strike="noStrike" cap="none" dirty="0">
                <a:solidFill>
                  <a:srgbClr val="CBD5E1"/>
                </a:solidFill>
                <a:latin typeface="Inter" panose="02000503000000020004"/>
                <a:ea typeface="Inter" panose="02000503000000020004"/>
                <a:cs typeface="Inter" panose="02000503000000020004"/>
                <a:sym typeface="Inter" panose="02000503000000020004"/>
              </a:rPr>
              <a:t>C) Inheritance</a:t>
            </a:r>
            <a:endParaRPr dirty="0"/>
          </a:p>
        </p:txBody>
      </p:sp>
      <p:sp>
        <p:nvSpPr>
          <p:cNvPr id="212" name="Google Shape;212;p20"/>
          <p:cNvSpPr/>
          <p:nvPr/>
        </p:nvSpPr>
        <p:spPr>
          <a:xfrm>
            <a:off x="952500" y="5572869"/>
            <a:ext cx="10668000" cy="765720"/>
          </a:xfrm>
          <a:prstGeom prst="roundRect">
            <a:avLst>
              <a:gd name="adj" fmla="val 9951"/>
            </a:avLst>
          </a:prstGeom>
          <a:solidFill>
            <a:srgbClr val="334155"/>
          </a:solidFill>
          <a:ln w="9525" cap="flat" cmpd="sng">
            <a:solidFill>
              <a:srgbClr val="94A3B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13" name="Google Shape;213;p20"/>
          <p:cNvSpPr txBox="1"/>
          <p:nvPr/>
        </p:nvSpPr>
        <p:spPr>
          <a:xfrm>
            <a:off x="1600200" y="5734130"/>
            <a:ext cx="9734550" cy="443198"/>
          </a:xfrm>
          <a:prstGeom prst="rect">
            <a:avLst/>
          </a:prstGeom>
          <a:noFill/>
          <a:ln>
            <a:noFill/>
          </a:ln>
        </p:spPr>
        <p:txBody>
          <a:bodyPr spcFirstLastPara="1" wrap="square" lIns="0" tIns="0" rIns="0" bIns="0" anchor="ctr" anchorCtr="0">
            <a:spAutoFit/>
          </a:bodyPr>
          <a:lstStyle/>
          <a:p>
            <a:pPr marL="0" marR="0" lvl="0" indent="0" algn="l" rtl="0">
              <a:lnSpc>
                <a:spcPct val="160000"/>
              </a:lnSpc>
              <a:spcBef>
                <a:spcPts val="0"/>
              </a:spcBef>
              <a:spcAft>
                <a:spcPts val="0"/>
              </a:spcAft>
              <a:buNone/>
            </a:pPr>
            <a:r>
              <a:rPr lang="en-US" sz="1800" b="0" i="0" u="none" strike="noStrike" cap="none" dirty="0">
                <a:solidFill>
                  <a:srgbClr val="CBD5E1"/>
                </a:solidFill>
                <a:latin typeface="Inter" panose="02000503000000020004"/>
                <a:ea typeface="Inter" panose="02000503000000020004"/>
                <a:cs typeface="Inter" panose="02000503000000020004"/>
                <a:sym typeface="Inter" panose="02000503000000020004"/>
              </a:rPr>
              <a:t>D) Encapsulation</a:t>
            </a:r>
            <a:endParaRPr dirty="0"/>
          </a:p>
        </p:txBody>
      </p:sp>
      <p:sp>
        <p:nvSpPr>
          <p:cNvPr id="214" name="Google Shape;214;p20"/>
          <p:cNvSpPr/>
          <p:nvPr/>
        </p:nvSpPr>
        <p:spPr>
          <a:xfrm>
            <a:off x="952500" y="3603277"/>
            <a:ext cx="10668000" cy="9525"/>
          </a:xfrm>
          <a:prstGeom prst="rect">
            <a:avLst/>
          </a:prstGeom>
          <a:solidFill>
            <a:srgbClr val="94A3B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15" name="Google Shape;215;p20"/>
          <p:cNvSpPr/>
          <p:nvPr/>
        </p:nvSpPr>
        <p:spPr>
          <a:xfrm>
            <a:off x="952500" y="4511873"/>
            <a:ext cx="10668000" cy="9525"/>
          </a:xfrm>
          <a:prstGeom prst="rect">
            <a:avLst/>
          </a:prstGeom>
          <a:solidFill>
            <a:srgbClr val="94A3B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16" name="Google Shape;216;p20"/>
          <p:cNvSpPr/>
          <p:nvPr/>
        </p:nvSpPr>
        <p:spPr>
          <a:xfrm>
            <a:off x="952500" y="5420469"/>
            <a:ext cx="10668000" cy="9525"/>
          </a:xfrm>
          <a:prstGeom prst="rect">
            <a:avLst/>
          </a:prstGeom>
          <a:solidFill>
            <a:srgbClr val="94A3B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17" name="Google Shape;217;p20"/>
          <p:cNvSpPr/>
          <p:nvPr/>
        </p:nvSpPr>
        <p:spPr>
          <a:xfrm>
            <a:off x="952500" y="6329064"/>
            <a:ext cx="10668000" cy="9525"/>
          </a:xfrm>
          <a:prstGeom prst="rect">
            <a:avLst/>
          </a:prstGeom>
          <a:solidFill>
            <a:srgbClr val="94A3B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218" name="Google Shape;218;p20" descr="image.png"/>
          <p:cNvPicPr preferRelativeResize="0"/>
          <p:nvPr/>
        </p:nvPicPr>
        <p:blipFill rotWithShape="1">
          <a:blip r:embed="rId5"/>
          <a:srcRect/>
          <a:stretch>
            <a:fillRect/>
          </a:stretch>
        </p:blipFill>
        <p:spPr>
          <a:xfrm>
            <a:off x="1247775" y="3129855"/>
            <a:ext cx="171450" cy="200025"/>
          </a:xfrm>
          <a:prstGeom prst="rect">
            <a:avLst/>
          </a:prstGeom>
          <a:noFill/>
          <a:ln>
            <a:noFill/>
          </a:ln>
        </p:spPr>
      </p:pic>
      <p:pic>
        <p:nvPicPr>
          <p:cNvPr id="219" name="Google Shape;219;p20" descr="image.png"/>
          <p:cNvPicPr preferRelativeResize="0"/>
          <p:nvPr/>
        </p:nvPicPr>
        <p:blipFill rotWithShape="1">
          <a:blip r:embed="rId5"/>
          <a:srcRect/>
          <a:stretch>
            <a:fillRect/>
          </a:stretch>
        </p:blipFill>
        <p:spPr>
          <a:xfrm>
            <a:off x="1247775" y="4038451"/>
            <a:ext cx="171450" cy="200025"/>
          </a:xfrm>
          <a:prstGeom prst="rect">
            <a:avLst/>
          </a:prstGeom>
          <a:noFill/>
          <a:ln>
            <a:noFill/>
          </a:ln>
        </p:spPr>
      </p:pic>
      <p:pic>
        <p:nvPicPr>
          <p:cNvPr id="220" name="Google Shape;220;p20" descr="image.png"/>
          <p:cNvPicPr preferRelativeResize="0"/>
          <p:nvPr/>
        </p:nvPicPr>
        <p:blipFill rotWithShape="1">
          <a:blip r:embed="rId5"/>
          <a:srcRect/>
          <a:stretch>
            <a:fillRect/>
          </a:stretch>
        </p:blipFill>
        <p:spPr>
          <a:xfrm>
            <a:off x="1247775" y="4947046"/>
            <a:ext cx="171450" cy="200025"/>
          </a:xfrm>
          <a:prstGeom prst="rect">
            <a:avLst/>
          </a:prstGeom>
          <a:noFill/>
          <a:ln>
            <a:noFill/>
          </a:ln>
        </p:spPr>
      </p:pic>
      <p:pic>
        <p:nvPicPr>
          <p:cNvPr id="221" name="Google Shape;221;p20" descr="image.png"/>
          <p:cNvPicPr preferRelativeResize="0"/>
          <p:nvPr/>
        </p:nvPicPr>
        <p:blipFill rotWithShape="1">
          <a:blip r:embed="rId5"/>
          <a:srcRect/>
          <a:stretch>
            <a:fillRect/>
          </a:stretch>
        </p:blipFill>
        <p:spPr>
          <a:xfrm>
            <a:off x="1247775" y="5855642"/>
            <a:ext cx="171450" cy="200025"/>
          </a:xfrm>
          <a:prstGeom prst="rect">
            <a:avLst/>
          </a:prstGeom>
          <a:noFill/>
          <a:ln>
            <a:noFill/>
          </a:ln>
        </p:spPr>
      </p:pic>
      <p:sp>
        <p:nvSpPr>
          <p:cNvPr id="222" name="Google Shape;222;p20"/>
          <p:cNvSpPr txBox="1"/>
          <p:nvPr/>
        </p:nvSpPr>
        <p:spPr>
          <a:xfrm>
            <a:off x="800100" y="919311"/>
            <a:ext cx="11361420" cy="5143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00" b="1" i="0" u="none" strike="noStrike" cap="none" dirty="0">
                <a:solidFill>
                  <a:srgbClr val="38BDF8"/>
                </a:solidFill>
                <a:latin typeface="Inter" panose="02000503000000020004"/>
                <a:ea typeface="Inter" panose="02000503000000020004"/>
                <a:cs typeface="Inter" panose="02000503000000020004"/>
                <a:sym typeface="Inter" panose="02000503000000020004"/>
              </a:rPr>
              <a:t>REDUNDANT CODE</a:t>
            </a:r>
            <a:endParaRPr dirty="0"/>
          </a:p>
        </p:txBody>
      </p:sp>
      <p:sp>
        <p:nvSpPr>
          <p:cNvPr id="223" name="Google Shape;223;p20"/>
          <p:cNvSpPr/>
          <p:nvPr/>
        </p:nvSpPr>
        <p:spPr>
          <a:xfrm>
            <a:off x="571500" y="919311"/>
            <a:ext cx="76200" cy="514350"/>
          </a:xfrm>
          <a:prstGeom prst="rect">
            <a:avLst/>
          </a:prstGeom>
          <a:solidFill>
            <a:srgbClr val="38BDF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mph" presetSubtype="2" fill="hold" nodeType="clickEffect">
                                  <p:stCondLst>
                                    <p:cond delay="0"/>
                                  </p:stCondLst>
                                  <p:childTnLst>
                                    <p:animClr clrSpc="rgb" dir="cw">
                                      <p:cBhvr>
                                        <p:cTn id="6" dur="2000" fill="hold"/>
                                        <p:tgtEl>
                                          <p:spTgt spid="210"/>
                                        </p:tgtEl>
                                        <p:attrNameLst>
                                          <p:attrName>fillcolor</p:attrName>
                                        </p:attrNameLst>
                                      </p:cBhvr>
                                      <p:to>
                                        <a:srgbClr val="00B050"/>
                                      </p:to>
                                    </p:animClr>
                                    <p:set>
                                      <p:cBhvr>
                                        <p:cTn id="7" dur="2000" fill="hold"/>
                                        <p:tgtEl>
                                          <p:spTgt spid="210"/>
                                        </p:tgtEl>
                                        <p:attrNameLst>
                                          <p:attrName>fill.type</p:attrName>
                                        </p:attrNameLst>
                                      </p:cBhvr>
                                      <p:to>
                                        <p:strVal val="solid"/>
                                      </p:to>
                                    </p:set>
                                    <p:set>
                                      <p:cBhvr>
                                        <p:cTn id="8" dur="2000" fill="hold"/>
                                        <p:tgtEl>
                                          <p:spTgt spid="210"/>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pic>
        <p:nvPicPr>
          <p:cNvPr id="202" name="Google Shape;202;p20" descr="image.png"/>
          <p:cNvPicPr preferRelativeResize="0"/>
          <p:nvPr/>
        </p:nvPicPr>
        <p:blipFill rotWithShape="1">
          <a:blip r:embed="rId3"/>
          <a:srcRect/>
          <a:stretch>
            <a:fillRect/>
          </a:stretch>
        </p:blipFill>
        <p:spPr>
          <a:xfrm>
            <a:off x="0" y="0"/>
            <a:ext cx="12192000" cy="6858000"/>
          </a:xfrm>
          <a:prstGeom prst="rect">
            <a:avLst/>
          </a:prstGeom>
          <a:noFill/>
          <a:ln>
            <a:noFill/>
          </a:ln>
        </p:spPr>
      </p:pic>
      <p:pic>
        <p:nvPicPr>
          <p:cNvPr id="203" name="Google Shape;203;p20" descr="image.png"/>
          <p:cNvPicPr preferRelativeResize="0"/>
          <p:nvPr/>
        </p:nvPicPr>
        <p:blipFill rotWithShape="1">
          <a:blip r:embed="rId4"/>
          <a:srcRect/>
          <a:stretch>
            <a:fillRect/>
          </a:stretch>
        </p:blipFill>
        <p:spPr>
          <a:xfrm>
            <a:off x="571500" y="6871989"/>
            <a:ext cx="11049000" cy="838200"/>
          </a:xfrm>
          <a:prstGeom prst="rect">
            <a:avLst/>
          </a:prstGeom>
          <a:noFill/>
          <a:ln>
            <a:noFill/>
          </a:ln>
        </p:spPr>
      </p:pic>
      <p:sp>
        <p:nvSpPr>
          <p:cNvPr id="204" name="Google Shape;204;p20"/>
          <p:cNvSpPr txBox="1"/>
          <p:nvPr/>
        </p:nvSpPr>
        <p:spPr>
          <a:xfrm>
            <a:off x="571500" y="2043261"/>
            <a:ext cx="11049000" cy="443198"/>
          </a:xfrm>
          <a:prstGeom prst="rect">
            <a:avLst/>
          </a:prstGeom>
          <a:noFill/>
          <a:ln>
            <a:noFill/>
          </a:ln>
        </p:spPr>
        <p:txBody>
          <a:bodyPr spcFirstLastPara="1" wrap="square" lIns="0" tIns="0" rIns="0" bIns="0" anchor="t" anchorCtr="0">
            <a:spAutoFit/>
          </a:bodyPr>
          <a:lstStyle/>
          <a:p>
            <a:pPr lvl="0">
              <a:lnSpc>
                <a:spcPct val="160000"/>
              </a:lnSpc>
            </a:pPr>
            <a:r>
              <a:rPr lang="en-US" sz="1800" dirty="0">
                <a:solidFill>
                  <a:srgbClr val="CBD5E1"/>
                </a:solidFill>
                <a:latin typeface="Inter" panose="02000503000000020004"/>
                <a:ea typeface="Inter" panose="02000503000000020004"/>
                <a:sym typeface="Inter" panose="02000503000000020004"/>
              </a:rPr>
              <a:t>What is an abstract method in JAVA ?</a:t>
            </a:r>
            <a:endParaRPr dirty="0"/>
          </a:p>
        </p:txBody>
      </p:sp>
      <p:sp>
        <p:nvSpPr>
          <p:cNvPr id="205" name="Google Shape;205;p20"/>
          <p:cNvSpPr txBox="1"/>
          <p:nvPr/>
        </p:nvSpPr>
        <p:spPr>
          <a:xfrm>
            <a:off x="6724650" y="7129164"/>
            <a:ext cx="942975" cy="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100" b="0" i="0" u="none" strike="noStrike" cap="none">
                <a:solidFill>
                  <a:srgbClr val="FEF08A"/>
                </a:solidFill>
                <a:latin typeface="Inter Black"/>
                <a:ea typeface="Inter Black"/>
                <a:cs typeface="Inter Black"/>
                <a:sym typeface="Inter Black"/>
              </a:rPr>
              <a:t>C) final</a:t>
            </a:r>
          </a:p>
        </p:txBody>
      </p:sp>
      <p:sp>
        <p:nvSpPr>
          <p:cNvPr id="206" name="Google Shape;206;p20"/>
          <p:cNvSpPr/>
          <p:nvPr/>
        </p:nvSpPr>
        <p:spPr>
          <a:xfrm>
            <a:off x="952500" y="2847082"/>
            <a:ext cx="10668000" cy="765720"/>
          </a:xfrm>
          <a:prstGeom prst="roundRect">
            <a:avLst>
              <a:gd name="adj" fmla="val 9951"/>
            </a:avLst>
          </a:prstGeom>
          <a:solidFill>
            <a:srgbClr val="334155"/>
          </a:solidFill>
          <a:ln w="9525" cap="flat" cmpd="sng">
            <a:solidFill>
              <a:srgbClr val="94A3B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07" name="Google Shape;207;p20"/>
          <p:cNvSpPr txBox="1"/>
          <p:nvPr/>
        </p:nvSpPr>
        <p:spPr>
          <a:xfrm>
            <a:off x="1600200" y="3008343"/>
            <a:ext cx="9734550" cy="443198"/>
          </a:xfrm>
          <a:prstGeom prst="rect">
            <a:avLst/>
          </a:prstGeom>
          <a:noFill/>
          <a:ln>
            <a:noFill/>
          </a:ln>
        </p:spPr>
        <p:txBody>
          <a:bodyPr spcFirstLastPara="1" wrap="square" lIns="0" tIns="0" rIns="0" bIns="0" anchor="ctr" anchorCtr="0">
            <a:spAutoFit/>
          </a:bodyPr>
          <a:lstStyle/>
          <a:p>
            <a:pPr lvl="0">
              <a:lnSpc>
                <a:spcPct val="160000"/>
              </a:lnSpc>
            </a:pPr>
            <a:r>
              <a:rPr lang="en-US" sz="1800" b="0" i="0" u="none" strike="noStrike" cap="none" dirty="0">
                <a:solidFill>
                  <a:srgbClr val="CBD5E1"/>
                </a:solidFill>
                <a:latin typeface="Inter" panose="02000503000000020004"/>
                <a:ea typeface="Inter" panose="02000503000000020004"/>
                <a:cs typeface="Inter" panose="02000503000000020004"/>
                <a:sym typeface="Inter" panose="02000503000000020004"/>
              </a:rPr>
              <a:t>A) </a:t>
            </a:r>
            <a:r>
              <a:rPr lang="en-US" sz="1800" dirty="0">
                <a:solidFill>
                  <a:srgbClr val="CBD5E1"/>
                </a:solidFill>
                <a:latin typeface="Inter" panose="02000503000000020004"/>
                <a:ea typeface="Inter" panose="02000503000000020004"/>
                <a:cs typeface="Inter" panose="02000503000000020004"/>
                <a:sym typeface="Inter" panose="02000503000000020004"/>
              </a:rPr>
              <a:t>A function that cannot be overridden</a:t>
            </a:r>
            <a:endParaRPr dirty="0"/>
          </a:p>
        </p:txBody>
      </p:sp>
      <p:sp>
        <p:nvSpPr>
          <p:cNvPr id="208" name="Google Shape;208;p20"/>
          <p:cNvSpPr/>
          <p:nvPr/>
        </p:nvSpPr>
        <p:spPr>
          <a:xfrm>
            <a:off x="952500" y="3755677"/>
            <a:ext cx="10668000" cy="765720"/>
          </a:xfrm>
          <a:prstGeom prst="roundRect">
            <a:avLst>
              <a:gd name="adj" fmla="val 9951"/>
            </a:avLst>
          </a:prstGeom>
          <a:solidFill>
            <a:srgbClr val="334155"/>
          </a:solidFill>
          <a:ln w="9525" cap="flat" cmpd="sng">
            <a:solidFill>
              <a:srgbClr val="94A3B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09" name="Google Shape;209;p20"/>
          <p:cNvSpPr txBox="1"/>
          <p:nvPr/>
        </p:nvSpPr>
        <p:spPr>
          <a:xfrm>
            <a:off x="1600200" y="3916938"/>
            <a:ext cx="10134600" cy="443198"/>
          </a:xfrm>
          <a:prstGeom prst="rect">
            <a:avLst/>
          </a:prstGeom>
          <a:noFill/>
          <a:ln>
            <a:noFill/>
          </a:ln>
        </p:spPr>
        <p:txBody>
          <a:bodyPr spcFirstLastPara="1" wrap="square" lIns="0" tIns="0" rIns="0" bIns="0" anchor="ctr" anchorCtr="0">
            <a:spAutoFit/>
          </a:bodyPr>
          <a:lstStyle/>
          <a:p>
            <a:pPr lvl="0">
              <a:lnSpc>
                <a:spcPct val="160000"/>
              </a:lnSpc>
            </a:pPr>
            <a:r>
              <a:rPr lang="en-US" sz="1800" b="0" i="0" u="none" strike="noStrike" cap="none" dirty="0">
                <a:solidFill>
                  <a:srgbClr val="CBD5E1"/>
                </a:solidFill>
                <a:latin typeface="Inter" panose="02000503000000020004"/>
                <a:ea typeface="Inter" panose="02000503000000020004"/>
                <a:cs typeface="Inter" panose="02000503000000020004"/>
                <a:sym typeface="Inter" panose="02000503000000020004"/>
              </a:rPr>
              <a:t>B) </a:t>
            </a:r>
            <a:r>
              <a:rPr lang="en-US" sz="1800" dirty="0">
                <a:solidFill>
                  <a:srgbClr val="CBD5E1"/>
                </a:solidFill>
                <a:latin typeface="Inter" panose="02000503000000020004"/>
                <a:ea typeface="Inter" panose="02000503000000020004"/>
                <a:cs typeface="Inter" panose="02000503000000020004"/>
                <a:sym typeface="Inter" panose="02000503000000020004"/>
              </a:rPr>
              <a:t>A function with no implementation in the base class, forcing derived classes to implement</a:t>
            </a:r>
            <a:endParaRPr dirty="0"/>
          </a:p>
        </p:txBody>
      </p:sp>
      <p:sp>
        <p:nvSpPr>
          <p:cNvPr id="210" name="Google Shape;210;p20"/>
          <p:cNvSpPr/>
          <p:nvPr/>
        </p:nvSpPr>
        <p:spPr>
          <a:xfrm>
            <a:off x="952500" y="4664273"/>
            <a:ext cx="10668000" cy="765720"/>
          </a:xfrm>
          <a:prstGeom prst="roundRect">
            <a:avLst>
              <a:gd name="adj" fmla="val 9951"/>
            </a:avLst>
          </a:prstGeom>
          <a:solidFill>
            <a:srgbClr val="334155"/>
          </a:solidFill>
          <a:ln w="9525" cap="flat" cmpd="sng">
            <a:solidFill>
              <a:srgbClr val="94A3B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11" name="Google Shape;211;p20"/>
          <p:cNvSpPr txBox="1"/>
          <p:nvPr/>
        </p:nvSpPr>
        <p:spPr>
          <a:xfrm>
            <a:off x="1600200" y="4825534"/>
            <a:ext cx="9734550" cy="443198"/>
          </a:xfrm>
          <a:prstGeom prst="rect">
            <a:avLst/>
          </a:prstGeom>
          <a:noFill/>
          <a:ln>
            <a:noFill/>
          </a:ln>
        </p:spPr>
        <p:txBody>
          <a:bodyPr spcFirstLastPara="1" wrap="square" lIns="0" tIns="0" rIns="0" bIns="0" anchor="ctr" anchorCtr="0">
            <a:spAutoFit/>
          </a:bodyPr>
          <a:lstStyle/>
          <a:p>
            <a:pPr lvl="0">
              <a:lnSpc>
                <a:spcPct val="160000"/>
              </a:lnSpc>
            </a:pPr>
            <a:r>
              <a:rPr lang="en-US" sz="1800" b="0" i="0" u="none" strike="noStrike" cap="none" dirty="0">
                <a:solidFill>
                  <a:srgbClr val="CBD5E1"/>
                </a:solidFill>
                <a:latin typeface="Inter" panose="02000503000000020004"/>
                <a:ea typeface="Inter" panose="02000503000000020004"/>
                <a:cs typeface="Inter" panose="02000503000000020004"/>
                <a:sym typeface="Inter" panose="02000503000000020004"/>
              </a:rPr>
              <a:t>C) </a:t>
            </a:r>
            <a:r>
              <a:rPr lang="en-US" sz="1800" dirty="0">
                <a:solidFill>
                  <a:srgbClr val="CBD5E1"/>
                </a:solidFill>
                <a:latin typeface="Inter" panose="02000503000000020004"/>
                <a:ea typeface="Inter" panose="02000503000000020004"/>
                <a:cs typeface="Inter" panose="02000503000000020004"/>
                <a:sym typeface="Inter" panose="02000503000000020004"/>
              </a:rPr>
              <a:t>A function that can only access private data members</a:t>
            </a:r>
            <a:endParaRPr dirty="0"/>
          </a:p>
        </p:txBody>
      </p:sp>
      <p:sp>
        <p:nvSpPr>
          <p:cNvPr id="212" name="Google Shape;212;p20"/>
          <p:cNvSpPr/>
          <p:nvPr/>
        </p:nvSpPr>
        <p:spPr>
          <a:xfrm>
            <a:off x="952500" y="5572869"/>
            <a:ext cx="10668000" cy="765720"/>
          </a:xfrm>
          <a:prstGeom prst="roundRect">
            <a:avLst>
              <a:gd name="adj" fmla="val 9951"/>
            </a:avLst>
          </a:prstGeom>
          <a:solidFill>
            <a:srgbClr val="334155"/>
          </a:solidFill>
          <a:ln w="9525" cap="flat" cmpd="sng">
            <a:solidFill>
              <a:srgbClr val="94A3B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13" name="Google Shape;213;p20"/>
          <p:cNvSpPr txBox="1"/>
          <p:nvPr/>
        </p:nvSpPr>
        <p:spPr>
          <a:xfrm>
            <a:off x="1600200" y="5734130"/>
            <a:ext cx="9734550" cy="443198"/>
          </a:xfrm>
          <a:prstGeom prst="rect">
            <a:avLst/>
          </a:prstGeom>
          <a:noFill/>
          <a:ln>
            <a:noFill/>
          </a:ln>
        </p:spPr>
        <p:txBody>
          <a:bodyPr spcFirstLastPara="1" wrap="square" lIns="0" tIns="0" rIns="0" bIns="0" anchor="ctr" anchorCtr="0">
            <a:spAutoFit/>
          </a:bodyPr>
          <a:lstStyle/>
          <a:p>
            <a:pPr lvl="0">
              <a:lnSpc>
                <a:spcPct val="160000"/>
              </a:lnSpc>
            </a:pPr>
            <a:r>
              <a:rPr lang="en-US" sz="1800" b="0" i="0" u="none" strike="noStrike" cap="none" dirty="0">
                <a:solidFill>
                  <a:srgbClr val="CBD5E1"/>
                </a:solidFill>
                <a:latin typeface="Inter" panose="02000503000000020004"/>
                <a:ea typeface="Inter" panose="02000503000000020004"/>
                <a:cs typeface="Inter" panose="02000503000000020004"/>
                <a:sym typeface="Inter" panose="02000503000000020004"/>
              </a:rPr>
              <a:t>D) </a:t>
            </a:r>
            <a:r>
              <a:rPr lang="en-US" sz="1800" dirty="0">
                <a:solidFill>
                  <a:srgbClr val="CBD5E1"/>
                </a:solidFill>
                <a:latin typeface="Inter" panose="02000503000000020004"/>
                <a:ea typeface="Inter" panose="02000503000000020004"/>
                <a:cs typeface="Inter" panose="02000503000000020004"/>
                <a:sym typeface="Inter" panose="02000503000000020004"/>
              </a:rPr>
              <a:t>A function that belongs to a class rather than an object instance</a:t>
            </a:r>
            <a:endParaRPr dirty="0"/>
          </a:p>
        </p:txBody>
      </p:sp>
      <p:sp>
        <p:nvSpPr>
          <p:cNvPr id="214" name="Google Shape;214;p20"/>
          <p:cNvSpPr/>
          <p:nvPr/>
        </p:nvSpPr>
        <p:spPr>
          <a:xfrm>
            <a:off x="952500" y="3603277"/>
            <a:ext cx="10668000" cy="9525"/>
          </a:xfrm>
          <a:prstGeom prst="rect">
            <a:avLst/>
          </a:prstGeom>
          <a:solidFill>
            <a:srgbClr val="94A3B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15" name="Google Shape;215;p20"/>
          <p:cNvSpPr/>
          <p:nvPr/>
        </p:nvSpPr>
        <p:spPr>
          <a:xfrm>
            <a:off x="952500" y="4511873"/>
            <a:ext cx="10668000" cy="9525"/>
          </a:xfrm>
          <a:prstGeom prst="rect">
            <a:avLst/>
          </a:prstGeom>
          <a:solidFill>
            <a:srgbClr val="94A3B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16" name="Google Shape;216;p20"/>
          <p:cNvSpPr/>
          <p:nvPr/>
        </p:nvSpPr>
        <p:spPr>
          <a:xfrm>
            <a:off x="952500" y="5420469"/>
            <a:ext cx="10668000" cy="9525"/>
          </a:xfrm>
          <a:prstGeom prst="rect">
            <a:avLst/>
          </a:prstGeom>
          <a:solidFill>
            <a:srgbClr val="94A3B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17" name="Google Shape;217;p20"/>
          <p:cNvSpPr/>
          <p:nvPr/>
        </p:nvSpPr>
        <p:spPr>
          <a:xfrm>
            <a:off x="952500" y="6329064"/>
            <a:ext cx="10668000" cy="9525"/>
          </a:xfrm>
          <a:prstGeom prst="rect">
            <a:avLst/>
          </a:prstGeom>
          <a:solidFill>
            <a:srgbClr val="94A3B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218" name="Google Shape;218;p20" descr="image.png"/>
          <p:cNvPicPr preferRelativeResize="0"/>
          <p:nvPr/>
        </p:nvPicPr>
        <p:blipFill rotWithShape="1">
          <a:blip r:embed="rId5"/>
          <a:srcRect/>
          <a:stretch>
            <a:fillRect/>
          </a:stretch>
        </p:blipFill>
        <p:spPr>
          <a:xfrm>
            <a:off x="1247775" y="3129855"/>
            <a:ext cx="171450" cy="200025"/>
          </a:xfrm>
          <a:prstGeom prst="rect">
            <a:avLst/>
          </a:prstGeom>
          <a:noFill/>
          <a:ln>
            <a:noFill/>
          </a:ln>
        </p:spPr>
      </p:pic>
      <p:pic>
        <p:nvPicPr>
          <p:cNvPr id="219" name="Google Shape;219;p20" descr="image.png"/>
          <p:cNvPicPr preferRelativeResize="0"/>
          <p:nvPr/>
        </p:nvPicPr>
        <p:blipFill rotWithShape="1">
          <a:blip r:embed="rId5"/>
          <a:srcRect/>
          <a:stretch>
            <a:fillRect/>
          </a:stretch>
        </p:blipFill>
        <p:spPr>
          <a:xfrm>
            <a:off x="1247775" y="4038451"/>
            <a:ext cx="171450" cy="200025"/>
          </a:xfrm>
          <a:prstGeom prst="rect">
            <a:avLst/>
          </a:prstGeom>
          <a:noFill/>
          <a:ln>
            <a:noFill/>
          </a:ln>
        </p:spPr>
      </p:pic>
      <p:pic>
        <p:nvPicPr>
          <p:cNvPr id="220" name="Google Shape;220;p20" descr="image.png"/>
          <p:cNvPicPr preferRelativeResize="0"/>
          <p:nvPr/>
        </p:nvPicPr>
        <p:blipFill rotWithShape="1">
          <a:blip r:embed="rId5"/>
          <a:srcRect/>
          <a:stretch>
            <a:fillRect/>
          </a:stretch>
        </p:blipFill>
        <p:spPr>
          <a:xfrm>
            <a:off x="1247775" y="4947046"/>
            <a:ext cx="171450" cy="200025"/>
          </a:xfrm>
          <a:prstGeom prst="rect">
            <a:avLst/>
          </a:prstGeom>
          <a:noFill/>
          <a:ln>
            <a:noFill/>
          </a:ln>
        </p:spPr>
      </p:pic>
      <p:pic>
        <p:nvPicPr>
          <p:cNvPr id="221" name="Google Shape;221;p20" descr="image.png"/>
          <p:cNvPicPr preferRelativeResize="0"/>
          <p:nvPr/>
        </p:nvPicPr>
        <p:blipFill rotWithShape="1">
          <a:blip r:embed="rId5"/>
          <a:srcRect/>
          <a:stretch>
            <a:fillRect/>
          </a:stretch>
        </p:blipFill>
        <p:spPr>
          <a:xfrm>
            <a:off x="1247775" y="5855642"/>
            <a:ext cx="171450" cy="200025"/>
          </a:xfrm>
          <a:prstGeom prst="rect">
            <a:avLst/>
          </a:prstGeom>
          <a:noFill/>
          <a:ln>
            <a:noFill/>
          </a:ln>
        </p:spPr>
      </p:pic>
      <p:sp>
        <p:nvSpPr>
          <p:cNvPr id="222" name="Google Shape;222;p20"/>
          <p:cNvSpPr txBox="1"/>
          <p:nvPr/>
        </p:nvSpPr>
        <p:spPr>
          <a:xfrm>
            <a:off x="800100" y="919311"/>
            <a:ext cx="11361420" cy="5143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00" b="1" i="0" u="none" strike="noStrike" cap="none" dirty="0">
                <a:solidFill>
                  <a:srgbClr val="38BDF8"/>
                </a:solidFill>
                <a:latin typeface="Inter" panose="02000503000000020004"/>
                <a:ea typeface="Inter" panose="02000503000000020004"/>
                <a:cs typeface="Inter" panose="02000503000000020004"/>
                <a:sym typeface="Inter" panose="02000503000000020004"/>
              </a:rPr>
              <a:t>ABSTRACT METHOD</a:t>
            </a:r>
            <a:endParaRPr dirty="0"/>
          </a:p>
        </p:txBody>
      </p:sp>
      <p:sp>
        <p:nvSpPr>
          <p:cNvPr id="223" name="Google Shape;223;p20"/>
          <p:cNvSpPr/>
          <p:nvPr/>
        </p:nvSpPr>
        <p:spPr>
          <a:xfrm>
            <a:off x="571500" y="919311"/>
            <a:ext cx="76200" cy="514350"/>
          </a:xfrm>
          <a:prstGeom prst="rect">
            <a:avLst/>
          </a:prstGeom>
          <a:solidFill>
            <a:srgbClr val="38BDF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mph" presetSubtype="2" fill="hold" nodeType="clickEffect">
                                  <p:stCondLst>
                                    <p:cond delay="0"/>
                                  </p:stCondLst>
                                  <p:childTnLst>
                                    <p:animClr clrSpc="rgb" dir="cw">
                                      <p:cBhvr>
                                        <p:cTn id="6" dur="2000" fill="hold"/>
                                        <p:tgtEl>
                                          <p:spTgt spid="208"/>
                                        </p:tgtEl>
                                        <p:attrNameLst>
                                          <p:attrName>fillcolor</p:attrName>
                                        </p:attrNameLst>
                                      </p:cBhvr>
                                      <p:to>
                                        <a:srgbClr val="00B050"/>
                                      </p:to>
                                    </p:animClr>
                                    <p:set>
                                      <p:cBhvr>
                                        <p:cTn id="7" dur="2000" fill="hold"/>
                                        <p:tgtEl>
                                          <p:spTgt spid="208"/>
                                        </p:tgtEl>
                                        <p:attrNameLst>
                                          <p:attrName>fill.type</p:attrName>
                                        </p:attrNameLst>
                                      </p:cBhvr>
                                      <p:to>
                                        <p:strVal val="solid"/>
                                      </p:to>
                                    </p:set>
                                    <p:set>
                                      <p:cBhvr>
                                        <p:cTn id="8" dur="2000" fill="hold"/>
                                        <p:tgtEl>
                                          <p:spTgt spid="208"/>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pic>
        <p:nvPicPr>
          <p:cNvPr id="202" name="Google Shape;202;p20" descr="image.png"/>
          <p:cNvPicPr preferRelativeResize="0"/>
          <p:nvPr/>
        </p:nvPicPr>
        <p:blipFill rotWithShape="1">
          <a:blip r:embed="rId3"/>
          <a:srcRect/>
          <a:stretch>
            <a:fillRect/>
          </a:stretch>
        </p:blipFill>
        <p:spPr>
          <a:xfrm>
            <a:off x="0" y="0"/>
            <a:ext cx="12192000" cy="6858000"/>
          </a:xfrm>
          <a:prstGeom prst="rect">
            <a:avLst/>
          </a:prstGeom>
          <a:noFill/>
          <a:ln>
            <a:noFill/>
          </a:ln>
        </p:spPr>
      </p:pic>
      <p:pic>
        <p:nvPicPr>
          <p:cNvPr id="203" name="Google Shape;203;p20" descr="image.png"/>
          <p:cNvPicPr preferRelativeResize="0"/>
          <p:nvPr/>
        </p:nvPicPr>
        <p:blipFill rotWithShape="1">
          <a:blip r:embed="rId4"/>
          <a:srcRect/>
          <a:stretch>
            <a:fillRect/>
          </a:stretch>
        </p:blipFill>
        <p:spPr>
          <a:xfrm>
            <a:off x="571500" y="6871989"/>
            <a:ext cx="11049000" cy="838200"/>
          </a:xfrm>
          <a:prstGeom prst="rect">
            <a:avLst/>
          </a:prstGeom>
          <a:noFill/>
          <a:ln>
            <a:noFill/>
          </a:ln>
        </p:spPr>
      </p:pic>
      <p:sp>
        <p:nvSpPr>
          <p:cNvPr id="204" name="Google Shape;204;p20"/>
          <p:cNvSpPr txBox="1"/>
          <p:nvPr/>
        </p:nvSpPr>
        <p:spPr>
          <a:xfrm>
            <a:off x="571500" y="2043261"/>
            <a:ext cx="11049000" cy="36567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800" b="0" i="0" u="none" strike="noStrike" cap="none">
                <a:solidFill>
                  <a:srgbClr val="CBD5E1"/>
                </a:solidFill>
                <a:latin typeface="Inter" panose="02000503000000020004"/>
                <a:ea typeface="Inter" panose="02000503000000020004"/>
                <a:cs typeface="Inter" panose="02000503000000020004"/>
                <a:sym typeface="Inter" panose="02000503000000020004"/>
              </a:rPr>
              <a:t>Which keyword prevents a method from being overridden in Java?</a:t>
            </a:r>
          </a:p>
        </p:txBody>
      </p:sp>
      <p:sp>
        <p:nvSpPr>
          <p:cNvPr id="205" name="Google Shape;205;p20"/>
          <p:cNvSpPr txBox="1"/>
          <p:nvPr/>
        </p:nvSpPr>
        <p:spPr>
          <a:xfrm>
            <a:off x="6724650" y="7129164"/>
            <a:ext cx="942975" cy="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100" b="0" i="0" u="none" strike="noStrike" cap="none">
                <a:solidFill>
                  <a:srgbClr val="FEF08A"/>
                </a:solidFill>
                <a:latin typeface="Inter Black"/>
                <a:ea typeface="Inter Black"/>
                <a:cs typeface="Inter Black"/>
                <a:sym typeface="Inter Black"/>
              </a:rPr>
              <a:t>C) final</a:t>
            </a:r>
          </a:p>
        </p:txBody>
      </p:sp>
      <p:sp>
        <p:nvSpPr>
          <p:cNvPr id="206" name="Google Shape;206;p20"/>
          <p:cNvSpPr/>
          <p:nvPr/>
        </p:nvSpPr>
        <p:spPr>
          <a:xfrm>
            <a:off x="952500" y="2847082"/>
            <a:ext cx="10668000" cy="765720"/>
          </a:xfrm>
          <a:prstGeom prst="roundRect">
            <a:avLst>
              <a:gd name="adj" fmla="val 9951"/>
            </a:avLst>
          </a:prstGeom>
          <a:solidFill>
            <a:srgbClr val="334155"/>
          </a:solidFill>
          <a:ln w="9525" cap="flat" cmpd="sng">
            <a:solidFill>
              <a:srgbClr val="94A3B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07" name="Google Shape;207;p20"/>
          <p:cNvSpPr txBox="1"/>
          <p:nvPr/>
        </p:nvSpPr>
        <p:spPr>
          <a:xfrm>
            <a:off x="1600200" y="3037582"/>
            <a:ext cx="9734550" cy="384720"/>
          </a:xfrm>
          <a:prstGeom prst="rect">
            <a:avLst/>
          </a:prstGeom>
          <a:noFill/>
          <a:ln>
            <a:noFill/>
          </a:ln>
        </p:spPr>
        <p:txBody>
          <a:bodyPr spcFirstLastPara="1" wrap="square" lIns="0" tIns="0" rIns="0" bIns="0" anchor="ctr" anchorCtr="0">
            <a:spAutoFit/>
          </a:bodyPr>
          <a:lstStyle/>
          <a:p>
            <a:pPr marL="0" marR="0" lvl="0" indent="0" algn="l" rtl="0">
              <a:lnSpc>
                <a:spcPct val="160000"/>
              </a:lnSpc>
              <a:spcBef>
                <a:spcPts val="0"/>
              </a:spcBef>
              <a:spcAft>
                <a:spcPts val="0"/>
              </a:spcAft>
              <a:buNone/>
            </a:pPr>
            <a:r>
              <a:rPr lang="en-US" sz="1800" b="0" i="0" u="none" strike="noStrike" cap="none">
                <a:solidFill>
                  <a:srgbClr val="CBD5E1"/>
                </a:solidFill>
                <a:latin typeface="Inter" panose="02000503000000020004"/>
                <a:ea typeface="Inter" panose="02000503000000020004"/>
                <a:cs typeface="Inter" panose="02000503000000020004"/>
                <a:sym typeface="Inter" panose="02000503000000020004"/>
              </a:rPr>
              <a:t>A) static</a:t>
            </a:r>
          </a:p>
        </p:txBody>
      </p:sp>
      <p:sp>
        <p:nvSpPr>
          <p:cNvPr id="208" name="Google Shape;208;p20"/>
          <p:cNvSpPr/>
          <p:nvPr/>
        </p:nvSpPr>
        <p:spPr>
          <a:xfrm>
            <a:off x="952500" y="3755677"/>
            <a:ext cx="10668000" cy="765720"/>
          </a:xfrm>
          <a:prstGeom prst="roundRect">
            <a:avLst>
              <a:gd name="adj" fmla="val 9951"/>
            </a:avLst>
          </a:prstGeom>
          <a:solidFill>
            <a:srgbClr val="334155"/>
          </a:solidFill>
          <a:ln w="9525" cap="flat" cmpd="sng">
            <a:solidFill>
              <a:srgbClr val="94A3B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09" name="Google Shape;209;p20"/>
          <p:cNvSpPr txBox="1"/>
          <p:nvPr/>
        </p:nvSpPr>
        <p:spPr>
          <a:xfrm>
            <a:off x="1600200" y="3946177"/>
            <a:ext cx="9734550" cy="384720"/>
          </a:xfrm>
          <a:prstGeom prst="rect">
            <a:avLst/>
          </a:prstGeom>
          <a:noFill/>
          <a:ln>
            <a:noFill/>
          </a:ln>
        </p:spPr>
        <p:txBody>
          <a:bodyPr spcFirstLastPara="1" wrap="square" lIns="0" tIns="0" rIns="0" bIns="0" anchor="ctr" anchorCtr="0">
            <a:spAutoFit/>
          </a:bodyPr>
          <a:lstStyle/>
          <a:p>
            <a:pPr marL="0" marR="0" lvl="0" indent="0" algn="l" rtl="0">
              <a:lnSpc>
                <a:spcPct val="160000"/>
              </a:lnSpc>
              <a:spcBef>
                <a:spcPts val="0"/>
              </a:spcBef>
              <a:spcAft>
                <a:spcPts val="0"/>
              </a:spcAft>
              <a:buNone/>
            </a:pPr>
            <a:r>
              <a:rPr lang="en-US" sz="1800" b="0" i="0" u="none" strike="noStrike" cap="none">
                <a:solidFill>
                  <a:srgbClr val="CBD5E1"/>
                </a:solidFill>
                <a:latin typeface="Inter" panose="02000503000000020004"/>
                <a:ea typeface="Inter" panose="02000503000000020004"/>
                <a:cs typeface="Inter" panose="02000503000000020004"/>
                <a:sym typeface="Inter" panose="02000503000000020004"/>
              </a:rPr>
              <a:t>B) private</a:t>
            </a:r>
          </a:p>
        </p:txBody>
      </p:sp>
      <p:sp>
        <p:nvSpPr>
          <p:cNvPr id="210" name="Google Shape;210;p20"/>
          <p:cNvSpPr/>
          <p:nvPr/>
        </p:nvSpPr>
        <p:spPr>
          <a:xfrm>
            <a:off x="952500" y="4664273"/>
            <a:ext cx="10668000" cy="765720"/>
          </a:xfrm>
          <a:prstGeom prst="roundRect">
            <a:avLst>
              <a:gd name="adj" fmla="val 9951"/>
            </a:avLst>
          </a:prstGeom>
          <a:solidFill>
            <a:srgbClr val="334155"/>
          </a:solidFill>
          <a:ln w="9525" cap="flat" cmpd="sng">
            <a:solidFill>
              <a:srgbClr val="94A3B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11" name="Google Shape;211;p20"/>
          <p:cNvSpPr txBox="1"/>
          <p:nvPr/>
        </p:nvSpPr>
        <p:spPr>
          <a:xfrm>
            <a:off x="1600200" y="4854773"/>
            <a:ext cx="9734550" cy="384720"/>
          </a:xfrm>
          <a:prstGeom prst="rect">
            <a:avLst/>
          </a:prstGeom>
          <a:noFill/>
          <a:ln>
            <a:noFill/>
          </a:ln>
        </p:spPr>
        <p:txBody>
          <a:bodyPr spcFirstLastPara="1" wrap="square" lIns="0" tIns="0" rIns="0" bIns="0" anchor="ctr" anchorCtr="0">
            <a:spAutoFit/>
          </a:bodyPr>
          <a:lstStyle/>
          <a:p>
            <a:pPr marL="0" marR="0" lvl="0" indent="0" algn="l" rtl="0">
              <a:lnSpc>
                <a:spcPct val="160000"/>
              </a:lnSpc>
              <a:spcBef>
                <a:spcPts val="0"/>
              </a:spcBef>
              <a:spcAft>
                <a:spcPts val="0"/>
              </a:spcAft>
              <a:buNone/>
            </a:pPr>
            <a:r>
              <a:rPr lang="en-US" sz="1800" b="0" i="0" u="none" strike="noStrike" cap="none">
                <a:solidFill>
                  <a:srgbClr val="CBD5E1"/>
                </a:solidFill>
                <a:latin typeface="Inter" panose="02000503000000020004"/>
                <a:ea typeface="Inter" panose="02000503000000020004"/>
                <a:cs typeface="Inter" panose="02000503000000020004"/>
                <a:sym typeface="Inter" panose="02000503000000020004"/>
              </a:rPr>
              <a:t>C) final</a:t>
            </a:r>
          </a:p>
        </p:txBody>
      </p:sp>
      <p:sp>
        <p:nvSpPr>
          <p:cNvPr id="212" name="Google Shape;212;p20"/>
          <p:cNvSpPr/>
          <p:nvPr/>
        </p:nvSpPr>
        <p:spPr>
          <a:xfrm>
            <a:off x="952500" y="5572869"/>
            <a:ext cx="10668000" cy="765720"/>
          </a:xfrm>
          <a:prstGeom prst="roundRect">
            <a:avLst>
              <a:gd name="adj" fmla="val 9951"/>
            </a:avLst>
          </a:prstGeom>
          <a:solidFill>
            <a:srgbClr val="334155"/>
          </a:solidFill>
          <a:ln w="9525" cap="flat" cmpd="sng">
            <a:solidFill>
              <a:srgbClr val="94A3B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13" name="Google Shape;213;p20"/>
          <p:cNvSpPr txBox="1"/>
          <p:nvPr/>
        </p:nvSpPr>
        <p:spPr>
          <a:xfrm>
            <a:off x="1600200" y="5763369"/>
            <a:ext cx="9734550" cy="384720"/>
          </a:xfrm>
          <a:prstGeom prst="rect">
            <a:avLst/>
          </a:prstGeom>
          <a:noFill/>
          <a:ln>
            <a:noFill/>
          </a:ln>
        </p:spPr>
        <p:txBody>
          <a:bodyPr spcFirstLastPara="1" wrap="square" lIns="0" tIns="0" rIns="0" bIns="0" anchor="ctr" anchorCtr="0">
            <a:spAutoFit/>
          </a:bodyPr>
          <a:lstStyle/>
          <a:p>
            <a:pPr marL="0" marR="0" lvl="0" indent="0" algn="l" rtl="0">
              <a:lnSpc>
                <a:spcPct val="160000"/>
              </a:lnSpc>
              <a:spcBef>
                <a:spcPts val="0"/>
              </a:spcBef>
              <a:spcAft>
                <a:spcPts val="0"/>
              </a:spcAft>
              <a:buNone/>
            </a:pPr>
            <a:r>
              <a:rPr lang="en-US" sz="1800" b="0" i="0" u="none" strike="noStrike" cap="none">
                <a:solidFill>
                  <a:srgbClr val="CBD5E1"/>
                </a:solidFill>
                <a:latin typeface="Inter" panose="02000503000000020004"/>
                <a:ea typeface="Inter" panose="02000503000000020004"/>
                <a:cs typeface="Inter" panose="02000503000000020004"/>
                <a:sym typeface="Inter" panose="02000503000000020004"/>
              </a:rPr>
              <a:t>D) public</a:t>
            </a:r>
          </a:p>
        </p:txBody>
      </p:sp>
      <p:sp>
        <p:nvSpPr>
          <p:cNvPr id="214" name="Google Shape;214;p20"/>
          <p:cNvSpPr/>
          <p:nvPr/>
        </p:nvSpPr>
        <p:spPr>
          <a:xfrm>
            <a:off x="952500" y="3603277"/>
            <a:ext cx="10668000" cy="9525"/>
          </a:xfrm>
          <a:prstGeom prst="rect">
            <a:avLst/>
          </a:prstGeom>
          <a:solidFill>
            <a:srgbClr val="94A3B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15" name="Google Shape;215;p20"/>
          <p:cNvSpPr/>
          <p:nvPr/>
        </p:nvSpPr>
        <p:spPr>
          <a:xfrm>
            <a:off x="952500" y="4511873"/>
            <a:ext cx="10668000" cy="9525"/>
          </a:xfrm>
          <a:prstGeom prst="rect">
            <a:avLst/>
          </a:prstGeom>
          <a:solidFill>
            <a:srgbClr val="94A3B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16" name="Google Shape;216;p20"/>
          <p:cNvSpPr/>
          <p:nvPr/>
        </p:nvSpPr>
        <p:spPr>
          <a:xfrm>
            <a:off x="952500" y="5420469"/>
            <a:ext cx="10668000" cy="9525"/>
          </a:xfrm>
          <a:prstGeom prst="rect">
            <a:avLst/>
          </a:prstGeom>
          <a:solidFill>
            <a:srgbClr val="94A3B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17" name="Google Shape;217;p20"/>
          <p:cNvSpPr/>
          <p:nvPr/>
        </p:nvSpPr>
        <p:spPr>
          <a:xfrm>
            <a:off x="952500" y="6329064"/>
            <a:ext cx="10668000" cy="9525"/>
          </a:xfrm>
          <a:prstGeom prst="rect">
            <a:avLst/>
          </a:prstGeom>
          <a:solidFill>
            <a:srgbClr val="94A3B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218" name="Google Shape;218;p20" descr="image.png"/>
          <p:cNvPicPr preferRelativeResize="0"/>
          <p:nvPr/>
        </p:nvPicPr>
        <p:blipFill rotWithShape="1">
          <a:blip r:embed="rId5"/>
          <a:srcRect/>
          <a:stretch>
            <a:fillRect/>
          </a:stretch>
        </p:blipFill>
        <p:spPr>
          <a:xfrm>
            <a:off x="1247775" y="3129855"/>
            <a:ext cx="171450" cy="200025"/>
          </a:xfrm>
          <a:prstGeom prst="rect">
            <a:avLst/>
          </a:prstGeom>
          <a:noFill/>
          <a:ln>
            <a:noFill/>
          </a:ln>
        </p:spPr>
      </p:pic>
      <p:pic>
        <p:nvPicPr>
          <p:cNvPr id="219" name="Google Shape;219;p20" descr="image.png"/>
          <p:cNvPicPr preferRelativeResize="0"/>
          <p:nvPr/>
        </p:nvPicPr>
        <p:blipFill rotWithShape="1">
          <a:blip r:embed="rId5"/>
          <a:srcRect/>
          <a:stretch>
            <a:fillRect/>
          </a:stretch>
        </p:blipFill>
        <p:spPr>
          <a:xfrm>
            <a:off x="1247775" y="4038451"/>
            <a:ext cx="171450" cy="200025"/>
          </a:xfrm>
          <a:prstGeom prst="rect">
            <a:avLst/>
          </a:prstGeom>
          <a:noFill/>
          <a:ln>
            <a:noFill/>
          </a:ln>
        </p:spPr>
      </p:pic>
      <p:pic>
        <p:nvPicPr>
          <p:cNvPr id="220" name="Google Shape;220;p20" descr="image.png"/>
          <p:cNvPicPr preferRelativeResize="0"/>
          <p:nvPr/>
        </p:nvPicPr>
        <p:blipFill rotWithShape="1">
          <a:blip r:embed="rId5"/>
          <a:srcRect/>
          <a:stretch>
            <a:fillRect/>
          </a:stretch>
        </p:blipFill>
        <p:spPr>
          <a:xfrm>
            <a:off x="1247775" y="4947046"/>
            <a:ext cx="171450" cy="200025"/>
          </a:xfrm>
          <a:prstGeom prst="rect">
            <a:avLst/>
          </a:prstGeom>
          <a:noFill/>
          <a:ln>
            <a:noFill/>
          </a:ln>
        </p:spPr>
      </p:pic>
      <p:pic>
        <p:nvPicPr>
          <p:cNvPr id="221" name="Google Shape;221;p20" descr="image.png"/>
          <p:cNvPicPr preferRelativeResize="0"/>
          <p:nvPr/>
        </p:nvPicPr>
        <p:blipFill rotWithShape="1">
          <a:blip r:embed="rId5"/>
          <a:srcRect/>
          <a:stretch>
            <a:fillRect/>
          </a:stretch>
        </p:blipFill>
        <p:spPr>
          <a:xfrm>
            <a:off x="1247775" y="5855642"/>
            <a:ext cx="171450" cy="200025"/>
          </a:xfrm>
          <a:prstGeom prst="rect">
            <a:avLst/>
          </a:prstGeom>
          <a:noFill/>
          <a:ln>
            <a:noFill/>
          </a:ln>
        </p:spPr>
      </p:pic>
      <p:sp>
        <p:nvSpPr>
          <p:cNvPr id="222" name="Google Shape;222;p20"/>
          <p:cNvSpPr txBox="1"/>
          <p:nvPr/>
        </p:nvSpPr>
        <p:spPr>
          <a:xfrm>
            <a:off x="800100" y="919311"/>
            <a:ext cx="11361420" cy="5143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00" b="1" i="0" u="none" strike="noStrike" cap="none">
                <a:solidFill>
                  <a:srgbClr val="38BDF8"/>
                </a:solidFill>
                <a:latin typeface="Inter" panose="02000503000000020004"/>
                <a:ea typeface="Inter" panose="02000503000000020004"/>
                <a:cs typeface="Inter" panose="02000503000000020004"/>
                <a:sym typeface="Inter" panose="02000503000000020004"/>
              </a:rPr>
              <a:t>JAVA KEYWORDS</a:t>
            </a:r>
          </a:p>
        </p:txBody>
      </p:sp>
      <p:sp>
        <p:nvSpPr>
          <p:cNvPr id="223" name="Google Shape;223;p20"/>
          <p:cNvSpPr/>
          <p:nvPr/>
        </p:nvSpPr>
        <p:spPr>
          <a:xfrm>
            <a:off x="571500" y="919311"/>
            <a:ext cx="76200" cy="514350"/>
          </a:xfrm>
          <a:prstGeom prst="rect">
            <a:avLst/>
          </a:prstGeom>
          <a:solidFill>
            <a:srgbClr val="38BDF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mph" presetSubtype="2" fill="hold" nodeType="clickEffect">
                                  <p:stCondLst>
                                    <p:cond delay="0"/>
                                  </p:stCondLst>
                                  <p:childTnLst>
                                    <p:animClr clrSpc="rgb" dir="cw">
                                      <p:cBhvr>
                                        <p:cTn id="6" dur="2000" fill="hold"/>
                                        <p:tgtEl>
                                          <p:spTgt spid="210"/>
                                        </p:tgtEl>
                                        <p:attrNameLst>
                                          <p:attrName>fillcolor</p:attrName>
                                        </p:attrNameLst>
                                      </p:cBhvr>
                                      <p:to>
                                        <a:srgbClr val="00B050"/>
                                      </p:to>
                                    </p:animClr>
                                    <p:set>
                                      <p:cBhvr>
                                        <p:cTn id="7" dur="2000" fill="hold"/>
                                        <p:tgtEl>
                                          <p:spTgt spid="210"/>
                                        </p:tgtEl>
                                        <p:attrNameLst>
                                          <p:attrName>fill.type</p:attrName>
                                        </p:attrNameLst>
                                      </p:cBhvr>
                                      <p:to>
                                        <p:strVal val="solid"/>
                                      </p:to>
                                    </p:set>
                                    <p:set>
                                      <p:cBhvr>
                                        <p:cTn id="8" dur="2000" fill="hold"/>
                                        <p:tgtEl>
                                          <p:spTgt spid="210"/>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1E293B"/>
        </a:solidFill>
        <a:effectLst/>
      </p:bgPr>
    </p:bg>
    <p:spTree>
      <p:nvGrpSpPr>
        <p:cNvPr id="1" name="Shape 227"/>
        <p:cNvGrpSpPr/>
        <p:nvPr/>
      </p:nvGrpSpPr>
      <p:grpSpPr>
        <a:xfrm>
          <a:off x="0" y="0"/>
          <a:ext cx="0" cy="0"/>
          <a:chOff x="0" y="0"/>
          <a:chExt cx="0" cy="0"/>
        </a:xfrm>
      </p:grpSpPr>
      <p:pic>
        <p:nvPicPr>
          <p:cNvPr id="228" name="Google Shape;228;p21" descr="image.png"/>
          <p:cNvPicPr preferRelativeResize="0"/>
          <p:nvPr/>
        </p:nvPicPr>
        <p:blipFill rotWithShape="1">
          <a:blip r:embed="rId3"/>
          <a:srcRect/>
          <a:stretch>
            <a:fillRect/>
          </a:stretch>
        </p:blipFill>
        <p:spPr>
          <a:xfrm>
            <a:off x="0" y="0"/>
            <a:ext cx="12192000" cy="6858000"/>
          </a:xfrm>
          <a:prstGeom prst="rect">
            <a:avLst/>
          </a:prstGeom>
          <a:noFill/>
          <a:ln>
            <a:noFill/>
          </a:ln>
        </p:spPr>
      </p:pic>
      <p:pic>
        <p:nvPicPr>
          <p:cNvPr id="229" name="Google Shape;229;p21" descr="image.png"/>
          <p:cNvPicPr preferRelativeResize="0"/>
          <p:nvPr/>
        </p:nvPicPr>
        <p:blipFill rotWithShape="1">
          <a:blip r:embed="rId4"/>
          <a:srcRect/>
          <a:stretch>
            <a:fillRect/>
          </a:stretch>
        </p:blipFill>
        <p:spPr>
          <a:xfrm>
            <a:off x="571500" y="2326630"/>
            <a:ext cx="5334000" cy="3447901"/>
          </a:xfrm>
          <a:prstGeom prst="rect">
            <a:avLst/>
          </a:prstGeom>
          <a:noFill/>
          <a:ln>
            <a:noFill/>
          </a:ln>
        </p:spPr>
      </p:pic>
      <p:pic>
        <p:nvPicPr>
          <p:cNvPr id="230" name="Google Shape;230;p21" descr="image.png"/>
          <p:cNvPicPr preferRelativeResize="0"/>
          <p:nvPr/>
        </p:nvPicPr>
        <p:blipFill rotWithShape="1">
          <a:blip r:embed="rId5"/>
          <a:srcRect/>
          <a:stretch>
            <a:fillRect/>
          </a:stretch>
        </p:blipFill>
        <p:spPr>
          <a:xfrm>
            <a:off x="6286500" y="2326630"/>
            <a:ext cx="5334000" cy="3447901"/>
          </a:xfrm>
          <a:prstGeom prst="rect">
            <a:avLst/>
          </a:prstGeom>
          <a:noFill/>
          <a:ln>
            <a:noFill/>
          </a:ln>
        </p:spPr>
      </p:pic>
      <p:pic>
        <p:nvPicPr>
          <p:cNvPr id="231" name="Google Shape;231;p21" descr="image.png"/>
          <p:cNvPicPr preferRelativeResize="0"/>
          <p:nvPr/>
        </p:nvPicPr>
        <p:blipFill rotWithShape="1">
          <a:blip r:embed="rId6"/>
          <a:srcRect/>
          <a:stretch>
            <a:fillRect/>
          </a:stretch>
        </p:blipFill>
        <p:spPr>
          <a:xfrm>
            <a:off x="6677025" y="4138166"/>
            <a:ext cx="4552950" cy="838200"/>
          </a:xfrm>
          <a:prstGeom prst="rect">
            <a:avLst/>
          </a:prstGeom>
          <a:noFill/>
          <a:ln>
            <a:noFill/>
          </a:ln>
        </p:spPr>
      </p:pic>
      <p:sp>
        <p:nvSpPr>
          <p:cNvPr id="232" name="Google Shape;232;p21"/>
          <p:cNvSpPr txBox="1"/>
          <p:nvPr/>
        </p:nvSpPr>
        <p:spPr>
          <a:xfrm>
            <a:off x="962025" y="2983855"/>
            <a:ext cx="4552950" cy="2133451"/>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2100" b="0" i="1" u="none" strike="noStrike" cap="none">
                <a:solidFill>
                  <a:srgbClr val="E2E8F0"/>
                </a:solidFill>
                <a:latin typeface="JetBrains Mono" panose="02000009000000000000"/>
                <a:ea typeface="JetBrains Mono" panose="02000009000000000000"/>
                <a:cs typeface="JetBrains Mono" panose="02000009000000000000"/>
                <a:sym typeface="JetBrains Mono" panose="02000009000000000000"/>
              </a:rPr>
              <a:t>"I define what an object should do, not how. Classes implement me. I enable pure abstraction and have no physical existence."</a:t>
            </a:r>
          </a:p>
        </p:txBody>
      </p:sp>
      <p:sp>
        <p:nvSpPr>
          <p:cNvPr id="233" name="Google Shape;233;p21"/>
          <p:cNvSpPr txBox="1"/>
          <p:nvPr/>
        </p:nvSpPr>
        <p:spPr>
          <a:xfrm>
            <a:off x="6677025" y="3353395"/>
            <a:ext cx="4552950" cy="36567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800" b="0" i="0" u="none" strike="noStrike" cap="none">
                <a:solidFill>
                  <a:srgbClr val="94A3B8"/>
                </a:solidFill>
                <a:latin typeface="Inter" panose="02000503000000020004"/>
                <a:ea typeface="Inter" panose="02000503000000020004"/>
                <a:cs typeface="Inter" panose="02000503000000020004"/>
                <a:sym typeface="Inter" panose="02000503000000020004"/>
              </a:rPr>
              <a:t>Who am I?</a:t>
            </a:r>
          </a:p>
        </p:txBody>
      </p:sp>
      <p:sp>
        <p:nvSpPr>
          <p:cNvPr id="234" name="Google Shape;234;p21"/>
          <p:cNvSpPr txBox="1"/>
          <p:nvPr/>
        </p:nvSpPr>
        <p:spPr>
          <a:xfrm>
            <a:off x="8863012" y="4395340"/>
            <a:ext cx="1576388" cy="32316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100" b="0" i="0" u="none" strike="noStrike" cap="none" dirty="0">
                <a:solidFill>
                  <a:srgbClr val="FEF08A"/>
                </a:solidFill>
                <a:latin typeface="Inter Black"/>
                <a:ea typeface="Inter Black"/>
                <a:cs typeface="Inter Black"/>
                <a:sym typeface="Inter Black"/>
              </a:rPr>
              <a:t>Interface</a:t>
            </a:r>
            <a:endParaRPr dirty="0"/>
          </a:p>
        </p:txBody>
      </p:sp>
      <p:sp>
        <p:nvSpPr>
          <p:cNvPr id="235" name="Google Shape;235;p21"/>
          <p:cNvSpPr txBox="1"/>
          <p:nvPr/>
        </p:nvSpPr>
        <p:spPr>
          <a:xfrm>
            <a:off x="800100" y="919311"/>
            <a:ext cx="11361420" cy="5143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00" b="1" i="0" u="none" strike="noStrike" cap="none">
                <a:solidFill>
                  <a:srgbClr val="38BDF8"/>
                </a:solidFill>
                <a:latin typeface="Inter" panose="02000503000000020004"/>
                <a:ea typeface="Inter" panose="02000503000000020004"/>
                <a:cs typeface="Inter" panose="02000503000000020004"/>
                <a:sym typeface="Inter" panose="02000503000000020004"/>
              </a:rPr>
              <a:t>IDENTIFY THE COMPONENT</a:t>
            </a:r>
          </a:p>
        </p:txBody>
      </p:sp>
      <p:sp>
        <p:nvSpPr>
          <p:cNvPr id="236" name="Google Shape;236;p21"/>
          <p:cNvSpPr/>
          <p:nvPr/>
        </p:nvSpPr>
        <p:spPr>
          <a:xfrm>
            <a:off x="571500" y="919311"/>
            <a:ext cx="76200" cy="514350"/>
          </a:xfrm>
          <a:prstGeom prst="rect">
            <a:avLst/>
          </a:prstGeom>
          <a:solidFill>
            <a:srgbClr val="38BDF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4"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27"/>
        <p:cNvGrpSpPr/>
        <p:nvPr/>
      </p:nvGrpSpPr>
      <p:grpSpPr>
        <a:xfrm>
          <a:off x="0" y="0"/>
          <a:ext cx="0" cy="0"/>
          <a:chOff x="0" y="0"/>
          <a:chExt cx="0" cy="0"/>
        </a:xfrm>
      </p:grpSpPr>
      <p:pic>
        <p:nvPicPr>
          <p:cNvPr id="228" name="Google Shape;228;p21" descr="image.png"/>
          <p:cNvPicPr preferRelativeResize="0"/>
          <p:nvPr/>
        </p:nvPicPr>
        <p:blipFill rotWithShape="1">
          <a:blip r:embed="rId3"/>
          <a:srcRect/>
          <a:stretch>
            <a:fillRect/>
          </a:stretch>
        </p:blipFill>
        <p:spPr>
          <a:xfrm>
            <a:off x="0" y="0"/>
            <a:ext cx="12192000" cy="6858000"/>
          </a:xfrm>
          <a:prstGeom prst="rect">
            <a:avLst/>
          </a:prstGeom>
          <a:noFill/>
          <a:ln>
            <a:noFill/>
          </a:ln>
        </p:spPr>
      </p:pic>
      <p:pic>
        <p:nvPicPr>
          <p:cNvPr id="229" name="Google Shape;229;p21" descr="image.png"/>
          <p:cNvPicPr preferRelativeResize="0"/>
          <p:nvPr/>
        </p:nvPicPr>
        <p:blipFill rotWithShape="1">
          <a:blip r:embed="rId4"/>
          <a:srcRect/>
          <a:stretch>
            <a:fillRect/>
          </a:stretch>
        </p:blipFill>
        <p:spPr>
          <a:xfrm>
            <a:off x="571500" y="2326630"/>
            <a:ext cx="5334000" cy="3447901"/>
          </a:xfrm>
          <a:prstGeom prst="rect">
            <a:avLst/>
          </a:prstGeom>
          <a:noFill/>
          <a:ln>
            <a:noFill/>
          </a:ln>
        </p:spPr>
      </p:pic>
      <p:pic>
        <p:nvPicPr>
          <p:cNvPr id="230" name="Google Shape;230;p21" descr="image.png"/>
          <p:cNvPicPr preferRelativeResize="0"/>
          <p:nvPr/>
        </p:nvPicPr>
        <p:blipFill rotWithShape="1">
          <a:blip r:embed="rId5"/>
          <a:srcRect/>
          <a:stretch>
            <a:fillRect/>
          </a:stretch>
        </p:blipFill>
        <p:spPr>
          <a:xfrm>
            <a:off x="6286500" y="2326630"/>
            <a:ext cx="5334000" cy="3447901"/>
          </a:xfrm>
          <a:prstGeom prst="rect">
            <a:avLst/>
          </a:prstGeom>
          <a:noFill/>
          <a:ln>
            <a:noFill/>
          </a:ln>
        </p:spPr>
      </p:pic>
      <p:sp>
        <p:nvSpPr>
          <p:cNvPr id="232" name="Google Shape;232;p21"/>
          <p:cNvSpPr txBox="1"/>
          <p:nvPr/>
        </p:nvSpPr>
        <p:spPr>
          <a:xfrm>
            <a:off x="962025" y="2210964"/>
            <a:ext cx="4552950" cy="3619452"/>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2100" b="0" i="1" u="none" strike="noStrike" cap="none" dirty="0">
                <a:solidFill>
                  <a:srgbClr val="E2E8F0"/>
                </a:solidFill>
                <a:latin typeface="JetBrains Mono" panose="02000009000000000000"/>
                <a:ea typeface="JetBrains Mono" panose="02000009000000000000"/>
                <a:cs typeface="JetBrains Mono" panose="02000009000000000000"/>
                <a:sym typeface="JetBrains Mono" panose="02000009000000000000"/>
              </a:rPr>
              <a:t>"I am a design blueprint. I define the properties and behaviors that my instances will possess, but I don't occupy any memory myself until an object is created from me. Who am I?"</a:t>
            </a:r>
            <a:endParaRPr dirty="0"/>
          </a:p>
        </p:txBody>
      </p:sp>
      <p:sp>
        <p:nvSpPr>
          <p:cNvPr id="233" name="Google Shape;233;p21"/>
          <p:cNvSpPr txBox="1"/>
          <p:nvPr/>
        </p:nvSpPr>
        <p:spPr>
          <a:xfrm>
            <a:off x="6677025" y="3353395"/>
            <a:ext cx="4552950" cy="36567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800" b="0" i="0" u="none" strike="noStrike" cap="none">
                <a:solidFill>
                  <a:srgbClr val="94A3B8"/>
                </a:solidFill>
                <a:latin typeface="Inter" panose="02000503000000020004"/>
                <a:ea typeface="Inter" panose="02000503000000020004"/>
                <a:cs typeface="Inter" panose="02000503000000020004"/>
                <a:sym typeface="Inter" panose="02000503000000020004"/>
              </a:rPr>
              <a:t>Who am I?</a:t>
            </a:r>
          </a:p>
        </p:txBody>
      </p:sp>
      <p:sp>
        <p:nvSpPr>
          <p:cNvPr id="234" name="Google Shape;234;p21"/>
          <p:cNvSpPr txBox="1"/>
          <p:nvPr/>
        </p:nvSpPr>
        <p:spPr>
          <a:xfrm>
            <a:off x="8863012" y="4395340"/>
            <a:ext cx="1576388" cy="32316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100" b="0" i="0" u="none" strike="noStrike" cap="none" dirty="0">
                <a:solidFill>
                  <a:srgbClr val="FEF08A"/>
                </a:solidFill>
                <a:latin typeface="Inter Black"/>
                <a:ea typeface="Inter Black"/>
                <a:cs typeface="Inter Black"/>
                <a:sym typeface="Inter Black"/>
              </a:rPr>
              <a:t>Class</a:t>
            </a:r>
            <a:endParaRPr dirty="0"/>
          </a:p>
        </p:txBody>
      </p:sp>
      <p:sp>
        <p:nvSpPr>
          <p:cNvPr id="235" name="Google Shape;235;p21"/>
          <p:cNvSpPr txBox="1"/>
          <p:nvPr/>
        </p:nvSpPr>
        <p:spPr>
          <a:xfrm>
            <a:off x="800100" y="919311"/>
            <a:ext cx="11361420" cy="5143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00" b="1" i="0" u="none" strike="noStrike" cap="none" dirty="0">
                <a:solidFill>
                  <a:srgbClr val="38BDF8"/>
                </a:solidFill>
                <a:latin typeface="Inter" panose="02000503000000020004"/>
                <a:ea typeface="Inter" panose="02000503000000020004"/>
                <a:cs typeface="Inter" panose="02000503000000020004"/>
                <a:sym typeface="Inter" panose="02000503000000020004"/>
              </a:rPr>
              <a:t>IDENTIFY </a:t>
            </a:r>
            <a:r>
              <a:rPr lang="en-US" sz="3300" b="1" dirty="0">
                <a:solidFill>
                  <a:srgbClr val="38BDF8"/>
                </a:solidFill>
                <a:latin typeface="Inter" panose="02000503000000020004"/>
                <a:ea typeface="Inter" panose="02000503000000020004"/>
                <a:cs typeface="Inter" panose="02000503000000020004"/>
                <a:sym typeface="Inter" panose="02000503000000020004"/>
              </a:rPr>
              <a:t>ME</a:t>
            </a:r>
            <a:endParaRPr dirty="0"/>
          </a:p>
        </p:txBody>
      </p:sp>
      <p:sp>
        <p:nvSpPr>
          <p:cNvPr id="236" name="Google Shape;236;p21"/>
          <p:cNvSpPr/>
          <p:nvPr/>
        </p:nvSpPr>
        <p:spPr>
          <a:xfrm>
            <a:off x="571500" y="919311"/>
            <a:ext cx="76200" cy="514350"/>
          </a:xfrm>
          <a:prstGeom prst="rect">
            <a:avLst/>
          </a:prstGeom>
          <a:solidFill>
            <a:srgbClr val="38BDF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2" name="Google Shape;131;p16" descr="image.png"/>
          <p:cNvPicPr preferRelativeResize="0"/>
          <p:nvPr/>
        </p:nvPicPr>
        <p:blipFill rotWithShape="1">
          <a:blip r:embed="rId6"/>
          <a:srcRect/>
          <a:stretch>
            <a:fillRect/>
          </a:stretch>
        </p:blipFill>
        <p:spPr>
          <a:xfrm>
            <a:off x="6586536" y="4116050"/>
            <a:ext cx="4552950" cy="8382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4"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27"/>
        <p:cNvGrpSpPr/>
        <p:nvPr/>
      </p:nvGrpSpPr>
      <p:grpSpPr>
        <a:xfrm>
          <a:off x="0" y="0"/>
          <a:ext cx="0" cy="0"/>
          <a:chOff x="0" y="0"/>
          <a:chExt cx="0" cy="0"/>
        </a:xfrm>
      </p:grpSpPr>
      <p:pic>
        <p:nvPicPr>
          <p:cNvPr id="228" name="Google Shape;228;p21" descr="image.png"/>
          <p:cNvPicPr preferRelativeResize="0"/>
          <p:nvPr/>
        </p:nvPicPr>
        <p:blipFill rotWithShape="1">
          <a:blip r:embed="rId3"/>
          <a:srcRect/>
          <a:stretch>
            <a:fillRect/>
          </a:stretch>
        </p:blipFill>
        <p:spPr>
          <a:xfrm>
            <a:off x="0" y="0"/>
            <a:ext cx="12192000" cy="6858000"/>
          </a:xfrm>
          <a:prstGeom prst="rect">
            <a:avLst/>
          </a:prstGeom>
          <a:noFill/>
          <a:ln>
            <a:noFill/>
          </a:ln>
        </p:spPr>
      </p:pic>
      <p:pic>
        <p:nvPicPr>
          <p:cNvPr id="229" name="Google Shape;229;p21" descr="image.png"/>
          <p:cNvPicPr preferRelativeResize="0"/>
          <p:nvPr/>
        </p:nvPicPr>
        <p:blipFill rotWithShape="1">
          <a:blip r:embed="rId4"/>
          <a:srcRect/>
          <a:stretch>
            <a:fillRect/>
          </a:stretch>
        </p:blipFill>
        <p:spPr>
          <a:xfrm>
            <a:off x="571500" y="2326630"/>
            <a:ext cx="5334000" cy="3447901"/>
          </a:xfrm>
          <a:prstGeom prst="rect">
            <a:avLst/>
          </a:prstGeom>
          <a:noFill/>
          <a:ln>
            <a:noFill/>
          </a:ln>
        </p:spPr>
      </p:pic>
      <p:pic>
        <p:nvPicPr>
          <p:cNvPr id="230" name="Google Shape;230;p21" descr="image.png"/>
          <p:cNvPicPr preferRelativeResize="0"/>
          <p:nvPr/>
        </p:nvPicPr>
        <p:blipFill rotWithShape="1">
          <a:blip r:embed="rId5"/>
          <a:srcRect/>
          <a:stretch>
            <a:fillRect/>
          </a:stretch>
        </p:blipFill>
        <p:spPr>
          <a:xfrm>
            <a:off x="6286500" y="2326630"/>
            <a:ext cx="5334000" cy="3447901"/>
          </a:xfrm>
          <a:prstGeom prst="rect">
            <a:avLst/>
          </a:prstGeom>
          <a:noFill/>
          <a:ln>
            <a:noFill/>
          </a:ln>
        </p:spPr>
      </p:pic>
      <p:sp>
        <p:nvSpPr>
          <p:cNvPr id="232" name="Google Shape;232;p21"/>
          <p:cNvSpPr txBox="1"/>
          <p:nvPr/>
        </p:nvSpPr>
        <p:spPr>
          <a:xfrm>
            <a:off x="962025" y="2210964"/>
            <a:ext cx="4552950" cy="3619452"/>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2100" b="0" i="1" u="none" strike="noStrike" cap="none" dirty="0">
                <a:solidFill>
                  <a:srgbClr val="E2E8F0"/>
                </a:solidFill>
                <a:latin typeface="JetBrains Mono" panose="02000009000000000000"/>
                <a:ea typeface="JetBrains Mono" panose="02000009000000000000"/>
                <a:cs typeface="JetBrains Mono" panose="02000009000000000000"/>
                <a:sym typeface="JetBrains Mono" panose="02000009000000000000"/>
              </a:rPr>
              <a:t>“I am a special type of member function. I have the exact same name as my class, I have no return type, and I am automatically triggered the moment an object is born into memory. Who am I"</a:t>
            </a:r>
            <a:endParaRPr dirty="0"/>
          </a:p>
        </p:txBody>
      </p:sp>
      <p:sp>
        <p:nvSpPr>
          <p:cNvPr id="233" name="Google Shape;233;p21"/>
          <p:cNvSpPr txBox="1"/>
          <p:nvPr/>
        </p:nvSpPr>
        <p:spPr>
          <a:xfrm>
            <a:off x="6677025" y="3353395"/>
            <a:ext cx="4552950" cy="36567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800" b="0" i="0" u="none" strike="noStrike" cap="none">
                <a:solidFill>
                  <a:srgbClr val="94A3B8"/>
                </a:solidFill>
                <a:latin typeface="Inter" panose="02000503000000020004"/>
                <a:ea typeface="Inter" panose="02000503000000020004"/>
                <a:cs typeface="Inter" panose="02000503000000020004"/>
                <a:sym typeface="Inter" panose="02000503000000020004"/>
              </a:rPr>
              <a:t>Who am I?</a:t>
            </a:r>
          </a:p>
        </p:txBody>
      </p:sp>
      <p:sp>
        <p:nvSpPr>
          <p:cNvPr id="234" name="Google Shape;234;p21"/>
          <p:cNvSpPr txBox="1"/>
          <p:nvPr/>
        </p:nvSpPr>
        <p:spPr>
          <a:xfrm>
            <a:off x="8863012" y="4395340"/>
            <a:ext cx="1576388" cy="32316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100" b="0" i="0" u="none" strike="noStrike" cap="none" dirty="0">
                <a:solidFill>
                  <a:srgbClr val="FEF08A"/>
                </a:solidFill>
                <a:latin typeface="Inter Black"/>
                <a:ea typeface="Inter Black"/>
                <a:cs typeface="Inter Black"/>
                <a:sym typeface="Inter Black"/>
              </a:rPr>
              <a:t>Constructor</a:t>
            </a:r>
            <a:endParaRPr dirty="0"/>
          </a:p>
        </p:txBody>
      </p:sp>
      <p:sp>
        <p:nvSpPr>
          <p:cNvPr id="235" name="Google Shape;235;p21"/>
          <p:cNvSpPr txBox="1"/>
          <p:nvPr/>
        </p:nvSpPr>
        <p:spPr>
          <a:xfrm>
            <a:off x="800100" y="919311"/>
            <a:ext cx="11361420" cy="5143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00" b="1" i="0" u="none" strike="noStrike" cap="none" dirty="0">
                <a:solidFill>
                  <a:srgbClr val="38BDF8"/>
                </a:solidFill>
                <a:latin typeface="Inter" panose="02000503000000020004"/>
                <a:ea typeface="Inter" panose="02000503000000020004"/>
                <a:cs typeface="Inter" panose="02000503000000020004"/>
                <a:sym typeface="Inter" panose="02000503000000020004"/>
              </a:rPr>
              <a:t>IDENTIFY </a:t>
            </a:r>
            <a:r>
              <a:rPr lang="en-US" sz="3300" b="1" dirty="0">
                <a:solidFill>
                  <a:srgbClr val="38BDF8"/>
                </a:solidFill>
                <a:latin typeface="Inter" panose="02000503000000020004"/>
                <a:ea typeface="Inter" panose="02000503000000020004"/>
                <a:cs typeface="Inter" panose="02000503000000020004"/>
                <a:sym typeface="Inter" panose="02000503000000020004"/>
              </a:rPr>
              <a:t>ME</a:t>
            </a:r>
            <a:endParaRPr dirty="0"/>
          </a:p>
        </p:txBody>
      </p:sp>
      <p:sp>
        <p:nvSpPr>
          <p:cNvPr id="236" name="Google Shape;236;p21"/>
          <p:cNvSpPr/>
          <p:nvPr/>
        </p:nvSpPr>
        <p:spPr>
          <a:xfrm>
            <a:off x="571500" y="919311"/>
            <a:ext cx="76200" cy="514350"/>
          </a:xfrm>
          <a:prstGeom prst="rect">
            <a:avLst/>
          </a:prstGeom>
          <a:solidFill>
            <a:srgbClr val="38BDF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3" name="Google Shape;131;p16" descr="image.png"/>
          <p:cNvPicPr preferRelativeResize="0"/>
          <p:nvPr/>
        </p:nvPicPr>
        <p:blipFill rotWithShape="1">
          <a:blip r:embed="rId6"/>
          <a:srcRect/>
          <a:stretch>
            <a:fillRect/>
          </a:stretch>
        </p:blipFill>
        <p:spPr>
          <a:xfrm>
            <a:off x="6586536" y="4116050"/>
            <a:ext cx="4552950" cy="8382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4" grpId="0"/>
    </p:bld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1E293B"/>
        </a:solidFill>
        <a:effectLst/>
      </p:bgPr>
    </p:bg>
    <p:spTree>
      <p:nvGrpSpPr>
        <p:cNvPr id="1" name="Shape 240"/>
        <p:cNvGrpSpPr/>
        <p:nvPr/>
      </p:nvGrpSpPr>
      <p:grpSpPr>
        <a:xfrm>
          <a:off x="0" y="0"/>
          <a:ext cx="0" cy="0"/>
          <a:chOff x="0" y="0"/>
          <a:chExt cx="0" cy="0"/>
        </a:xfrm>
      </p:grpSpPr>
      <p:pic>
        <p:nvPicPr>
          <p:cNvPr id="241" name="Google Shape;241;p22" descr="image.png"/>
          <p:cNvPicPr preferRelativeResize="0"/>
          <p:nvPr/>
        </p:nvPicPr>
        <p:blipFill rotWithShape="1">
          <a:blip r:embed="rId3"/>
          <a:srcRect/>
          <a:stretch>
            <a:fillRect/>
          </a:stretch>
        </p:blipFill>
        <p:spPr>
          <a:xfrm>
            <a:off x="0" y="0"/>
            <a:ext cx="12192000" cy="6858000"/>
          </a:xfrm>
          <a:prstGeom prst="rect">
            <a:avLst/>
          </a:prstGeom>
          <a:noFill/>
          <a:ln>
            <a:noFill/>
          </a:ln>
        </p:spPr>
      </p:pic>
      <p:sp>
        <p:nvSpPr>
          <p:cNvPr id="242" name="Google Shape;242;p22"/>
          <p:cNvSpPr/>
          <p:nvPr/>
        </p:nvSpPr>
        <p:spPr>
          <a:xfrm>
            <a:off x="0" y="-5018"/>
            <a:ext cx="12192000" cy="6858000"/>
          </a:xfrm>
          <a:prstGeom prst="rect">
            <a:avLst/>
          </a:prstGeom>
          <a:solidFill>
            <a:srgbClr val="0F172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43" name="Google Shape;243;p22"/>
          <p:cNvSpPr txBox="1"/>
          <p:nvPr/>
        </p:nvSpPr>
        <p:spPr>
          <a:xfrm>
            <a:off x="5610225" y="1492129"/>
            <a:ext cx="971550" cy="36567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800" b="1" i="0" u="none" strike="noStrike" cap="none" dirty="0">
                <a:solidFill>
                  <a:srgbClr val="38BDF8"/>
                </a:solidFill>
                <a:latin typeface="Inter" panose="02000503000000020004"/>
                <a:ea typeface="Inter" panose="02000503000000020004"/>
                <a:cs typeface="Inter" panose="02000503000000020004"/>
                <a:sym typeface="Inter" panose="02000503000000020004"/>
              </a:rPr>
              <a:t>PART 03</a:t>
            </a:r>
            <a:endParaRPr dirty="0"/>
          </a:p>
        </p:txBody>
      </p:sp>
      <p:sp>
        <p:nvSpPr>
          <p:cNvPr id="244" name="Google Shape;244;p22"/>
          <p:cNvSpPr txBox="1"/>
          <p:nvPr/>
        </p:nvSpPr>
        <p:spPr>
          <a:xfrm>
            <a:off x="295275" y="2478285"/>
            <a:ext cx="11601450" cy="184785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6000" b="1" i="0" u="none" strike="noStrike" cap="none">
                <a:solidFill>
                  <a:srgbClr val="F8FAFC"/>
                </a:solidFill>
                <a:latin typeface="Inter" panose="02000503000000020004"/>
                <a:ea typeface="Inter" panose="02000503000000020004"/>
                <a:cs typeface="Inter" panose="02000503000000020004"/>
                <a:sym typeface="Inter" panose="02000503000000020004"/>
              </a:rPr>
              <a:t>Database Management Systems</a:t>
            </a:r>
          </a:p>
        </p:txBody>
      </p:sp>
      <p:sp>
        <p:nvSpPr>
          <p:cNvPr id="245" name="Google Shape;245;p22"/>
          <p:cNvSpPr/>
          <p:nvPr/>
        </p:nvSpPr>
        <p:spPr>
          <a:xfrm>
            <a:off x="5381625" y="4611885"/>
            <a:ext cx="1428750" cy="76200"/>
          </a:xfrm>
          <a:prstGeom prst="rect">
            <a:avLst/>
          </a:prstGeom>
          <a:solidFill>
            <a:srgbClr val="38BDF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1E293B"/>
        </a:solidFill>
        <a:effectLst/>
      </p:bgPr>
    </p:bg>
    <p:spTree>
      <p:nvGrpSpPr>
        <p:cNvPr id="1" name="Shape 249"/>
        <p:cNvGrpSpPr/>
        <p:nvPr/>
      </p:nvGrpSpPr>
      <p:grpSpPr>
        <a:xfrm>
          <a:off x="0" y="0"/>
          <a:ext cx="0" cy="0"/>
          <a:chOff x="0" y="0"/>
          <a:chExt cx="0" cy="0"/>
        </a:xfrm>
      </p:grpSpPr>
      <p:pic>
        <p:nvPicPr>
          <p:cNvPr id="250" name="Google Shape;250;p23" descr="image.png"/>
          <p:cNvPicPr preferRelativeResize="0"/>
          <p:nvPr/>
        </p:nvPicPr>
        <p:blipFill rotWithShape="1">
          <a:blip r:embed="rId3"/>
          <a:srcRect/>
          <a:stretch>
            <a:fillRect/>
          </a:stretch>
        </p:blipFill>
        <p:spPr>
          <a:xfrm>
            <a:off x="0" y="0"/>
            <a:ext cx="12192000" cy="6858000"/>
          </a:xfrm>
          <a:prstGeom prst="rect">
            <a:avLst/>
          </a:prstGeom>
          <a:noFill/>
          <a:ln>
            <a:noFill/>
          </a:ln>
        </p:spPr>
      </p:pic>
      <p:pic>
        <p:nvPicPr>
          <p:cNvPr id="251" name="Google Shape;251;p23" descr="image.png"/>
          <p:cNvPicPr preferRelativeResize="0"/>
          <p:nvPr/>
        </p:nvPicPr>
        <p:blipFill rotWithShape="1">
          <a:blip r:embed="rId4"/>
          <a:srcRect/>
          <a:stretch>
            <a:fillRect/>
          </a:stretch>
        </p:blipFill>
        <p:spPr>
          <a:xfrm>
            <a:off x="571500" y="7237660"/>
            <a:ext cx="11049000" cy="838200"/>
          </a:xfrm>
          <a:prstGeom prst="rect">
            <a:avLst/>
          </a:prstGeom>
          <a:noFill/>
          <a:ln>
            <a:noFill/>
          </a:ln>
        </p:spPr>
      </p:pic>
      <p:sp>
        <p:nvSpPr>
          <p:cNvPr id="252" name="Google Shape;252;p23"/>
          <p:cNvSpPr txBox="1"/>
          <p:nvPr/>
        </p:nvSpPr>
        <p:spPr>
          <a:xfrm>
            <a:off x="571500" y="2043261"/>
            <a:ext cx="11049000" cy="731341"/>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800" b="0" i="0" u="none" strike="noStrike" cap="none">
                <a:solidFill>
                  <a:srgbClr val="CBD5E1"/>
                </a:solidFill>
                <a:latin typeface="Inter" panose="02000503000000020004"/>
                <a:ea typeface="Inter" panose="02000503000000020004"/>
                <a:cs typeface="Inter" panose="02000503000000020004"/>
                <a:sym typeface="Inter" panose="02000503000000020004"/>
              </a:rPr>
              <a:t>Which ACID property guarantees that once a transaction is committed, its updates will survive system crashes?</a:t>
            </a:r>
          </a:p>
        </p:txBody>
      </p:sp>
      <p:sp>
        <p:nvSpPr>
          <p:cNvPr id="253" name="Google Shape;253;p23"/>
          <p:cNvSpPr txBox="1"/>
          <p:nvPr/>
        </p:nvSpPr>
        <p:spPr>
          <a:xfrm>
            <a:off x="6376987" y="7494835"/>
            <a:ext cx="1638300" cy="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100" b="0" i="0" u="none" strike="noStrike" cap="none">
                <a:solidFill>
                  <a:srgbClr val="FEF08A"/>
                </a:solidFill>
                <a:latin typeface="Inter Black"/>
                <a:ea typeface="Inter Black"/>
                <a:cs typeface="Inter Black"/>
                <a:sym typeface="Inter Black"/>
              </a:rPr>
              <a:t>D) Durability</a:t>
            </a:r>
          </a:p>
        </p:txBody>
      </p:sp>
      <p:sp>
        <p:nvSpPr>
          <p:cNvPr id="254" name="Google Shape;254;p23"/>
          <p:cNvSpPr/>
          <p:nvPr/>
        </p:nvSpPr>
        <p:spPr>
          <a:xfrm>
            <a:off x="952500" y="3212752"/>
            <a:ext cx="10668000" cy="765720"/>
          </a:xfrm>
          <a:prstGeom prst="roundRect">
            <a:avLst>
              <a:gd name="adj" fmla="val 9951"/>
            </a:avLst>
          </a:prstGeom>
          <a:solidFill>
            <a:srgbClr val="334155"/>
          </a:solidFill>
          <a:ln w="9525" cap="flat" cmpd="sng">
            <a:solidFill>
              <a:srgbClr val="94A3B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55" name="Google Shape;255;p23"/>
          <p:cNvSpPr txBox="1"/>
          <p:nvPr/>
        </p:nvSpPr>
        <p:spPr>
          <a:xfrm>
            <a:off x="1600200" y="3403252"/>
            <a:ext cx="9734550" cy="384720"/>
          </a:xfrm>
          <a:prstGeom prst="rect">
            <a:avLst/>
          </a:prstGeom>
          <a:noFill/>
          <a:ln>
            <a:noFill/>
          </a:ln>
        </p:spPr>
        <p:txBody>
          <a:bodyPr spcFirstLastPara="1" wrap="square" lIns="0" tIns="0" rIns="0" bIns="0" anchor="ctr" anchorCtr="0">
            <a:spAutoFit/>
          </a:bodyPr>
          <a:lstStyle/>
          <a:p>
            <a:pPr marL="0" marR="0" lvl="0" indent="0" algn="l" rtl="0">
              <a:lnSpc>
                <a:spcPct val="160000"/>
              </a:lnSpc>
              <a:spcBef>
                <a:spcPts val="0"/>
              </a:spcBef>
              <a:spcAft>
                <a:spcPts val="0"/>
              </a:spcAft>
              <a:buNone/>
            </a:pPr>
            <a:r>
              <a:rPr lang="en-US" sz="1800" b="0" i="0" u="none" strike="noStrike" cap="none">
                <a:solidFill>
                  <a:srgbClr val="CBD5E1"/>
                </a:solidFill>
                <a:latin typeface="Inter" panose="02000503000000020004"/>
                <a:ea typeface="Inter" panose="02000503000000020004"/>
                <a:cs typeface="Inter" panose="02000503000000020004"/>
                <a:sym typeface="Inter" panose="02000503000000020004"/>
              </a:rPr>
              <a:t>A) Atomicity</a:t>
            </a:r>
          </a:p>
        </p:txBody>
      </p:sp>
      <p:sp>
        <p:nvSpPr>
          <p:cNvPr id="256" name="Google Shape;256;p23"/>
          <p:cNvSpPr/>
          <p:nvPr/>
        </p:nvSpPr>
        <p:spPr>
          <a:xfrm>
            <a:off x="952500" y="4121348"/>
            <a:ext cx="10668000" cy="765720"/>
          </a:xfrm>
          <a:prstGeom prst="roundRect">
            <a:avLst>
              <a:gd name="adj" fmla="val 9951"/>
            </a:avLst>
          </a:prstGeom>
          <a:solidFill>
            <a:srgbClr val="334155"/>
          </a:solidFill>
          <a:ln w="9525" cap="flat" cmpd="sng">
            <a:solidFill>
              <a:srgbClr val="94A3B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57" name="Google Shape;257;p23"/>
          <p:cNvSpPr txBox="1"/>
          <p:nvPr/>
        </p:nvSpPr>
        <p:spPr>
          <a:xfrm>
            <a:off x="1600200" y="4311848"/>
            <a:ext cx="9734550" cy="384720"/>
          </a:xfrm>
          <a:prstGeom prst="rect">
            <a:avLst/>
          </a:prstGeom>
          <a:noFill/>
          <a:ln>
            <a:noFill/>
          </a:ln>
        </p:spPr>
        <p:txBody>
          <a:bodyPr spcFirstLastPara="1" wrap="square" lIns="0" tIns="0" rIns="0" bIns="0" anchor="ctr" anchorCtr="0">
            <a:spAutoFit/>
          </a:bodyPr>
          <a:lstStyle/>
          <a:p>
            <a:pPr marL="0" marR="0" lvl="0" indent="0" algn="l" rtl="0">
              <a:lnSpc>
                <a:spcPct val="160000"/>
              </a:lnSpc>
              <a:spcBef>
                <a:spcPts val="0"/>
              </a:spcBef>
              <a:spcAft>
                <a:spcPts val="0"/>
              </a:spcAft>
              <a:buNone/>
            </a:pPr>
            <a:r>
              <a:rPr lang="en-US" sz="1800" b="0" i="0" u="none" strike="noStrike" cap="none">
                <a:solidFill>
                  <a:srgbClr val="CBD5E1"/>
                </a:solidFill>
                <a:latin typeface="Inter" panose="02000503000000020004"/>
                <a:ea typeface="Inter" panose="02000503000000020004"/>
                <a:cs typeface="Inter" panose="02000503000000020004"/>
                <a:sym typeface="Inter" panose="02000503000000020004"/>
              </a:rPr>
              <a:t>B) Consistency</a:t>
            </a:r>
          </a:p>
        </p:txBody>
      </p:sp>
      <p:sp>
        <p:nvSpPr>
          <p:cNvPr id="258" name="Google Shape;258;p23"/>
          <p:cNvSpPr/>
          <p:nvPr/>
        </p:nvSpPr>
        <p:spPr>
          <a:xfrm>
            <a:off x="952500" y="5029944"/>
            <a:ext cx="10668000" cy="765720"/>
          </a:xfrm>
          <a:prstGeom prst="roundRect">
            <a:avLst>
              <a:gd name="adj" fmla="val 9951"/>
            </a:avLst>
          </a:prstGeom>
          <a:solidFill>
            <a:srgbClr val="334155"/>
          </a:solidFill>
          <a:ln w="9525" cap="flat" cmpd="sng">
            <a:solidFill>
              <a:srgbClr val="94A3B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59" name="Google Shape;259;p23"/>
          <p:cNvSpPr txBox="1"/>
          <p:nvPr/>
        </p:nvSpPr>
        <p:spPr>
          <a:xfrm>
            <a:off x="1600200" y="5220444"/>
            <a:ext cx="9734550" cy="384720"/>
          </a:xfrm>
          <a:prstGeom prst="rect">
            <a:avLst/>
          </a:prstGeom>
          <a:noFill/>
          <a:ln>
            <a:noFill/>
          </a:ln>
        </p:spPr>
        <p:txBody>
          <a:bodyPr spcFirstLastPara="1" wrap="square" lIns="0" tIns="0" rIns="0" bIns="0" anchor="ctr" anchorCtr="0">
            <a:spAutoFit/>
          </a:bodyPr>
          <a:lstStyle/>
          <a:p>
            <a:pPr marL="0" marR="0" lvl="0" indent="0" algn="l" rtl="0">
              <a:lnSpc>
                <a:spcPct val="160000"/>
              </a:lnSpc>
              <a:spcBef>
                <a:spcPts val="0"/>
              </a:spcBef>
              <a:spcAft>
                <a:spcPts val="0"/>
              </a:spcAft>
              <a:buNone/>
            </a:pPr>
            <a:r>
              <a:rPr lang="en-US" sz="1800" b="0" i="0" u="none" strike="noStrike" cap="none">
                <a:solidFill>
                  <a:srgbClr val="CBD5E1"/>
                </a:solidFill>
                <a:latin typeface="Inter" panose="02000503000000020004"/>
                <a:ea typeface="Inter" panose="02000503000000020004"/>
                <a:cs typeface="Inter" panose="02000503000000020004"/>
                <a:sym typeface="Inter" panose="02000503000000020004"/>
              </a:rPr>
              <a:t>C) Isolation</a:t>
            </a:r>
          </a:p>
        </p:txBody>
      </p:sp>
      <p:sp>
        <p:nvSpPr>
          <p:cNvPr id="260" name="Google Shape;260;p23"/>
          <p:cNvSpPr/>
          <p:nvPr/>
        </p:nvSpPr>
        <p:spPr>
          <a:xfrm>
            <a:off x="952500" y="5938539"/>
            <a:ext cx="10668000" cy="765720"/>
          </a:xfrm>
          <a:prstGeom prst="roundRect">
            <a:avLst>
              <a:gd name="adj" fmla="val 9951"/>
            </a:avLst>
          </a:prstGeom>
          <a:solidFill>
            <a:srgbClr val="334155"/>
          </a:solidFill>
          <a:ln w="9525" cap="flat" cmpd="sng">
            <a:solidFill>
              <a:srgbClr val="94A3B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61" name="Google Shape;261;p23"/>
          <p:cNvSpPr txBox="1"/>
          <p:nvPr/>
        </p:nvSpPr>
        <p:spPr>
          <a:xfrm>
            <a:off x="1600200" y="6129039"/>
            <a:ext cx="9734550" cy="384720"/>
          </a:xfrm>
          <a:prstGeom prst="rect">
            <a:avLst/>
          </a:prstGeom>
          <a:noFill/>
          <a:ln>
            <a:noFill/>
          </a:ln>
        </p:spPr>
        <p:txBody>
          <a:bodyPr spcFirstLastPara="1" wrap="square" lIns="0" tIns="0" rIns="0" bIns="0" anchor="ctr" anchorCtr="0">
            <a:spAutoFit/>
          </a:bodyPr>
          <a:lstStyle/>
          <a:p>
            <a:pPr marL="0" marR="0" lvl="0" indent="0" algn="l" rtl="0">
              <a:lnSpc>
                <a:spcPct val="160000"/>
              </a:lnSpc>
              <a:spcBef>
                <a:spcPts val="0"/>
              </a:spcBef>
              <a:spcAft>
                <a:spcPts val="0"/>
              </a:spcAft>
              <a:buNone/>
            </a:pPr>
            <a:r>
              <a:rPr lang="en-US" sz="1800" b="0" i="0" u="none" strike="noStrike" cap="none">
                <a:solidFill>
                  <a:srgbClr val="CBD5E1"/>
                </a:solidFill>
                <a:latin typeface="Inter" panose="02000503000000020004"/>
                <a:ea typeface="Inter" panose="02000503000000020004"/>
                <a:cs typeface="Inter" panose="02000503000000020004"/>
                <a:sym typeface="Inter" panose="02000503000000020004"/>
              </a:rPr>
              <a:t>D) Durability</a:t>
            </a:r>
          </a:p>
        </p:txBody>
      </p:sp>
      <p:sp>
        <p:nvSpPr>
          <p:cNvPr id="262" name="Google Shape;262;p23"/>
          <p:cNvSpPr/>
          <p:nvPr/>
        </p:nvSpPr>
        <p:spPr>
          <a:xfrm>
            <a:off x="952500" y="3968948"/>
            <a:ext cx="10668000" cy="9525"/>
          </a:xfrm>
          <a:prstGeom prst="rect">
            <a:avLst/>
          </a:prstGeom>
          <a:solidFill>
            <a:srgbClr val="94A3B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63" name="Google Shape;263;p23"/>
          <p:cNvSpPr/>
          <p:nvPr/>
        </p:nvSpPr>
        <p:spPr>
          <a:xfrm>
            <a:off x="952500" y="4877544"/>
            <a:ext cx="10668000" cy="9525"/>
          </a:xfrm>
          <a:prstGeom prst="rect">
            <a:avLst/>
          </a:prstGeom>
          <a:solidFill>
            <a:srgbClr val="94A3B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64" name="Google Shape;264;p23"/>
          <p:cNvSpPr/>
          <p:nvPr/>
        </p:nvSpPr>
        <p:spPr>
          <a:xfrm>
            <a:off x="952500" y="5786139"/>
            <a:ext cx="10668000" cy="9525"/>
          </a:xfrm>
          <a:prstGeom prst="rect">
            <a:avLst/>
          </a:prstGeom>
          <a:solidFill>
            <a:srgbClr val="94A3B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65" name="Google Shape;265;p23"/>
          <p:cNvSpPr/>
          <p:nvPr/>
        </p:nvSpPr>
        <p:spPr>
          <a:xfrm>
            <a:off x="952500" y="6694735"/>
            <a:ext cx="10668000" cy="9525"/>
          </a:xfrm>
          <a:prstGeom prst="rect">
            <a:avLst/>
          </a:prstGeom>
          <a:solidFill>
            <a:srgbClr val="94A3B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266" name="Google Shape;266;p23" descr="image.png"/>
          <p:cNvPicPr preferRelativeResize="0"/>
          <p:nvPr/>
        </p:nvPicPr>
        <p:blipFill rotWithShape="1">
          <a:blip r:embed="rId5"/>
          <a:srcRect/>
          <a:stretch>
            <a:fillRect/>
          </a:stretch>
        </p:blipFill>
        <p:spPr>
          <a:xfrm>
            <a:off x="1247775" y="3495526"/>
            <a:ext cx="171450" cy="200025"/>
          </a:xfrm>
          <a:prstGeom prst="rect">
            <a:avLst/>
          </a:prstGeom>
          <a:noFill/>
          <a:ln>
            <a:noFill/>
          </a:ln>
        </p:spPr>
      </p:pic>
      <p:pic>
        <p:nvPicPr>
          <p:cNvPr id="267" name="Google Shape;267;p23" descr="image.png"/>
          <p:cNvPicPr preferRelativeResize="0"/>
          <p:nvPr/>
        </p:nvPicPr>
        <p:blipFill rotWithShape="1">
          <a:blip r:embed="rId5"/>
          <a:srcRect/>
          <a:stretch>
            <a:fillRect/>
          </a:stretch>
        </p:blipFill>
        <p:spPr>
          <a:xfrm>
            <a:off x="1247775" y="4404121"/>
            <a:ext cx="171450" cy="200025"/>
          </a:xfrm>
          <a:prstGeom prst="rect">
            <a:avLst/>
          </a:prstGeom>
          <a:noFill/>
          <a:ln>
            <a:noFill/>
          </a:ln>
        </p:spPr>
      </p:pic>
      <p:pic>
        <p:nvPicPr>
          <p:cNvPr id="268" name="Google Shape;268;p23" descr="image.png"/>
          <p:cNvPicPr preferRelativeResize="0"/>
          <p:nvPr/>
        </p:nvPicPr>
        <p:blipFill rotWithShape="1">
          <a:blip r:embed="rId5"/>
          <a:srcRect/>
          <a:stretch>
            <a:fillRect/>
          </a:stretch>
        </p:blipFill>
        <p:spPr>
          <a:xfrm>
            <a:off x="1247775" y="5312717"/>
            <a:ext cx="171450" cy="200025"/>
          </a:xfrm>
          <a:prstGeom prst="rect">
            <a:avLst/>
          </a:prstGeom>
          <a:noFill/>
          <a:ln>
            <a:noFill/>
          </a:ln>
        </p:spPr>
      </p:pic>
      <p:pic>
        <p:nvPicPr>
          <p:cNvPr id="269" name="Google Shape;269;p23" descr="image.png"/>
          <p:cNvPicPr preferRelativeResize="0"/>
          <p:nvPr/>
        </p:nvPicPr>
        <p:blipFill rotWithShape="1">
          <a:blip r:embed="rId5"/>
          <a:srcRect/>
          <a:stretch>
            <a:fillRect/>
          </a:stretch>
        </p:blipFill>
        <p:spPr>
          <a:xfrm>
            <a:off x="1247775" y="6221313"/>
            <a:ext cx="171450" cy="200025"/>
          </a:xfrm>
          <a:prstGeom prst="rect">
            <a:avLst/>
          </a:prstGeom>
          <a:noFill/>
          <a:ln>
            <a:noFill/>
          </a:ln>
        </p:spPr>
      </p:pic>
      <p:sp>
        <p:nvSpPr>
          <p:cNvPr id="270" name="Google Shape;270;p23"/>
          <p:cNvSpPr txBox="1"/>
          <p:nvPr/>
        </p:nvSpPr>
        <p:spPr>
          <a:xfrm>
            <a:off x="800100" y="919311"/>
            <a:ext cx="11361420" cy="5143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00" b="1" i="0" u="none" strike="noStrike" cap="none">
                <a:solidFill>
                  <a:srgbClr val="38BDF8"/>
                </a:solidFill>
                <a:latin typeface="Inter" panose="02000503000000020004"/>
                <a:ea typeface="Inter" panose="02000503000000020004"/>
                <a:cs typeface="Inter" panose="02000503000000020004"/>
                <a:sym typeface="Inter" panose="02000503000000020004"/>
              </a:rPr>
              <a:t>ACID PROPERTIES</a:t>
            </a:r>
          </a:p>
        </p:txBody>
      </p:sp>
      <p:sp>
        <p:nvSpPr>
          <p:cNvPr id="271" name="Google Shape;271;p23"/>
          <p:cNvSpPr/>
          <p:nvPr/>
        </p:nvSpPr>
        <p:spPr>
          <a:xfrm>
            <a:off x="571500" y="919311"/>
            <a:ext cx="76200" cy="514350"/>
          </a:xfrm>
          <a:prstGeom prst="rect">
            <a:avLst/>
          </a:prstGeom>
          <a:solidFill>
            <a:srgbClr val="38BDF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mph" presetSubtype="2" fill="hold" nodeType="clickEffect">
                                  <p:stCondLst>
                                    <p:cond delay="0"/>
                                  </p:stCondLst>
                                  <p:childTnLst>
                                    <p:animClr clrSpc="rgb" dir="cw">
                                      <p:cBhvr>
                                        <p:cTn id="6" dur="2000" fill="hold"/>
                                        <p:tgtEl>
                                          <p:spTgt spid="260"/>
                                        </p:tgtEl>
                                        <p:attrNameLst>
                                          <p:attrName>fillcolor</p:attrName>
                                        </p:attrNameLst>
                                      </p:cBhvr>
                                      <p:to>
                                        <a:srgbClr val="00B050"/>
                                      </p:to>
                                    </p:animClr>
                                    <p:set>
                                      <p:cBhvr>
                                        <p:cTn id="7" dur="2000" fill="hold"/>
                                        <p:tgtEl>
                                          <p:spTgt spid="260"/>
                                        </p:tgtEl>
                                        <p:attrNameLst>
                                          <p:attrName>fill.type</p:attrName>
                                        </p:attrNameLst>
                                      </p:cBhvr>
                                      <p:to>
                                        <p:strVal val="solid"/>
                                      </p:to>
                                    </p:set>
                                    <p:set>
                                      <p:cBhvr>
                                        <p:cTn id="8" dur="2000" fill="hold"/>
                                        <p:tgtEl>
                                          <p:spTgt spid="260"/>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1E293B"/>
        </a:solidFill>
        <a:effectLst/>
      </p:bgPr>
    </p:bg>
    <p:spTree>
      <p:nvGrpSpPr>
        <p:cNvPr id="1" name="Shape 275"/>
        <p:cNvGrpSpPr/>
        <p:nvPr/>
      </p:nvGrpSpPr>
      <p:grpSpPr>
        <a:xfrm>
          <a:off x="0" y="0"/>
          <a:ext cx="0" cy="0"/>
          <a:chOff x="0" y="0"/>
          <a:chExt cx="0" cy="0"/>
        </a:xfrm>
      </p:grpSpPr>
      <p:pic>
        <p:nvPicPr>
          <p:cNvPr id="276" name="Google Shape;276;p24" descr="image.png"/>
          <p:cNvPicPr preferRelativeResize="0"/>
          <p:nvPr/>
        </p:nvPicPr>
        <p:blipFill rotWithShape="1">
          <a:blip r:embed="rId3"/>
          <a:srcRect/>
          <a:stretch>
            <a:fillRect/>
          </a:stretch>
        </p:blipFill>
        <p:spPr>
          <a:xfrm>
            <a:off x="0" y="0"/>
            <a:ext cx="12192000" cy="6858000"/>
          </a:xfrm>
          <a:prstGeom prst="rect">
            <a:avLst/>
          </a:prstGeom>
          <a:noFill/>
          <a:ln>
            <a:noFill/>
          </a:ln>
        </p:spPr>
      </p:pic>
      <p:pic>
        <p:nvPicPr>
          <p:cNvPr id="277" name="Google Shape;277;p24" descr="image.png"/>
          <p:cNvPicPr preferRelativeResize="0"/>
          <p:nvPr/>
        </p:nvPicPr>
        <p:blipFill rotWithShape="1">
          <a:blip r:embed="rId4"/>
          <a:srcRect/>
          <a:stretch>
            <a:fillRect/>
          </a:stretch>
        </p:blipFill>
        <p:spPr>
          <a:xfrm>
            <a:off x="571500" y="6871989"/>
            <a:ext cx="11049000" cy="838200"/>
          </a:xfrm>
          <a:prstGeom prst="rect">
            <a:avLst/>
          </a:prstGeom>
          <a:noFill/>
          <a:ln>
            <a:noFill/>
          </a:ln>
        </p:spPr>
      </p:pic>
      <p:sp>
        <p:nvSpPr>
          <p:cNvPr id="278" name="Google Shape;278;p24"/>
          <p:cNvSpPr txBox="1"/>
          <p:nvPr/>
        </p:nvSpPr>
        <p:spPr>
          <a:xfrm>
            <a:off x="571500" y="2043261"/>
            <a:ext cx="11049000" cy="36567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800" b="0" i="0" u="none" strike="noStrike" cap="none">
                <a:solidFill>
                  <a:srgbClr val="CBD5E1"/>
                </a:solidFill>
                <a:latin typeface="Inter" panose="02000503000000020004"/>
                <a:ea typeface="Inter" panose="02000503000000020004"/>
                <a:cs typeface="Inter" panose="02000503000000020004"/>
                <a:sym typeface="Inter" panose="02000503000000020004"/>
              </a:rPr>
              <a:t>Which of the following SQL commands belongs to the Data Definition Language (DDL) subset?</a:t>
            </a:r>
          </a:p>
        </p:txBody>
      </p:sp>
      <p:sp>
        <p:nvSpPr>
          <p:cNvPr id="279" name="Google Shape;279;p24"/>
          <p:cNvSpPr txBox="1"/>
          <p:nvPr/>
        </p:nvSpPr>
        <p:spPr>
          <a:xfrm>
            <a:off x="6481762" y="7129164"/>
            <a:ext cx="1428750" cy="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100" b="0" i="0" u="none" strike="noStrike" cap="none">
                <a:solidFill>
                  <a:srgbClr val="FEF08A"/>
                </a:solidFill>
                <a:latin typeface="Inter Black"/>
                <a:ea typeface="Inter Black"/>
                <a:cs typeface="Inter Black"/>
                <a:sym typeface="Inter Black"/>
              </a:rPr>
              <a:t>C) CREATE</a:t>
            </a:r>
          </a:p>
        </p:txBody>
      </p:sp>
      <p:sp>
        <p:nvSpPr>
          <p:cNvPr id="280" name="Google Shape;280;p24"/>
          <p:cNvSpPr/>
          <p:nvPr/>
        </p:nvSpPr>
        <p:spPr>
          <a:xfrm>
            <a:off x="952500" y="2847082"/>
            <a:ext cx="10668000" cy="765720"/>
          </a:xfrm>
          <a:prstGeom prst="roundRect">
            <a:avLst>
              <a:gd name="adj" fmla="val 9951"/>
            </a:avLst>
          </a:prstGeom>
          <a:solidFill>
            <a:srgbClr val="334155"/>
          </a:solidFill>
          <a:ln w="9525" cap="flat" cmpd="sng">
            <a:solidFill>
              <a:srgbClr val="94A3B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81" name="Google Shape;281;p24"/>
          <p:cNvSpPr txBox="1"/>
          <p:nvPr/>
        </p:nvSpPr>
        <p:spPr>
          <a:xfrm>
            <a:off x="1600200" y="3037582"/>
            <a:ext cx="9734550" cy="384720"/>
          </a:xfrm>
          <a:prstGeom prst="rect">
            <a:avLst/>
          </a:prstGeom>
          <a:noFill/>
          <a:ln>
            <a:noFill/>
          </a:ln>
        </p:spPr>
        <p:txBody>
          <a:bodyPr spcFirstLastPara="1" wrap="square" lIns="0" tIns="0" rIns="0" bIns="0" anchor="ctr" anchorCtr="0">
            <a:spAutoFit/>
          </a:bodyPr>
          <a:lstStyle/>
          <a:p>
            <a:pPr marL="0" marR="0" lvl="0" indent="0" algn="l" rtl="0">
              <a:lnSpc>
                <a:spcPct val="160000"/>
              </a:lnSpc>
              <a:spcBef>
                <a:spcPts val="0"/>
              </a:spcBef>
              <a:spcAft>
                <a:spcPts val="0"/>
              </a:spcAft>
              <a:buNone/>
            </a:pPr>
            <a:r>
              <a:rPr lang="en-US" sz="1800" b="0" i="0" u="none" strike="noStrike" cap="none">
                <a:solidFill>
                  <a:srgbClr val="CBD5E1"/>
                </a:solidFill>
                <a:latin typeface="Inter" panose="02000503000000020004"/>
                <a:ea typeface="Inter" panose="02000503000000020004"/>
                <a:cs typeface="Inter" panose="02000503000000020004"/>
                <a:sym typeface="Inter" panose="02000503000000020004"/>
              </a:rPr>
              <a:t>A) SELECT</a:t>
            </a:r>
          </a:p>
        </p:txBody>
      </p:sp>
      <p:sp>
        <p:nvSpPr>
          <p:cNvPr id="282" name="Google Shape;282;p24"/>
          <p:cNvSpPr/>
          <p:nvPr/>
        </p:nvSpPr>
        <p:spPr>
          <a:xfrm>
            <a:off x="952500" y="3755677"/>
            <a:ext cx="10668000" cy="765720"/>
          </a:xfrm>
          <a:prstGeom prst="roundRect">
            <a:avLst>
              <a:gd name="adj" fmla="val 9951"/>
            </a:avLst>
          </a:prstGeom>
          <a:solidFill>
            <a:srgbClr val="334155"/>
          </a:solidFill>
          <a:ln w="9525" cap="flat" cmpd="sng">
            <a:solidFill>
              <a:srgbClr val="94A3B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83" name="Google Shape;283;p24"/>
          <p:cNvSpPr txBox="1"/>
          <p:nvPr/>
        </p:nvSpPr>
        <p:spPr>
          <a:xfrm>
            <a:off x="1600200" y="3946177"/>
            <a:ext cx="9734550" cy="384720"/>
          </a:xfrm>
          <a:prstGeom prst="rect">
            <a:avLst/>
          </a:prstGeom>
          <a:noFill/>
          <a:ln>
            <a:noFill/>
          </a:ln>
        </p:spPr>
        <p:txBody>
          <a:bodyPr spcFirstLastPara="1" wrap="square" lIns="0" tIns="0" rIns="0" bIns="0" anchor="ctr" anchorCtr="0">
            <a:spAutoFit/>
          </a:bodyPr>
          <a:lstStyle/>
          <a:p>
            <a:pPr marL="0" marR="0" lvl="0" indent="0" algn="l" rtl="0">
              <a:lnSpc>
                <a:spcPct val="160000"/>
              </a:lnSpc>
              <a:spcBef>
                <a:spcPts val="0"/>
              </a:spcBef>
              <a:spcAft>
                <a:spcPts val="0"/>
              </a:spcAft>
              <a:buNone/>
            </a:pPr>
            <a:r>
              <a:rPr lang="en-US" sz="1800" b="0" i="0" u="none" strike="noStrike" cap="none">
                <a:solidFill>
                  <a:srgbClr val="CBD5E1"/>
                </a:solidFill>
                <a:latin typeface="Inter" panose="02000503000000020004"/>
                <a:ea typeface="Inter" panose="02000503000000020004"/>
                <a:cs typeface="Inter" panose="02000503000000020004"/>
                <a:sym typeface="Inter" panose="02000503000000020004"/>
              </a:rPr>
              <a:t>B) UPDATE</a:t>
            </a:r>
          </a:p>
        </p:txBody>
      </p:sp>
      <p:sp>
        <p:nvSpPr>
          <p:cNvPr id="284" name="Google Shape;284;p24"/>
          <p:cNvSpPr/>
          <p:nvPr/>
        </p:nvSpPr>
        <p:spPr>
          <a:xfrm>
            <a:off x="952500" y="4664273"/>
            <a:ext cx="10668000" cy="765720"/>
          </a:xfrm>
          <a:prstGeom prst="roundRect">
            <a:avLst>
              <a:gd name="adj" fmla="val 9951"/>
            </a:avLst>
          </a:prstGeom>
          <a:solidFill>
            <a:srgbClr val="334155"/>
          </a:solidFill>
          <a:ln w="9525" cap="flat" cmpd="sng">
            <a:solidFill>
              <a:srgbClr val="94A3B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85" name="Google Shape;285;p24"/>
          <p:cNvSpPr txBox="1"/>
          <p:nvPr/>
        </p:nvSpPr>
        <p:spPr>
          <a:xfrm>
            <a:off x="1600200" y="4854773"/>
            <a:ext cx="9734550" cy="384720"/>
          </a:xfrm>
          <a:prstGeom prst="rect">
            <a:avLst/>
          </a:prstGeom>
          <a:noFill/>
          <a:ln>
            <a:noFill/>
          </a:ln>
        </p:spPr>
        <p:txBody>
          <a:bodyPr spcFirstLastPara="1" wrap="square" lIns="0" tIns="0" rIns="0" bIns="0" anchor="ctr" anchorCtr="0">
            <a:spAutoFit/>
          </a:bodyPr>
          <a:lstStyle/>
          <a:p>
            <a:pPr marL="0" marR="0" lvl="0" indent="0" algn="l" rtl="0">
              <a:lnSpc>
                <a:spcPct val="160000"/>
              </a:lnSpc>
              <a:spcBef>
                <a:spcPts val="0"/>
              </a:spcBef>
              <a:spcAft>
                <a:spcPts val="0"/>
              </a:spcAft>
              <a:buNone/>
            </a:pPr>
            <a:r>
              <a:rPr lang="en-US" sz="1800" b="0" i="0" u="none" strike="noStrike" cap="none">
                <a:solidFill>
                  <a:srgbClr val="CBD5E1"/>
                </a:solidFill>
                <a:latin typeface="Inter" panose="02000503000000020004"/>
                <a:ea typeface="Inter" panose="02000503000000020004"/>
                <a:cs typeface="Inter" panose="02000503000000020004"/>
                <a:sym typeface="Inter" panose="02000503000000020004"/>
              </a:rPr>
              <a:t>C) CREATE</a:t>
            </a:r>
          </a:p>
        </p:txBody>
      </p:sp>
      <p:sp>
        <p:nvSpPr>
          <p:cNvPr id="286" name="Google Shape;286;p24"/>
          <p:cNvSpPr/>
          <p:nvPr/>
        </p:nvSpPr>
        <p:spPr>
          <a:xfrm>
            <a:off x="952500" y="5572869"/>
            <a:ext cx="10668000" cy="765720"/>
          </a:xfrm>
          <a:prstGeom prst="roundRect">
            <a:avLst>
              <a:gd name="adj" fmla="val 9951"/>
            </a:avLst>
          </a:prstGeom>
          <a:solidFill>
            <a:srgbClr val="334155"/>
          </a:solidFill>
          <a:ln w="9525" cap="flat" cmpd="sng">
            <a:solidFill>
              <a:srgbClr val="94A3B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87" name="Google Shape;287;p24"/>
          <p:cNvSpPr txBox="1"/>
          <p:nvPr/>
        </p:nvSpPr>
        <p:spPr>
          <a:xfrm>
            <a:off x="1600200" y="5763369"/>
            <a:ext cx="9734550" cy="384720"/>
          </a:xfrm>
          <a:prstGeom prst="rect">
            <a:avLst/>
          </a:prstGeom>
          <a:noFill/>
          <a:ln>
            <a:noFill/>
          </a:ln>
        </p:spPr>
        <p:txBody>
          <a:bodyPr spcFirstLastPara="1" wrap="square" lIns="0" tIns="0" rIns="0" bIns="0" anchor="ctr" anchorCtr="0">
            <a:spAutoFit/>
          </a:bodyPr>
          <a:lstStyle/>
          <a:p>
            <a:pPr marL="0" marR="0" lvl="0" indent="0" algn="l" rtl="0">
              <a:lnSpc>
                <a:spcPct val="160000"/>
              </a:lnSpc>
              <a:spcBef>
                <a:spcPts val="0"/>
              </a:spcBef>
              <a:spcAft>
                <a:spcPts val="0"/>
              </a:spcAft>
              <a:buNone/>
            </a:pPr>
            <a:r>
              <a:rPr lang="en-US" sz="1800" b="0" i="0" u="none" strike="noStrike" cap="none">
                <a:solidFill>
                  <a:srgbClr val="CBD5E1"/>
                </a:solidFill>
                <a:latin typeface="Inter" panose="02000503000000020004"/>
                <a:ea typeface="Inter" panose="02000503000000020004"/>
                <a:cs typeface="Inter" panose="02000503000000020004"/>
                <a:sym typeface="Inter" panose="02000503000000020004"/>
              </a:rPr>
              <a:t>D) INSERT</a:t>
            </a:r>
          </a:p>
        </p:txBody>
      </p:sp>
      <p:sp>
        <p:nvSpPr>
          <p:cNvPr id="288" name="Google Shape;288;p24"/>
          <p:cNvSpPr/>
          <p:nvPr/>
        </p:nvSpPr>
        <p:spPr>
          <a:xfrm>
            <a:off x="952500" y="3603277"/>
            <a:ext cx="10668000" cy="9525"/>
          </a:xfrm>
          <a:prstGeom prst="rect">
            <a:avLst/>
          </a:prstGeom>
          <a:solidFill>
            <a:srgbClr val="94A3B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89" name="Google Shape;289;p24"/>
          <p:cNvSpPr/>
          <p:nvPr/>
        </p:nvSpPr>
        <p:spPr>
          <a:xfrm>
            <a:off x="952500" y="4511873"/>
            <a:ext cx="10668000" cy="9525"/>
          </a:xfrm>
          <a:prstGeom prst="rect">
            <a:avLst/>
          </a:prstGeom>
          <a:solidFill>
            <a:srgbClr val="94A3B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90" name="Google Shape;290;p24"/>
          <p:cNvSpPr/>
          <p:nvPr/>
        </p:nvSpPr>
        <p:spPr>
          <a:xfrm>
            <a:off x="952500" y="5420469"/>
            <a:ext cx="10668000" cy="9525"/>
          </a:xfrm>
          <a:prstGeom prst="rect">
            <a:avLst/>
          </a:prstGeom>
          <a:solidFill>
            <a:srgbClr val="94A3B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91" name="Google Shape;291;p24"/>
          <p:cNvSpPr/>
          <p:nvPr/>
        </p:nvSpPr>
        <p:spPr>
          <a:xfrm>
            <a:off x="952500" y="6329064"/>
            <a:ext cx="10668000" cy="9525"/>
          </a:xfrm>
          <a:prstGeom prst="rect">
            <a:avLst/>
          </a:prstGeom>
          <a:solidFill>
            <a:srgbClr val="94A3B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292" name="Google Shape;292;p24" descr="image.png"/>
          <p:cNvPicPr preferRelativeResize="0"/>
          <p:nvPr/>
        </p:nvPicPr>
        <p:blipFill rotWithShape="1">
          <a:blip r:embed="rId5"/>
          <a:srcRect/>
          <a:stretch>
            <a:fillRect/>
          </a:stretch>
        </p:blipFill>
        <p:spPr>
          <a:xfrm>
            <a:off x="1247775" y="3129855"/>
            <a:ext cx="171450" cy="200025"/>
          </a:xfrm>
          <a:prstGeom prst="rect">
            <a:avLst/>
          </a:prstGeom>
          <a:noFill/>
          <a:ln>
            <a:noFill/>
          </a:ln>
        </p:spPr>
      </p:pic>
      <p:pic>
        <p:nvPicPr>
          <p:cNvPr id="293" name="Google Shape;293;p24" descr="image.png"/>
          <p:cNvPicPr preferRelativeResize="0"/>
          <p:nvPr/>
        </p:nvPicPr>
        <p:blipFill rotWithShape="1">
          <a:blip r:embed="rId5"/>
          <a:srcRect/>
          <a:stretch>
            <a:fillRect/>
          </a:stretch>
        </p:blipFill>
        <p:spPr>
          <a:xfrm>
            <a:off x="1247775" y="4038451"/>
            <a:ext cx="171450" cy="200025"/>
          </a:xfrm>
          <a:prstGeom prst="rect">
            <a:avLst/>
          </a:prstGeom>
          <a:noFill/>
          <a:ln>
            <a:noFill/>
          </a:ln>
        </p:spPr>
      </p:pic>
      <p:pic>
        <p:nvPicPr>
          <p:cNvPr id="294" name="Google Shape;294;p24" descr="image.png"/>
          <p:cNvPicPr preferRelativeResize="0"/>
          <p:nvPr/>
        </p:nvPicPr>
        <p:blipFill rotWithShape="1">
          <a:blip r:embed="rId5"/>
          <a:srcRect/>
          <a:stretch>
            <a:fillRect/>
          </a:stretch>
        </p:blipFill>
        <p:spPr>
          <a:xfrm>
            <a:off x="1247775" y="4947046"/>
            <a:ext cx="171450" cy="200025"/>
          </a:xfrm>
          <a:prstGeom prst="rect">
            <a:avLst/>
          </a:prstGeom>
          <a:noFill/>
          <a:ln>
            <a:noFill/>
          </a:ln>
        </p:spPr>
      </p:pic>
      <p:pic>
        <p:nvPicPr>
          <p:cNvPr id="295" name="Google Shape;295;p24" descr="image.png"/>
          <p:cNvPicPr preferRelativeResize="0"/>
          <p:nvPr/>
        </p:nvPicPr>
        <p:blipFill rotWithShape="1">
          <a:blip r:embed="rId5"/>
          <a:srcRect/>
          <a:stretch>
            <a:fillRect/>
          </a:stretch>
        </p:blipFill>
        <p:spPr>
          <a:xfrm>
            <a:off x="1247775" y="5855642"/>
            <a:ext cx="171450" cy="200025"/>
          </a:xfrm>
          <a:prstGeom prst="rect">
            <a:avLst/>
          </a:prstGeom>
          <a:noFill/>
          <a:ln>
            <a:noFill/>
          </a:ln>
        </p:spPr>
      </p:pic>
      <p:sp>
        <p:nvSpPr>
          <p:cNvPr id="296" name="Google Shape;296;p24"/>
          <p:cNvSpPr txBox="1"/>
          <p:nvPr/>
        </p:nvSpPr>
        <p:spPr>
          <a:xfrm>
            <a:off x="800100" y="919311"/>
            <a:ext cx="11361420" cy="5143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00" b="1" i="0" u="none" strike="noStrike" cap="none">
                <a:solidFill>
                  <a:srgbClr val="38BDF8"/>
                </a:solidFill>
                <a:latin typeface="Inter" panose="02000503000000020004"/>
                <a:ea typeface="Inter" panose="02000503000000020004"/>
                <a:cs typeface="Inter" panose="02000503000000020004"/>
                <a:sym typeface="Inter" panose="02000503000000020004"/>
              </a:rPr>
              <a:t>SQL SUBSETS</a:t>
            </a:r>
          </a:p>
        </p:txBody>
      </p:sp>
      <p:sp>
        <p:nvSpPr>
          <p:cNvPr id="297" name="Google Shape;297;p24"/>
          <p:cNvSpPr/>
          <p:nvPr/>
        </p:nvSpPr>
        <p:spPr>
          <a:xfrm>
            <a:off x="571500" y="919311"/>
            <a:ext cx="76200" cy="514350"/>
          </a:xfrm>
          <a:prstGeom prst="rect">
            <a:avLst/>
          </a:prstGeom>
          <a:solidFill>
            <a:srgbClr val="38BDF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mph" presetSubtype="2" fill="hold" nodeType="clickEffect">
                                  <p:stCondLst>
                                    <p:cond delay="0"/>
                                  </p:stCondLst>
                                  <p:childTnLst>
                                    <p:animClr clrSpc="rgb" dir="cw">
                                      <p:cBhvr>
                                        <p:cTn id="6" dur="2000" fill="hold"/>
                                        <p:tgtEl>
                                          <p:spTgt spid="284"/>
                                        </p:tgtEl>
                                        <p:attrNameLst>
                                          <p:attrName>fillcolor</p:attrName>
                                        </p:attrNameLst>
                                      </p:cBhvr>
                                      <p:to>
                                        <a:srgbClr val="00B050"/>
                                      </p:to>
                                    </p:animClr>
                                    <p:set>
                                      <p:cBhvr>
                                        <p:cTn id="7" dur="2000" fill="hold"/>
                                        <p:tgtEl>
                                          <p:spTgt spid="284"/>
                                        </p:tgtEl>
                                        <p:attrNameLst>
                                          <p:attrName>fill.type</p:attrName>
                                        </p:attrNameLst>
                                      </p:cBhvr>
                                      <p:to>
                                        <p:strVal val="solid"/>
                                      </p:to>
                                    </p:set>
                                    <p:set>
                                      <p:cBhvr>
                                        <p:cTn id="8" dur="2000" fill="hold"/>
                                        <p:tgtEl>
                                          <p:spTgt spid="284"/>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5"/>
        <p:cNvGrpSpPr/>
        <p:nvPr/>
      </p:nvGrpSpPr>
      <p:grpSpPr>
        <a:xfrm>
          <a:off x="0" y="0"/>
          <a:ext cx="0" cy="0"/>
          <a:chOff x="0" y="0"/>
          <a:chExt cx="0" cy="0"/>
        </a:xfrm>
      </p:grpSpPr>
      <p:pic>
        <p:nvPicPr>
          <p:cNvPr id="276" name="Google Shape;276;p24" descr="image.png"/>
          <p:cNvPicPr preferRelativeResize="0"/>
          <p:nvPr/>
        </p:nvPicPr>
        <p:blipFill rotWithShape="1">
          <a:blip r:embed="rId3"/>
          <a:srcRect/>
          <a:stretch>
            <a:fillRect/>
          </a:stretch>
        </p:blipFill>
        <p:spPr>
          <a:xfrm>
            <a:off x="0" y="0"/>
            <a:ext cx="12192000" cy="6858000"/>
          </a:xfrm>
          <a:prstGeom prst="rect">
            <a:avLst/>
          </a:prstGeom>
          <a:noFill/>
          <a:ln>
            <a:noFill/>
          </a:ln>
        </p:spPr>
      </p:pic>
      <p:pic>
        <p:nvPicPr>
          <p:cNvPr id="277" name="Google Shape;277;p24" descr="image.png"/>
          <p:cNvPicPr preferRelativeResize="0"/>
          <p:nvPr/>
        </p:nvPicPr>
        <p:blipFill rotWithShape="1">
          <a:blip r:embed="rId4"/>
          <a:srcRect/>
          <a:stretch>
            <a:fillRect/>
          </a:stretch>
        </p:blipFill>
        <p:spPr>
          <a:xfrm>
            <a:off x="571500" y="6871989"/>
            <a:ext cx="11049000" cy="838200"/>
          </a:xfrm>
          <a:prstGeom prst="rect">
            <a:avLst/>
          </a:prstGeom>
          <a:noFill/>
          <a:ln>
            <a:noFill/>
          </a:ln>
        </p:spPr>
      </p:pic>
      <p:sp>
        <p:nvSpPr>
          <p:cNvPr id="278" name="Google Shape;278;p24"/>
          <p:cNvSpPr txBox="1"/>
          <p:nvPr/>
        </p:nvSpPr>
        <p:spPr>
          <a:xfrm>
            <a:off x="571500" y="2043261"/>
            <a:ext cx="11049000" cy="443198"/>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800" b="0" i="0" u="none" strike="noStrike" cap="none" dirty="0">
                <a:solidFill>
                  <a:srgbClr val="CBD5E1"/>
                </a:solidFill>
                <a:latin typeface="Inter" panose="02000503000000020004"/>
                <a:ea typeface="Inter" panose="02000503000000020004"/>
                <a:cs typeface="Inter" panose="02000503000000020004"/>
                <a:sym typeface="Inter" panose="02000503000000020004"/>
              </a:rPr>
              <a:t>In database transaction management, what does the "I" stand for in the ACID properties?</a:t>
            </a:r>
            <a:endParaRPr dirty="0"/>
          </a:p>
        </p:txBody>
      </p:sp>
      <p:sp>
        <p:nvSpPr>
          <p:cNvPr id="279" name="Google Shape;279;p24"/>
          <p:cNvSpPr txBox="1"/>
          <p:nvPr/>
        </p:nvSpPr>
        <p:spPr>
          <a:xfrm>
            <a:off x="6481762" y="7129164"/>
            <a:ext cx="1428750" cy="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100" b="0" i="0" u="none" strike="noStrike" cap="none">
                <a:solidFill>
                  <a:srgbClr val="FEF08A"/>
                </a:solidFill>
                <a:latin typeface="Inter Black"/>
                <a:ea typeface="Inter Black"/>
                <a:cs typeface="Inter Black"/>
                <a:sym typeface="Inter Black"/>
              </a:rPr>
              <a:t>C) CREATE</a:t>
            </a:r>
          </a:p>
        </p:txBody>
      </p:sp>
      <p:sp>
        <p:nvSpPr>
          <p:cNvPr id="280" name="Google Shape;280;p24"/>
          <p:cNvSpPr/>
          <p:nvPr/>
        </p:nvSpPr>
        <p:spPr>
          <a:xfrm>
            <a:off x="952500" y="2847082"/>
            <a:ext cx="10668000" cy="765720"/>
          </a:xfrm>
          <a:prstGeom prst="roundRect">
            <a:avLst>
              <a:gd name="adj" fmla="val 9951"/>
            </a:avLst>
          </a:prstGeom>
          <a:solidFill>
            <a:srgbClr val="334155"/>
          </a:solidFill>
          <a:ln w="9525" cap="flat" cmpd="sng">
            <a:solidFill>
              <a:srgbClr val="94A3B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81" name="Google Shape;281;p24"/>
          <p:cNvSpPr txBox="1"/>
          <p:nvPr/>
        </p:nvSpPr>
        <p:spPr>
          <a:xfrm>
            <a:off x="1600200" y="3008343"/>
            <a:ext cx="9734550" cy="443198"/>
          </a:xfrm>
          <a:prstGeom prst="rect">
            <a:avLst/>
          </a:prstGeom>
          <a:noFill/>
          <a:ln>
            <a:noFill/>
          </a:ln>
        </p:spPr>
        <p:txBody>
          <a:bodyPr spcFirstLastPara="1" wrap="square" lIns="0" tIns="0" rIns="0" bIns="0" anchor="ctr" anchorCtr="0">
            <a:spAutoFit/>
          </a:bodyPr>
          <a:lstStyle/>
          <a:p>
            <a:pPr marL="0" marR="0" lvl="0" indent="0" algn="l" rtl="0">
              <a:lnSpc>
                <a:spcPct val="160000"/>
              </a:lnSpc>
              <a:spcBef>
                <a:spcPts val="0"/>
              </a:spcBef>
              <a:spcAft>
                <a:spcPts val="0"/>
              </a:spcAft>
              <a:buNone/>
            </a:pPr>
            <a:r>
              <a:rPr lang="en-US" sz="1800" b="0" i="0" u="none" strike="noStrike" cap="none" dirty="0">
                <a:solidFill>
                  <a:srgbClr val="CBD5E1"/>
                </a:solidFill>
                <a:latin typeface="Inter" panose="02000503000000020004"/>
                <a:ea typeface="Inter" panose="02000503000000020004"/>
                <a:cs typeface="Inter" panose="02000503000000020004"/>
                <a:sym typeface="Inter" panose="02000503000000020004"/>
              </a:rPr>
              <a:t>A) Indexes</a:t>
            </a:r>
            <a:endParaRPr dirty="0"/>
          </a:p>
        </p:txBody>
      </p:sp>
      <p:sp>
        <p:nvSpPr>
          <p:cNvPr id="282" name="Google Shape;282;p24"/>
          <p:cNvSpPr/>
          <p:nvPr/>
        </p:nvSpPr>
        <p:spPr>
          <a:xfrm>
            <a:off x="952500" y="3755677"/>
            <a:ext cx="10668000" cy="765720"/>
          </a:xfrm>
          <a:prstGeom prst="roundRect">
            <a:avLst>
              <a:gd name="adj" fmla="val 9951"/>
            </a:avLst>
          </a:prstGeom>
          <a:solidFill>
            <a:srgbClr val="334155"/>
          </a:solidFill>
          <a:ln w="9525" cap="flat" cmpd="sng">
            <a:solidFill>
              <a:srgbClr val="94A3B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83" name="Google Shape;283;p24"/>
          <p:cNvSpPr txBox="1"/>
          <p:nvPr/>
        </p:nvSpPr>
        <p:spPr>
          <a:xfrm>
            <a:off x="1600200" y="3916938"/>
            <a:ext cx="9734550" cy="443198"/>
          </a:xfrm>
          <a:prstGeom prst="rect">
            <a:avLst/>
          </a:prstGeom>
          <a:noFill/>
          <a:ln>
            <a:noFill/>
          </a:ln>
        </p:spPr>
        <p:txBody>
          <a:bodyPr spcFirstLastPara="1" wrap="square" lIns="0" tIns="0" rIns="0" bIns="0" anchor="ctr" anchorCtr="0">
            <a:spAutoFit/>
          </a:bodyPr>
          <a:lstStyle/>
          <a:p>
            <a:pPr marL="0" marR="0" lvl="0" indent="0" algn="l" rtl="0">
              <a:lnSpc>
                <a:spcPct val="160000"/>
              </a:lnSpc>
              <a:spcBef>
                <a:spcPts val="0"/>
              </a:spcBef>
              <a:spcAft>
                <a:spcPts val="0"/>
              </a:spcAft>
              <a:buNone/>
            </a:pPr>
            <a:r>
              <a:rPr lang="en-US" sz="1800" b="0" i="0" u="none" strike="noStrike" cap="none" dirty="0">
                <a:solidFill>
                  <a:srgbClr val="CBD5E1"/>
                </a:solidFill>
                <a:latin typeface="Inter" panose="02000503000000020004"/>
                <a:ea typeface="Inter" panose="02000503000000020004"/>
                <a:cs typeface="Inter" panose="02000503000000020004"/>
                <a:sym typeface="Inter" panose="02000503000000020004"/>
              </a:rPr>
              <a:t>B) Integrity</a:t>
            </a:r>
            <a:endParaRPr dirty="0"/>
          </a:p>
        </p:txBody>
      </p:sp>
      <p:sp>
        <p:nvSpPr>
          <p:cNvPr id="284" name="Google Shape;284;p24"/>
          <p:cNvSpPr/>
          <p:nvPr/>
        </p:nvSpPr>
        <p:spPr>
          <a:xfrm>
            <a:off x="952500" y="4664273"/>
            <a:ext cx="10668000" cy="765720"/>
          </a:xfrm>
          <a:prstGeom prst="roundRect">
            <a:avLst>
              <a:gd name="adj" fmla="val 9951"/>
            </a:avLst>
          </a:prstGeom>
          <a:solidFill>
            <a:srgbClr val="334155"/>
          </a:solidFill>
          <a:ln w="9525" cap="flat" cmpd="sng">
            <a:solidFill>
              <a:srgbClr val="94A3B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85" name="Google Shape;285;p24"/>
          <p:cNvSpPr txBox="1"/>
          <p:nvPr/>
        </p:nvSpPr>
        <p:spPr>
          <a:xfrm>
            <a:off x="1600200" y="4825534"/>
            <a:ext cx="9734550" cy="443198"/>
          </a:xfrm>
          <a:prstGeom prst="rect">
            <a:avLst/>
          </a:prstGeom>
          <a:noFill/>
          <a:ln>
            <a:noFill/>
          </a:ln>
        </p:spPr>
        <p:txBody>
          <a:bodyPr spcFirstLastPara="1" wrap="square" lIns="0" tIns="0" rIns="0" bIns="0" anchor="ctr" anchorCtr="0">
            <a:spAutoFit/>
          </a:bodyPr>
          <a:lstStyle/>
          <a:p>
            <a:pPr marL="0" marR="0" lvl="0" indent="0" algn="l" rtl="0">
              <a:lnSpc>
                <a:spcPct val="160000"/>
              </a:lnSpc>
              <a:spcBef>
                <a:spcPts val="0"/>
              </a:spcBef>
              <a:spcAft>
                <a:spcPts val="0"/>
              </a:spcAft>
              <a:buNone/>
            </a:pPr>
            <a:r>
              <a:rPr lang="en-US" sz="1800" b="0" i="0" u="none" strike="noStrike" cap="none" dirty="0">
                <a:solidFill>
                  <a:srgbClr val="CBD5E1"/>
                </a:solidFill>
                <a:latin typeface="Inter" panose="02000503000000020004"/>
                <a:ea typeface="Inter" panose="02000503000000020004"/>
                <a:cs typeface="Inter" panose="02000503000000020004"/>
                <a:sym typeface="Inter" panose="02000503000000020004"/>
              </a:rPr>
              <a:t>C) Isolation</a:t>
            </a:r>
            <a:endParaRPr dirty="0"/>
          </a:p>
        </p:txBody>
      </p:sp>
      <p:sp>
        <p:nvSpPr>
          <p:cNvPr id="286" name="Google Shape;286;p24"/>
          <p:cNvSpPr/>
          <p:nvPr/>
        </p:nvSpPr>
        <p:spPr>
          <a:xfrm>
            <a:off x="952500" y="5572869"/>
            <a:ext cx="10668000" cy="765720"/>
          </a:xfrm>
          <a:prstGeom prst="roundRect">
            <a:avLst>
              <a:gd name="adj" fmla="val 9951"/>
            </a:avLst>
          </a:prstGeom>
          <a:solidFill>
            <a:srgbClr val="334155"/>
          </a:solidFill>
          <a:ln w="9525" cap="flat" cmpd="sng">
            <a:solidFill>
              <a:srgbClr val="94A3B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87" name="Google Shape;287;p24"/>
          <p:cNvSpPr txBox="1"/>
          <p:nvPr/>
        </p:nvSpPr>
        <p:spPr>
          <a:xfrm>
            <a:off x="1600200" y="5734130"/>
            <a:ext cx="9734550" cy="443198"/>
          </a:xfrm>
          <a:prstGeom prst="rect">
            <a:avLst/>
          </a:prstGeom>
          <a:noFill/>
          <a:ln>
            <a:noFill/>
          </a:ln>
        </p:spPr>
        <p:txBody>
          <a:bodyPr spcFirstLastPara="1" wrap="square" lIns="0" tIns="0" rIns="0" bIns="0" anchor="ctr" anchorCtr="0">
            <a:spAutoFit/>
          </a:bodyPr>
          <a:lstStyle/>
          <a:p>
            <a:pPr marL="0" marR="0" lvl="0" indent="0" algn="l" rtl="0">
              <a:lnSpc>
                <a:spcPct val="160000"/>
              </a:lnSpc>
              <a:spcBef>
                <a:spcPts val="0"/>
              </a:spcBef>
              <a:spcAft>
                <a:spcPts val="0"/>
              </a:spcAft>
              <a:buNone/>
            </a:pPr>
            <a:r>
              <a:rPr lang="en-US" sz="1800" b="0" i="0" u="none" strike="noStrike" cap="none" dirty="0">
                <a:solidFill>
                  <a:srgbClr val="CBD5E1"/>
                </a:solidFill>
                <a:latin typeface="Inter" panose="02000503000000020004"/>
                <a:ea typeface="Inter" panose="02000503000000020004"/>
                <a:cs typeface="Inter" panose="02000503000000020004"/>
                <a:sym typeface="Inter" panose="02000503000000020004"/>
              </a:rPr>
              <a:t>D) Iteration</a:t>
            </a:r>
            <a:endParaRPr dirty="0"/>
          </a:p>
        </p:txBody>
      </p:sp>
      <p:sp>
        <p:nvSpPr>
          <p:cNvPr id="288" name="Google Shape;288;p24"/>
          <p:cNvSpPr/>
          <p:nvPr/>
        </p:nvSpPr>
        <p:spPr>
          <a:xfrm>
            <a:off x="952500" y="3603277"/>
            <a:ext cx="10668000" cy="9525"/>
          </a:xfrm>
          <a:prstGeom prst="rect">
            <a:avLst/>
          </a:prstGeom>
          <a:solidFill>
            <a:srgbClr val="94A3B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89" name="Google Shape;289;p24"/>
          <p:cNvSpPr/>
          <p:nvPr/>
        </p:nvSpPr>
        <p:spPr>
          <a:xfrm>
            <a:off x="952500" y="4511873"/>
            <a:ext cx="10668000" cy="9525"/>
          </a:xfrm>
          <a:prstGeom prst="rect">
            <a:avLst/>
          </a:prstGeom>
          <a:solidFill>
            <a:srgbClr val="94A3B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90" name="Google Shape;290;p24"/>
          <p:cNvSpPr/>
          <p:nvPr/>
        </p:nvSpPr>
        <p:spPr>
          <a:xfrm>
            <a:off x="952500" y="5420469"/>
            <a:ext cx="10668000" cy="9525"/>
          </a:xfrm>
          <a:prstGeom prst="rect">
            <a:avLst/>
          </a:prstGeom>
          <a:solidFill>
            <a:srgbClr val="94A3B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91" name="Google Shape;291;p24"/>
          <p:cNvSpPr/>
          <p:nvPr/>
        </p:nvSpPr>
        <p:spPr>
          <a:xfrm>
            <a:off x="952500" y="6329064"/>
            <a:ext cx="10668000" cy="9525"/>
          </a:xfrm>
          <a:prstGeom prst="rect">
            <a:avLst/>
          </a:prstGeom>
          <a:solidFill>
            <a:srgbClr val="94A3B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292" name="Google Shape;292;p24" descr="image.png"/>
          <p:cNvPicPr preferRelativeResize="0"/>
          <p:nvPr/>
        </p:nvPicPr>
        <p:blipFill rotWithShape="1">
          <a:blip r:embed="rId5"/>
          <a:srcRect/>
          <a:stretch>
            <a:fillRect/>
          </a:stretch>
        </p:blipFill>
        <p:spPr>
          <a:xfrm>
            <a:off x="1247775" y="3129855"/>
            <a:ext cx="171450" cy="200025"/>
          </a:xfrm>
          <a:prstGeom prst="rect">
            <a:avLst/>
          </a:prstGeom>
          <a:noFill/>
          <a:ln>
            <a:noFill/>
          </a:ln>
        </p:spPr>
      </p:pic>
      <p:pic>
        <p:nvPicPr>
          <p:cNvPr id="293" name="Google Shape;293;p24" descr="image.png"/>
          <p:cNvPicPr preferRelativeResize="0"/>
          <p:nvPr/>
        </p:nvPicPr>
        <p:blipFill rotWithShape="1">
          <a:blip r:embed="rId5"/>
          <a:srcRect/>
          <a:stretch>
            <a:fillRect/>
          </a:stretch>
        </p:blipFill>
        <p:spPr>
          <a:xfrm>
            <a:off x="1247775" y="4038451"/>
            <a:ext cx="171450" cy="200025"/>
          </a:xfrm>
          <a:prstGeom prst="rect">
            <a:avLst/>
          </a:prstGeom>
          <a:noFill/>
          <a:ln>
            <a:noFill/>
          </a:ln>
        </p:spPr>
      </p:pic>
      <p:pic>
        <p:nvPicPr>
          <p:cNvPr id="294" name="Google Shape;294;p24" descr="image.png"/>
          <p:cNvPicPr preferRelativeResize="0"/>
          <p:nvPr/>
        </p:nvPicPr>
        <p:blipFill rotWithShape="1">
          <a:blip r:embed="rId5"/>
          <a:srcRect/>
          <a:stretch>
            <a:fillRect/>
          </a:stretch>
        </p:blipFill>
        <p:spPr>
          <a:xfrm>
            <a:off x="1247775" y="4947046"/>
            <a:ext cx="171450" cy="200025"/>
          </a:xfrm>
          <a:prstGeom prst="rect">
            <a:avLst/>
          </a:prstGeom>
          <a:noFill/>
          <a:ln>
            <a:noFill/>
          </a:ln>
        </p:spPr>
      </p:pic>
      <p:pic>
        <p:nvPicPr>
          <p:cNvPr id="295" name="Google Shape;295;p24" descr="image.png"/>
          <p:cNvPicPr preferRelativeResize="0"/>
          <p:nvPr/>
        </p:nvPicPr>
        <p:blipFill rotWithShape="1">
          <a:blip r:embed="rId5"/>
          <a:srcRect/>
          <a:stretch>
            <a:fillRect/>
          </a:stretch>
        </p:blipFill>
        <p:spPr>
          <a:xfrm>
            <a:off x="1247775" y="5855642"/>
            <a:ext cx="171450" cy="200025"/>
          </a:xfrm>
          <a:prstGeom prst="rect">
            <a:avLst/>
          </a:prstGeom>
          <a:noFill/>
          <a:ln>
            <a:noFill/>
          </a:ln>
        </p:spPr>
      </p:pic>
      <p:sp>
        <p:nvSpPr>
          <p:cNvPr id="296" name="Google Shape;296;p24"/>
          <p:cNvSpPr txBox="1"/>
          <p:nvPr/>
        </p:nvSpPr>
        <p:spPr>
          <a:xfrm>
            <a:off x="800100" y="919311"/>
            <a:ext cx="11361420" cy="5143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00" b="1" i="0" u="none" strike="noStrike" cap="none" dirty="0">
                <a:solidFill>
                  <a:srgbClr val="38BDF8"/>
                </a:solidFill>
                <a:latin typeface="Inter" panose="02000503000000020004"/>
                <a:ea typeface="Inter" panose="02000503000000020004"/>
                <a:cs typeface="Inter" panose="02000503000000020004"/>
                <a:sym typeface="Inter" panose="02000503000000020004"/>
              </a:rPr>
              <a:t>ACID</a:t>
            </a:r>
            <a:endParaRPr dirty="0"/>
          </a:p>
        </p:txBody>
      </p:sp>
      <p:sp>
        <p:nvSpPr>
          <p:cNvPr id="297" name="Google Shape;297;p24"/>
          <p:cNvSpPr/>
          <p:nvPr/>
        </p:nvSpPr>
        <p:spPr>
          <a:xfrm>
            <a:off x="571500" y="919311"/>
            <a:ext cx="76200" cy="514350"/>
          </a:xfrm>
          <a:prstGeom prst="rect">
            <a:avLst/>
          </a:prstGeom>
          <a:solidFill>
            <a:srgbClr val="38BDF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mph" presetSubtype="2" fill="hold" nodeType="clickEffect">
                                  <p:stCondLst>
                                    <p:cond delay="0"/>
                                  </p:stCondLst>
                                  <p:childTnLst>
                                    <p:animClr clrSpc="rgb" dir="cw">
                                      <p:cBhvr>
                                        <p:cTn id="6" dur="2000" fill="hold"/>
                                        <p:tgtEl>
                                          <p:spTgt spid="284"/>
                                        </p:tgtEl>
                                        <p:attrNameLst>
                                          <p:attrName>fillcolor</p:attrName>
                                        </p:attrNameLst>
                                      </p:cBhvr>
                                      <p:to>
                                        <a:srgbClr val="00B050"/>
                                      </p:to>
                                    </p:animClr>
                                    <p:set>
                                      <p:cBhvr>
                                        <p:cTn id="7" dur="2000" fill="hold"/>
                                        <p:tgtEl>
                                          <p:spTgt spid="284"/>
                                        </p:tgtEl>
                                        <p:attrNameLst>
                                          <p:attrName>fill.type</p:attrName>
                                        </p:attrNameLst>
                                      </p:cBhvr>
                                      <p:to>
                                        <p:strVal val="solid"/>
                                      </p:to>
                                    </p:set>
                                    <p:set>
                                      <p:cBhvr>
                                        <p:cTn id="8" dur="2000" fill="hold"/>
                                        <p:tgtEl>
                                          <p:spTgt spid="284"/>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1E293B"/>
        </a:solidFill>
        <a:effectLst/>
      </p:bgPr>
    </p:bg>
    <p:spTree>
      <p:nvGrpSpPr>
        <p:cNvPr id="1" name="Shape 301"/>
        <p:cNvGrpSpPr/>
        <p:nvPr/>
      </p:nvGrpSpPr>
      <p:grpSpPr>
        <a:xfrm>
          <a:off x="0" y="0"/>
          <a:ext cx="0" cy="0"/>
          <a:chOff x="0" y="0"/>
          <a:chExt cx="0" cy="0"/>
        </a:xfrm>
      </p:grpSpPr>
      <p:pic>
        <p:nvPicPr>
          <p:cNvPr id="302" name="Google Shape;302;p25" descr="image.png"/>
          <p:cNvPicPr preferRelativeResize="0"/>
          <p:nvPr/>
        </p:nvPicPr>
        <p:blipFill rotWithShape="1">
          <a:blip r:embed="rId3"/>
          <a:srcRect/>
          <a:stretch>
            <a:fillRect/>
          </a:stretch>
        </p:blipFill>
        <p:spPr>
          <a:xfrm>
            <a:off x="0" y="0"/>
            <a:ext cx="12192000" cy="6858000"/>
          </a:xfrm>
          <a:prstGeom prst="rect">
            <a:avLst/>
          </a:prstGeom>
          <a:noFill/>
          <a:ln>
            <a:noFill/>
          </a:ln>
        </p:spPr>
      </p:pic>
      <p:pic>
        <p:nvPicPr>
          <p:cNvPr id="303" name="Google Shape;303;p25" descr="image.png"/>
          <p:cNvPicPr preferRelativeResize="0"/>
          <p:nvPr/>
        </p:nvPicPr>
        <p:blipFill rotWithShape="1">
          <a:blip r:embed="rId4"/>
          <a:srcRect/>
          <a:stretch>
            <a:fillRect/>
          </a:stretch>
        </p:blipFill>
        <p:spPr>
          <a:xfrm>
            <a:off x="571500" y="6871989"/>
            <a:ext cx="11049000" cy="838200"/>
          </a:xfrm>
          <a:prstGeom prst="rect">
            <a:avLst/>
          </a:prstGeom>
          <a:noFill/>
          <a:ln>
            <a:noFill/>
          </a:ln>
        </p:spPr>
      </p:pic>
      <p:sp>
        <p:nvSpPr>
          <p:cNvPr id="304" name="Google Shape;304;p25"/>
          <p:cNvSpPr txBox="1"/>
          <p:nvPr/>
        </p:nvSpPr>
        <p:spPr>
          <a:xfrm>
            <a:off x="571500" y="2043261"/>
            <a:ext cx="11049000" cy="36567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800" b="0" i="0" u="none" strike="noStrike" cap="none">
                <a:solidFill>
                  <a:srgbClr val="CBD5E1"/>
                </a:solidFill>
                <a:latin typeface="Inter" panose="02000503000000020004"/>
                <a:ea typeface="Inter" panose="02000503000000020004"/>
                <a:cs typeface="Inter" panose="02000503000000020004"/>
                <a:sym typeface="Inter" panose="02000503000000020004"/>
              </a:rPr>
              <a:t>Identify the ODD database term regarding concurrency control:</a:t>
            </a:r>
          </a:p>
        </p:txBody>
      </p:sp>
      <p:sp>
        <p:nvSpPr>
          <p:cNvPr id="305" name="Google Shape;305;p25"/>
          <p:cNvSpPr txBox="1"/>
          <p:nvPr/>
        </p:nvSpPr>
        <p:spPr>
          <a:xfrm>
            <a:off x="6338887" y="7129164"/>
            <a:ext cx="1714500" cy="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100" b="0" i="0" u="none" strike="noStrike" cap="none">
                <a:solidFill>
                  <a:srgbClr val="FEF08A"/>
                </a:solidFill>
                <a:latin typeface="Inter Black"/>
                <a:ea typeface="Inter Black"/>
                <a:cs typeface="Inter Black"/>
                <a:sym typeface="Inter Black"/>
              </a:rPr>
              <a:t>D) Outer Join</a:t>
            </a:r>
          </a:p>
        </p:txBody>
      </p:sp>
      <p:sp>
        <p:nvSpPr>
          <p:cNvPr id="306" name="Google Shape;306;p25"/>
          <p:cNvSpPr/>
          <p:nvPr/>
        </p:nvSpPr>
        <p:spPr>
          <a:xfrm>
            <a:off x="952500" y="2847082"/>
            <a:ext cx="10668000" cy="765720"/>
          </a:xfrm>
          <a:prstGeom prst="roundRect">
            <a:avLst>
              <a:gd name="adj" fmla="val 9951"/>
            </a:avLst>
          </a:prstGeom>
          <a:solidFill>
            <a:srgbClr val="334155"/>
          </a:solidFill>
          <a:ln w="9525" cap="flat" cmpd="sng">
            <a:solidFill>
              <a:srgbClr val="94A3B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07" name="Google Shape;307;p25"/>
          <p:cNvSpPr txBox="1"/>
          <p:nvPr/>
        </p:nvSpPr>
        <p:spPr>
          <a:xfrm>
            <a:off x="1600200" y="3037582"/>
            <a:ext cx="9734550" cy="384720"/>
          </a:xfrm>
          <a:prstGeom prst="rect">
            <a:avLst/>
          </a:prstGeom>
          <a:noFill/>
          <a:ln>
            <a:noFill/>
          </a:ln>
        </p:spPr>
        <p:txBody>
          <a:bodyPr spcFirstLastPara="1" wrap="square" lIns="0" tIns="0" rIns="0" bIns="0" anchor="ctr" anchorCtr="0">
            <a:spAutoFit/>
          </a:bodyPr>
          <a:lstStyle/>
          <a:p>
            <a:pPr marL="0" marR="0" lvl="0" indent="0" algn="l" rtl="0">
              <a:lnSpc>
                <a:spcPct val="160000"/>
              </a:lnSpc>
              <a:spcBef>
                <a:spcPts val="0"/>
              </a:spcBef>
              <a:spcAft>
                <a:spcPts val="0"/>
              </a:spcAft>
              <a:buNone/>
            </a:pPr>
            <a:r>
              <a:rPr lang="en-US" sz="1800" b="0" i="0" u="none" strike="noStrike" cap="none">
                <a:solidFill>
                  <a:srgbClr val="CBD5E1"/>
                </a:solidFill>
                <a:latin typeface="Inter" panose="02000503000000020004"/>
                <a:ea typeface="Inter" panose="02000503000000020004"/>
                <a:cs typeface="Inter" panose="02000503000000020004"/>
                <a:sym typeface="Inter" panose="02000503000000020004"/>
              </a:rPr>
              <a:t>A) Deadlock</a:t>
            </a:r>
          </a:p>
        </p:txBody>
      </p:sp>
      <p:sp>
        <p:nvSpPr>
          <p:cNvPr id="308" name="Google Shape;308;p25"/>
          <p:cNvSpPr/>
          <p:nvPr/>
        </p:nvSpPr>
        <p:spPr>
          <a:xfrm>
            <a:off x="952500" y="3755677"/>
            <a:ext cx="10668000" cy="765720"/>
          </a:xfrm>
          <a:prstGeom prst="roundRect">
            <a:avLst>
              <a:gd name="adj" fmla="val 9951"/>
            </a:avLst>
          </a:prstGeom>
          <a:solidFill>
            <a:srgbClr val="334155"/>
          </a:solidFill>
          <a:ln w="9525" cap="flat" cmpd="sng">
            <a:solidFill>
              <a:srgbClr val="94A3B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09" name="Google Shape;309;p25"/>
          <p:cNvSpPr txBox="1"/>
          <p:nvPr/>
        </p:nvSpPr>
        <p:spPr>
          <a:xfrm>
            <a:off x="1600200" y="3946177"/>
            <a:ext cx="9734550" cy="384720"/>
          </a:xfrm>
          <a:prstGeom prst="rect">
            <a:avLst/>
          </a:prstGeom>
          <a:noFill/>
          <a:ln>
            <a:noFill/>
          </a:ln>
        </p:spPr>
        <p:txBody>
          <a:bodyPr spcFirstLastPara="1" wrap="square" lIns="0" tIns="0" rIns="0" bIns="0" anchor="ctr" anchorCtr="0">
            <a:spAutoFit/>
          </a:bodyPr>
          <a:lstStyle/>
          <a:p>
            <a:pPr marL="0" marR="0" lvl="0" indent="0" algn="l" rtl="0">
              <a:lnSpc>
                <a:spcPct val="160000"/>
              </a:lnSpc>
              <a:spcBef>
                <a:spcPts val="0"/>
              </a:spcBef>
              <a:spcAft>
                <a:spcPts val="0"/>
              </a:spcAft>
              <a:buNone/>
            </a:pPr>
            <a:r>
              <a:rPr lang="en-US" sz="1800" b="0" i="0" u="none" strike="noStrike" cap="none">
                <a:solidFill>
                  <a:srgbClr val="CBD5E1"/>
                </a:solidFill>
                <a:latin typeface="Inter" panose="02000503000000020004"/>
                <a:ea typeface="Inter" panose="02000503000000020004"/>
                <a:cs typeface="Inter" panose="02000503000000020004"/>
                <a:sym typeface="Inter" panose="02000503000000020004"/>
              </a:rPr>
              <a:t>B) Shared Lock</a:t>
            </a:r>
          </a:p>
        </p:txBody>
      </p:sp>
      <p:sp>
        <p:nvSpPr>
          <p:cNvPr id="310" name="Google Shape;310;p25"/>
          <p:cNvSpPr/>
          <p:nvPr/>
        </p:nvSpPr>
        <p:spPr>
          <a:xfrm>
            <a:off x="952500" y="4664273"/>
            <a:ext cx="10668000" cy="765720"/>
          </a:xfrm>
          <a:prstGeom prst="roundRect">
            <a:avLst>
              <a:gd name="adj" fmla="val 9951"/>
            </a:avLst>
          </a:prstGeom>
          <a:solidFill>
            <a:srgbClr val="334155"/>
          </a:solidFill>
          <a:ln w="9525" cap="flat" cmpd="sng">
            <a:solidFill>
              <a:srgbClr val="94A3B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11" name="Google Shape;311;p25"/>
          <p:cNvSpPr txBox="1"/>
          <p:nvPr/>
        </p:nvSpPr>
        <p:spPr>
          <a:xfrm>
            <a:off x="1600200" y="4854773"/>
            <a:ext cx="9734550" cy="384720"/>
          </a:xfrm>
          <a:prstGeom prst="rect">
            <a:avLst/>
          </a:prstGeom>
          <a:noFill/>
          <a:ln>
            <a:noFill/>
          </a:ln>
        </p:spPr>
        <p:txBody>
          <a:bodyPr spcFirstLastPara="1" wrap="square" lIns="0" tIns="0" rIns="0" bIns="0" anchor="ctr" anchorCtr="0">
            <a:spAutoFit/>
          </a:bodyPr>
          <a:lstStyle/>
          <a:p>
            <a:pPr marL="0" marR="0" lvl="0" indent="0" algn="l" rtl="0">
              <a:lnSpc>
                <a:spcPct val="160000"/>
              </a:lnSpc>
              <a:spcBef>
                <a:spcPts val="0"/>
              </a:spcBef>
              <a:spcAft>
                <a:spcPts val="0"/>
              </a:spcAft>
              <a:buNone/>
            </a:pPr>
            <a:r>
              <a:rPr lang="en-US" sz="1800" b="0" i="0" u="none" strike="noStrike" cap="none">
                <a:solidFill>
                  <a:srgbClr val="CBD5E1"/>
                </a:solidFill>
                <a:latin typeface="Inter" panose="02000503000000020004"/>
                <a:ea typeface="Inter" panose="02000503000000020004"/>
                <a:cs typeface="Inter" panose="02000503000000020004"/>
                <a:sym typeface="Inter" panose="02000503000000020004"/>
              </a:rPr>
              <a:t>C) Exclusive Lock</a:t>
            </a:r>
          </a:p>
        </p:txBody>
      </p:sp>
      <p:sp>
        <p:nvSpPr>
          <p:cNvPr id="312" name="Google Shape;312;p25"/>
          <p:cNvSpPr/>
          <p:nvPr/>
        </p:nvSpPr>
        <p:spPr>
          <a:xfrm>
            <a:off x="952500" y="5572869"/>
            <a:ext cx="10668000" cy="765720"/>
          </a:xfrm>
          <a:prstGeom prst="roundRect">
            <a:avLst>
              <a:gd name="adj" fmla="val 9951"/>
            </a:avLst>
          </a:prstGeom>
          <a:solidFill>
            <a:srgbClr val="334155"/>
          </a:solidFill>
          <a:ln w="9525" cap="flat" cmpd="sng">
            <a:solidFill>
              <a:srgbClr val="94A3B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13" name="Google Shape;313;p25"/>
          <p:cNvSpPr txBox="1"/>
          <p:nvPr/>
        </p:nvSpPr>
        <p:spPr>
          <a:xfrm>
            <a:off x="1600200" y="5763369"/>
            <a:ext cx="9734550" cy="384720"/>
          </a:xfrm>
          <a:prstGeom prst="rect">
            <a:avLst/>
          </a:prstGeom>
          <a:noFill/>
          <a:ln>
            <a:noFill/>
          </a:ln>
        </p:spPr>
        <p:txBody>
          <a:bodyPr spcFirstLastPara="1" wrap="square" lIns="0" tIns="0" rIns="0" bIns="0" anchor="ctr" anchorCtr="0">
            <a:spAutoFit/>
          </a:bodyPr>
          <a:lstStyle/>
          <a:p>
            <a:pPr marL="0" marR="0" lvl="0" indent="0" algn="l" rtl="0">
              <a:lnSpc>
                <a:spcPct val="160000"/>
              </a:lnSpc>
              <a:spcBef>
                <a:spcPts val="0"/>
              </a:spcBef>
              <a:spcAft>
                <a:spcPts val="0"/>
              </a:spcAft>
              <a:buNone/>
            </a:pPr>
            <a:r>
              <a:rPr lang="en-US" sz="1800" b="0" i="0" u="none" strike="noStrike" cap="none">
                <a:solidFill>
                  <a:srgbClr val="CBD5E1"/>
                </a:solidFill>
                <a:latin typeface="Inter" panose="02000503000000020004"/>
                <a:ea typeface="Inter" panose="02000503000000020004"/>
                <a:cs typeface="Inter" panose="02000503000000020004"/>
                <a:sym typeface="Inter" panose="02000503000000020004"/>
              </a:rPr>
              <a:t>D) Outer Join</a:t>
            </a:r>
          </a:p>
        </p:txBody>
      </p:sp>
      <p:sp>
        <p:nvSpPr>
          <p:cNvPr id="314" name="Google Shape;314;p25"/>
          <p:cNvSpPr/>
          <p:nvPr/>
        </p:nvSpPr>
        <p:spPr>
          <a:xfrm>
            <a:off x="952500" y="3603277"/>
            <a:ext cx="10668000" cy="9525"/>
          </a:xfrm>
          <a:prstGeom prst="rect">
            <a:avLst/>
          </a:prstGeom>
          <a:solidFill>
            <a:srgbClr val="94A3B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15" name="Google Shape;315;p25"/>
          <p:cNvSpPr/>
          <p:nvPr/>
        </p:nvSpPr>
        <p:spPr>
          <a:xfrm>
            <a:off x="952500" y="4511873"/>
            <a:ext cx="10668000" cy="9525"/>
          </a:xfrm>
          <a:prstGeom prst="rect">
            <a:avLst/>
          </a:prstGeom>
          <a:solidFill>
            <a:srgbClr val="94A3B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16" name="Google Shape;316;p25"/>
          <p:cNvSpPr/>
          <p:nvPr/>
        </p:nvSpPr>
        <p:spPr>
          <a:xfrm>
            <a:off x="952500" y="5420469"/>
            <a:ext cx="10668000" cy="9525"/>
          </a:xfrm>
          <a:prstGeom prst="rect">
            <a:avLst/>
          </a:prstGeom>
          <a:solidFill>
            <a:srgbClr val="94A3B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17" name="Google Shape;317;p25"/>
          <p:cNvSpPr/>
          <p:nvPr/>
        </p:nvSpPr>
        <p:spPr>
          <a:xfrm>
            <a:off x="952500" y="6329064"/>
            <a:ext cx="10668000" cy="9525"/>
          </a:xfrm>
          <a:prstGeom prst="rect">
            <a:avLst/>
          </a:prstGeom>
          <a:solidFill>
            <a:srgbClr val="94A3B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318" name="Google Shape;318;p25" descr="image.png"/>
          <p:cNvPicPr preferRelativeResize="0"/>
          <p:nvPr/>
        </p:nvPicPr>
        <p:blipFill rotWithShape="1">
          <a:blip r:embed="rId5"/>
          <a:srcRect/>
          <a:stretch>
            <a:fillRect/>
          </a:stretch>
        </p:blipFill>
        <p:spPr>
          <a:xfrm>
            <a:off x="1247775" y="3129855"/>
            <a:ext cx="171450" cy="200025"/>
          </a:xfrm>
          <a:prstGeom prst="rect">
            <a:avLst/>
          </a:prstGeom>
          <a:noFill/>
          <a:ln>
            <a:noFill/>
          </a:ln>
        </p:spPr>
      </p:pic>
      <p:pic>
        <p:nvPicPr>
          <p:cNvPr id="319" name="Google Shape;319;p25" descr="image.png"/>
          <p:cNvPicPr preferRelativeResize="0"/>
          <p:nvPr/>
        </p:nvPicPr>
        <p:blipFill rotWithShape="1">
          <a:blip r:embed="rId5"/>
          <a:srcRect/>
          <a:stretch>
            <a:fillRect/>
          </a:stretch>
        </p:blipFill>
        <p:spPr>
          <a:xfrm>
            <a:off x="1247775" y="4038451"/>
            <a:ext cx="171450" cy="200025"/>
          </a:xfrm>
          <a:prstGeom prst="rect">
            <a:avLst/>
          </a:prstGeom>
          <a:noFill/>
          <a:ln>
            <a:noFill/>
          </a:ln>
        </p:spPr>
      </p:pic>
      <p:pic>
        <p:nvPicPr>
          <p:cNvPr id="320" name="Google Shape;320;p25" descr="image.png"/>
          <p:cNvPicPr preferRelativeResize="0"/>
          <p:nvPr/>
        </p:nvPicPr>
        <p:blipFill rotWithShape="1">
          <a:blip r:embed="rId5"/>
          <a:srcRect/>
          <a:stretch>
            <a:fillRect/>
          </a:stretch>
        </p:blipFill>
        <p:spPr>
          <a:xfrm>
            <a:off x="1247775" y="4947046"/>
            <a:ext cx="171450" cy="200025"/>
          </a:xfrm>
          <a:prstGeom prst="rect">
            <a:avLst/>
          </a:prstGeom>
          <a:noFill/>
          <a:ln>
            <a:noFill/>
          </a:ln>
        </p:spPr>
      </p:pic>
      <p:pic>
        <p:nvPicPr>
          <p:cNvPr id="321" name="Google Shape;321;p25" descr="image.png"/>
          <p:cNvPicPr preferRelativeResize="0"/>
          <p:nvPr/>
        </p:nvPicPr>
        <p:blipFill rotWithShape="1">
          <a:blip r:embed="rId5"/>
          <a:srcRect/>
          <a:stretch>
            <a:fillRect/>
          </a:stretch>
        </p:blipFill>
        <p:spPr>
          <a:xfrm>
            <a:off x="1247775" y="5855642"/>
            <a:ext cx="171450" cy="200025"/>
          </a:xfrm>
          <a:prstGeom prst="rect">
            <a:avLst/>
          </a:prstGeom>
          <a:noFill/>
          <a:ln>
            <a:noFill/>
          </a:ln>
        </p:spPr>
      </p:pic>
      <p:sp>
        <p:nvSpPr>
          <p:cNvPr id="322" name="Google Shape;322;p25"/>
          <p:cNvSpPr txBox="1"/>
          <p:nvPr/>
        </p:nvSpPr>
        <p:spPr>
          <a:xfrm>
            <a:off x="800100" y="919311"/>
            <a:ext cx="11361420" cy="5143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00" b="1" i="0" u="none" strike="noStrike" cap="none">
                <a:solidFill>
                  <a:srgbClr val="38BDF8"/>
                </a:solidFill>
                <a:latin typeface="Inter" panose="02000503000000020004"/>
                <a:ea typeface="Inter" panose="02000503000000020004"/>
                <a:cs typeface="Inter" panose="02000503000000020004"/>
                <a:sym typeface="Inter" panose="02000503000000020004"/>
              </a:rPr>
              <a:t>ODD ONE OUT</a:t>
            </a:r>
          </a:p>
        </p:txBody>
      </p:sp>
      <p:sp>
        <p:nvSpPr>
          <p:cNvPr id="323" name="Google Shape;323;p25"/>
          <p:cNvSpPr/>
          <p:nvPr/>
        </p:nvSpPr>
        <p:spPr>
          <a:xfrm>
            <a:off x="571500" y="919311"/>
            <a:ext cx="76200" cy="514350"/>
          </a:xfrm>
          <a:prstGeom prst="rect">
            <a:avLst/>
          </a:prstGeom>
          <a:solidFill>
            <a:srgbClr val="38BDF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mph" presetSubtype="2" fill="hold" nodeType="clickEffect">
                                  <p:stCondLst>
                                    <p:cond delay="0"/>
                                  </p:stCondLst>
                                  <p:childTnLst>
                                    <p:animClr clrSpc="rgb" dir="cw">
                                      <p:cBhvr>
                                        <p:cTn id="6" dur="2000" fill="hold"/>
                                        <p:tgtEl>
                                          <p:spTgt spid="312"/>
                                        </p:tgtEl>
                                        <p:attrNameLst>
                                          <p:attrName>fillcolor</p:attrName>
                                        </p:attrNameLst>
                                      </p:cBhvr>
                                      <p:to>
                                        <a:srgbClr val="00B050"/>
                                      </p:to>
                                    </p:animClr>
                                    <p:set>
                                      <p:cBhvr>
                                        <p:cTn id="7" dur="2000" fill="hold"/>
                                        <p:tgtEl>
                                          <p:spTgt spid="312"/>
                                        </p:tgtEl>
                                        <p:attrNameLst>
                                          <p:attrName>fill.type</p:attrName>
                                        </p:attrNameLst>
                                      </p:cBhvr>
                                      <p:to>
                                        <p:strVal val="solid"/>
                                      </p:to>
                                    </p:set>
                                    <p:set>
                                      <p:cBhvr>
                                        <p:cTn id="8" dur="2000" fill="hold"/>
                                        <p:tgtEl>
                                          <p:spTgt spid="312"/>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01"/>
        <p:cNvGrpSpPr/>
        <p:nvPr/>
      </p:nvGrpSpPr>
      <p:grpSpPr>
        <a:xfrm>
          <a:off x="0" y="0"/>
          <a:ext cx="0" cy="0"/>
          <a:chOff x="0" y="0"/>
          <a:chExt cx="0" cy="0"/>
        </a:xfrm>
      </p:grpSpPr>
      <p:pic>
        <p:nvPicPr>
          <p:cNvPr id="302" name="Google Shape;302;p25" descr="image.png"/>
          <p:cNvPicPr preferRelativeResize="0"/>
          <p:nvPr/>
        </p:nvPicPr>
        <p:blipFill rotWithShape="1">
          <a:blip r:embed="rId3"/>
          <a:srcRect/>
          <a:stretch>
            <a:fillRect/>
          </a:stretch>
        </p:blipFill>
        <p:spPr>
          <a:xfrm>
            <a:off x="0" y="0"/>
            <a:ext cx="12192000" cy="6858000"/>
          </a:xfrm>
          <a:prstGeom prst="rect">
            <a:avLst/>
          </a:prstGeom>
          <a:noFill/>
          <a:ln>
            <a:noFill/>
          </a:ln>
        </p:spPr>
      </p:pic>
      <p:pic>
        <p:nvPicPr>
          <p:cNvPr id="303" name="Google Shape;303;p25" descr="image.png"/>
          <p:cNvPicPr preferRelativeResize="0"/>
          <p:nvPr/>
        </p:nvPicPr>
        <p:blipFill rotWithShape="1">
          <a:blip r:embed="rId4"/>
          <a:srcRect/>
          <a:stretch>
            <a:fillRect/>
          </a:stretch>
        </p:blipFill>
        <p:spPr>
          <a:xfrm>
            <a:off x="571500" y="6871989"/>
            <a:ext cx="11049000" cy="838200"/>
          </a:xfrm>
          <a:prstGeom prst="rect">
            <a:avLst/>
          </a:prstGeom>
          <a:noFill/>
          <a:ln>
            <a:noFill/>
          </a:ln>
        </p:spPr>
      </p:pic>
      <p:sp>
        <p:nvSpPr>
          <p:cNvPr id="304" name="Google Shape;304;p25"/>
          <p:cNvSpPr txBox="1"/>
          <p:nvPr/>
        </p:nvSpPr>
        <p:spPr>
          <a:xfrm>
            <a:off x="571500" y="2043261"/>
            <a:ext cx="11049000" cy="443198"/>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800" b="0" i="0" u="none" strike="noStrike" cap="none" dirty="0">
                <a:solidFill>
                  <a:srgbClr val="CBD5E1"/>
                </a:solidFill>
                <a:latin typeface="Inter" panose="02000503000000020004"/>
                <a:ea typeface="Inter" panose="02000503000000020004"/>
                <a:cs typeface="Inter" panose="02000503000000020004"/>
                <a:sym typeface="Inter" panose="02000503000000020004"/>
              </a:rPr>
              <a:t>Which JOIN returns only matching records from both tables?</a:t>
            </a:r>
            <a:endParaRPr dirty="0"/>
          </a:p>
        </p:txBody>
      </p:sp>
      <p:sp>
        <p:nvSpPr>
          <p:cNvPr id="305" name="Google Shape;305;p25"/>
          <p:cNvSpPr txBox="1"/>
          <p:nvPr/>
        </p:nvSpPr>
        <p:spPr>
          <a:xfrm>
            <a:off x="6338887" y="7129164"/>
            <a:ext cx="1714500" cy="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100" b="0" i="0" u="none" strike="noStrike" cap="none">
                <a:solidFill>
                  <a:srgbClr val="FEF08A"/>
                </a:solidFill>
                <a:latin typeface="Inter Black"/>
                <a:ea typeface="Inter Black"/>
                <a:cs typeface="Inter Black"/>
                <a:sym typeface="Inter Black"/>
              </a:rPr>
              <a:t>D) Outer Join</a:t>
            </a:r>
          </a:p>
        </p:txBody>
      </p:sp>
      <p:sp>
        <p:nvSpPr>
          <p:cNvPr id="306" name="Google Shape;306;p25"/>
          <p:cNvSpPr/>
          <p:nvPr/>
        </p:nvSpPr>
        <p:spPr>
          <a:xfrm>
            <a:off x="952500" y="2847082"/>
            <a:ext cx="10668000" cy="765720"/>
          </a:xfrm>
          <a:prstGeom prst="roundRect">
            <a:avLst>
              <a:gd name="adj" fmla="val 9951"/>
            </a:avLst>
          </a:prstGeom>
          <a:solidFill>
            <a:srgbClr val="334155"/>
          </a:solidFill>
          <a:ln w="9525" cap="flat" cmpd="sng">
            <a:solidFill>
              <a:srgbClr val="94A3B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07" name="Google Shape;307;p25"/>
          <p:cNvSpPr txBox="1"/>
          <p:nvPr/>
        </p:nvSpPr>
        <p:spPr>
          <a:xfrm>
            <a:off x="1600200" y="3008343"/>
            <a:ext cx="9734550" cy="443198"/>
          </a:xfrm>
          <a:prstGeom prst="rect">
            <a:avLst/>
          </a:prstGeom>
          <a:noFill/>
          <a:ln>
            <a:noFill/>
          </a:ln>
        </p:spPr>
        <p:txBody>
          <a:bodyPr spcFirstLastPara="1" wrap="square" lIns="0" tIns="0" rIns="0" bIns="0" anchor="ctr" anchorCtr="0">
            <a:spAutoFit/>
          </a:bodyPr>
          <a:lstStyle/>
          <a:p>
            <a:pPr marL="0" marR="0" lvl="0" indent="0" algn="l" rtl="0">
              <a:lnSpc>
                <a:spcPct val="160000"/>
              </a:lnSpc>
              <a:spcBef>
                <a:spcPts val="0"/>
              </a:spcBef>
              <a:spcAft>
                <a:spcPts val="0"/>
              </a:spcAft>
              <a:buNone/>
            </a:pPr>
            <a:r>
              <a:rPr lang="en-US" sz="1800" b="0" i="0" u="none" strike="noStrike" cap="none" dirty="0">
                <a:solidFill>
                  <a:srgbClr val="CBD5E1"/>
                </a:solidFill>
                <a:latin typeface="Inter" panose="02000503000000020004"/>
                <a:ea typeface="Inter" panose="02000503000000020004"/>
                <a:cs typeface="Inter" panose="02000503000000020004"/>
                <a:sym typeface="Inter" panose="02000503000000020004"/>
              </a:rPr>
              <a:t>A) LEFT JOIN</a:t>
            </a:r>
            <a:endParaRPr dirty="0"/>
          </a:p>
        </p:txBody>
      </p:sp>
      <p:sp>
        <p:nvSpPr>
          <p:cNvPr id="308" name="Google Shape;308;p25"/>
          <p:cNvSpPr/>
          <p:nvPr/>
        </p:nvSpPr>
        <p:spPr>
          <a:xfrm>
            <a:off x="952500" y="3755677"/>
            <a:ext cx="10668000" cy="765720"/>
          </a:xfrm>
          <a:prstGeom prst="roundRect">
            <a:avLst>
              <a:gd name="adj" fmla="val 9951"/>
            </a:avLst>
          </a:prstGeom>
          <a:solidFill>
            <a:srgbClr val="334155"/>
          </a:solidFill>
          <a:ln w="9525" cap="flat" cmpd="sng">
            <a:solidFill>
              <a:srgbClr val="94A3B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09" name="Google Shape;309;p25"/>
          <p:cNvSpPr txBox="1"/>
          <p:nvPr/>
        </p:nvSpPr>
        <p:spPr>
          <a:xfrm>
            <a:off x="1600200" y="3916938"/>
            <a:ext cx="9734550" cy="443198"/>
          </a:xfrm>
          <a:prstGeom prst="rect">
            <a:avLst/>
          </a:prstGeom>
          <a:noFill/>
          <a:ln>
            <a:noFill/>
          </a:ln>
        </p:spPr>
        <p:txBody>
          <a:bodyPr spcFirstLastPara="1" wrap="square" lIns="0" tIns="0" rIns="0" bIns="0" anchor="ctr" anchorCtr="0">
            <a:spAutoFit/>
          </a:bodyPr>
          <a:lstStyle/>
          <a:p>
            <a:pPr marL="0" marR="0" lvl="0" indent="0" algn="l" rtl="0">
              <a:lnSpc>
                <a:spcPct val="160000"/>
              </a:lnSpc>
              <a:spcBef>
                <a:spcPts val="0"/>
              </a:spcBef>
              <a:spcAft>
                <a:spcPts val="0"/>
              </a:spcAft>
              <a:buNone/>
            </a:pPr>
            <a:r>
              <a:rPr lang="en-US" sz="1800" b="0" i="0" u="none" strike="noStrike" cap="none" dirty="0">
                <a:solidFill>
                  <a:srgbClr val="CBD5E1"/>
                </a:solidFill>
                <a:latin typeface="Inter" panose="02000503000000020004"/>
                <a:ea typeface="Inter" panose="02000503000000020004"/>
                <a:cs typeface="Inter" panose="02000503000000020004"/>
                <a:sym typeface="Inter" panose="02000503000000020004"/>
              </a:rPr>
              <a:t>B) RIGHT JOIN</a:t>
            </a:r>
            <a:endParaRPr dirty="0"/>
          </a:p>
        </p:txBody>
      </p:sp>
      <p:sp>
        <p:nvSpPr>
          <p:cNvPr id="310" name="Google Shape;310;p25"/>
          <p:cNvSpPr/>
          <p:nvPr/>
        </p:nvSpPr>
        <p:spPr>
          <a:xfrm>
            <a:off x="952500" y="4664273"/>
            <a:ext cx="10668000" cy="765720"/>
          </a:xfrm>
          <a:prstGeom prst="roundRect">
            <a:avLst>
              <a:gd name="adj" fmla="val 9951"/>
            </a:avLst>
          </a:prstGeom>
          <a:solidFill>
            <a:srgbClr val="334155"/>
          </a:solidFill>
          <a:ln w="9525" cap="flat" cmpd="sng">
            <a:solidFill>
              <a:srgbClr val="94A3B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11" name="Google Shape;311;p25"/>
          <p:cNvSpPr txBox="1"/>
          <p:nvPr/>
        </p:nvSpPr>
        <p:spPr>
          <a:xfrm>
            <a:off x="1600200" y="4825534"/>
            <a:ext cx="9734550" cy="443198"/>
          </a:xfrm>
          <a:prstGeom prst="rect">
            <a:avLst/>
          </a:prstGeom>
          <a:noFill/>
          <a:ln>
            <a:noFill/>
          </a:ln>
        </p:spPr>
        <p:txBody>
          <a:bodyPr spcFirstLastPara="1" wrap="square" lIns="0" tIns="0" rIns="0" bIns="0" anchor="ctr" anchorCtr="0">
            <a:spAutoFit/>
          </a:bodyPr>
          <a:lstStyle/>
          <a:p>
            <a:pPr marL="0" marR="0" lvl="0" indent="0" algn="l" rtl="0">
              <a:lnSpc>
                <a:spcPct val="160000"/>
              </a:lnSpc>
              <a:spcBef>
                <a:spcPts val="0"/>
              </a:spcBef>
              <a:spcAft>
                <a:spcPts val="0"/>
              </a:spcAft>
              <a:buNone/>
            </a:pPr>
            <a:r>
              <a:rPr lang="en-US" sz="1800" b="0" i="0" u="none" strike="noStrike" cap="none" dirty="0">
                <a:solidFill>
                  <a:srgbClr val="CBD5E1"/>
                </a:solidFill>
                <a:latin typeface="Inter" panose="02000503000000020004"/>
                <a:ea typeface="Inter" panose="02000503000000020004"/>
                <a:cs typeface="Inter" panose="02000503000000020004"/>
                <a:sym typeface="Inter" panose="02000503000000020004"/>
              </a:rPr>
              <a:t>C) INNER JOIN</a:t>
            </a:r>
            <a:endParaRPr dirty="0"/>
          </a:p>
        </p:txBody>
      </p:sp>
      <p:sp>
        <p:nvSpPr>
          <p:cNvPr id="312" name="Google Shape;312;p25"/>
          <p:cNvSpPr/>
          <p:nvPr/>
        </p:nvSpPr>
        <p:spPr>
          <a:xfrm>
            <a:off x="952500" y="5572869"/>
            <a:ext cx="10668000" cy="765720"/>
          </a:xfrm>
          <a:prstGeom prst="roundRect">
            <a:avLst>
              <a:gd name="adj" fmla="val 9951"/>
            </a:avLst>
          </a:prstGeom>
          <a:solidFill>
            <a:srgbClr val="334155"/>
          </a:solidFill>
          <a:ln w="9525" cap="flat" cmpd="sng">
            <a:solidFill>
              <a:srgbClr val="94A3B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13" name="Google Shape;313;p25"/>
          <p:cNvSpPr txBox="1"/>
          <p:nvPr/>
        </p:nvSpPr>
        <p:spPr>
          <a:xfrm>
            <a:off x="1600200" y="5734130"/>
            <a:ext cx="9734550" cy="443198"/>
          </a:xfrm>
          <a:prstGeom prst="rect">
            <a:avLst/>
          </a:prstGeom>
          <a:noFill/>
          <a:ln>
            <a:noFill/>
          </a:ln>
        </p:spPr>
        <p:txBody>
          <a:bodyPr spcFirstLastPara="1" wrap="square" lIns="0" tIns="0" rIns="0" bIns="0" anchor="ctr" anchorCtr="0">
            <a:spAutoFit/>
          </a:bodyPr>
          <a:lstStyle/>
          <a:p>
            <a:pPr marL="0" marR="0" lvl="0" indent="0" algn="l" rtl="0">
              <a:lnSpc>
                <a:spcPct val="160000"/>
              </a:lnSpc>
              <a:spcBef>
                <a:spcPts val="0"/>
              </a:spcBef>
              <a:spcAft>
                <a:spcPts val="0"/>
              </a:spcAft>
              <a:buNone/>
            </a:pPr>
            <a:r>
              <a:rPr lang="en-US" sz="1800" b="0" i="0" u="none" strike="noStrike" cap="none" dirty="0">
                <a:solidFill>
                  <a:srgbClr val="CBD5E1"/>
                </a:solidFill>
                <a:latin typeface="Inter" panose="02000503000000020004"/>
                <a:ea typeface="Inter" panose="02000503000000020004"/>
                <a:cs typeface="Inter" panose="02000503000000020004"/>
                <a:sym typeface="Inter" panose="02000503000000020004"/>
              </a:rPr>
              <a:t>D) FULL JOIN</a:t>
            </a:r>
            <a:endParaRPr dirty="0"/>
          </a:p>
        </p:txBody>
      </p:sp>
      <p:sp>
        <p:nvSpPr>
          <p:cNvPr id="314" name="Google Shape;314;p25"/>
          <p:cNvSpPr/>
          <p:nvPr/>
        </p:nvSpPr>
        <p:spPr>
          <a:xfrm>
            <a:off x="952500" y="3603277"/>
            <a:ext cx="10668000" cy="9525"/>
          </a:xfrm>
          <a:prstGeom prst="rect">
            <a:avLst/>
          </a:prstGeom>
          <a:solidFill>
            <a:srgbClr val="94A3B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15" name="Google Shape;315;p25"/>
          <p:cNvSpPr/>
          <p:nvPr/>
        </p:nvSpPr>
        <p:spPr>
          <a:xfrm>
            <a:off x="952500" y="4511873"/>
            <a:ext cx="10668000" cy="9525"/>
          </a:xfrm>
          <a:prstGeom prst="rect">
            <a:avLst/>
          </a:prstGeom>
          <a:solidFill>
            <a:srgbClr val="94A3B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16" name="Google Shape;316;p25"/>
          <p:cNvSpPr/>
          <p:nvPr/>
        </p:nvSpPr>
        <p:spPr>
          <a:xfrm>
            <a:off x="952500" y="5420469"/>
            <a:ext cx="10668000" cy="9525"/>
          </a:xfrm>
          <a:prstGeom prst="rect">
            <a:avLst/>
          </a:prstGeom>
          <a:solidFill>
            <a:srgbClr val="94A3B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17" name="Google Shape;317;p25"/>
          <p:cNvSpPr/>
          <p:nvPr/>
        </p:nvSpPr>
        <p:spPr>
          <a:xfrm>
            <a:off x="952500" y="6329064"/>
            <a:ext cx="10668000" cy="9525"/>
          </a:xfrm>
          <a:prstGeom prst="rect">
            <a:avLst/>
          </a:prstGeom>
          <a:solidFill>
            <a:srgbClr val="94A3B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318" name="Google Shape;318;p25" descr="image.png"/>
          <p:cNvPicPr preferRelativeResize="0"/>
          <p:nvPr/>
        </p:nvPicPr>
        <p:blipFill rotWithShape="1">
          <a:blip r:embed="rId5"/>
          <a:srcRect/>
          <a:stretch>
            <a:fillRect/>
          </a:stretch>
        </p:blipFill>
        <p:spPr>
          <a:xfrm>
            <a:off x="1247775" y="3129855"/>
            <a:ext cx="171450" cy="200025"/>
          </a:xfrm>
          <a:prstGeom prst="rect">
            <a:avLst/>
          </a:prstGeom>
          <a:noFill/>
          <a:ln>
            <a:noFill/>
          </a:ln>
        </p:spPr>
      </p:pic>
      <p:pic>
        <p:nvPicPr>
          <p:cNvPr id="319" name="Google Shape;319;p25" descr="image.png"/>
          <p:cNvPicPr preferRelativeResize="0"/>
          <p:nvPr/>
        </p:nvPicPr>
        <p:blipFill rotWithShape="1">
          <a:blip r:embed="rId5"/>
          <a:srcRect/>
          <a:stretch>
            <a:fillRect/>
          </a:stretch>
        </p:blipFill>
        <p:spPr>
          <a:xfrm>
            <a:off x="1247775" y="4038451"/>
            <a:ext cx="171450" cy="200025"/>
          </a:xfrm>
          <a:prstGeom prst="rect">
            <a:avLst/>
          </a:prstGeom>
          <a:noFill/>
          <a:ln>
            <a:noFill/>
          </a:ln>
        </p:spPr>
      </p:pic>
      <p:pic>
        <p:nvPicPr>
          <p:cNvPr id="320" name="Google Shape;320;p25" descr="image.png"/>
          <p:cNvPicPr preferRelativeResize="0"/>
          <p:nvPr/>
        </p:nvPicPr>
        <p:blipFill rotWithShape="1">
          <a:blip r:embed="rId5"/>
          <a:srcRect/>
          <a:stretch>
            <a:fillRect/>
          </a:stretch>
        </p:blipFill>
        <p:spPr>
          <a:xfrm>
            <a:off x="1247775" y="4947046"/>
            <a:ext cx="171450" cy="200025"/>
          </a:xfrm>
          <a:prstGeom prst="rect">
            <a:avLst/>
          </a:prstGeom>
          <a:noFill/>
          <a:ln>
            <a:noFill/>
          </a:ln>
        </p:spPr>
      </p:pic>
      <p:pic>
        <p:nvPicPr>
          <p:cNvPr id="321" name="Google Shape;321;p25" descr="image.png"/>
          <p:cNvPicPr preferRelativeResize="0"/>
          <p:nvPr/>
        </p:nvPicPr>
        <p:blipFill rotWithShape="1">
          <a:blip r:embed="rId5"/>
          <a:srcRect/>
          <a:stretch>
            <a:fillRect/>
          </a:stretch>
        </p:blipFill>
        <p:spPr>
          <a:xfrm>
            <a:off x="1247775" y="5855642"/>
            <a:ext cx="171450" cy="200025"/>
          </a:xfrm>
          <a:prstGeom prst="rect">
            <a:avLst/>
          </a:prstGeom>
          <a:noFill/>
          <a:ln>
            <a:noFill/>
          </a:ln>
        </p:spPr>
      </p:pic>
      <p:sp>
        <p:nvSpPr>
          <p:cNvPr id="322" name="Google Shape;322;p25"/>
          <p:cNvSpPr txBox="1"/>
          <p:nvPr/>
        </p:nvSpPr>
        <p:spPr>
          <a:xfrm>
            <a:off x="800100" y="919311"/>
            <a:ext cx="11361420" cy="5143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00" b="1" i="0" u="none" strike="noStrike" cap="none" dirty="0">
                <a:solidFill>
                  <a:srgbClr val="38BDF8"/>
                </a:solidFill>
                <a:latin typeface="Inter" panose="02000503000000020004"/>
                <a:ea typeface="Inter" panose="02000503000000020004"/>
                <a:cs typeface="Inter" panose="02000503000000020004"/>
                <a:sym typeface="Inter" panose="02000503000000020004"/>
              </a:rPr>
              <a:t>JOINS</a:t>
            </a:r>
            <a:endParaRPr dirty="0"/>
          </a:p>
        </p:txBody>
      </p:sp>
      <p:sp>
        <p:nvSpPr>
          <p:cNvPr id="323" name="Google Shape;323;p25"/>
          <p:cNvSpPr/>
          <p:nvPr/>
        </p:nvSpPr>
        <p:spPr>
          <a:xfrm>
            <a:off x="571500" y="919311"/>
            <a:ext cx="76200" cy="514350"/>
          </a:xfrm>
          <a:prstGeom prst="rect">
            <a:avLst/>
          </a:prstGeom>
          <a:solidFill>
            <a:srgbClr val="38BDF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mph" presetSubtype="2" fill="hold" nodeType="clickEffect">
                                  <p:stCondLst>
                                    <p:cond delay="0"/>
                                  </p:stCondLst>
                                  <p:childTnLst>
                                    <p:animClr clrSpc="rgb" dir="cw">
                                      <p:cBhvr>
                                        <p:cTn id="6" dur="2000" fill="hold"/>
                                        <p:tgtEl>
                                          <p:spTgt spid="310"/>
                                        </p:tgtEl>
                                        <p:attrNameLst>
                                          <p:attrName>fillcolor</p:attrName>
                                        </p:attrNameLst>
                                      </p:cBhvr>
                                      <p:to>
                                        <a:srgbClr val="00B050"/>
                                      </p:to>
                                    </p:animClr>
                                    <p:set>
                                      <p:cBhvr>
                                        <p:cTn id="7" dur="2000" fill="hold"/>
                                        <p:tgtEl>
                                          <p:spTgt spid="310"/>
                                        </p:tgtEl>
                                        <p:attrNameLst>
                                          <p:attrName>fill.type</p:attrName>
                                        </p:attrNameLst>
                                      </p:cBhvr>
                                      <p:to>
                                        <p:strVal val="solid"/>
                                      </p:to>
                                    </p:set>
                                    <p:set>
                                      <p:cBhvr>
                                        <p:cTn id="8" dur="2000" fill="hold"/>
                                        <p:tgtEl>
                                          <p:spTgt spid="310"/>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01"/>
        <p:cNvGrpSpPr/>
        <p:nvPr/>
      </p:nvGrpSpPr>
      <p:grpSpPr>
        <a:xfrm>
          <a:off x="0" y="0"/>
          <a:ext cx="0" cy="0"/>
          <a:chOff x="0" y="0"/>
          <a:chExt cx="0" cy="0"/>
        </a:xfrm>
      </p:grpSpPr>
      <p:pic>
        <p:nvPicPr>
          <p:cNvPr id="302" name="Google Shape;302;p25" descr="image.png"/>
          <p:cNvPicPr preferRelativeResize="0"/>
          <p:nvPr/>
        </p:nvPicPr>
        <p:blipFill rotWithShape="1">
          <a:blip r:embed="rId3"/>
          <a:srcRect/>
          <a:stretch>
            <a:fillRect/>
          </a:stretch>
        </p:blipFill>
        <p:spPr>
          <a:xfrm>
            <a:off x="0" y="0"/>
            <a:ext cx="12192000" cy="6858000"/>
          </a:xfrm>
          <a:prstGeom prst="rect">
            <a:avLst/>
          </a:prstGeom>
          <a:noFill/>
          <a:ln>
            <a:noFill/>
          </a:ln>
        </p:spPr>
      </p:pic>
      <p:pic>
        <p:nvPicPr>
          <p:cNvPr id="303" name="Google Shape;303;p25" descr="image.png"/>
          <p:cNvPicPr preferRelativeResize="0"/>
          <p:nvPr/>
        </p:nvPicPr>
        <p:blipFill rotWithShape="1">
          <a:blip r:embed="rId4"/>
          <a:srcRect/>
          <a:stretch>
            <a:fillRect/>
          </a:stretch>
        </p:blipFill>
        <p:spPr>
          <a:xfrm>
            <a:off x="571500" y="6871989"/>
            <a:ext cx="11049000" cy="838200"/>
          </a:xfrm>
          <a:prstGeom prst="rect">
            <a:avLst/>
          </a:prstGeom>
          <a:noFill/>
          <a:ln>
            <a:noFill/>
          </a:ln>
        </p:spPr>
      </p:pic>
      <p:sp>
        <p:nvSpPr>
          <p:cNvPr id="304" name="Google Shape;304;p25"/>
          <p:cNvSpPr txBox="1"/>
          <p:nvPr/>
        </p:nvSpPr>
        <p:spPr>
          <a:xfrm>
            <a:off x="571500" y="2043261"/>
            <a:ext cx="11049000" cy="443198"/>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800" b="0" i="0" u="none" strike="noStrike" cap="none" dirty="0">
                <a:solidFill>
                  <a:srgbClr val="CBD5E1"/>
                </a:solidFill>
                <a:latin typeface="Inter" panose="02000503000000020004"/>
                <a:ea typeface="Inter" panose="02000503000000020004"/>
                <a:cs typeface="Inter" panose="02000503000000020004"/>
                <a:sym typeface="Inter" panose="02000503000000020004"/>
              </a:rPr>
              <a:t>Which SQL clause filters grouped data?</a:t>
            </a:r>
            <a:endParaRPr dirty="0"/>
          </a:p>
        </p:txBody>
      </p:sp>
      <p:sp>
        <p:nvSpPr>
          <p:cNvPr id="305" name="Google Shape;305;p25"/>
          <p:cNvSpPr txBox="1"/>
          <p:nvPr/>
        </p:nvSpPr>
        <p:spPr>
          <a:xfrm>
            <a:off x="6338887" y="7129164"/>
            <a:ext cx="1714500" cy="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100" b="0" i="0" u="none" strike="noStrike" cap="none">
                <a:solidFill>
                  <a:srgbClr val="FEF08A"/>
                </a:solidFill>
                <a:latin typeface="Inter Black"/>
                <a:ea typeface="Inter Black"/>
                <a:cs typeface="Inter Black"/>
                <a:sym typeface="Inter Black"/>
              </a:rPr>
              <a:t>D) Outer Join</a:t>
            </a:r>
          </a:p>
        </p:txBody>
      </p:sp>
      <p:sp>
        <p:nvSpPr>
          <p:cNvPr id="306" name="Google Shape;306;p25"/>
          <p:cNvSpPr/>
          <p:nvPr/>
        </p:nvSpPr>
        <p:spPr>
          <a:xfrm>
            <a:off x="952500" y="2847082"/>
            <a:ext cx="10668000" cy="765720"/>
          </a:xfrm>
          <a:prstGeom prst="roundRect">
            <a:avLst>
              <a:gd name="adj" fmla="val 9951"/>
            </a:avLst>
          </a:prstGeom>
          <a:solidFill>
            <a:srgbClr val="334155"/>
          </a:solidFill>
          <a:ln w="9525" cap="flat" cmpd="sng">
            <a:solidFill>
              <a:srgbClr val="94A3B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07" name="Google Shape;307;p25"/>
          <p:cNvSpPr txBox="1"/>
          <p:nvPr/>
        </p:nvSpPr>
        <p:spPr>
          <a:xfrm>
            <a:off x="1600200" y="3008343"/>
            <a:ext cx="9734550" cy="443198"/>
          </a:xfrm>
          <a:prstGeom prst="rect">
            <a:avLst/>
          </a:prstGeom>
          <a:noFill/>
          <a:ln>
            <a:noFill/>
          </a:ln>
        </p:spPr>
        <p:txBody>
          <a:bodyPr spcFirstLastPara="1" wrap="square" lIns="0" tIns="0" rIns="0" bIns="0" anchor="ctr" anchorCtr="0">
            <a:spAutoFit/>
          </a:bodyPr>
          <a:lstStyle/>
          <a:p>
            <a:pPr marL="0" marR="0" lvl="0" indent="0" algn="l" rtl="0">
              <a:lnSpc>
                <a:spcPct val="160000"/>
              </a:lnSpc>
              <a:spcBef>
                <a:spcPts val="0"/>
              </a:spcBef>
              <a:spcAft>
                <a:spcPts val="0"/>
              </a:spcAft>
              <a:buNone/>
            </a:pPr>
            <a:r>
              <a:rPr lang="en-US" sz="1800" b="0" i="0" u="none" strike="noStrike" cap="none" dirty="0">
                <a:solidFill>
                  <a:srgbClr val="CBD5E1"/>
                </a:solidFill>
                <a:latin typeface="Inter" panose="02000503000000020004"/>
                <a:ea typeface="Inter" panose="02000503000000020004"/>
                <a:cs typeface="Inter" panose="02000503000000020004"/>
                <a:sym typeface="Inter" panose="02000503000000020004"/>
              </a:rPr>
              <a:t>A) HAVING</a:t>
            </a:r>
            <a:endParaRPr dirty="0"/>
          </a:p>
        </p:txBody>
      </p:sp>
      <p:sp>
        <p:nvSpPr>
          <p:cNvPr id="308" name="Google Shape;308;p25"/>
          <p:cNvSpPr/>
          <p:nvPr/>
        </p:nvSpPr>
        <p:spPr>
          <a:xfrm>
            <a:off x="952500" y="3755677"/>
            <a:ext cx="10668000" cy="765720"/>
          </a:xfrm>
          <a:prstGeom prst="roundRect">
            <a:avLst>
              <a:gd name="adj" fmla="val 9951"/>
            </a:avLst>
          </a:prstGeom>
          <a:solidFill>
            <a:srgbClr val="334155"/>
          </a:solidFill>
          <a:ln w="9525" cap="flat" cmpd="sng">
            <a:solidFill>
              <a:srgbClr val="94A3B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09" name="Google Shape;309;p25"/>
          <p:cNvSpPr txBox="1"/>
          <p:nvPr/>
        </p:nvSpPr>
        <p:spPr>
          <a:xfrm>
            <a:off x="1600200" y="3916938"/>
            <a:ext cx="9734550" cy="443198"/>
          </a:xfrm>
          <a:prstGeom prst="rect">
            <a:avLst/>
          </a:prstGeom>
          <a:noFill/>
          <a:ln>
            <a:noFill/>
          </a:ln>
        </p:spPr>
        <p:txBody>
          <a:bodyPr spcFirstLastPara="1" wrap="square" lIns="0" tIns="0" rIns="0" bIns="0" anchor="ctr" anchorCtr="0">
            <a:spAutoFit/>
          </a:bodyPr>
          <a:lstStyle/>
          <a:p>
            <a:pPr marL="0" marR="0" lvl="0" indent="0" algn="l" rtl="0">
              <a:lnSpc>
                <a:spcPct val="160000"/>
              </a:lnSpc>
              <a:spcBef>
                <a:spcPts val="0"/>
              </a:spcBef>
              <a:spcAft>
                <a:spcPts val="0"/>
              </a:spcAft>
              <a:buNone/>
            </a:pPr>
            <a:r>
              <a:rPr lang="en-US" sz="1800" b="0" i="0" u="none" strike="noStrike" cap="none" dirty="0">
                <a:solidFill>
                  <a:srgbClr val="CBD5E1"/>
                </a:solidFill>
                <a:latin typeface="Inter" panose="02000503000000020004"/>
                <a:ea typeface="Inter" panose="02000503000000020004"/>
                <a:cs typeface="Inter" panose="02000503000000020004"/>
                <a:sym typeface="Inter" panose="02000503000000020004"/>
              </a:rPr>
              <a:t>B) WHERE</a:t>
            </a:r>
            <a:endParaRPr dirty="0"/>
          </a:p>
        </p:txBody>
      </p:sp>
      <p:sp>
        <p:nvSpPr>
          <p:cNvPr id="310" name="Google Shape;310;p25"/>
          <p:cNvSpPr/>
          <p:nvPr/>
        </p:nvSpPr>
        <p:spPr>
          <a:xfrm>
            <a:off x="952500" y="4664273"/>
            <a:ext cx="10668000" cy="765720"/>
          </a:xfrm>
          <a:prstGeom prst="roundRect">
            <a:avLst>
              <a:gd name="adj" fmla="val 9951"/>
            </a:avLst>
          </a:prstGeom>
          <a:solidFill>
            <a:srgbClr val="334155"/>
          </a:solidFill>
          <a:ln w="9525" cap="flat" cmpd="sng">
            <a:solidFill>
              <a:srgbClr val="94A3B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11" name="Google Shape;311;p25"/>
          <p:cNvSpPr txBox="1"/>
          <p:nvPr/>
        </p:nvSpPr>
        <p:spPr>
          <a:xfrm>
            <a:off x="1600200" y="4825534"/>
            <a:ext cx="9734550" cy="443198"/>
          </a:xfrm>
          <a:prstGeom prst="rect">
            <a:avLst/>
          </a:prstGeom>
          <a:noFill/>
          <a:ln>
            <a:noFill/>
          </a:ln>
        </p:spPr>
        <p:txBody>
          <a:bodyPr spcFirstLastPara="1" wrap="square" lIns="0" tIns="0" rIns="0" bIns="0" anchor="ctr" anchorCtr="0">
            <a:spAutoFit/>
          </a:bodyPr>
          <a:lstStyle/>
          <a:p>
            <a:pPr marL="0" marR="0" lvl="0" indent="0" algn="l" rtl="0">
              <a:lnSpc>
                <a:spcPct val="160000"/>
              </a:lnSpc>
              <a:spcBef>
                <a:spcPts val="0"/>
              </a:spcBef>
              <a:spcAft>
                <a:spcPts val="0"/>
              </a:spcAft>
              <a:buNone/>
            </a:pPr>
            <a:r>
              <a:rPr lang="en-US" sz="1800" b="0" i="0" u="none" strike="noStrike" cap="none" dirty="0">
                <a:solidFill>
                  <a:srgbClr val="CBD5E1"/>
                </a:solidFill>
                <a:latin typeface="Inter" panose="02000503000000020004"/>
                <a:ea typeface="Inter" panose="02000503000000020004"/>
                <a:cs typeface="Inter" panose="02000503000000020004"/>
                <a:sym typeface="Inter" panose="02000503000000020004"/>
              </a:rPr>
              <a:t>C) GROUP BY</a:t>
            </a:r>
            <a:endParaRPr dirty="0"/>
          </a:p>
        </p:txBody>
      </p:sp>
      <p:sp>
        <p:nvSpPr>
          <p:cNvPr id="312" name="Google Shape;312;p25"/>
          <p:cNvSpPr/>
          <p:nvPr/>
        </p:nvSpPr>
        <p:spPr>
          <a:xfrm>
            <a:off x="952500" y="5572869"/>
            <a:ext cx="10668000" cy="765720"/>
          </a:xfrm>
          <a:prstGeom prst="roundRect">
            <a:avLst>
              <a:gd name="adj" fmla="val 9951"/>
            </a:avLst>
          </a:prstGeom>
          <a:solidFill>
            <a:srgbClr val="334155"/>
          </a:solidFill>
          <a:ln w="9525" cap="flat" cmpd="sng">
            <a:solidFill>
              <a:srgbClr val="94A3B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13" name="Google Shape;313;p25"/>
          <p:cNvSpPr txBox="1"/>
          <p:nvPr/>
        </p:nvSpPr>
        <p:spPr>
          <a:xfrm>
            <a:off x="1600200" y="5734130"/>
            <a:ext cx="9734550" cy="443198"/>
          </a:xfrm>
          <a:prstGeom prst="rect">
            <a:avLst/>
          </a:prstGeom>
          <a:noFill/>
          <a:ln>
            <a:noFill/>
          </a:ln>
        </p:spPr>
        <p:txBody>
          <a:bodyPr spcFirstLastPara="1" wrap="square" lIns="0" tIns="0" rIns="0" bIns="0" anchor="ctr" anchorCtr="0">
            <a:spAutoFit/>
          </a:bodyPr>
          <a:lstStyle/>
          <a:p>
            <a:pPr marL="0" marR="0" lvl="0" indent="0" algn="l" rtl="0">
              <a:lnSpc>
                <a:spcPct val="160000"/>
              </a:lnSpc>
              <a:spcBef>
                <a:spcPts val="0"/>
              </a:spcBef>
              <a:spcAft>
                <a:spcPts val="0"/>
              </a:spcAft>
              <a:buNone/>
            </a:pPr>
            <a:r>
              <a:rPr lang="en-US" sz="1800" b="0" i="0" u="none" strike="noStrike" cap="none" dirty="0">
                <a:solidFill>
                  <a:srgbClr val="CBD5E1"/>
                </a:solidFill>
                <a:latin typeface="Inter" panose="02000503000000020004"/>
                <a:ea typeface="Inter" panose="02000503000000020004"/>
                <a:cs typeface="Inter" panose="02000503000000020004"/>
                <a:sym typeface="Inter" panose="02000503000000020004"/>
              </a:rPr>
              <a:t>D) ORDER BY</a:t>
            </a:r>
            <a:endParaRPr dirty="0"/>
          </a:p>
        </p:txBody>
      </p:sp>
      <p:sp>
        <p:nvSpPr>
          <p:cNvPr id="314" name="Google Shape;314;p25"/>
          <p:cNvSpPr/>
          <p:nvPr/>
        </p:nvSpPr>
        <p:spPr>
          <a:xfrm>
            <a:off x="952500" y="3603277"/>
            <a:ext cx="10668000" cy="9525"/>
          </a:xfrm>
          <a:prstGeom prst="rect">
            <a:avLst/>
          </a:prstGeom>
          <a:solidFill>
            <a:srgbClr val="94A3B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15" name="Google Shape;315;p25"/>
          <p:cNvSpPr/>
          <p:nvPr/>
        </p:nvSpPr>
        <p:spPr>
          <a:xfrm>
            <a:off x="952500" y="4511873"/>
            <a:ext cx="10668000" cy="9525"/>
          </a:xfrm>
          <a:prstGeom prst="rect">
            <a:avLst/>
          </a:prstGeom>
          <a:solidFill>
            <a:srgbClr val="94A3B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16" name="Google Shape;316;p25"/>
          <p:cNvSpPr/>
          <p:nvPr/>
        </p:nvSpPr>
        <p:spPr>
          <a:xfrm>
            <a:off x="952500" y="5420469"/>
            <a:ext cx="10668000" cy="9525"/>
          </a:xfrm>
          <a:prstGeom prst="rect">
            <a:avLst/>
          </a:prstGeom>
          <a:solidFill>
            <a:srgbClr val="94A3B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17" name="Google Shape;317;p25"/>
          <p:cNvSpPr/>
          <p:nvPr/>
        </p:nvSpPr>
        <p:spPr>
          <a:xfrm>
            <a:off x="952500" y="6329064"/>
            <a:ext cx="10668000" cy="9525"/>
          </a:xfrm>
          <a:prstGeom prst="rect">
            <a:avLst/>
          </a:prstGeom>
          <a:solidFill>
            <a:srgbClr val="94A3B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318" name="Google Shape;318;p25" descr="image.png"/>
          <p:cNvPicPr preferRelativeResize="0"/>
          <p:nvPr/>
        </p:nvPicPr>
        <p:blipFill rotWithShape="1">
          <a:blip r:embed="rId5"/>
          <a:srcRect/>
          <a:stretch>
            <a:fillRect/>
          </a:stretch>
        </p:blipFill>
        <p:spPr>
          <a:xfrm>
            <a:off x="1247775" y="3129855"/>
            <a:ext cx="171450" cy="200025"/>
          </a:xfrm>
          <a:prstGeom prst="rect">
            <a:avLst/>
          </a:prstGeom>
          <a:noFill/>
          <a:ln>
            <a:noFill/>
          </a:ln>
        </p:spPr>
      </p:pic>
      <p:pic>
        <p:nvPicPr>
          <p:cNvPr id="319" name="Google Shape;319;p25" descr="image.png"/>
          <p:cNvPicPr preferRelativeResize="0"/>
          <p:nvPr/>
        </p:nvPicPr>
        <p:blipFill rotWithShape="1">
          <a:blip r:embed="rId5"/>
          <a:srcRect/>
          <a:stretch>
            <a:fillRect/>
          </a:stretch>
        </p:blipFill>
        <p:spPr>
          <a:xfrm>
            <a:off x="1247775" y="4038451"/>
            <a:ext cx="171450" cy="200025"/>
          </a:xfrm>
          <a:prstGeom prst="rect">
            <a:avLst/>
          </a:prstGeom>
          <a:noFill/>
          <a:ln>
            <a:noFill/>
          </a:ln>
        </p:spPr>
      </p:pic>
      <p:pic>
        <p:nvPicPr>
          <p:cNvPr id="320" name="Google Shape;320;p25" descr="image.png"/>
          <p:cNvPicPr preferRelativeResize="0"/>
          <p:nvPr/>
        </p:nvPicPr>
        <p:blipFill rotWithShape="1">
          <a:blip r:embed="rId5"/>
          <a:srcRect/>
          <a:stretch>
            <a:fillRect/>
          </a:stretch>
        </p:blipFill>
        <p:spPr>
          <a:xfrm>
            <a:off x="1247775" y="4947046"/>
            <a:ext cx="171450" cy="200025"/>
          </a:xfrm>
          <a:prstGeom prst="rect">
            <a:avLst/>
          </a:prstGeom>
          <a:noFill/>
          <a:ln>
            <a:noFill/>
          </a:ln>
        </p:spPr>
      </p:pic>
      <p:pic>
        <p:nvPicPr>
          <p:cNvPr id="321" name="Google Shape;321;p25" descr="image.png"/>
          <p:cNvPicPr preferRelativeResize="0"/>
          <p:nvPr/>
        </p:nvPicPr>
        <p:blipFill rotWithShape="1">
          <a:blip r:embed="rId5"/>
          <a:srcRect/>
          <a:stretch>
            <a:fillRect/>
          </a:stretch>
        </p:blipFill>
        <p:spPr>
          <a:xfrm>
            <a:off x="1247775" y="5855642"/>
            <a:ext cx="171450" cy="200025"/>
          </a:xfrm>
          <a:prstGeom prst="rect">
            <a:avLst/>
          </a:prstGeom>
          <a:noFill/>
          <a:ln>
            <a:noFill/>
          </a:ln>
        </p:spPr>
      </p:pic>
      <p:sp>
        <p:nvSpPr>
          <p:cNvPr id="322" name="Google Shape;322;p25"/>
          <p:cNvSpPr txBox="1"/>
          <p:nvPr/>
        </p:nvSpPr>
        <p:spPr>
          <a:xfrm>
            <a:off x="800100" y="919311"/>
            <a:ext cx="11361420" cy="5143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00" b="1" i="0" u="none" strike="noStrike" cap="none" dirty="0">
                <a:solidFill>
                  <a:srgbClr val="38BDF8"/>
                </a:solidFill>
                <a:latin typeface="Inter" panose="02000503000000020004"/>
                <a:ea typeface="Inter" panose="02000503000000020004"/>
                <a:cs typeface="Inter" panose="02000503000000020004"/>
                <a:sym typeface="Inter" panose="02000503000000020004"/>
              </a:rPr>
              <a:t>SQL GROUPS</a:t>
            </a:r>
            <a:endParaRPr dirty="0"/>
          </a:p>
        </p:txBody>
      </p:sp>
      <p:sp>
        <p:nvSpPr>
          <p:cNvPr id="323" name="Google Shape;323;p25"/>
          <p:cNvSpPr/>
          <p:nvPr/>
        </p:nvSpPr>
        <p:spPr>
          <a:xfrm>
            <a:off x="571500" y="919311"/>
            <a:ext cx="76200" cy="514350"/>
          </a:xfrm>
          <a:prstGeom prst="rect">
            <a:avLst/>
          </a:prstGeom>
          <a:solidFill>
            <a:srgbClr val="38BDF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mph" presetSubtype="2" fill="hold" nodeType="clickEffect">
                                  <p:stCondLst>
                                    <p:cond delay="0"/>
                                  </p:stCondLst>
                                  <p:childTnLst>
                                    <p:animClr clrSpc="rgb" dir="cw">
                                      <p:cBhvr>
                                        <p:cTn id="6" dur="2000" fill="hold"/>
                                        <p:tgtEl>
                                          <p:spTgt spid="306"/>
                                        </p:tgtEl>
                                        <p:attrNameLst>
                                          <p:attrName>fillcolor</p:attrName>
                                        </p:attrNameLst>
                                      </p:cBhvr>
                                      <p:to>
                                        <a:srgbClr val="00B050"/>
                                      </p:to>
                                    </p:animClr>
                                    <p:set>
                                      <p:cBhvr>
                                        <p:cTn id="7" dur="2000" fill="hold"/>
                                        <p:tgtEl>
                                          <p:spTgt spid="306"/>
                                        </p:tgtEl>
                                        <p:attrNameLst>
                                          <p:attrName>fill.type</p:attrName>
                                        </p:attrNameLst>
                                      </p:cBhvr>
                                      <p:to>
                                        <p:strVal val="solid"/>
                                      </p:to>
                                    </p:set>
                                    <p:set>
                                      <p:cBhvr>
                                        <p:cTn id="8" dur="2000" fill="hold"/>
                                        <p:tgtEl>
                                          <p:spTgt spid="306"/>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27"/>
        <p:cNvGrpSpPr/>
        <p:nvPr/>
      </p:nvGrpSpPr>
      <p:grpSpPr>
        <a:xfrm>
          <a:off x="0" y="0"/>
          <a:ext cx="0" cy="0"/>
          <a:chOff x="0" y="0"/>
          <a:chExt cx="0" cy="0"/>
        </a:xfrm>
      </p:grpSpPr>
      <p:pic>
        <p:nvPicPr>
          <p:cNvPr id="228" name="Google Shape;228;p21" descr="image.png"/>
          <p:cNvPicPr preferRelativeResize="0"/>
          <p:nvPr/>
        </p:nvPicPr>
        <p:blipFill rotWithShape="1">
          <a:blip r:embed="rId3"/>
          <a:srcRect/>
          <a:stretch>
            <a:fillRect/>
          </a:stretch>
        </p:blipFill>
        <p:spPr>
          <a:xfrm>
            <a:off x="0" y="0"/>
            <a:ext cx="12192000" cy="6858000"/>
          </a:xfrm>
          <a:prstGeom prst="rect">
            <a:avLst/>
          </a:prstGeom>
          <a:noFill/>
          <a:ln>
            <a:noFill/>
          </a:ln>
        </p:spPr>
      </p:pic>
      <p:pic>
        <p:nvPicPr>
          <p:cNvPr id="229" name="Google Shape;229;p21" descr="image.png"/>
          <p:cNvPicPr preferRelativeResize="0"/>
          <p:nvPr/>
        </p:nvPicPr>
        <p:blipFill rotWithShape="1">
          <a:blip r:embed="rId4"/>
          <a:srcRect/>
          <a:stretch>
            <a:fillRect/>
          </a:stretch>
        </p:blipFill>
        <p:spPr>
          <a:xfrm>
            <a:off x="571500" y="2326630"/>
            <a:ext cx="5334000" cy="3447901"/>
          </a:xfrm>
          <a:prstGeom prst="rect">
            <a:avLst/>
          </a:prstGeom>
          <a:noFill/>
          <a:ln>
            <a:noFill/>
          </a:ln>
        </p:spPr>
      </p:pic>
      <p:pic>
        <p:nvPicPr>
          <p:cNvPr id="230" name="Google Shape;230;p21" descr="image.png"/>
          <p:cNvPicPr preferRelativeResize="0"/>
          <p:nvPr/>
        </p:nvPicPr>
        <p:blipFill rotWithShape="1">
          <a:blip r:embed="rId5"/>
          <a:srcRect/>
          <a:stretch>
            <a:fillRect/>
          </a:stretch>
        </p:blipFill>
        <p:spPr>
          <a:xfrm>
            <a:off x="6286500" y="2326630"/>
            <a:ext cx="5334000" cy="3447901"/>
          </a:xfrm>
          <a:prstGeom prst="rect">
            <a:avLst/>
          </a:prstGeom>
          <a:noFill/>
          <a:ln>
            <a:noFill/>
          </a:ln>
        </p:spPr>
      </p:pic>
      <p:sp>
        <p:nvSpPr>
          <p:cNvPr id="232" name="Google Shape;232;p21"/>
          <p:cNvSpPr txBox="1"/>
          <p:nvPr/>
        </p:nvSpPr>
        <p:spPr>
          <a:xfrm>
            <a:off x="962025" y="2210964"/>
            <a:ext cx="4552950" cy="2068259"/>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2100" b="0" i="1" u="none" strike="noStrike" cap="none" dirty="0">
                <a:solidFill>
                  <a:srgbClr val="E2E8F0"/>
                </a:solidFill>
                <a:latin typeface="JetBrains Mono" panose="02000009000000000000"/>
                <a:ea typeface="JetBrains Mono" panose="02000009000000000000"/>
                <a:cs typeface="JetBrains Mono" panose="02000009000000000000"/>
                <a:sym typeface="JetBrains Mono" panose="02000009000000000000"/>
              </a:rPr>
              <a:t>“I uniquely identify every row. I cannot contain NULL values. There is only one of me in a table. Who am I?"</a:t>
            </a:r>
            <a:endParaRPr dirty="0"/>
          </a:p>
        </p:txBody>
      </p:sp>
      <p:sp>
        <p:nvSpPr>
          <p:cNvPr id="233" name="Google Shape;233;p21"/>
          <p:cNvSpPr txBox="1"/>
          <p:nvPr/>
        </p:nvSpPr>
        <p:spPr>
          <a:xfrm>
            <a:off x="6677025" y="3353395"/>
            <a:ext cx="4552950" cy="36567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800" b="0" i="0" u="none" strike="noStrike" cap="none">
                <a:solidFill>
                  <a:srgbClr val="94A3B8"/>
                </a:solidFill>
                <a:latin typeface="Inter" panose="02000503000000020004"/>
                <a:ea typeface="Inter" panose="02000503000000020004"/>
                <a:cs typeface="Inter" panose="02000503000000020004"/>
                <a:sym typeface="Inter" panose="02000503000000020004"/>
              </a:rPr>
              <a:t>Who am I?</a:t>
            </a:r>
          </a:p>
        </p:txBody>
      </p:sp>
      <p:sp>
        <p:nvSpPr>
          <p:cNvPr id="234" name="Google Shape;234;p21"/>
          <p:cNvSpPr txBox="1"/>
          <p:nvPr/>
        </p:nvSpPr>
        <p:spPr>
          <a:xfrm>
            <a:off x="8863011" y="4395340"/>
            <a:ext cx="1979159" cy="32316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100" b="0" i="0" u="none" strike="noStrike" cap="none" dirty="0">
                <a:solidFill>
                  <a:srgbClr val="FEF08A"/>
                </a:solidFill>
                <a:latin typeface="Inter Black"/>
                <a:ea typeface="Inter Black"/>
                <a:cs typeface="Inter Black"/>
                <a:sym typeface="Inter Black"/>
              </a:rPr>
              <a:t>Primary Key</a:t>
            </a:r>
            <a:endParaRPr dirty="0"/>
          </a:p>
        </p:txBody>
      </p:sp>
      <p:sp>
        <p:nvSpPr>
          <p:cNvPr id="235" name="Google Shape;235;p21"/>
          <p:cNvSpPr txBox="1"/>
          <p:nvPr/>
        </p:nvSpPr>
        <p:spPr>
          <a:xfrm>
            <a:off x="800100" y="919311"/>
            <a:ext cx="11361420" cy="5143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00" b="1" i="0" u="none" strike="noStrike" cap="none" dirty="0">
                <a:solidFill>
                  <a:srgbClr val="38BDF8"/>
                </a:solidFill>
                <a:latin typeface="Inter" panose="02000503000000020004"/>
                <a:ea typeface="Inter" panose="02000503000000020004"/>
                <a:cs typeface="Inter" panose="02000503000000020004"/>
                <a:sym typeface="Inter" panose="02000503000000020004"/>
              </a:rPr>
              <a:t>IDENTIFY </a:t>
            </a:r>
            <a:r>
              <a:rPr lang="en-US" sz="3300" b="1" dirty="0">
                <a:solidFill>
                  <a:srgbClr val="38BDF8"/>
                </a:solidFill>
                <a:latin typeface="Inter" panose="02000503000000020004"/>
                <a:ea typeface="Inter" panose="02000503000000020004"/>
                <a:cs typeface="Inter" panose="02000503000000020004"/>
                <a:sym typeface="Inter" panose="02000503000000020004"/>
              </a:rPr>
              <a:t>ME</a:t>
            </a:r>
            <a:endParaRPr dirty="0"/>
          </a:p>
        </p:txBody>
      </p:sp>
      <p:sp>
        <p:nvSpPr>
          <p:cNvPr id="236" name="Google Shape;236;p21"/>
          <p:cNvSpPr/>
          <p:nvPr/>
        </p:nvSpPr>
        <p:spPr>
          <a:xfrm>
            <a:off x="571500" y="919311"/>
            <a:ext cx="76200" cy="514350"/>
          </a:xfrm>
          <a:prstGeom prst="rect">
            <a:avLst/>
          </a:prstGeom>
          <a:solidFill>
            <a:srgbClr val="38BDF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4" name="Google Shape;131;p16" descr="image.png"/>
          <p:cNvPicPr preferRelativeResize="0"/>
          <p:nvPr/>
        </p:nvPicPr>
        <p:blipFill rotWithShape="1">
          <a:blip r:embed="rId6"/>
          <a:srcRect/>
          <a:stretch>
            <a:fillRect/>
          </a:stretch>
        </p:blipFill>
        <p:spPr>
          <a:xfrm>
            <a:off x="6586536" y="4116050"/>
            <a:ext cx="4552950" cy="8382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4"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27"/>
        <p:cNvGrpSpPr/>
        <p:nvPr/>
      </p:nvGrpSpPr>
      <p:grpSpPr>
        <a:xfrm>
          <a:off x="0" y="0"/>
          <a:ext cx="0" cy="0"/>
          <a:chOff x="0" y="0"/>
          <a:chExt cx="0" cy="0"/>
        </a:xfrm>
      </p:grpSpPr>
      <p:pic>
        <p:nvPicPr>
          <p:cNvPr id="228" name="Google Shape;228;p21" descr="image.png"/>
          <p:cNvPicPr preferRelativeResize="0"/>
          <p:nvPr/>
        </p:nvPicPr>
        <p:blipFill rotWithShape="1">
          <a:blip r:embed="rId3"/>
          <a:srcRect/>
          <a:stretch>
            <a:fillRect/>
          </a:stretch>
        </p:blipFill>
        <p:spPr>
          <a:xfrm>
            <a:off x="0" y="0"/>
            <a:ext cx="12192000" cy="6858000"/>
          </a:xfrm>
          <a:prstGeom prst="rect">
            <a:avLst/>
          </a:prstGeom>
          <a:noFill/>
          <a:ln>
            <a:noFill/>
          </a:ln>
        </p:spPr>
      </p:pic>
      <p:pic>
        <p:nvPicPr>
          <p:cNvPr id="229" name="Google Shape;229;p21" descr="image.png"/>
          <p:cNvPicPr preferRelativeResize="0"/>
          <p:nvPr/>
        </p:nvPicPr>
        <p:blipFill rotWithShape="1">
          <a:blip r:embed="rId4"/>
          <a:srcRect/>
          <a:stretch>
            <a:fillRect/>
          </a:stretch>
        </p:blipFill>
        <p:spPr>
          <a:xfrm>
            <a:off x="571500" y="2326630"/>
            <a:ext cx="5334000" cy="3447901"/>
          </a:xfrm>
          <a:prstGeom prst="rect">
            <a:avLst/>
          </a:prstGeom>
          <a:noFill/>
          <a:ln>
            <a:noFill/>
          </a:ln>
        </p:spPr>
      </p:pic>
      <p:pic>
        <p:nvPicPr>
          <p:cNvPr id="230" name="Google Shape;230;p21" descr="image.png"/>
          <p:cNvPicPr preferRelativeResize="0"/>
          <p:nvPr/>
        </p:nvPicPr>
        <p:blipFill rotWithShape="1">
          <a:blip r:embed="rId5"/>
          <a:srcRect/>
          <a:stretch>
            <a:fillRect/>
          </a:stretch>
        </p:blipFill>
        <p:spPr>
          <a:xfrm>
            <a:off x="6286500" y="2326630"/>
            <a:ext cx="5334000" cy="3447901"/>
          </a:xfrm>
          <a:prstGeom prst="rect">
            <a:avLst/>
          </a:prstGeom>
          <a:noFill/>
          <a:ln>
            <a:noFill/>
          </a:ln>
        </p:spPr>
      </p:pic>
      <p:sp>
        <p:nvSpPr>
          <p:cNvPr id="232" name="Google Shape;232;p21"/>
          <p:cNvSpPr txBox="1"/>
          <p:nvPr/>
        </p:nvSpPr>
        <p:spPr>
          <a:xfrm>
            <a:off x="962025" y="2210964"/>
            <a:ext cx="4552950" cy="3619452"/>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2100" b="0" i="1" u="none" strike="noStrike" cap="none" dirty="0">
                <a:solidFill>
                  <a:srgbClr val="E2E8F0"/>
                </a:solidFill>
                <a:latin typeface="JetBrains Mono" panose="02000009000000000000"/>
                <a:ea typeface="JetBrains Mono" panose="02000009000000000000"/>
                <a:cs typeface="JetBrains Mono" panose="02000009000000000000"/>
                <a:sym typeface="JetBrains Mono" panose="02000009000000000000"/>
              </a:rPr>
              <a:t>“I am an integrity constraint. My primary job is to establish a link between two tables by matching a column in a child table to the primary key of a parent table. Who am I?"</a:t>
            </a:r>
            <a:endParaRPr dirty="0"/>
          </a:p>
        </p:txBody>
      </p:sp>
      <p:sp>
        <p:nvSpPr>
          <p:cNvPr id="233" name="Google Shape;233;p21"/>
          <p:cNvSpPr txBox="1"/>
          <p:nvPr/>
        </p:nvSpPr>
        <p:spPr>
          <a:xfrm>
            <a:off x="6677025" y="3353395"/>
            <a:ext cx="4552950" cy="36567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800" b="0" i="0" u="none" strike="noStrike" cap="none">
                <a:solidFill>
                  <a:srgbClr val="94A3B8"/>
                </a:solidFill>
                <a:latin typeface="Inter" panose="02000503000000020004"/>
                <a:ea typeface="Inter" panose="02000503000000020004"/>
                <a:cs typeface="Inter" panose="02000503000000020004"/>
                <a:sym typeface="Inter" panose="02000503000000020004"/>
              </a:rPr>
              <a:t>Who am I?</a:t>
            </a:r>
          </a:p>
        </p:txBody>
      </p:sp>
      <p:sp>
        <p:nvSpPr>
          <p:cNvPr id="234" name="Google Shape;234;p21"/>
          <p:cNvSpPr txBox="1"/>
          <p:nvPr/>
        </p:nvSpPr>
        <p:spPr>
          <a:xfrm>
            <a:off x="8863012" y="4395340"/>
            <a:ext cx="1576388" cy="32316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100" b="0" i="0" u="none" strike="noStrike" cap="none" dirty="0">
                <a:solidFill>
                  <a:srgbClr val="FEF08A"/>
                </a:solidFill>
                <a:latin typeface="Inter Black"/>
                <a:ea typeface="Inter Black"/>
                <a:cs typeface="Inter Black"/>
                <a:sym typeface="Inter Black"/>
              </a:rPr>
              <a:t>Foreign Key</a:t>
            </a:r>
            <a:endParaRPr dirty="0"/>
          </a:p>
        </p:txBody>
      </p:sp>
      <p:sp>
        <p:nvSpPr>
          <p:cNvPr id="235" name="Google Shape;235;p21"/>
          <p:cNvSpPr txBox="1"/>
          <p:nvPr/>
        </p:nvSpPr>
        <p:spPr>
          <a:xfrm>
            <a:off x="800100" y="919311"/>
            <a:ext cx="11361420" cy="5143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00" b="1" i="0" u="none" strike="noStrike" cap="none" dirty="0">
                <a:solidFill>
                  <a:srgbClr val="38BDF8"/>
                </a:solidFill>
                <a:latin typeface="Inter" panose="02000503000000020004"/>
                <a:ea typeface="Inter" panose="02000503000000020004"/>
                <a:cs typeface="Inter" panose="02000503000000020004"/>
                <a:sym typeface="Inter" panose="02000503000000020004"/>
              </a:rPr>
              <a:t>IDENTIFY </a:t>
            </a:r>
            <a:r>
              <a:rPr lang="en-US" sz="3300" b="1" dirty="0">
                <a:solidFill>
                  <a:srgbClr val="38BDF8"/>
                </a:solidFill>
                <a:latin typeface="Inter" panose="02000503000000020004"/>
                <a:ea typeface="Inter" panose="02000503000000020004"/>
                <a:cs typeface="Inter" panose="02000503000000020004"/>
                <a:sym typeface="Inter" panose="02000503000000020004"/>
              </a:rPr>
              <a:t>ME</a:t>
            </a:r>
            <a:endParaRPr dirty="0"/>
          </a:p>
        </p:txBody>
      </p:sp>
      <p:sp>
        <p:nvSpPr>
          <p:cNvPr id="236" name="Google Shape;236;p21"/>
          <p:cNvSpPr/>
          <p:nvPr/>
        </p:nvSpPr>
        <p:spPr>
          <a:xfrm>
            <a:off x="571500" y="919311"/>
            <a:ext cx="76200" cy="514350"/>
          </a:xfrm>
          <a:prstGeom prst="rect">
            <a:avLst/>
          </a:prstGeom>
          <a:solidFill>
            <a:srgbClr val="38BDF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2" name="Google Shape;131;p16" descr="image.png"/>
          <p:cNvPicPr preferRelativeResize="0"/>
          <p:nvPr/>
        </p:nvPicPr>
        <p:blipFill rotWithShape="1">
          <a:blip r:embed="rId6"/>
          <a:srcRect/>
          <a:stretch>
            <a:fillRect/>
          </a:stretch>
        </p:blipFill>
        <p:spPr>
          <a:xfrm>
            <a:off x="6586536" y="4116050"/>
            <a:ext cx="4552950" cy="8382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4" grpId="0"/>
    </p:bldLst>
  </p:timing>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1E293B"/>
        </a:solidFill>
        <a:effectLst/>
      </p:bgPr>
    </p:bg>
    <p:spTree>
      <p:nvGrpSpPr>
        <p:cNvPr id="1" name="Shape 327"/>
        <p:cNvGrpSpPr/>
        <p:nvPr/>
      </p:nvGrpSpPr>
      <p:grpSpPr>
        <a:xfrm>
          <a:off x="0" y="0"/>
          <a:ext cx="0" cy="0"/>
          <a:chOff x="0" y="0"/>
          <a:chExt cx="0" cy="0"/>
        </a:xfrm>
      </p:grpSpPr>
      <p:pic>
        <p:nvPicPr>
          <p:cNvPr id="328" name="Google Shape;328;p26" descr="image.png"/>
          <p:cNvPicPr preferRelativeResize="0"/>
          <p:nvPr/>
        </p:nvPicPr>
        <p:blipFill rotWithShape="1">
          <a:blip r:embed="rId3"/>
          <a:srcRect/>
          <a:stretch>
            <a:fillRect/>
          </a:stretch>
        </p:blipFill>
        <p:spPr>
          <a:xfrm>
            <a:off x="0" y="0"/>
            <a:ext cx="12192000" cy="6858000"/>
          </a:xfrm>
          <a:prstGeom prst="rect">
            <a:avLst/>
          </a:prstGeom>
          <a:noFill/>
          <a:ln>
            <a:noFill/>
          </a:ln>
        </p:spPr>
      </p:pic>
      <p:sp>
        <p:nvSpPr>
          <p:cNvPr id="329" name="Google Shape;329;p26"/>
          <p:cNvSpPr/>
          <p:nvPr/>
        </p:nvSpPr>
        <p:spPr>
          <a:xfrm>
            <a:off x="0" y="0"/>
            <a:ext cx="12192000" cy="6858000"/>
          </a:xfrm>
          <a:prstGeom prst="rect">
            <a:avLst/>
          </a:prstGeom>
          <a:solidFill>
            <a:srgbClr val="0F172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30" name="Google Shape;330;p26"/>
          <p:cNvSpPr txBox="1"/>
          <p:nvPr/>
        </p:nvSpPr>
        <p:spPr>
          <a:xfrm>
            <a:off x="5610225" y="1888777"/>
            <a:ext cx="971550" cy="36567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800" b="1" i="0" u="none" strike="noStrike" cap="none" dirty="0">
                <a:solidFill>
                  <a:srgbClr val="38BDF8"/>
                </a:solidFill>
                <a:latin typeface="Inter" panose="02000503000000020004"/>
                <a:ea typeface="Inter" panose="02000503000000020004"/>
                <a:cs typeface="Inter" panose="02000503000000020004"/>
                <a:sym typeface="Inter" panose="02000503000000020004"/>
              </a:rPr>
              <a:t>PART 04</a:t>
            </a:r>
            <a:endParaRPr dirty="0"/>
          </a:p>
        </p:txBody>
      </p:sp>
      <p:sp>
        <p:nvSpPr>
          <p:cNvPr id="331" name="Google Shape;331;p26"/>
          <p:cNvSpPr txBox="1"/>
          <p:nvPr/>
        </p:nvSpPr>
        <p:spPr>
          <a:xfrm>
            <a:off x="1705451" y="2940248"/>
            <a:ext cx="8781097" cy="92392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6000" b="1" i="0" u="none" strike="noStrike" cap="none">
                <a:solidFill>
                  <a:srgbClr val="F8FAFC"/>
                </a:solidFill>
                <a:latin typeface="Inter" panose="02000503000000020004"/>
                <a:ea typeface="Inter" panose="02000503000000020004"/>
                <a:cs typeface="Inter" panose="02000503000000020004"/>
                <a:sym typeface="Inter" panose="02000503000000020004"/>
              </a:rPr>
              <a:t>Machine Learning &amp; AI</a:t>
            </a:r>
          </a:p>
        </p:txBody>
      </p:sp>
      <p:sp>
        <p:nvSpPr>
          <p:cNvPr id="332" name="Google Shape;332;p26"/>
          <p:cNvSpPr/>
          <p:nvPr/>
        </p:nvSpPr>
        <p:spPr>
          <a:xfrm>
            <a:off x="5381625" y="4149923"/>
            <a:ext cx="1428750" cy="76200"/>
          </a:xfrm>
          <a:prstGeom prst="rect">
            <a:avLst/>
          </a:prstGeom>
          <a:solidFill>
            <a:srgbClr val="38BDF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1E293B"/>
        </a:solidFill>
        <a:effectLst/>
      </p:bgPr>
    </p:bg>
    <p:spTree>
      <p:nvGrpSpPr>
        <p:cNvPr id="1" name="Shape 336"/>
        <p:cNvGrpSpPr/>
        <p:nvPr/>
      </p:nvGrpSpPr>
      <p:grpSpPr>
        <a:xfrm>
          <a:off x="0" y="0"/>
          <a:ext cx="0" cy="0"/>
          <a:chOff x="0" y="0"/>
          <a:chExt cx="0" cy="0"/>
        </a:xfrm>
      </p:grpSpPr>
      <p:pic>
        <p:nvPicPr>
          <p:cNvPr id="337" name="Google Shape;337;p27" descr="image.png"/>
          <p:cNvPicPr preferRelativeResize="0"/>
          <p:nvPr/>
        </p:nvPicPr>
        <p:blipFill rotWithShape="1">
          <a:blip r:embed="rId3"/>
          <a:srcRect/>
          <a:stretch>
            <a:fillRect/>
          </a:stretch>
        </p:blipFill>
        <p:spPr>
          <a:xfrm>
            <a:off x="0" y="0"/>
            <a:ext cx="12192000" cy="6858000"/>
          </a:xfrm>
          <a:prstGeom prst="rect">
            <a:avLst/>
          </a:prstGeom>
          <a:noFill/>
          <a:ln>
            <a:noFill/>
          </a:ln>
        </p:spPr>
      </p:pic>
      <p:pic>
        <p:nvPicPr>
          <p:cNvPr id="338" name="Google Shape;338;p27" descr="image.png"/>
          <p:cNvPicPr preferRelativeResize="0"/>
          <p:nvPr/>
        </p:nvPicPr>
        <p:blipFill rotWithShape="1">
          <a:blip r:embed="rId4"/>
          <a:srcRect/>
          <a:stretch>
            <a:fillRect/>
          </a:stretch>
        </p:blipFill>
        <p:spPr>
          <a:xfrm>
            <a:off x="571500" y="6871989"/>
            <a:ext cx="11049000" cy="838200"/>
          </a:xfrm>
          <a:prstGeom prst="rect">
            <a:avLst/>
          </a:prstGeom>
          <a:noFill/>
          <a:ln>
            <a:noFill/>
          </a:ln>
        </p:spPr>
      </p:pic>
      <p:sp>
        <p:nvSpPr>
          <p:cNvPr id="339" name="Google Shape;339;p27"/>
          <p:cNvSpPr txBox="1"/>
          <p:nvPr/>
        </p:nvSpPr>
        <p:spPr>
          <a:xfrm>
            <a:off x="571500" y="2043261"/>
            <a:ext cx="11049000" cy="36567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800" b="0" i="0" u="none" strike="noStrike" cap="none">
                <a:solidFill>
                  <a:srgbClr val="CBD5E1"/>
                </a:solidFill>
                <a:latin typeface="Inter" panose="02000503000000020004"/>
                <a:ea typeface="Inter" panose="02000503000000020004"/>
                <a:cs typeface="Inter" panose="02000503000000020004"/>
                <a:sym typeface="Inter" panose="02000503000000020004"/>
              </a:rPr>
              <a:t>What is the main goal of unsupervised machine learning algorithms?</a:t>
            </a:r>
          </a:p>
        </p:txBody>
      </p:sp>
      <p:sp>
        <p:nvSpPr>
          <p:cNvPr id="340" name="Google Shape;340;p27"/>
          <p:cNvSpPr txBox="1"/>
          <p:nvPr/>
        </p:nvSpPr>
        <p:spPr>
          <a:xfrm>
            <a:off x="5200650" y="7129164"/>
            <a:ext cx="3990975" cy="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100" b="0" i="0" u="none" strike="noStrike" cap="none">
                <a:solidFill>
                  <a:srgbClr val="FEF08A"/>
                </a:solidFill>
                <a:latin typeface="Inter Black"/>
                <a:ea typeface="Inter Black"/>
                <a:cs typeface="Inter Black"/>
                <a:sym typeface="Inter Black"/>
              </a:rPr>
              <a:t>B) Find hidden patterns in data</a:t>
            </a:r>
          </a:p>
        </p:txBody>
      </p:sp>
      <p:sp>
        <p:nvSpPr>
          <p:cNvPr id="341" name="Google Shape;341;p27"/>
          <p:cNvSpPr/>
          <p:nvPr/>
        </p:nvSpPr>
        <p:spPr>
          <a:xfrm>
            <a:off x="952500" y="2847082"/>
            <a:ext cx="10668000" cy="765720"/>
          </a:xfrm>
          <a:prstGeom prst="roundRect">
            <a:avLst>
              <a:gd name="adj" fmla="val 9951"/>
            </a:avLst>
          </a:prstGeom>
          <a:solidFill>
            <a:srgbClr val="334155"/>
          </a:solidFill>
          <a:ln w="9525" cap="flat" cmpd="sng">
            <a:solidFill>
              <a:srgbClr val="94A3B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42" name="Google Shape;342;p27"/>
          <p:cNvSpPr txBox="1"/>
          <p:nvPr/>
        </p:nvSpPr>
        <p:spPr>
          <a:xfrm>
            <a:off x="1600200" y="3037582"/>
            <a:ext cx="9734550" cy="384720"/>
          </a:xfrm>
          <a:prstGeom prst="rect">
            <a:avLst/>
          </a:prstGeom>
          <a:noFill/>
          <a:ln>
            <a:noFill/>
          </a:ln>
        </p:spPr>
        <p:txBody>
          <a:bodyPr spcFirstLastPara="1" wrap="square" lIns="0" tIns="0" rIns="0" bIns="0" anchor="ctr" anchorCtr="0">
            <a:spAutoFit/>
          </a:bodyPr>
          <a:lstStyle/>
          <a:p>
            <a:pPr marL="0" marR="0" lvl="0" indent="0" algn="l" rtl="0">
              <a:lnSpc>
                <a:spcPct val="160000"/>
              </a:lnSpc>
              <a:spcBef>
                <a:spcPts val="0"/>
              </a:spcBef>
              <a:spcAft>
                <a:spcPts val="0"/>
              </a:spcAft>
              <a:buNone/>
            </a:pPr>
            <a:r>
              <a:rPr lang="en-US" sz="1800" b="0" i="0" u="none" strike="noStrike" cap="none">
                <a:solidFill>
                  <a:srgbClr val="CBD5E1"/>
                </a:solidFill>
                <a:latin typeface="Inter" panose="02000503000000020004"/>
                <a:ea typeface="Inter" panose="02000503000000020004"/>
                <a:cs typeface="Inter" panose="02000503000000020004"/>
                <a:sym typeface="Inter" panose="02000503000000020004"/>
              </a:rPr>
              <a:t>A) To predict a specific labeled target value</a:t>
            </a:r>
          </a:p>
        </p:txBody>
      </p:sp>
      <p:sp>
        <p:nvSpPr>
          <p:cNvPr id="343" name="Google Shape;343;p27"/>
          <p:cNvSpPr/>
          <p:nvPr/>
        </p:nvSpPr>
        <p:spPr>
          <a:xfrm>
            <a:off x="952500" y="3755677"/>
            <a:ext cx="10668000" cy="765720"/>
          </a:xfrm>
          <a:prstGeom prst="roundRect">
            <a:avLst>
              <a:gd name="adj" fmla="val 9951"/>
            </a:avLst>
          </a:prstGeom>
          <a:solidFill>
            <a:srgbClr val="334155"/>
          </a:solidFill>
          <a:ln w="9525" cap="flat" cmpd="sng">
            <a:solidFill>
              <a:srgbClr val="94A3B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44" name="Google Shape;344;p27"/>
          <p:cNvSpPr txBox="1"/>
          <p:nvPr/>
        </p:nvSpPr>
        <p:spPr>
          <a:xfrm>
            <a:off x="1600200" y="3946177"/>
            <a:ext cx="9734550" cy="384720"/>
          </a:xfrm>
          <a:prstGeom prst="rect">
            <a:avLst/>
          </a:prstGeom>
          <a:noFill/>
          <a:ln>
            <a:noFill/>
          </a:ln>
        </p:spPr>
        <p:txBody>
          <a:bodyPr spcFirstLastPara="1" wrap="square" lIns="0" tIns="0" rIns="0" bIns="0" anchor="ctr" anchorCtr="0">
            <a:spAutoFit/>
          </a:bodyPr>
          <a:lstStyle/>
          <a:p>
            <a:pPr marL="0" marR="0" lvl="0" indent="0" algn="l" rtl="0">
              <a:lnSpc>
                <a:spcPct val="160000"/>
              </a:lnSpc>
              <a:spcBef>
                <a:spcPts val="0"/>
              </a:spcBef>
              <a:spcAft>
                <a:spcPts val="0"/>
              </a:spcAft>
              <a:buNone/>
            </a:pPr>
            <a:r>
              <a:rPr lang="en-US" sz="1800" b="0" i="0" u="none" strike="noStrike" cap="none">
                <a:solidFill>
                  <a:srgbClr val="CBD5E1"/>
                </a:solidFill>
                <a:latin typeface="Inter" panose="02000503000000020004"/>
                <a:ea typeface="Inter" panose="02000503000000020004"/>
                <a:cs typeface="Inter" panose="02000503000000020004"/>
                <a:sym typeface="Inter" panose="02000503000000020004"/>
              </a:rPr>
              <a:t>B) To find hidden patterns or structures in unlabeled data</a:t>
            </a:r>
          </a:p>
        </p:txBody>
      </p:sp>
      <p:sp>
        <p:nvSpPr>
          <p:cNvPr id="345" name="Google Shape;345;p27"/>
          <p:cNvSpPr/>
          <p:nvPr/>
        </p:nvSpPr>
        <p:spPr>
          <a:xfrm>
            <a:off x="952500" y="4664273"/>
            <a:ext cx="10668000" cy="765720"/>
          </a:xfrm>
          <a:prstGeom prst="roundRect">
            <a:avLst>
              <a:gd name="adj" fmla="val 9951"/>
            </a:avLst>
          </a:prstGeom>
          <a:solidFill>
            <a:srgbClr val="334155"/>
          </a:solidFill>
          <a:ln w="9525" cap="flat" cmpd="sng">
            <a:solidFill>
              <a:srgbClr val="94A3B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46" name="Google Shape;346;p27"/>
          <p:cNvSpPr txBox="1"/>
          <p:nvPr/>
        </p:nvSpPr>
        <p:spPr>
          <a:xfrm>
            <a:off x="1600200" y="4854773"/>
            <a:ext cx="9734550" cy="384720"/>
          </a:xfrm>
          <a:prstGeom prst="rect">
            <a:avLst/>
          </a:prstGeom>
          <a:noFill/>
          <a:ln>
            <a:noFill/>
          </a:ln>
        </p:spPr>
        <p:txBody>
          <a:bodyPr spcFirstLastPara="1" wrap="square" lIns="0" tIns="0" rIns="0" bIns="0" anchor="ctr" anchorCtr="0">
            <a:spAutoFit/>
          </a:bodyPr>
          <a:lstStyle/>
          <a:p>
            <a:pPr marL="0" marR="0" lvl="0" indent="0" algn="l" rtl="0">
              <a:lnSpc>
                <a:spcPct val="160000"/>
              </a:lnSpc>
              <a:spcBef>
                <a:spcPts val="0"/>
              </a:spcBef>
              <a:spcAft>
                <a:spcPts val="0"/>
              </a:spcAft>
              <a:buNone/>
            </a:pPr>
            <a:r>
              <a:rPr lang="en-US" sz="1800" b="0" i="0" u="none" strike="noStrike" cap="none">
                <a:solidFill>
                  <a:srgbClr val="CBD5E1"/>
                </a:solidFill>
                <a:latin typeface="Inter" panose="02000503000000020004"/>
                <a:ea typeface="Inter" panose="02000503000000020004"/>
                <a:cs typeface="Inter" panose="02000503000000020004"/>
                <a:sym typeface="Inter" panose="02000503000000020004"/>
              </a:rPr>
              <a:t>C) To optimize a continuous reward function</a:t>
            </a:r>
          </a:p>
        </p:txBody>
      </p:sp>
      <p:sp>
        <p:nvSpPr>
          <p:cNvPr id="347" name="Google Shape;347;p27"/>
          <p:cNvSpPr/>
          <p:nvPr/>
        </p:nvSpPr>
        <p:spPr>
          <a:xfrm>
            <a:off x="952500" y="5572869"/>
            <a:ext cx="10668000" cy="765720"/>
          </a:xfrm>
          <a:prstGeom prst="roundRect">
            <a:avLst>
              <a:gd name="adj" fmla="val 9951"/>
            </a:avLst>
          </a:prstGeom>
          <a:solidFill>
            <a:srgbClr val="334155"/>
          </a:solidFill>
          <a:ln w="9525" cap="flat" cmpd="sng">
            <a:solidFill>
              <a:srgbClr val="94A3B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48" name="Google Shape;348;p27"/>
          <p:cNvSpPr txBox="1"/>
          <p:nvPr/>
        </p:nvSpPr>
        <p:spPr>
          <a:xfrm>
            <a:off x="1600200" y="5763369"/>
            <a:ext cx="9734550" cy="384720"/>
          </a:xfrm>
          <a:prstGeom prst="rect">
            <a:avLst/>
          </a:prstGeom>
          <a:noFill/>
          <a:ln>
            <a:noFill/>
          </a:ln>
        </p:spPr>
        <p:txBody>
          <a:bodyPr spcFirstLastPara="1" wrap="square" lIns="0" tIns="0" rIns="0" bIns="0" anchor="ctr" anchorCtr="0">
            <a:spAutoFit/>
          </a:bodyPr>
          <a:lstStyle/>
          <a:p>
            <a:pPr marL="0" marR="0" lvl="0" indent="0" algn="l" rtl="0">
              <a:lnSpc>
                <a:spcPct val="160000"/>
              </a:lnSpc>
              <a:spcBef>
                <a:spcPts val="0"/>
              </a:spcBef>
              <a:spcAft>
                <a:spcPts val="0"/>
              </a:spcAft>
              <a:buNone/>
            </a:pPr>
            <a:r>
              <a:rPr lang="en-US" sz="1800" b="0" i="0" u="none" strike="noStrike" cap="none">
                <a:solidFill>
                  <a:srgbClr val="CBD5E1"/>
                </a:solidFill>
                <a:latin typeface="Inter" panose="02000503000000020004"/>
                <a:ea typeface="Inter" panose="02000503000000020004"/>
                <a:cs typeface="Inter" panose="02000503000000020004"/>
                <a:sym typeface="Inter" panose="02000503000000020004"/>
              </a:rPr>
              <a:t>D) To minimize validation classification error</a:t>
            </a:r>
          </a:p>
        </p:txBody>
      </p:sp>
      <p:sp>
        <p:nvSpPr>
          <p:cNvPr id="349" name="Google Shape;349;p27"/>
          <p:cNvSpPr/>
          <p:nvPr/>
        </p:nvSpPr>
        <p:spPr>
          <a:xfrm>
            <a:off x="952500" y="3603277"/>
            <a:ext cx="10668000" cy="9525"/>
          </a:xfrm>
          <a:prstGeom prst="rect">
            <a:avLst/>
          </a:prstGeom>
          <a:solidFill>
            <a:srgbClr val="94A3B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50" name="Google Shape;350;p27"/>
          <p:cNvSpPr/>
          <p:nvPr/>
        </p:nvSpPr>
        <p:spPr>
          <a:xfrm>
            <a:off x="952500" y="4511873"/>
            <a:ext cx="10668000" cy="9525"/>
          </a:xfrm>
          <a:prstGeom prst="rect">
            <a:avLst/>
          </a:prstGeom>
          <a:solidFill>
            <a:srgbClr val="94A3B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51" name="Google Shape;351;p27"/>
          <p:cNvSpPr/>
          <p:nvPr/>
        </p:nvSpPr>
        <p:spPr>
          <a:xfrm>
            <a:off x="952500" y="5420469"/>
            <a:ext cx="10668000" cy="9525"/>
          </a:xfrm>
          <a:prstGeom prst="rect">
            <a:avLst/>
          </a:prstGeom>
          <a:solidFill>
            <a:srgbClr val="94A3B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52" name="Google Shape;352;p27"/>
          <p:cNvSpPr/>
          <p:nvPr/>
        </p:nvSpPr>
        <p:spPr>
          <a:xfrm>
            <a:off x="952500" y="6329064"/>
            <a:ext cx="10668000" cy="9525"/>
          </a:xfrm>
          <a:prstGeom prst="rect">
            <a:avLst/>
          </a:prstGeom>
          <a:solidFill>
            <a:srgbClr val="94A3B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353" name="Google Shape;353;p27" descr="image.png"/>
          <p:cNvPicPr preferRelativeResize="0"/>
          <p:nvPr/>
        </p:nvPicPr>
        <p:blipFill rotWithShape="1">
          <a:blip r:embed="rId5"/>
          <a:srcRect/>
          <a:stretch>
            <a:fillRect/>
          </a:stretch>
        </p:blipFill>
        <p:spPr>
          <a:xfrm>
            <a:off x="1247775" y="3129855"/>
            <a:ext cx="171450" cy="200025"/>
          </a:xfrm>
          <a:prstGeom prst="rect">
            <a:avLst/>
          </a:prstGeom>
          <a:noFill/>
          <a:ln>
            <a:noFill/>
          </a:ln>
        </p:spPr>
      </p:pic>
      <p:pic>
        <p:nvPicPr>
          <p:cNvPr id="354" name="Google Shape;354;p27" descr="image.png"/>
          <p:cNvPicPr preferRelativeResize="0"/>
          <p:nvPr/>
        </p:nvPicPr>
        <p:blipFill rotWithShape="1">
          <a:blip r:embed="rId5"/>
          <a:srcRect/>
          <a:stretch>
            <a:fillRect/>
          </a:stretch>
        </p:blipFill>
        <p:spPr>
          <a:xfrm>
            <a:off x="1247775" y="4038451"/>
            <a:ext cx="171450" cy="200025"/>
          </a:xfrm>
          <a:prstGeom prst="rect">
            <a:avLst/>
          </a:prstGeom>
          <a:noFill/>
          <a:ln>
            <a:noFill/>
          </a:ln>
        </p:spPr>
      </p:pic>
      <p:pic>
        <p:nvPicPr>
          <p:cNvPr id="355" name="Google Shape;355;p27" descr="image.png"/>
          <p:cNvPicPr preferRelativeResize="0"/>
          <p:nvPr/>
        </p:nvPicPr>
        <p:blipFill rotWithShape="1">
          <a:blip r:embed="rId5"/>
          <a:srcRect/>
          <a:stretch>
            <a:fillRect/>
          </a:stretch>
        </p:blipFill>
        <p:spPr>
          <a:xfrm>
            <a:off x="1247775" y="4947046"/>
            <a:ext cx="171450" cy="200025"/>
          </a:xfrm>
          <a:prstGeom prst="rect">
            <a:avLst/>
          </a:prstGeom>
          <a:noFill/>
          <a:ln>
            <a:noFill/>
          </a:ln>
        </p:spPr>
      </p:pic>
      <p:pic>
        <p:nvPicPr>
          <p:cNvPr id="356" name="Google Shape;356;p27" descr="image.png"/>
          <p:cNvPicPr preferRelativeResize="0"/>
          <p:nvPr/>
        </p:nvPicPr>
        <p:blipFill rotWithShape="1">
          <a:blip r:embed="rId5"/>
          <a:srcRect/>
          <a:stretch>
            <a:fillRect/>
          </a:stretch>
        </p:blipFill>
        <p:spPr>
          <a:xfrm>
            <a:off x="1247775" y="5855642"/>
            <a:ext cx="171450" cy="200025"/>
          </a:xfrm>
          <a:prstGeom prst="rect">
            <a:avLst/>
          </a:prstGeom>
          <a:noFill/>
          <a:ln>
            <a:noFill/>
          </a:ln>
        </p:spPr>
      </p:pic>
      <p:sp>
        <p:nvSpPr>
          <p:cNvPr id="357" name="Google Shape;357;p27"/>
          <p:cNvSpPr txBox="1"/>
          <p:nvPr/>
        </p:nvSpPr>
        <p:spPr>
          <a:xfrm>
            <a:off x="800100" y="919311"/>
            <a:ext cx="11361420" cy="5143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00" b="1" i="0" u="none" strike="noStrike" cap="none">
                <a:solidFill>
                  <a:srgbClr val="38BDF8"/>
                </a:solidFill>
                <a:latin typeface="Inter" panose="02000503000000020004"/>
                <a:ea typeface="Inter" panose="02000503000000020004"/>
                <a:cs typeface="Inter" panose="02000503000000020004"/>
                <a:sym typeface="Inter" panose="02000503000000020004"/>
              </a:rPr>
              <a:t>LEARNING MODELS</a:t>
            </a:r>
          </a:p>
        </p:txBody>
      </p:sp>
      <p:sp>
        <p:nvSpPr>
          <p:cNvPr id="358" name="Google Shape;358;p27"/>
          <p:cNvSpPr/>
          <p:nvPr/>
        </p:nvSpPr>
        <p:spPr>
          <a:xfrm>
            <a:off x="571500" y="919311"/>
            <a:ext cx="76200" cy="514350"/>
          </a:xfrm>
          <a:prstGeom prst="rect">
            <a:avLst/>
          </a:prstGeom>
          <a:solidFill>
            <a:srgbClr val="38BDF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mph" presetSubtype="2" fill="hold" nodeType="clickEffect">
                                  <p:stCondLst>
                                    <p:cond delay="0"/>
                                  </p:stCondLst>
                                  <p:childTnLst>
                                    <p:animClr clrSpc="rgb" dir="cw">
                                      <p:cBhvr>
                                        <p:cTn id="6" dur="2000" fill="hold"/>
                                        <p:tgtEl>
                                          <p:spTgt spid="343"/>
                                        </p:tgtEl>
                                        <p:attrNameLst>
                                          <p:attrName>fillcolor</p:attrName>
                                        </p:attrNameLst>
                                      </p:cBhvr>
                                      <p:to>
                                        <a:srgbClr val="00B050"/>
                                      </p:to>
                                    </p:animClr>
                                    <p:set>
                                      <p:cBhvr>
                                        <p:cTn id="7" dur="2000" fill="hold"/>
                                        <p:tgtEl>
                                          <p:spTgt spid="343"/>
                                        </p:tgtEl>
                                        <p:attrNameLst>
                                          <p:attrName>fill.type</p:attrName>
                                        </p:attrNameLst>
                                      </p:cBhvr>
                                      <p:to>
                                        <p:strVal val="solid"/>
                                      </p:to>
                                    </p:set>
                                    <p:set>
                                      <p:cBhvr>
                                        <p:cTn id="8" dur="2000" fill="hold"/>
                                        <p:tgtEl>
                                          <p:spTgt spid="343"/>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1E293B"/>
        </a:solidFill>
        <a:effectLst/>
      </p:bgPr>
    </p:bg>
    <p:spTree>
      <p:nvGrpSpPr>
        <p:cNvPr id="1" name="Shape 362"/>
        <p:cNvGrpSpPr/>
        <p:nvPr/>
      </p:nvGrpSpPr>
      <p:grpSpPr>
        <a:xfrm>
          <a:off x="0" y="0"/>
          <a:ext cx="0" cy="0"/>
          <a:chOff x="0" y="0"/>
          <a:chExt cx="0" cy="0"/>
        </a:xfrm>
      </p:grpSpPr>
      <p:pic>
        <p:nvPicPr>
          <p:cNvPr id="363" name="Google Shape;363;p28" descr="image.png"/>
          <p:cNvPicPr preferRelativeResize="0"/>
          <p:nvPr/>
        </p:nvPicPr>
        <p:blipFill rotWithShape="1">
          <a:blip r:embed="rId3"/>
          <a:srcRect/>
          <a:stretch>
            <a:fillRect/>
          </a:stretch>
        </p:blipFill>
        <p:spPr>
          <a:xfrm>
            <a:off x="0" y="0"/>
            <a:ext cx="12192000" cy="6858000"/>
          </a:xfrm>
          <a:prstGeom prst="rect">
            <a:avLst/>
          </a:prstGeom>
          <a:noFill/>
          <a:ln>
            <a:noFill/>
          </a:ln>
        </p:spPr>
      </p:pic>
      <p:pic>
        <p:nvPicPr>
          <p:cNvPr id="364" name="Google Shape;364;p28" descr="image.png"/>
          <p:cNvPicPr preferRelativeResize="0"/>
          <p:nvPr/>
        </p:nvPicPr>
        <p:blipFill rotWithShape="1">
          <a:blip r:embed="rId4"/>
          <a:srcRect/>
          <a:stretch>
            <a:fillRect/>
          </a:stretch>
        </p:blipFill>
        <p:spPr>
          <a:xfrm>
            <a:off x="571500" y="6871989"/>
            <a:ext cx="11049000" cy="838200"/>
          </a:xfrm>
          <a:prstGeom prst="rect">
            <a:avLst/>
          </a:prstGeom>
          <a:noFill/>
          <a:ln>
            <a:noFill/>
          </a:ln>
        </p:spPr>
      </p:pic>
      <p:sp>
        <p:nvSpPr>
          <p:cNvPr id="365" name="Google Shape;365;p28"/>
          <p:cNvSpPr txBox="1"/>
          <p:nvPr/>
        </p:nvSpPr>
        <p:spPr>
          <a:xfrm>
            <a:off x="571500" y="2043261"/>
            <a:ext cx="11049000" cy="36567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800" b="0" i="0" u="none" strike="noStrike" cap="none">
                <a:solidFill>
                  <a:srgbClr val="CBD5E1"/>
                </a:solidFill>
                <a:latin typeface="Inter" panose="02000503000000020004"/>
                <a:ea typeface="Inter" panose="02000503000000020004"/>
                <a:cs typeface="Inter" panose="02000503000000020004"/>
                <a:sym typeface="Inter" panose="02000503000000020004"/>
              </a:rPr>
              <a:t>A model achieves 99% accuracy on training but drops to 52% on unseen data. This condition is:</a:t>
            </a:r>
          </a:p>
        </p:txBody>
      </p:sp>
      <p:sp>
        <p:nvSpPr>
          <p:cNvPr id="366" name="Google Shape;366;p28"/>
          <p:cNvSpPr txBox="1"/>
          <p:nvPr/>
        </p:nvSpPr>
        <p:spPr>
          <a:xfrm>
            <a:off x="5262562" y="7129164"/>
            <a:ext cx="3867150" cy="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100" b="0" i="0" u="none" strike="noStrike" cap="none">
                <a:solidFill>
                  <a:srgbClr val="FEF08A"/>
                </a:solidFill>
                <a:latin typeface="Inter Black"/>
                <a:ea typeface="Inter Black"/>
                <a:cs typeface="Inter Black"/>
                <a:sym typeface="Inter Black"/>
              </a:rPr>
              <a:t>B) High Variance (Overfitting)</a:t>
            </a:r>
          </a:p>
        </p:txBody>
      </p:sp>
      <p:sp>
        <p:nvSpPr>
          <p:cNvPr id="367" name="Google Shape;367;p28"/>
          <p:cNvSpPr/>
          <p:nvPr/>
        </p:nvSpPr>
        <p:spPr>
          <a:xfrm>
            <a:off x="952500" y="2847082"/>
            <a:ext cx="10668000" cy="765720"/>
          </a:xfrm>
          <a:prstGeom prst="roundRect">
            <a:avLst>
              <a:gd name="adj" fmla="val 9951"/>
            </a:avLst>
          </a:prstGeom>
          <a:solidFill>
            <a:srgbClr val="334155"/>
          </a:solidFill>
          <a:ln w="9525" cap="flat" cmpd="sng">
            <a:solidFill>
              <a:srgbClr val="94A3B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68" name="Google Shape;368;p28"/>
          <p:cNvSpPr txBox="1"/>
          <p:nvPr/>
        </p:nvSpPr>
        <p:spPr>
          <a:xfrm>
            <a:off x="1600200" y="3037582"/>
            <a:ext cx="9734550" cy="384720"/>
          </a:xfrm>
          <a:prstGeom prst="rect">
            <a:avLst/>
          </a:prstGeom>
          <a:noFill/>
          <a:ln>
            <a:noFill/>
          </a:ln>
        </p:spPr>
        <p:txBody>
          <a:bodyPr spcFirstLastPara="1" wrap="square" lIns="0" tIns="0" rIns="0" bIns="0" anchor="ctr" anchorCtr="0">
            <a:spAutoFit/>
          </a:bodyPr>
          <a:lstStyle/>
          <a:p>
            <a:pPr marL="0" marR="0" lvl="0" indent="0" algn="l" rtl="0">
              <a:lnSpc>
                <a:spcPct val="160000"/>
              </a:lnSpc>
              <a:spcBef>
                <a:spcPts val="0"/>
              </a:spcBef>
              <a:spcAft>
                <a:spcPts val="0"/>
              </a:spcAft>
              <a:buNone/>
            </a:pPr>
            <a:r>
              <a:rPr lang="en-US" sz="1800" b="0" i="0" u="none" strike="noStrike" cap="none">
                <a:solidFill>
                  <a:srgbClr val="CBD5E1"/>
                </a:solidFill>
                <a:latin typeface="Inter" panose="02000503000000020004"/>
                <a:ea typeface="Inter" panose="02000503000000020004"/>
                <a:cs typeface="Inter" panose="02000503000000020004"/>
                <a:sym typeface="Inter" panose="02000503000000020004"/>
              </a:rPr>
              <a:t>A) High Bias (Underfitting)</a:t>
            </a:r>
          </a:p>
        </p:txBody>
      </p:sp>
      <p:sp>
        <p:nvSpPr>
          <p:cNvPr id="369" name="Google Shape;369;p28"/>
          <p:cNvSpPr/>
          <p:nvPr/>
        </p:nvSpPr>
        <p:spPr>
          <a:xfrm>
            <a:off x="952500" y="3755677"/>
            <a:ext cx="10668000" cy="765720"/>
          </a:xfrm>
          <a:prstGeom prst="roundRect">
            <a:avLst>
              <a:gd name="adj" fmla="val 9951"/>
            </a:avLst>
          </a:prstGeom>
          <a:solidFill>
            <a:srgbClr val="334155"/>
          </a:solidFill>
          <a:ln w="9525" cap="flat" cmpd="sng">
            <a:solidFill>
              <a:srgbClr val="94A3B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70" name="Google Shape;370;p28"/>
          <p:cNvSpPr txBox="1"/>
          <p:nvPr/>
        </p:nvSpPr>
        <p:spPr>
          <a:xfrm>
            <a:off x="1600200" y="3946177"/>
            <a:ext cx="9734550" cy="384720"/>
          </a:xfrm>
          <a:prstGeom prst="rect">
            <a:avLst/>
          </a:prstGeom>
          <a:noFill/>
          <a:ln>
            <a:noFill/>
          </a:ln>
        </p:spPr>
        <p:txBody>
          <a:bodyPr spcFirstLastPara="1" wrap="square" lIns="0" tIns="0" rIns="0" bIns="0" anchor="ctr" anchorCtr="0">
            <a:spAutoFit/>
          </a:bodyPr>
          <a:lstStyle/>
          <a:p>
            <a:pPr marL="0" marR="0" lvl="0" indent="0" algn="l" rtl="0">
              <a:lnSpc>
                <a:spcPct val="160000"/>
              </a:lnSpc>
              <a:spcBef>
                <a:spcPts val="0"/>
              </a:spcBef>
              <a:spcAft>
                <a:spcPts val="0"/>
              </a:spcAft>
              <a:buNone/>
            </a:pPr>
            <a:r>
              <a:rPr lang="en-US" sz="1800" b="0" i="0" u="none" strike="noStrike" cap="none">
                <a:solidFill>
                  <a:srgbClr val="CBD5E1"/>
                </a:solidFill>
                <a:latin typeface="Inter" panose="02000503000000020004"/>
                <a:ea typeface="Inter" panose="02000503000000020004"/>
                <a:cs typeface="Inter" panose="02000503000000020004"/>
                <a:sym typeface="Inter" panose="02000503000000020004"/>
              </a:rPr>
              <a:t>B) High Variance (Overfitting)</a:t>
            </a:r>
          </a:p>
        </p:txBody>
      </p:sp>
      <p:sp>
        <p:nvSpPr>
          <p:cNvPr id="371" name="Google Shape;371;p28"/>
          <p:cNvSpPr/>
          <p:nvPr/>
        </p:nvSpPr>
        <p:spPr>
          <a:xfrm>
            <a:off x="952500" y="4664273"/>
            <a:ext cx="10668000" cy="765720"/>
          </a:xfrm>
          <a:prstGeom prst="roundRect">
            <a:avLst>
              <a:gd name="adj" fmla="val 9951"/>
            </a:avLst>
          </a:prstGeom>
          <a:solidFill>
            <a:srgbClr val="334155"/>
          </a:solidFill>
          <a:ln w="9525" cap="flat" cmpd="sng">
            <a:solidFill>
              <a:srgbClr val="94A3B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72" name="Google Shape;372;p28"/>
          <p:cNvSpPr txBox="1"/>
          <p:nvPr/>
        </p:nvSpPr>
        <p:spPr>
          <a:xfrm>
            <a:off x="1600200" y="4854773"/>
            <a:ext cx="9734550" cy="384720"/>
          </a:xfrm>
          <a:prstGeom prst="rect">
            <a:avLst/>
          </a:prstGeom>
          <a:noFill/>
          <a:ln>
            <a:noFill/>
          </a:ln>
        </p:spPr>
        <p:txBody>
          <a:bodyPr spcFirstLastPara="1" wrap="square" lIns="0" tIns="0" rIns="0" bIns="0" anchor="ctr" anchorCtr="0">
            <a:spAutoFit/>
          </a:bodyPr>
          <a:lstStyle/>
          <a:p>
            <a:pPr marL="0" marR="0" lvl="0" indent="0" algn="l" rtl="0">
              <a:lnSpc>
                <a:spcPct val="160000"/>
              </a:lnSpc>
              <a:spcBef>
                <a:spcPts val="0"/>
              </a:spcBef>
              <a:spcAft>
                <a:spcPts val="0"/>
              </a:spcAft>
              <a:buNone/>
            </a:pPr>
            <a:r>
              <a:rPr lang="en-US" sz="1800" b="0" i="0" u="none" strike="noStrike" cap="none">
                <a:solidFill>
                  <a:srgbClr val="CBD5E1"/>
                </a:solidFill>
                <a:latin typeface="Inter" panose="02000503000000020004"/>
                <a:ea typeface="Inter" panose="02000503000000020004"/>
                <a:cs typeface="Inter" panose="02000503000000020004"/>
                <a:sym typeface="Inter" panose="02000503000000020004"/>
              </a:rPr>
              <a:t>C) Data Leakage</a:t>
            </a:r>
          </a:p>
        </p:txBody>
      </p:sp>
      <p:sp>
        <p:nvSpPr>
          <p:cNvPr id="373" name="Google Shape;373;p28"/>
          <p:cNvSpPr/>
          <p:nvPr/>
        </p:nvSpPr>
        <p:spPr>
          <a:xfrm>
            <a:off x="952500" y="5572869"/>
            <a:ext cx="10668000" cy="765720"/>
          </a:xfrm>
          <a:prstGeom prst="roundRect">
            <a:avLst>
              <a:gd name="adj" fmla="val 9951"/>
            </a:avLst>
          </a:prstGeom>
          <a:solidFill>
            <a:srgbClr val="334155"/>
          </a:solidFill>
          <a:ln w="9525" cap="flat" cmpd="sng">
            <a:solidFill>
              <a:srgbClr val="94A3B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74" name="Google Shape;374;p28"/>
          <p:cNvSpPr txBox="1"/>
          <p:nvPr/>
        </p:nvSpPr>
        <p:spPr>
          <a:xfrm>
            <a:off x="1600200" y="5763369"/>
            <a:ext cx="9734550" cy="384720"/>
          </a:xfrm>
          <a:prstGeom prst="rect">
            <a:avLst/>
          </a:prstGeom>
          <a:noFill/>
          <a:ln>
            <a:noFill/>
          </a:ln>
        </p:spPr>
        <p:txBody>
          <a:bodyPr spcFirstLastPara="1" wrap="square" lIns="0" tIns="0" rIns="0" bIns="0" anchor="ctr" anchorCtr="0">
            <a:spAutoFit/>
          </a:bodyPr>
          <a:lstStyle/>
          <a:p>
            <a:pPr marL="0" marR="0" lvl="0" indent="0" algn="l" rtl="0">
              <a:lnSpc>
                <a:spcPct val="160000"/>
              </a:lnSpc>
              <a:spcBef>
                <a:spcPts val="0"/>
              </a:spcBef>
              <a:spcAft>
                <a:spcPts val="0"/>
              </a:spcAft>
              <a:buNone/>
            </a:pPr>
            <a:r>
              <a:rPr lang="en-US" sz="1800" b="0" i="0" u="none" strike="noStrike" cap="none">
                <a:solidFill>
                  <a:srgbClr val="CBD5E1"/>
                </a:solidFill>
                <a:latin typeface="Inter" panose="02000503000000020004"/>
                <a:ea typeface="Inter" panose="02000503000000020004"/>
                <a:cs typeface="Inter" panose="02000503000000020004"/>
                <a:sym typeface="Inter" panose="02000503000000020004"/>
              </a:rPr>
              <a:t>D) Class Imbalance</a:t>
            </a:r>
          </a:p>
        </p:txBody>
      </p:sp>
      <p:sp>
        <p:nvSpPr>
          <p:cNvPr id="375" name="Google Shape;375;p28"/>
          <p:cNvSpPr/>
          <p:nvPr/>
        </p:nvSpPr>
        <p:spPr>
          <a:xfrm>
            <a:off x="952500" y="3603277"/>
            <a:ext cx="10668000" cy="9525"/>
          </a:xfrm>
          <a:prstGeom prst="rect">
            <a:avLst/>
          </a:prstGeom>
          <a:solidFill>
            <a:srgbClr val="94A3B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76" name="Google Shape;376;p28"/>
          <p:cNvSpPr/>
          <p:nvPr/>
        </p:nvSpPr>
        <p:spPr>
          <a:xfrm>
            <a:off x="952500" y="4511873"/>
            <a:ext cx="10668000" cy="9525"/>
          </a:xfrm>
          <a:prstGeom prst="rect">
            <a:avLst/>
          </a:prstGeom>
          <a:solidFill>
            <a:srgbClr val="94A3B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77" name="Google Shape;377;p28"/>
          <p:cNvSpPr/>
          <p:nvPr/>
        </p:nvSpPr>
        <p:spPr>
          <a:xfrm>
            <a:off x="952500" y="5420469"/>
            <a:ext cx="10668000" cy="9525"/>
          </a:xfrm>
          <a:prstGeom prst="rect">
            <a:avLst/>
          </a:prstGeom>
          <a:solidFill>
            <a:srgbClr val="94A3B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78" name="Google Shape;378;p28"/>
          <p:cNvSpPr/>
          <p:nvPr/>
        </p:nvSpPr>
        <p:spPr>
          <a:xfrm>
            <a:off x="952500" y="6329064"/>
            <a:ext cx="10668000" cy="9525"/>
          </a:xfrm>
          <a:prstGeom prst="rect">
            <a:avLst/>
          </a:prstGeom>
          <a:solidFill>
            <a:srgbClr val="94A3B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379" name="Google Shape;379;p28" descr="image.png"/>
          <p:cNvPicPr preferRelativeResize="0"/>
          <p:nvPr/>
        </p:nvPicPr>
        <p:blipFill rotWithShape="1">
          <a:blip r:embed="rId5"/>
          <a:srcRect/>
          <a:stretch>
            <a:fillRect/>
          </a:stretch>
        </p:blipFill>
        <p:spPr>
          <a:xfrm>
            <a:off x="1247775" y="3129855"/>
            <a:ext cx="171450" cy="200025"/>
          </a:xfrm>
          <a:prstGeom prst="rect">
            <a:avLst/>
          </a:prstGeom>
          <a:noFill/>
          <a:ln>
            <a:noFill/>
          </a:ln>
        </p:spPr>
      </p:pic>
      <p:pic>
        <p:nvPicPr>
          <p:cNvPr id="380" name="Google Shape;380;p28" descr="image.png"/>
          <p:cNvPicPr preferRelativeResize="0"/>
          <p:nvPr/>
        </p:nvPicPr>
        <p:blipFill rotWithShape="1">
          <a:blip r:embed="rId5"/>
          <a:srcRect/>
          <a:stretch>
            <a:fillRect/>
          </a:stretch>
        </p:blipFill>
        <p:spPr>
          <a:xfrm>
            <a:off x="1247775" y="4038451"/>
            <a:ext cx="171450" cy="200025"/>
          </a:xfrm>
          <a:prstGeom prst="rect">
            <a:avLst/>
          </a:prstGeom>
          <a:noFill/>
          <a:ln>
            <a:noFill/>
          </a:ln>
        </p:spPr>
      </p:pic>
      <p:pic>
        <p:nvPicPr>
          <p:cNvPr id="381" name="Google Shape;381;p28" descr="image.png"/>
          <p:cNvPicPr preferRelativeResize="0"/>
          <p:nvPr/>
        </p:nvPicPr>
        <p:blipFill rotWithShape="1">
          <a:blip r:embed="rId5"/>
          <a:srcRect/>
          <a:stretch>
            <a:fillRect/>
          </a:stretch>
        </p:blipFill>
        <p:spPr>
          <a:xfrm>
            <a:off x="1247775" y="4947046"/>
            <a:ext cx="171450" cy="200025"/>
          </a:xfrm>
          <a:prstGeom prst="rect">
            <a:avLst/>
          </a:prstGeom>
          <a:noFill/>
          <a:ln>
            <a:noFill/>
          </a:ln>
        </p:spPr>
      </p:pic>
      <p:pic>
        <p:nvPicPr>
          <p:cNvPr id="382" name="Google Shape;382;p28" descr="image.png"/>
          <p:cNvPicPr preferRelativeResize="0"/>
          <p:nvPr/>
        </p:nvPicPr>
        <p:blipFill rotWithShape="1">
          <a:blip r:embed="rId5"/>
          <a:srcRect/>
          <a:stretch>
            <a:fillRect/>
          </a:stretch>
        </p:blipFill>
        <p:spPr>
          <a:xfrm>
            <a:off x="1247775" y="5855642"/>
            <a:ext cx="171450" cy="200025"/>
          </a:xfrm>
          <a:prstGeom prst="rect">
            <a:avLst/>
          </a:prstGeom>
          <a:noFill/>
          <a:ln>
            <a:noFill/>
          </a:ln>
        </p:spPr>
      </p:pic>
      <p:sp>
        <p:nvSpPr>
          <p:cNvPr id="383" name="Google Shape;383;p28"/>
          <p:cNvSpPr txBox="1"/>
          <p:nvPr/>
        </p:nvSpPr>
        <p:spPr>
          <a:xfrm>
            <a:off x="800100" y="919311"/>
            <a:ext cx="11361420" cy="5143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00" b="1" i="0" u="none" strike="noStrike" cap="none">
                <a:solidFill>
                  <a:srgbClr val="38BDF8"/>
                </a:solidFill>
                <a:latin typeface="Inter" panose="02000503000000020004"/>
                <a:ea typeface="Inter" panose="02000503000000020004"/>
                <a:cs typeface="Inter" panose="02000503000000020004"/>
                <a:sym typeface="Inter" panose="02000503000000020004"/>
              </a:rPr>
              <a:t>MODEL DIAGNOSTICS</a:t>
            </a:r>
          </a:p>
        </p:txBody>
      </p:sp>
      <p:sp>
        <p:nvSpPr>
          <p:cNvPr id="384" name="Google Shape;384;p28"/>
          <p:cNvSpPr/>
          <p:nvPr/>
        </p:nvSpPr>
        <p:spPr>
          <a:xfrm>
            <a:off x="571500" y="919311"/>
            <a:ext cx="76200" cy="514350"/>
          </a:xfrm>
          <a:prstGeom prst="rect">
            <a:avLst/>
          </a:prstGeom>
          <a:solidFill>
            <a:srgbClr val="38BDF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mph" presetSubtype="2" fill="hold" nodeType="clickEffect">
                                  <p:stCondLst>
                                    <p:cond delay="0"/>
                                  </p:stCondLst>
                                  <p:childTnLst>
                                    <p:animClr clrSpc="rgb" dir="cw">
                                      <p:cBhvr>
                                        <p:cTn id="6" dur="2000" fill="hold"/>
                                        <p:tgtEl>
                                          <p:spTgt spid="369"/>
                                        </p:tgtEl>
                                        <p:attrNameLst>
                                          <p:attrName>fillcolor</p:attrName>
                                        </p:attrNameLst>
                                      </p:cBhvr>
                                      <p:to>
                                        <a:srgbClr val="00B050"/>
                                      </p:to>
                                    </p:animClr>
                                    <p:set>
                                      <p:cBhvr>
                                        <p:cTn id="7" dur="2000" fill="hold"/>
                                        <p:tgtEl>
                                          <p:spTgt spid="369"/>
                                        </p:tgtEl>
                                        <p:attrNameLst>
                                          <p:attrName>fill.type</p:attrName>
                                        </p:attrNameLst>
                                      </p:cBhvr>
                                      <p:to>
                                        <p:strVal val="solid"/>
                                      </p:to>
                                    </p:set>
                                    <p:set>
                                      <p:cBhvr>
                                        <p:cTn id="8" dur="2000" fill="hold"/>
                                        <p:tgtEl>
                                          <p:spTgt spid="369"/>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62"/>
        <p:cNvGrpSpPr/>
        <p:nvPr/>
      </p:nvGrpSpPr>
      <p:grpSpPr>
        <a:xfrm>
          <a:off x="0" y="0"/>
          <a:ext cx="0" cy="0"/>
          <a:chOff x="0" y="0"/>
          <a:chExt cx="0" cy="0"/>
        </a:xfrm>
      </p:grpSpPr>
      <p:pic>
        <p:nvPicPr>
          <p:cNvPr id="363" name="Google Shape;363;p28" descr="image.png"/>
          <p:cNvPicPr preferRelativeResize="0"/>
          <p:nvPr/>
        </p:nvPicPr>
        <p:blipFill rotWithShape="1">
          <a:blip r:embed="rId3"/>
          <a:srcRect/>
          <a:stretch>
            <a:fillRect/>
          </a:stretch>
        </p:blipFill>
        <p:spPr>
          <a:xfrm>
            <a:off x="0" y="0"/>
            <a:ext cx="12192000" cy="6858000"/>
          </a:xfrm>
          <a:prstGeom prst="rect">
            <a:avLst/>
          </a:prstGeom>
          <a:noFill/>
          <a:ln>
            <a:noFill/>
          </a:ln>
        </p:spPr>
      </p:pic>
      <p:pic>
        <p:nvPicPr>
          <p:cNvPr id="364" name="Google Shape;364;p28" descr="image.png"/>
          <p:cNvPicPr preferRelativeResize="0"/>
          <p:nvPr/>
        </p:nvPicPr>
        <p:blipFill rotWithShape="1">
          <a:blip r:embed="rId4"/>
          <a:srcRect/>
          <a:stretch>
            <a:fillRect/>
          </a:stretch>
        </p:blipFill>
        <p:spPr>
          <a:xfrm>
            <a:off x="571500" y="6871989"/>
            <a:ext cx="11049000" cy="838200"/>
          </a:xfrm>
          <a:prstGeom prst="rect">
            <a:avLst/>
          </a:prstGeom>
          <a:noFill/>
          <a:ln>
            <a:noFill/>
          </a:ln>
        </p:spPr>
      </p:pic>
      <p:sp>
        <p:nvSpPr>
          <p:cNvPr id="365" name="Google Shape;365;p28"/>
          <p:cNvSpPr txBox="1"/>
          <p:nvPr/>
        </p:nvSpPr>
        <p:spPr>
          <a:xfrm>
            <a:off x="571500" y="1792886"/>
            <a:ext cx="11049000" cy="886397"/>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800" b="0" i="0" u="none" strike="noStrike" cap="none" dirty="0">
                <a:solidFill>
                  <a:srgbClr val="CBD5E1"/>
                </a:solidFill>
                <a:latin typeface="Inter" panose="02000503000000020004"/>
                <a:ea typeface="Inter" panose="02000503000000020004"/>
                <a:cs typeface="Inter" panose="02000503000000020004"/>
                <a:sym typeface="Inter" panose="02000503000000020004"/>
              </a:rPr>
              <a:t>What is the name of the mathematical function applied to nodes in a neural network to introducing essential non-linearity?</a:t>
            </a:r>
            <a:endParaRPr dirty="0"/>
          </a:p>
        </p:txBody>
      </p:sp>
      <p:sp>
        <p:nvSpPr>
          <p:cNvPr id="366" name="Google Shape;366;p28"/>
          <p:cNvSpPr txBox="1"/>
          <p:nvPr/>
        </p:nvSpPr>
        <p:spPr>
          <a:xfrm>
            <a:off x="5262562" y="7129164"/>
            <a:ext cx="3867150" cy="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100" b="0" i="0" u="none" strike="noStrike" cap="none">
                <a:solidFill>
                  <a:srgbClr val="FEF08A"/>
                </a:solidFill>
                <a:latin typeface="Inter Black"/>
                <a:ea typeface="Inter Black"/>
                <a:cs typeface="Inter Black"/>
                <a:sym typeface="Inter Black"/>
              </a:rPr>
              <a:t>B) High Variance (Overfitting)</a:t>
            </a:r>
          </a:p>
        </p:txBody>
      </p:sp>
      <p:sp>
        <p:nvSpPr>
          <p:cNvPr id="367" name="Google Shape;367;p28"/>
          <p:cNvSpPr/>
          <p:nvPr/>
        </p:nvSpPr>
        <p:spPr>
          <a:xfrm>
            <a:off x="952500" y="2847082"/>
            <a:ext cx="10668000" cy="765720"/>
          </a:xfrm>
          <a:prstGeom prst="roundRect">
            <a:avLst>
              <a:gd name="adj" fmla="val 9951"/>
            </a:avLst>
          </a:prstGeom>
          <a:solidFill>
            <a:srgbClr val="334155"/>
          </a:solidFill>
          <a:ln w="9525" cap="flat" cmpd="sng">
            <a:solidFill>
              <a:srgbClr val="94A3B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68" name="Google Shape;368;p28"/>
          <p:cNvSpPr txBox="1"/>
          <p:nvPr/>
        </p:nvSpPr>
        <p:spPr>
          <a:xfrm>
            <a:off x="1600200" y="3008343"/>
            <a:ext cx="9734550" cy="443198"/>
          </a:xfrm>
          <a:prstGeom prst="rect">
            <a:avLst/>
          </a:prstGeom>
          <a:noFill/>
          <a:ln>
            <a:noFill/>
          </a:ln>
        </p:spPr>
        <p:txBody>
          <a:bodyPr spcFirstLastPara="1" wrap="square" lIns="0" tIns="0" rIns="0" bIns="0" anchor="ctr" anchorCtr="0">
            <a:spAutoFit/>
          </a:bodyPr>
          <a:lstStyle/>
          <a:p>
            <a:pPr marL="0" marR="0" lvl="0" indent="0" algn="l" rtl="0">
              <a:lnSpc>
                <a:spcPct val="160000"/>
              </a:lnSpc>
              <a:spcBef>
                <a:spcPts val="0"/>
              </a:spcBef>
              <a:spcAft>
                <a:spcPts val="0"/>
              </a:spcAft>
              <a:buNone/>
            </a:pPr>
            <a:r>
              <a:rPr lang="en-US" sz="1800" b="0" i="0" u="none" strike="noStrike" cap="none" dirty="0">
                <a:solidFill>
                  <a:srgbClr val="CBD5E1"/>
                </a:solidFill>
                <a:latin typeface="Inter" panose="02000503000000020004"/>
                <a:ea typeface="Inter" panose="02000503000000020004"/>
                <a:cs typeface="Inter" panose="02000503000000020004"/>
                <a:sym typeface="Inter" panose="02000503000000020004"/>
              </a:rPr>
              <a:t>A) Loss Function</a:t>
            </a:r>
            <a:endParaRPr dirty="0"/>
          </a:p>
        </p:txBody>
      </p:sp>
      <p:sp>
        <p:nvSpPr>
          <p:cNvPr id="369" name="Google Shape;369;p28"/>
          <p:cNvSpPr/>
          <p:nvPr/>
        </p:nvSpPr>
        <p:spPr>
          <a:xfrm>
            <a:off x="952500" y="3755677"/>
            <a:ext cx="10668000" cy="765720"/>
          </a:xfrm>
          <a:prstGeom prst="roundRect">
            <a:avLst>
              <a:gd name="adj" fmla="val 9951"/>
            </a:avLst>
          </a:prstGeom>
          <a:solidFill>
            <a:srgbClr val="334155"/>
          </a:solidFill>
          <a:ln w="9525" cap="flat" cmpd="sng">
            <a:solidFill>
              <a:srgbClr val="94A3B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70" name="Google Shape;370;p28"/>
          <p:cNvSpPr txBox="1"/>
          <p:nvPr/>
        </p:nvSpPr>
        <p:spPr>
          <a:xfrm>
            <a:off x="1600200" y="3916938"/>
            <a:ext cx="9734550" cy="443198"/>
          </a:xfrm>
          <a:prstGeom prst="rect">
            <a:avLst/>
          </a:prstGeom>
          <a:noFill/>
          <a:ln>
            <a:noFill/>
          </a:ln>
        </p:spPr>
        <p:txBody>
          <a:bodyPr spcFirstLastPara="1" wrap="square" lIns="0" tIns="0" rIns="0" bIns="0" anchor="ctr" anchorCtr="0">
            <a:spAutoFit/>
          </a:bodyPr>
          <a:lstStyle/>
          <a:p>
            <a:pPr marL="0" marR="0" lvl="0" indent="0" algn="l" rtl="0">
              <a:lnSpc>
                <a:spcPct val="160000"/>
              </a:lnSpc>
              <a:spcBef>
                <a:spcPts val="0"/>
              </a:spcBef>
              <a:spcAft>
                <a:spcPts val="0"/>
              </a:spcAft>
              <a:buNone/>
            </a:pPr>
            <a:r>
              <a:rPr lang="en-US" sz="1800" b="0" i="0" u="none" strike="noStrike" cap="none" dirty="0">
                <a:solidFill>
                  <a:srgbClr val="CBD5E1"/>
                </a:solidFill>
                <a:latin typeface="Inter" panose="02000503000000020004"/>
                <a:ea typeface="Inter" panose="02000503000000020004"/>
                <a:cs typeface="Inter" panose="02000503000000020004"/>
                <a:sym typeface="Inter" panose="02000503000000020004"/>
              </a:rPr>
              <a:t>B)</a:t>
            </a:r>
            <a:r>
              <a:rPr lang="en-US" sz="1800" dirty="0">
                <a:solidFill>
                  <a:srgbClr val="CBD5E1"/>
                </a:solidFill>
                <a:latin typeface="Inter" panose="02000503000000020004"/>
                <a:ea typeface="Inter" panose="02000503000000020004"/>
                <a:cs typeface="Inter" panose="02000503000000020004"/>
                <a:sym typeface="Inter" panose="02000503000000020004"/>
              </a:rPr>
              <a:t> Cost Function</a:t>
            </a:r>
            <a:endParaRPr dirty="0"/>
          </a:p>
        </p:txBody>
      </p:sp>
      <p:sp>
        <p:nvSpPr>
          <p:cNvPr id="371" name="Google Shape;371;p28"/>
          <p:cNvSpPr/>
          <p:nvPr/>
        </p:nvSpPr>
        <p:spPr>
          <a:xfrm>
            <a:off x="952500" y="4664273"/>
            <a:ext cx="10668000" cy="765720"/>
          </a:xfrm>
          <a:prstGeom prst="roundRect">
            <a:avLst>
              <a:gd name="adj" fmla="val 9951"/>
            </a:avLst>
          </a:prstGeom>
          <a:solidFill>
            <a:srgbClr val="334155"/>
          </a:solidFill>
          <a:ln w="9525" cap="flat" cmpd="sng">
            <a:solidFill>
              <a:srgbClr val="94A3B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72" name="Google Shape;372;p28"/>
          <p:cNvSpPr txBox="1"/>
          <p:nvPr/>
        </p:nvSpPr>
        <p:spPr>
          <a:xfrm>
            <a:off x="1600200" y="4825534"/>
            <a:ext cx="9734550" cy="443198"/>
          </a:xfrm>
          <a:prstGeom prst="rect">
            <a:avLst/>
          </a:prstGeom>
          <a:noFill/>
          <a:ln>
            <a:noFill/>
          </a:ln>
        </p:spPr>
        <p:txBody>
          <a:bodyPr spcFirstLastPara="1" wrap="square" lIns="0" tIns="0" rIns="0" bIns="0" anchor="ctr" anchorCtr="0">
            <a:spAutoFit/>
          </a:bodyPr>
          <a:lstStyle/>
          <a:p>
            <a:pPr marL="0" marR="0" lvl="0" indent="0" algn="l" rtl="0">
              <a:lnSpc>
                <a:spcPct val="160000"/>
              </a:lnSpc>
              <a:spcBef>
                <a:spcPts val="0"/>
              </a:spcBef>
              <a:spcAft>
                <a:spcPts val="0"/>
              </a:spcAft>
              <a:buNone/>
            </a:pPr>
            <a:r>
              <a:rPr lang="en-US" sz="1800" b="0" i="0" u="none" strike="noStrike" cap="none" dirty="0">
                <a:solidFill>
                  <a:srgbClr val="CBD5E1"/>
                </a:solidFill>
                <a:latin typeface="Inter" panose="02000503000000020004"/>
                <a:ea typeface="Inter" panose="02000503000000020004"/>
                <a:cs typeface="Inter" panose="02000503000000020004"/>
                <a:sym typeface="Inter" panose="02000503000000020004"/>
              </a:rPr>
              <a:t>C) Gradient Function</a:t>
            </a:r>
            <a:endParaRPr dirty="0"/>
          </a:p>
        </p:txBody>
      </p:sp>
      <p:sp>
        <p:nvSpPr>
          <p:cNvPr id="373" name="Google Shape;373;p28"/>
          <p:cNvSpPr/>
          <p:nvPr/>
        </p:nvSpPr>
        <p:spPr>
          <a:xfrm>
            <a:off x="952500" y="5572869"/>
            <a:ext cx="10668000" cy="765720"/>
          </a:xfrm>
          <a:prstGeom prst="roundRect">
            <a:avLst>
              <a:gd name="adj" fmla="val 9951"/>
            </a:avLst>
          </a:prstGeom>
          <a:solidFill>
            <a:srgbClr val="334155"/>
          </a:solidFill>
          <a:ln w="9525" cap="flat" cmpd="sng">
            <a:solidFill>
              <a:srgbClr val="94A3B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74" name="Google Shape;374;p28"/>
          <p:cNvSpPr txBox="1"/>
          <p:nvPr/>
        </p:nvSpPr>
        <p:spPr>
          <a:xfrm>
            <a:off x="1600200" y="5734130"/>
            <a:ext cx="9734550" cy="443198"/>
          </a:xfrm>
          <a:prstGeom prst="rect">
            <a:avLst/>
          </a:prstGeom>
          <a:noFill/>
          <a:ln>
            <a:noFill/>
          </a:ln>
        </p:spPr>
        <p:txBody>
          <a:bodyPr spcFirstLastPara="1" wrap="square" lIns="0" tIns="0" rIns="0" bIns="0" anchor="ctr" anchorCtr="0">
            <a:spAutoFit/>
          </a:bodyPr>
          <a:lstStyle/>
          <a:p>
            <a:pPr marL="0" marR="0" lvl="0" indent="0" algn="l" rtl="0">
              <a:lnSpc>
                <a:spcPct val="160000"/>
              </a:lnSpc>
              <a:spcBef>
                <a:spcPts val="0"/>
              </a:spcBef>
              <a:spcAft>
                <a:spcPts val="0"/>
              </a:spcAft>
              <a:buNone/>
            </a:pPr>
            <a:r>
              <a:rPr lang="en-US" sz="1800" b="0" i="0" u="none" strike="noStrike" cap="none" dirty="0">
                <a:solidFill>
                  <a:srgbClr val="CBD5E1"/>
                </a:solidFill>
                <a:latin typeface="Inter" panose="02000503000000020004"/>
                <a:ea typeface="Inter" panose="02000503000000020004"/>
                <a:cs typeface="Inter" panose="02000503000000020004"/>
                <a:sym typeface="Inter" panose="02000503000000020004"/>
              </a:rPr>
              <a:t>D) Activation Function</a:t>
            </a:r>
            <a:endParaRPr dirty="0"/>
          </a:p>
        </p:txBody>
      </p:sp>
      <p:sp>
        <p:nvSpPr>
          <p:cNvPr id="375" name="Google Shape;375;p28"/>
          <p:cNvSpPr/>
          <p:nvPr/>
        </p:nvSpPr>
        <p:spPr>
          <a:xfrm>
            <a:off x="952500" y="3603277"/>
            <a:ext cx="10668000" cy="9525"/>
          </a:xfrm>
          <a:prstGeom prst="rect">
            <a:avLst/>
          </a:prstGeom>
          <a:solidFill>
            <a:srgbClr val="94A3B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76" name="Google Shape;376;p28"/>
          <p:cNvSpPr/>
          <p:nvPr/>
        </p:nvSpPr>
        <p:spPr>
          <a:xfrm>
            <a:off x="952500" y="4511873"/>
            <a:ext cx="10668000" cy="9525"/>
          </a:xfrm>
          <a:prstGeom prst="rect">
            <a:avLst/>
          </a:prstGeom>
          <a:solidFill>
            <a:srgbClr val="94A3B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77" name="Google Shape;377;p28"/>
          <p:cNvSpPr/>
          <p:nvPr/>
        </p:nvSpPr>
        <p:spPr>
          <a:xfrm>
            <a:off x="952500" y="5420469"/>
            <a:ext cx="10668000" cy="9525"/>
          </a:xfrm>
          <a:prstGeom prst="rect">
            <a:avLst/>
          </a:prstGeom>
          <a:solidFill>
            <a:srgbClr val="94A3B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78" name="Google Shape;378;p28"/>
          <p:cNvSpPr/>
          <p:nvPr/>
        </p:nvSpPr>
        <p:spPr>
          <a:xfrm>
            <a:off x="952500" y="6329064"/>
            <a:ext cx="10668000" cy="9525"/>
          </a:xfrm>
          <a:prstGeom prst="rect">
            <a:avLst/>
          </a:prstGeom>
          <a:solidFill>
            <a:srgbClr val="94A3B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379" name="Google Shape;379;p28" descr="image.png"/>
          <p:cNvPicPr preferRelativeResize="0"/>
          <p:nvPr/>
        </p:nvPicPr>
        <p:blipFill rotWithShape="1">
          <a:blip r:embed="rId5"/>
          <a:srcRect/>
          <a:stretch>
            <a:fillRect/>
          </a:stretch>
        </p:blipFill>
        <p:spPr>
          <a:xfrm>
            <a:off x="1247775" y="3129855"/>
            <a:ext cx="171450" cy="200025"/>
          </a:xfrm>
          <a:prstGeom prst="rect">
            <a:avLst/>
          </a:prstGeom>
          <a:noFill/>
          <a:ln>
            <a:noFill/>
          </a:ln>
        </p:spPr>
      </p:pic>
      <p:pic>
        <p:nvPicPr>
          <p:cNvPr id="380" name="Google Shape;380;p28" descr="image.png"/>
          <p:cNvPicPr preferRelativeResize="0"/>
          <p:nvPr/>
        </p:nvPicPr>
        <p:blipFill rotWithShape="1">
          <a:blip r:embed="rId5"/>
          <a:srcRect/>
          <a:stretch>
            <a:fillRect/>
          </a:stretch>
        </p:blipFill>
        <p:spPr>
          <a:xfrm>
            <a:off x="1247775" y="4038451"/>
            <a:ext cx="171450" cy="200025"/>
          </a:xfrm>
          <a:prstGeom prst="rect">
            <a:avLst/>
          </a:prstGeom>
          <a:noFill/>
          <a:ln>
            <a:noFill/>
          </a:ln>
        </p:spPr>
      </p:pic>
      <p:pic>
        <p:nvPicPr>
          <p:cNvPr id="381" name="Google Shape;381;p28" descr="image.png"/>
          <p:cNvPicPr preferRelativeResize="0"/>
          <p:nvPr/>
        </p:nvPicPr>
        <p:blipFill rotWithShape="1">
          <a:blip r:embed="rId5"/>
          <a:srcRect/>
          <a:stretch>
            <a:fillRect/>
          </a:stretch>
        </p:blipFill>
        <p:spPr>
          <a:xfrm>
            <a:off x="1247775" y="4947046"/>
            <a:ext cx="171450" cy="200025"/>
          </a:xfrm>
          <a:prstGeom prst="rect">
            <a:avLst/>
          </a:prstGeom>
          <a:noFill/>
          <a:ln>
            <a:noFill/>
          </a:ln>
        </p:spPr>
      </p:pic>
      <p:pic>
        <p:nvPicPr>
          <p:cNvPr id="382" name="Google Shape;382;p28" descr="image.png"/>
          <p:cNvPicPr preferRelativeResize="0"/>
          <p:nvPr/>
        </p:nvPicPr>
        <p:blipFill rotWithShape="1">
          <a:blip r:embed="rId5"/>
          <a:srcRect/>
          <a:stretch>
            <a:fillRect/>
          </a:stretch>
        </p:blipFill>
        <p:spPr>
          <a:xfrm>
            <a:off x="1247775" y="5855642"/>
            <a:ext cx="171450" cy="200025"/>
          </a:xfrm>
          <a:prstGeom prst="rect">
            <a:avLst/>
          </a:prstGeom>
          <a:noFill/>
          <a:ln>
            <a:noFill/>
          </a:ln>
        </p:spPr>
      </p:pic>
      <p:sp>
        <p:nvSpPr>
          <p:cNvPr id="383" name="Google Shape;383;p28"/>
          <p:cNvSpPr txBox="1"/>
          <p:nvPr/>
        </p:nvSpPr>
        <p:spPr>
          <a:xfrm>
            <a:off x="800100" y="919311"/>
            <a:ext cx="11361420" cy="5143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00" b="1" i="0" u="none" strike="noStrike" cap="none" dirty="0">
                <a:solidFill>
                  <a:srgbClr val="38BDF8"/>
                </a:solidFill>
                <a:latin typeface="Inter" panose="02000503000000020004"/>
                <a:ea typeface="Inter" panose="02000503000000020004"/>
                <a:cs typeface="Inter" panose="02000503000000020004"/>
                <a:sym typeface="Inter" panose="02000503000000020004"/>
              </a:rPr>
              <a:t>FUNCTIONS</a:t>
            </a:r>
            <a:endParaRPr dirty="0"/>
          </a:p>
        </p:txBody>
      </p:sp>
      <p:sp>
        <p:nvSpPr>
          <p:cNvPr id="384" name="Google Shape;384;p28"/>
          <p:cNvSpPr/>
          <p:nvPr/>
        </p:nvSpPr>
        <p:spPr>
          <a:xfrm>
            <a:off x="571500" y="919311"/>
            <a:ext cx="76200" cy="514350"/>
          </a:xfrm>
          <a:prstGeom prst="rect">
            <a:avLst/>
          </a:prstGeom>
          <a:solidFill>
            <a:srgbClr val="38BDF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mph" presetSubtype="2" fill="hold" nodeType="clickEffect">
                                  <p:stCondLst>
                                    <p:cond delay="0"/>
                                  </p:stCondLst>
                                  <p:childTnLst>
                                    <p:animClr clrSpc="rgb" dir="cw">
                                      <p:cBhvr>
                                        <p:cTn id="6" dur="2000" fill="hold"/>
                                        <p:tgtEl>
                                          <p:spTgt spid="373"/>
                                        </p:tgtEl>
                                        <p:attrNameLst>
                                          <p:attrName>fillcolor</p:attrName>
                                        </p:attrNameLst>
                                      </p:cBhvr>
                                      <p:to>
                                        <a:srgbClr val="00B050"/>
                                      </p:to>
                                    </p:animClr>
                                    <p:set>
                                      <p:cBhvr>
                                        <p:cTn id="7" dur="2000" fill="hold"/>
                                        <p:tgtEl>
                                          <p:spTgt spid="373"/>
                                        </p:tgtEl>
                                        <p:attrNameLst>
                                          <p:attrName>fill.type</p:attrName>
                                        </p:attrNameLst>
                                      </p:cBhvr>
                                      <p:to>
                                        <p:strVal val="solid"/>
                                      </p:to>
                                    </p:set>
                                    <p:set>
                                      <p:cBhvr>
                                        <p:cTn id="8" dur="2000" fill="hold"/>
                                        <p:tgtEl>
                                          <p:spTgt spid="373"/>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62"/>
        <p:cNvGrpSpPr/>
        <p:nvPr/>
      </p:nvGrpSpPr>
      <p:grpSpPr>
        <a:xfrm>
          <a:off x="0" y="0"/>
          <a:ext cx="0" cy="0"/>
          <a:chOff x="0" y="0"/>
          <a:chExt cx="0" cy="0"/>
        </a:xfrm>
      </p:grpSpPr>
      <p:pic>
        <p:nvPicPr>
          <p:cNvPr id="363" name="Google Shape;363;p28" descr="image.png"/>
          <p:cNvPicPr preferRelativeResize="0"/>
          <p:nvPr/>
        </p:nvPicPr>
        <p:blipFill rotWithShape="1">
          <a:blip r:embed="rId3"/>
          <a:srcRect/>
          <a:stretch>
            <a:fillRect/>
          </a:stretch>
        </p:blipFill>
        <p:spPr>
          <a:xfrm>
            <a:off x="0" y="0"/>
            <a:ext cx="12192000" cy="6858000"/>
          </a:xfrm>
          <a:prstGeom prst="rect">
            <a:avLst/>
          </a:prstGeom>
          <a:noFill/>
          <a:ln>
            <a:noFill/>
          </a:ln>
        </p:spPr>
      </p:pic>
      <p:pic>
        <p:nvPicPr>
          <p:cNvPr id="364" name="Google Shape;364;p28" descr="image.png"/>
          <p:cNvPicPr preferRelativeResize="0"/>
          <p:nvPr/>
        </p:nvPicPr>
        <p:blipFill rotWithShape="1">
          <a:blip r:embed="rId4"/>
          <a:srcRect/>
          <a:stretch>
            <a:fillRect/>
          </a:stretch>
        </p:blipFill>
        <p:spPr>
          <a:xfrm>
            <a:off x="571500" y="6871989"/>
            <a:ext cx="11049000" cy="838200"/>
          </a:xfrm>
          <a:prstGeom prst="rect">
            <a:avLst/>
          </a:prstGeom>
          <a:noFill/>
          <a:ln>
            <a:noFill/>
          </a:ln>
        </p:spPr>
      </p:pic>
      <p:sp>
        <p:nvSpPr>
          <p:cNvPr id="365" name="Google Shape;365;p28"/>
          <p:cNvSpPr txBox="1"/>
          <p:nvPr/>
        </p:nvSpPr>
        <p:spPr>
          <a:xfrm>
            <a:off x="571500" y="1792886"/>
            <a:ext cx="11049000" cy="886397"/>
          </a:xfrm>
          <a:prstGeom prst="rect">
            <a:avLst/>
          </a:prstGeom>
          <a:noFill/>
          <a:ln>
            <a:noFill/>
          </a:ln>
        </p:spPr>
        <p:txBody>
          <a:bodyPr spcFirstLastPara="1" wrap="square" lIns="0" tIns="0" rIns="0" bIns="0" anchor="t" anchorCtr="0">
            <a:spAutoFit/>
          </a:bodyPr>
          <a:lstStyle/>
          <a:p>
            <a:pPr lvl="0">
              <a:lnSpc>
                <a:spcPct val="160000"/>
              </a:lnSpc>
            </a:pPr>
            <a:r>
              <a:rPr lang="en-US" sz="1800" dirty="0">
                <a:solidFill>
                  <a:srgbClr val="CBD5E1"/>
                </a:solidFill>
                <a:latin typeface="Inter" panose="02000503000000020004"/>
                <a:ea typeface="Inter" panose="02000503000000020004"/>
                <a:cs typeface="Inter" panose="02000503000000020004"/>
                <a:sym typeface="Inter" panose="02000503000000020004"/>
              </a:rPr>
              <a:t>In machine learning classification, what is the tabular layout used to evaluate performance by mapping true/false positives and negatives?</a:t>
            </a:r>
            <a:endParaRPr dirty="0"/>
          </a:p>
        </p:txBody>
      </p:sp>
      <p:sp>
        <p:nvSpPr>
          <p:cNvPr id="366" name="Google Shape;366;p28"/>
          <p:cNvSpPr txBox="1"/>
          <p:nvPr/>
        </p:nvSpPr>
        <p:spPr>
          <a:xfrm>
            <a:off x="5262562" y="7129164"/>
            <a:ext cx="3867150" cy="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100" b="0" i="0" u="none" strike="noStrike" cap="none">
                <a:solidFill>
                  <a:srgbClr val="FEF08A"/>
                </a:solidFill>
                <a:latin typeface="Inter Black"/>
                <a:ea typeface="Inter Black"/>
                <a:cs typeface="Inter Black"/>
                <a:sym typeface="Inter Black"/>
              </a:rPr>
              <a:t>B) High Variance (Overfitting)</a:t>
            </a:r>
          </a:p>
        </p:txBody>
      </p:sp>
      <p:sp>
        <p:nvSpPr>
          <p:cNvPr id="367" name="Google Shape;367;p28"/>
          <p:cNvSpPr/>
          <p:nvPr/>
        </p:nvSpPr>
        <p:spPr>
          <a:xfrm>
            <a:off x="952500" y="2847082"/>
            <a:ext cx="10668000" cy="765720"/>
          </a:xfrm>
          <a:prstGeom prst="roundRect">
            <a:avLst>
              <a:gd name="adj" fmla="val 9951"/>
            </a:avLst>
          </a:prstGeom>
          <a:solidFill>
            <a:srgbClr val="334155"/>
          </a:solidFill>
          <a:ln w="9525" cap="flat" cmpd="sng">
            <a:solidFill>
              <a:srgbClr val="94A3B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68" name="Google Shape;368;p28"/>
          <p:cNvSpPr txBox="1"/>
          <p:nvPr/>
        </p:nvSpPr>
        <p:spPr>
          <a:xfrm>
            <a:off x="1600200" y="3008343"/>
            <a:ext cx="9734550" cy="443198"/>
          </a:xfrm>
          <a:prstGeom prst="rect">
            <a:avLst/>
          </a:prstGeom>
          <a:noFill/>
          <a:ln>
            <a:noFill/>
          </a:ln>
        </p:spPr>
        <p:txBody>
          <a:bodyPr spcFirstLastPara="1" wrap="square" lIns="0" tIns="0" rIns="0" bIns="0" anchor="ctr" anchorCtr="0">
            <a:spAutoFit/>
          </a:bodyPr>
          <a:lstStyle/>
          <a:p>
            <a:pPr marL="0" marR="0" lvl="0" indent="0" algn="l" rtl="0">
              <a:lnSpc>
                <a:spcPct val="160000"/>
              </a:lnSpc>
              <a:spcBef>
                <a:spcPts val="0"/>
              </a:spcBef>
              <a:spcAft>
                <a:spcPts val="0"/>
              </a:spcAft>
              <a:buNone/>
            </a:pPr>
            <a:r>
              <a:rPr lang="en-US" sz="1800" b="0" i="0" u="none" strike="noStrike" cap="none" dirty="0">
                <a:solidFill>
                  <a:srgbClr val="CBD5E1"/>
                </a:solidFill>
                <a:latin typeface="Inter" panose="02000503000000020004"/>
                <a:ea typeface="Inter" panose="02000503000000020004"/>
                <a:cs typeface="Inter" panose="02000503000000020004"/>
                <a:sym typeface="Inter" panose="02000503000000020004"/>
              </a:rPr>
              <a:t>A) Confusion Matrix</a:t>
            </a:r>
            <a:endParaRPr dirty="0"/>
          </a:p>
        </p:txBody>
      </p:sp>
      <p:sp>
        <p:nvSpPr>
          <p:cNvPr id="369" name="Google Shape;369;p28"/>
          <p:cNvSpPr/>
          <p:nvPr/>
        </p:nvSpPr>
        <p:spPr>
          <a:xfrm>
            <a:off x="952500" y="3755677"/>
            <a:ext cx="10668000" cy="765720"/>
          </a:xfrm>
          <a:prstGeom prst="roundRect">
            <a:avLst>
              <a:gd name="adj" fmla="val 9951"/>
            </a:avLst>
          </a:prstGeom>
          <a:solidFill>
            <a:srgbClr val="334155"/>
          </a:solidFill>
          <a:ln w="9525" cap="flat" cmpd="sng">
            <a:solidFill>
              <a:srgbClr val="94A3B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70" name="Google Shape;370;p28"/>
          <p:cNvSpPr txBox="1"/>
          <p:nvPr/>
        </p:nvSpPr>
        <p:spPr>
          <a:xfrm>
            <a:off x="1600200" y="3916938"/>
            <a:ext cx="9734550" cy="443198"/>
          </a:xfrm>
          <a:prstGeom prst="rect">
            <a:avLst/>
          </a:prstGeom>
          <a:noFill/>
          <a:ln>
            <a:noFill/>
          </a:ln>
        </p:spPr>
        <p:txBody>
          <a:bodyPr spcFirstLastPara="1" wrap="square" lIns="0" tIns="0" rIns="0" bIns="0" anchor="ctr" anchorCtr="0">
            <a:spAutoFit/>
          </a:bodyPr>
          <a:lstStyle/>
          <a:p>
            <a:pPr marL="0" marR="0" lvl="0" indent="0" algn="l" rtl="0">
              <a:lnSpc>
                <a:spcPct val="160000"/>
              </a:lnSpc>
              <a:spcBef>
                <a:spcPts val="0"/>
              </a:spcBef>
              <a:spcAft>
                <a:spcPts val="0"/>
              </a:spcAft>
              <a:buNone/>
            </a:pPr>
            <a:r>
              <a:rPr lang="en-US" sz="1800" b="0" i="0" u="none" strike="noStrike" cap="none" dirty="0">
                <a:solidFill>
                  <a:srgbClr val="CBD5E1"/>
                </a:solidFill>
                <a:latin typeface="Inter" panose="02000503000000020004"/>
                <a:ea typeface="Inter" panose="02000503000000020004"/>
                <a:cs typeface="Inter" panose="02000503000000020004"/>
                <a:sym typeface="Inter" panose="02000503000000020004"/>
              </a:rPr>
              <a:t>B)</a:t>
            </a:r>
            <a:r>
              <a:rPr lang="en-US" sz="1800" dirty="0">
                <a:solidFill>
                  <a:srgbClr val="CBD5E1"/>
                </a:solidFill>
                <a:latin typeface="Inter" panose="02000503000000020004"/>
                <a:ea typeface="Inter" panose="02000503000000020004"/>
                <a:cs typeface="Inter" panose="02000503000000020004"/>
                <a:sym typeface="Inter" panose="02000503000000020004"/>
              </a:rPr>
              <a:t> Correlation Matrix</a:t>
            </a:r>
            <a:endParaRPr dirty="0"/>
          </a:p>
        </p:txBody>
      </p:sp>
      <p:sp>
        <p:nvSpPr>
          <p:cNvPr id="371" name="Google Shape;371;p28"/>
          <p:cNvSpPr/>
          <p:nvPr/>
        </p:nvSpPr>
        <p:spPr>
          <a:xfrm>
            <a:off x="952500" y="4664273"/>
            <a:ext cx="10668000" cy="765720"/>
          </a:xfrm>
          <a:prstGeom prst="roundRect">
            <a:avLst>
              <a:gd name="adj" fmla="val 9951"/>
            </a:avLst>
          </a:prstGeom>
          <a:solidFill>
            <a:srgbClr val="334155"/>
          </a:solidFill>
          <a:ln w="9525" cap="flat" cmpd="sng">
            <a:solidFill>
              <a:srgbClr val="94A3B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72" name="Google Shape;372;p28"/>
          <p:cNvSpPr txBox="1"/>
          <p:nvPr/>
        </p:nvSpPr>
        <p:spPr>
          <a:xfrm>
            <a:off x="1600200" y="4825534"/>
            <a:ext cx="9734550" cy="443198"/>
          </a:xfrm>
          <a:prstGeom prst="rect">
            <a:avLst/>
          </a:prstGeom>
          <a:noFill/>
          <a:ln>
            <a:noFill/>
          </a:ln>
        </p:spPr>
        <p:txBody>
          <a:bodyPr spcFirstLastPara="1" wrap="square" lIns="0" tIns="0" rIns="0" bIns="0" anchor="ctr" anchorCtr="0">
            <a:spAutoFit/>
          </a:bodyPr>
          <a:lstStyle/>
          <a:p>
            <a:pPr marL="0" marR="0" lvl="0" indent="0" algn="l" rtl="0">
              <a:lnSpc>
                <a:spcPct val="160000"/>
              </a:lnSpc>
              <a:spcBef>
                <a:spcPts val="0"/>
              </a:spcBef>
              <a:spcAft>
                <a:spcPts val="0"/>
              </a:spcAft>
              <a:buNone/>
            </a:pPr>
            <a:r>
              <a:rPr lang="en-US" sz="1800" b="0" i="0" u="none" strike="noStrike" cap="none" dirty="0">
                <a:solidFill>
                  <a:srgbClr val="CBD5E1"/>
                </a:solidFill>
                <a:latin typeface="Inter" panose="02000503000000020004"/>
                <a:ea typeface="Inter" panose="02000503000000020004"/>
                <a:cs typeface="Inter" panose="02000503000000020004"/>
                <a:sym typeface="Inter" panose="02000503000000020004"/>
              </a:rPr>
              <a:t>C) Covariance Matrix</a:t>
            </a:r>
            <a:endParaRPr dirty="0"/>
          </a:p>
        </p:txBody>
      </p:sp>
      <p:sp>
        <p:nvSpPr>
          <p:cNvPr id="373" name="Google Shape;373;p28"/>
          <p:cNvSpPr/>
          <p:nvPr/>
        </p:nvSpPr>
        <p:spPr>
          <a:xfrm>
            <a:off x="952500" y="5572869"/>
            <a:ext cx="10668000" cy="765720"/>
          </a:xfrm>
          <a:prstGeom prst="roundRect">
            <a:avLst>
              <a:gd name="adj" fmla="val 9951"/>
            </a:avLst>
          </a:prstGeom>
          <a:solidFill>
            <a:srgbClr val="334155"/>
          </a:solidFill>
          <a:ln w="9525" cap="flat" cmpd="sng">
            <a:solidFill>
              <a:srgbClr val="94A3B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74" name="Google Shape;374;p28"/>
          <p:cNvSpPr txBox="1"/>
          <p:nvPr/>
        </p:nvSpPr>
        <p:spPr>
          <a:xfrm>
            <a:off x="1600200" y="5734130"/>
            <a:ext cx="9734550" cy="443198"/>
          </a:xfrm>
          <a:prstGeom prst="rect">
            <a:avLst/>
          </a:prstGeom>
          <a:noFill/>
          <a:ln>
            <a:noFill/>
          </a:ln>
        </p:spPr>
        <p:txBody>
          <a:bodyPr spcFirstLastPara="1" wrap="square" lIns="0" tIns="0" rIns="0" bIns="0" anchor="ctr" anchorCtr="0">
            <a:spAutoFit/>
          </a:bodyPr>
          <a:lstStyle/>
          <a:p>
            <a:pPr marL="0" marR="0" lvl="0" indent="0" algn="l" rtl="0">
              <a:lnSpc>
                <a:spcPct val="160000"/>
              </a:lnSpc>
              <a:spcBef>
                <a:spcPts val="0"/>
              </a:spcBef>
              <a:spcAft>
                <a:spcPts val="0"/>
              </a:spcAft>
              <a:buNone/>
            </a:pPr>
            <a:r>
              <a:rPr lang="en-US" sz="1800" b="0" i="0" u="none" strike="noStrike" cap="none" dirty="0">
                <a:solidFill>
                  <a:srgbClr val="CBD5E1"/>
                </a:solidFill>
                <a:latin typeface="Inter" panose="02000503000000020004"/>
                <a:ea typeface="Inter" panose="02000503000000020004"/>
                <a:cs typeface="Inter" panose="02000503000000020004"/>
                <a:sym typeface="Inter" panose="02000503000000020004"/>
              </a:rPr>
              <a:t>D) Contingency Table</a:t>
            </a:r>
            <a:endParaRPr dirty="0"/>
          </a:p>
        </p:txBody>
      </p:sp>
      <p:sp>
        <p:nvSpPr>
          <p:cNvPr id="375" name="Google Shape;375;p28"/>
          <p:cNvSpPr/>
          <p:nvPr/>
        </p:nvSpPr>
        <p:spPr>
          <a:xfrm>
            <a:off x="952500" y="3603277"/>
            <a:ext cx="10668000" cy="9525"/>
          </a:xfrm>
          <a:prstGeom prst="rect">
            <a:avLst/>
          </a:prstGeom>
          <a:solidFill>
            <a:srgbClr val="94A3B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76" name="Google Shape;376;p28"/>
          <p:cNvSpPr/>
          <p:nvPr/>
        </p:nvSpPr>
        <p:spPr>
          <a:xfrm>
            <a:off x="952500" y="4511873"/>
            <a:ext cx="10668000" cy="9525"/>
          </a:xfrm>
          <a:prstGeom prst="rect">
            <a:avLst/>
          </a:prstGeom>
          <a:solidFill>
            <a:srgbClr val="94A3B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77" name="Google Shape;377;p28"/>
          <p:cNvSpPr/>
          <p:nvPr/>
        </p:nvSpPr>
        <p:spPr>
          <a:xfrm>
            <a:off x="952500" y="5420469"/>
            <a:ext cx="10668000" cy="9525"/>
          </a:xfrm>
          <a:prstGeom prst="rect">
            <a:avLst/>
          </a:prstGeom>
          <a:solidFill>
            <a:srgbClr val="94A3B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78" name="Google Shape;378;p28"/>
          <p:cNvSpPr/>
          <p:nvPr/>
        </p:nvSpPr>
        <p:spPr>
          <a:xfrm>
            <a:off x="952500" y="6329064"/>
            <a:ext cx="10668000" cy="9525"/>
          </a:xfrm>
          <a:prstGeom prst="rect">
            <a:avLst/>
          </a:prstGeom>
          <a:solidFill>
            <a:srgbClr val="94A3B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379" name="Google Shape;379;p28" descr="image.png"/>
          <p:cNvPicPr preferRelativeResize="0"/>
          <p:nvPr/>
        </p:nvPicPr>
        <p:blipFill rotWithShape="1">
          <a:blip r:embed="rId5"/>
          <a:srcRect/>
          <a:stretch>
            <a:fillRect/>
          </a:stretch>
        </p:blipFill>
        <p:spPr>
          <a:xfrm>
            <a:off x="1247775" y="3129855"/>
            <a:ext cx="171450" cy="200025"/>
          </a:xfrm>
          <a:prstGeom prst="rect">
            <a:avLst/>
          </a:prstGeom>
          <a:noFill/>
          <a:ln>
            <a:noFill/>
          </a:ln>
        </p:spPr>
      </p:pic>
      <p:pic>
        <p:nvPicPr>
          <p:cNvPr id="380" name="Google Shape;380;p28" descr="image.png"/>
          <p:cNvPicPr preferRelativeResize="0"/>
          <p:nvPr/>
        </p:nvPicPr>
        <p:blipFill rotWithShape="1">
          <a:blip r:embed="rId5"/>
          <a:srcRect/>
          <a:stretch>
            <a:fillRect/>
          </a:stretch>
        </p:blipFill>
        <p:spPr>
          <a:xfrm>
            <a:off x="1247775" y="4038451"/>
            <a:ext cx="171450" cy="200025"/>
          </a:xfrm>
          <a:prstGeom prst="rect">
            <a:avLst/>
          </a:prstGeom>
          <a:noFill/>
          <a:ln>
            <a:noFill/>
          </a:ln>
        </p:spPr>
      </p:pic>
      <p:pic>
        <p:nvPicPr>
          <p:cNvPr id="381" name="Google Shape;381;p28" descr="image.png"/>
          <p:cNvPicPr preferRelativeResize="0"/>
          <p:nvPr/>
        </p:nvPicPr>
        <p:blipFill rotWithShape="1">
          <a:blip r:embed="rId5"/>
          <a:srcRect/>
          <a:stretch>
            <a:fillRect/>
          </a:stretch>
        </p:blipFill>
        <p:spPr>
          <a:xfrm>
            <a:off x="1247775" y="4947046"/>
            <a:ext cx="171450" cy="200025"/>
          </a:xfrm>
          <a:prstGeom prst="rect">
            <a:avLst/>
          </a:prstGeom>
          <a:noFill/>
          <a:ln>
            <a:noFill/>
          </a:ln>
        </p:spPr>
      </p:pic>
      <p:pic>
        <p:nvPicPr>
          <p:cNvPr id="382" name="Google Shape;382;p28" descr="image.png"/>
          <p:cNvPicPr preferRelativeResize="0"/>
          <p:nvPr/>
        </p:nvPicPr>
        <p:blipFill rotWithShape="1">
          <a:blip r:embed="rId5"/>
          <a:srcRect/>
          <a:stretch>
            <a:fillRect/>
          </a:stretch>
        </p:blipFill>
        <p:spPr>
          <a:xfrm>
            <a:off x="1247775" y="5855642"/>
            <a:ext cx="171450" cy="200025"/>
          </a:xfrm>
          <a:prstGeom prst="rect">
            <a:avLst/>
          </a:prstGeom>
          <a:noFill/>
          <a:ln>
            <a:noFill/>
          </a:ln>
        </p:spPr>
      </p:pic>
      <p:sp>
        <p:nvSpPr>
          <p:cNvPr id="383" name="Google Shape;383;p28"/>
          <p:cNvSpPr txBox="1"/>
          <p:nvPr/>
        </p:nvSpPr>
        <p:spPr>
          <a:xfrm>
            <a:off x="800100" y="919311"/>
            <a:ext cx="11361420" cy="5143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00" b="1" i="0" u="none" strike="noStrike" cap="none" dirty="0">
                <a:solidFill>
                  <a:srgbClr val="38BDF8"/>
                </a:solidFill>
                <a:latin typeface="Inter" panose="02000503000000020004"/>
                <a:ea typeface="Inter" panose="02000503000000020004"/>
                <a:cs typeface="Inter" panose="02000503000000020004"/>
                <a:sym typeface="Inter" panose="02000503000000020004"/>
              </a:rPr>
              <a:t>FUNCTIONS</a:t>
            </a:r>
            <a:endParaRPr dirty="0"/>
          </a:p>
        </p:txBody>
      </p:sp>
      <p:sp>
        <p:nvSpPr>
          <p:cNvPr id="384" name="Google Shape;384;p28"/>
          <p:cNvSpPr/>
          <p:nvPr/>
        </p:nvSpPr>
        <p:spPr>
          <a:xfrm>
            <a:off x="571500" y="919311"/>
            <a:ext cx="76200" cy="514350"/>
          </a:xfrm>
          <a:prstGeom prst="rect">
            <a:avLst/>
          </a:prstGeom>
          <a:solidFill>
            <a:srgbClr val="38BDF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mph" presetSubtype="2" fill="hold" nodeType="clickEffect">
                                  <p:stCondLst>
                                    <p:cond delay="0"/>
                                  </p:stCondLst>
                                  <p:childTnLst>
                                    <p:animClr clrSpc="rgb" dir="cw">
                                      <p:cBhvr>
                                        <p:cTn id="6" dur="2000" fill="hold"/>
                                        <p:tgtEl>
                                          <p:spTgt spid="367"/>
                                        </p:tgtEl>
                                        <p:attrNameLst>
                                          <p:attrName>fillcolor</p:attrName>
                                        </p:attrNameLst>
                                      </p:cBhvr>
                                      <p:to>
                                        <a:srgbClr val="00B050"/>
                                      </p:to>
                                    </p:animClr>
                                    <p:set>
                                      <p:cBhvr>
                                        <p:cTn id="7" dur="2000" fill="hold"/>
                                        <p:tgtEl>
                                          <p:spTgt spid="367"/>
                                        </p:tgtEl>
                                        <p:attrNameLst>
                                          <p:attrName>fill.type</p:attrName>
                                        </p:attrNameLst>
                                      </p:cBhvr>
                                      <p:to>
                                        <p:strVal val="solid"/>
                                      </p:to>
                                    </p:set>
                                    <p:set>
                                      <p:cBhvr>
                                        <p:cTn id="8" dur="2000" fill="hold"/>
                                        <p:tgtEl>
                                          <p:spTgt spid="367"/>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62"/>
        <p:cNvGrpSpPr/>
        <p:nvPr/>
      </p:nvGrpSpPr>
      <p:grpSpPr>
        <a:xfrm>
          <a:off x="0" y="0"/>
          <a:ext cx="0" cy="0"/>
          <a:chOff x="0" y="0"/>
          <a:chExt cx="0" cy="0"/>
        </a:xfrm>
      </p:grpSpPr>
      <p:pic>
        <p:nvPicPr>
          <p:cNvPr id="363" name="Google Shape;363;p28" descr="image.png"/>
          <p:cNvPicPr preferRelativeResize="0"/>
          <p:nvPr/>
        </p:nvPicPr>
        <p:blipFill rotWithShape="1">
          <a:blip r:embed="rId3"/>
          <a:srcRect/>
          <a:stretch>
            <a:fillRect/>
          </a:stretch>
        </p:blipFill>
        <p:spPr>
          <a:xfrm>
            <a:off x="0" y="0"/>
            <a:ext cx="12192000" cy="6858000"/>
          </a:xfrm>
          <a:prstGeom prst="rect">
            <a:avLst/>
          </a:prstGeom>
          <a:noFill/>
          <a:ln>
            <a:noFill/>
          </a:ln>
        </p:spPr>
      </p:pic>
      <p:pic>
        <p:nvPicPr>
          <p:cNvPr id="364" name="Google Shape;364;p28" descr="image.png"/>
          <p:cNvPicPr preferRelativeResize="0"/>
          <p:nvPr/>
        </p:nvPicPr>
        <p:blipFill rotWithShape="1">
          <a:blip r:embed="rId4"/>
          <a:srcRect/>
          <a:stretch>
            <a:fillRect/>
          </a:stretch>
        </p:blipFill>
        <p:spPr>
          <a:xfrm>
            <a:off x="571500" y="6871989"/>
            <a:ext cx="11049000" cy="838200"/>
          </a:xfrm>
          <a:prstGeom prst="rect">
            <a:avLst/>
          </a:prstGeom>
          <a:noFill/>
          <a:ln>
            <a:noFill/>
          </a:ln>
        </p:spPr>
      </p:pic>
      <p:sp>
        <p:nvSpPr>
          <p:cNvPr id="365" name="Google Shape;365;p28"/>
          <p:cNvSpPr txBox="1"/>
          <p:nvPr/>
        </p:nvSpPr>
        <p:spPr>
          <a:xfrm>
            <a:off x="571500" y="1792886"/>
            <a:ext cx="11049000" cy="443198"/>
          </a:xfrm>
          <a:prstGeom prst="rect">
            <a:avLst/>
          </a:prstGeom>
          <a:noFill/>
          <a:ln>
            <a:noFill/>
          </a:ln>
        </p:spPr>
        <p:txBody>
          <a:bodyPr spcFirstLastPara="1" wrap="square" lIns="0" tIns="0" rIns="0" bIns="0" anchor="t" anchorCtr="0">
            <a:spAutoFit/>
          </a:bodyPr>
          <a:lstStyle/>
          <a:p>
            <a:pPr lvl="0">
              <a:lnSpc>
                <a:spcPct val="160000"/>
              </a:lnSpc>
            </a:pPr>
            <a:r>
              <a:rPr lang="en-US" sz="1800" dirty="0">
                <a:solidFill>
                  <a:srgbClr val="CBD5E1"/>
                </a:solidFill>
                <a:latin typeface="Inter" panose="02000503000000020004"/>
                <a:ea typeface="Inter" panose="02000503000000020004"/>
                <a:cs typeface="Inter" panose="02000503000000020004"/>
                <a:sym typeface="Inter" panose="02000503000000020004"/>
              </a:rPr>
              <a:t>Which AI model is commonly used for image classification?</a:t>
            </a:r>
            <a:endParaRPr lang="en-US" dirty="0"/>
          </a:p>
        </p:txBody>
      </p:sp>
      <p:sp>
        <p:nvSpPr>
          <p:cNvPr id="366" name="Google Shape;366;p28"/>
          <p:cNvSpPr txBox="1"/>
          <p:nvPr/>
        </p:nvSpPr>
        <p:spPr>
          <a:xfrm>
            <a:off x="5262562" y="7129164"/>
            <a:ext cx="3867150" cy="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100" b="0" i="0" u="none" strike="noStrike" cap="none">
                <a:solidFill>
                  <a:srgbClr val="FEF08A"/>
                </a:solidFill>
                <a:latin typeface="Inter Black"/>
                <a:ea typeface="Inter Black"/>
                <a:cs typeface="Inter Black"/>
                <a:sym typeface="Inter Black"/>
              </a:rPr>
              <a:t>B) High Variance (Overfitting)</a:t>
            </a:r>
          </a:p>
        </p:txBody>
      </p:sp>
      <p:sp>
        <p:nvSpPr>
          <p:cNvPr id="367" name="Google Shape;367;p28"/>
          <p:cNvSpPr/>
          <p:nvPr/>
        </p:nvSpPr>
        <p:spPr>
          <a:xfrm>
            <a:off x="952500" y="2847082"/>
            <a:ext cx="10668000" cy="765720"/>
          </a:xfrm>
          <a:prstGeom prst="roundRect">
            <a:avLst>
              <a:gd name="adj" fmla="val 9951"/>
            </a:avLst>
          </a:prstGeom>
          <a:solidFill>
            <a:srgbClr val="334155"/>
          </a:solidFill>
          <a:ln w="9525" cap="flat" cmpd="sng">
            <a:solidFill>
              <a:srgbClr val="94A3B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68" name="Google Shape;368;p28"/>
          <p:cNvSpPr txBox="1"/>
          <p:nvPr/>
        </p:nvSpPr>
        <p:spPr>
          <a:xfrm>
            <a:off x="1600200" y="3008343"/>
            <a:ext cx="9734550" cy="443198"/>
          </a:xfrm>
          <a:prstGeom prst="rect">
            <a:avLst/>
          </a:prstGeom>
          <a:noFill/>
          <a:ln>
            <a:noFill/>
          </a:ln>
        </p:spPr>
        <p:txBody>
          <a:bodyPr spcFirstLastPara="1" wrap="square" lIns="0" tIns="0" rIns="0" bIns="0" anchor="ctr" anchorCtr="0">
            <a:spAutoFit/>
          </a:bodyPr>
          <a:lstStyle/>
          <a:p>
            <a:pPr marL="0" marR="0" lvl="0" indent="0" algn="l" rtl="0">
              <a:lnSpc>
                <a:spcPct val="160000"/>
              </a:lnSpc>
              <a:spcBef>
                <a:spcPts val="0"/>
              </a:spcBef>
              <a:spcAft>
                <a:spcPts val="0"/>
              </a:spcAft>
              <a:buNone/>
            </a:pPr>
            <a:r>
              <a:rPr lang="en-US" sz="1800" b="0" i="0" u="none" strike="noStrike" cap="none" dirty="0">
                <a:solidFill>
                  <a:srgbClr val="CBD5E1"/>
                </a:solidFill>
                <a:latin typeface="Inter" panose="02000503000000020004"/>
                <a:ea typeface="Inter" panose="02000503000000020004"/>
                <a:cs typeface="Inter" panose="02000503000000020004"/>
                <a:sym typeface="Inter" panose="02000503000000020004"/>
              </a:rPr>
              <a:t>A) CNN (Convolutional Neural Network)</a:t>
            </a:r>
            <a:endParaRPr dirty="0"/>
          </a:p>
        </p:txBody>
      </p:sp>
      <p:sp>
        <p:nvSpPr>
          <p:cNvPr id="369" name="Google Shape;369;p28"/>
          <p:cNvSpPr/>
          <p:nvPr/>
        </p:nvSpPr>
        <p:spPr>
          <a:xfrm>
            <a:off x="952500" y="3755677"/>
            <a:ext cx="10668000" cy="765720"/>
          </a:xfrm>
          <a:prstGeom prst="roundRect">
            <a:avLst>
              <a:gd name="adj" fmla="val 9951"/>
            </a:avLst>
          </a:prstGeom>
          <a:solidFill>
            <a:srgbClr val="334155"/>
          </a:solidFill>
          <a:ln w="9525" cap="flat" cmpd="sng">
            <a:solidFill>
              <a:srgbClr val="94A3B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70" name="Google Shape;370;p28"/>
          <p:cNvSpPr txBox="1"/>
          <p:nvPr/>
        </p:nvSpPr>
        <p:spPr>
          <a:xfrm>
            <a:off x="1600200" y="3916938"/>
            <a:ext cx="9734550" cy="443198"/>
          </a:xfrm>
          <a:prstGeom prst="rect">
            <a:avLst/>
          </a:prstGeom>
          <a:noFill/>
          <a:ln>
            <a:noFill/>
          </a:ln>
        </p:spPr>
        <p:txBody>
          <a:bodyPr spcFirstLastPara="1" wrap="square" lIns="0" tIns="0" rIns="0" bIns="0" anchor="ctr" anchorCtr="0">
            <a:spAutoFit/>
          </a:bodyPr>
          <a:lstStyle/>
          <a:p>
            <a:pPr marL="0" marR="0" lvl="0" indent="0" algn="l" rtl="0">
              <a:lnSpc>
                <a:spcPct val="160000"/>
              </a:lnSpc>
              <a:spcBef>
                <a:spcPts val="0"/>
              </a:spcBef>
              <a:spcAft>
                <a:spcPts val="0"/>
              </a:spcAft>
              <a:buNone/>
            </a:pPr>
            <a:r>
              <a:rPr lang="en-US" sz="1800" b="0" i="0" u="none" strike="noStrike" cap="none" dirty="0">
                <a:solidFill>
                  <a:srgbClr val="CBD5E1"/>
                </a:solidFill>
                <a:latin typeface="Inter" panose="02000503000000020004"/>
                <a:ea typeface="Inter" panose="02000503000000020004"/>
                <a:cs typeface="Inter" panose="02000503000000020004"/>
                <a:sym typeface="Inter" panose="02000503000000020004"/>
              </a:rPr>
              <a:t>B)</a:t>
            </a:r>
            <a:r>
              <a:rPr lang="en-US" sz="1800" dirty="0">
                <a:solidFill>
                  <a:srgbClr val="CBD5E1"/>
                </a:solidFill>
                <a:latin typeface="Inter" panose="02000503000000020004"/>
                <a:ea typeface="Inter" panose="02000503000000020004"/>
                <a:cs typeface="Inter" panose="02000503000000020004"/>
                <a:sym typeface="Inter" panose="02000503000000020004"/>
              </a:rPr>
              <a:t> Random Forest</a:t>
            </a:r>
            <a:endParaRPr dirty="0"/>
          </a:p>
        </p:txBody>
      </p:sp>
      <p:sp>
        <p:nvSpPr>
          <p:cNvPr id="371" name="Google Shape;371;p28"/>
          <p:cNvSpPr/>
          <p:nvPr/>
        </p:nvSpPr>
        <p:spPr>
          <a:xfrm>
            <a:off x="952500" y="4664273"/>
            <a:ext cx="10668000" cy="765720"/>
          </a:xfrm>
          <a:prstGeom prst="roundRect">
            <a:avLst>
              <a:gd name="adj" fmla="val 9951"/>
            </a:avLst>
          </a:prstGeom>
          <a:solidFill>
            <a:srgbClr val="334155"/>
          </a:solidFill>
          <a:ln w="9525" cap="flat" cmpd="sng">
            <a:solidFill>
              <a:srgbClr val="94A3B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72" name="Google Shape;372;p28"/>
          <p:cNvSpPr txBox="1"/>
          <p:nvPr/>
        </p:nvSpPr>
        <p:spPr>
          <a:xfrm>
            <a:off x="1600200" y="4825534"/>
            <a:ext cx="9734550" cy="443198"/>
          </a:xfrm>
          <a:prstGeom prst="rect">
            <a:avLst/>
          </a:prstGeom>
          <a:noFill/>
          <a:ln>
            <a:noFill/>
          </a:ln>
        </p:spPr>
        <p:txBody>
          <a:bodyPr spcFirstLastPara="1" wrap="square" lIns="0" tIns="0" rIns="0" bIns="0" anchor="ctr" anchorCtr="0">
            <a:spAutoFit/>
          </a:bodyPr>
          <a:lstStyle/>
          <a:p>
            <a:pPr marL="0" marR="0" lvl="0" indent="0" algn="l" rtl="0">
              <a:lnSpc>
                <a:spcPct val="160000"/>
              </a:lnSpc>
              <a:spcBef>
                <a:spcPts val="0"/>
              </a:spcBef>
              <a:spcAft>
                <a:spcPts val="0"/>
              </a:spcAft>
              <a:buNone/>
            </a:pPr>
            <a:r>
              <a:rPr lang="en-US" sz="1800" b="0" i="0" u="none" strike="noStrike" cap="none" dirty="0">
                <a:solidFill>
                  <a:srgbClr val="CBD5E1"/>
                </a:solidFill>
                <a:latin typeface="Inter" panose="02000503000000020004"/>
                <a:ea typeface="Inter" panose="02000503000000020004"/>
                <a:cs typeface="Inter" panose="02000503000000020004"/>
                <a:sym typeface="Inter" panose="02000503000000020004"/>
              </a:rPr>
              <a:t>C) RNN (Recursive Neural Network)</a:t>
            </a:r>
            <a:endParaRPr dirty="0"/>
          </a:p>
        </p:txBody>
      </p:sp>
      <p:sp>
        <p:nvSpPr>
          <p:cNvPr id="373" name="Google Shape;373;p28"/>
          <p:cNvSpPr/>
          <p:nvPr/>
        </p:nvSpPr>
        <p:spPr>
          <a:xfrm>
            <a:off x="952500" y="5572869"/>
            <a:ext cx="10668000" cy="765720"/>
          </a:xfrm>
          <a:prstGeom prst="roundRect">
            <a:avLst>
              <a:gd name="adj" fmla="val 9951"/>
            </a:avLst>
          </a:prstGeom>
          <a:solidFill>
            <a:srgbClr val="334155"/>
          </a:solidFill>
          <a:ln w="9525" cap="flat" cmpd="sng">
            <a:solidFill>
              <a:srgbClr val="94A3B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74" name="Google Shape;374;p28"/>
          <p:cNvSpPr txBox="1"/>
          <p:nvPr/>
        </p:nvSpPr>
        <p:spPr>
          <a:xfrm>
            <a:off x="1600200" y="5734130"/>
            <a:ext cx="9734550" cy="443198"/>
          </a:xfrm>
          <a:prstGeom prst="rect">
            <a:avLst/>
          </a:prstGeom>
          <a:noFill/>
          <a:ln>
            <a:noFill/>
          </a:ln>
        </p:spPr>
        <p:txBody>
          <a:bodyPr spcFirstLastPara="1" wrap="square" lIns="0" tIns="0" rIns="0" bIns="0" anchor="ctr" anchorCtr="0">
            <a:spAutoFit/>
          </a:bodyPr>
          <a:lstStyle/>
          <a:p>
            <a:pPr marL="0" marR="0" lvl="0" indent="0" algn="l" rtl="0">
              <a:lnSpc>
                <a:spcPct val="160000"/>
              </a:lnSpc>
              <a:spcBef>
                <a:spcPts val="0"/>
              </a:spcBef>
              <a:spcAft>
                <a:spcPts val="0"/>
              </a:spcAft>
              <a:buNone/>
            </a:pPr>
            <a:r>
              <a:rPr lang="en-US" sz="1800" b="0" i="0" u="none" strike="noStrike" cap="none" dirty="0">
                <a:solidFill>
                  <a:srgbClr val="CBD5E1"/>
                </a:solidFill>
                <a:latin typeface="Inter" panose="02000503000000020004"/>
                <a:ea typeface="Inter" panose="02000503000000020004"/>
                <a:cs typeface="Inter" panose="02000503000000020004"/>
                <a:sym typeface="Inter" panose="02000503000000020004"/>
              </a:rPr>
              <a:t>D) DBSCAN</a:t>
            </a:r>
            <a:endParaRPr dirty="0"/>
          </a:p>
        </p:txBody>
      </p:sp>
      <p:sp>
        <p:nvSpPr>
          <p:cNvPr id="375" name="Google Shape;375;p28"/>
          <p:cNvSpPr/>
          <p:nvPr/>
        </p:nvSpPr>
        <p:spPr>
          <a:xfrm>
            <a:off x="952500" y="3603277"/>
            <a:ext cx="10668000" cy="9525"/>
          </a:xfrm>
          <a:prstGeom prst="rect">
            <a:avLst/>
          </a:prstGeom>
          <a:solidFill>
            <a:srgbClr val="94A3B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76" name="Google Shape;376;p28"/>
          <p:cNvSpPr/>
          <p:nvPr/>
        </p:nvSpPr>
        <p:spPr>
          <a:xfrm>
            <a:off x="952500" y="4511873"/>
            <a:ext cx="10668000" cy="9525"/>
          </a:xfrm>
          <a:prstGeom prst="rect">
            <a:avLst/>
          </a:prstGeom>
          <a:solidFill>
            <a:srgbClr val="94A3B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77" name="Google Shape;377;p28"/>
          <p:cNvSpPr/>
          <p:nvPr/>
        </p:nvSpPr>
        <p:spPr>
          <a:xfrm>
            <a:off x="952500" y="5420469"/>
            <a:ext cx="10668000" cy="9525"/>
          </a:xfrm>
          <a:prstGeom prst="rect">
            <a:avLst/>
          </a:prstGeom>
          <a:solidFill>
            <a:srgbClr val="94A3B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78" name="Google Shape;378;p28"/>
          <p:cNvSpPr/>
          <p:nvPr/>
        </p:nvSpPr>
        <p:spPr>
          <a:xfrm>
            <a:off x="952500" y="6329064"/>
            <a:ext cx="10668000" cy="9525"/>
          </a:xfrm>
          <a:prstGeom prst="rect">
            <a:avLst/>
          </a:prstGeom>
          <a:solidFill>
            <a:srgbClr val="94A3B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379" name="Google Shape;379;p28" descr="image.png"/>
          <p:cNvPicPr preferRelativeResize="0"/>
          <p:nvPr/>
        </p:nvPicPr>
        <p:blipFill rotWithShape="1">
          <a:blip r:embed="rId5"/>
          <a:srcRect/>
          <a:stretch>
            <a:fillRect/>
          </a:stretch>
        </p:blipFill>
        <p:spPr>
          <a:xfrm>
            <a:off x="1247775" y="3129855"/>
            <a:ext cx="171450" cy="200025"/>
          </a:xfrm>
          <a:prstGeom prst="rect">
            <a:avLst/>
          </a:prstGeom>
          <a:noFill/>
          <a:ln>
            <a:noFill/>
          </a:ln>
        </p:spPr>
      </p:pic>
      <p:pic>
        <p:nvPicPr>
          <p:cNvPr id="380" name="Google Shape;380;p28" descr="image.png"/>
          <p:cNvPicPr preferRelativeResize="0"/>
          <p:nvPr/>
        </p:nvPicPr>
        <p:blipFill rotWithShape="1">
          <a:blip r:embed="rId5"/>
          <a:srcRect/>
          <a:stretch>
            <a:fillRect/>
          </a:stretch>
        </p:blipFill>
        <p:spPr>
          <a:xfrm>
            <a:off x="1247775" y="4038451"/>
            <a:ext cx="171450" cy="200025"/>
          </a:xfrm>
          <a:prstGeom prst="rect">
            <a:avLst/>
          </a:prstGeom>
          <a:noFill/>
          <a:ln>
            <a:noFill/>
          </a:ln>
        </p:spPr>
      </p:pic>
      <p:pic>
        <p:nvPicPr>
          <p:cNvPr id="381" name="Google Shape;381;p28" descr="image.png"/>
          <p:cNvPicPr preferRelativeResize="0"/>
          <p:nvPr/>
        </p:nvPicPr>
        <p:blipFill rotWithShape="1">
          <a:blip r:embed="rId5"/>
          <a:srcRect/>
          <a:stretch>
            <a:fillRect/>
          </a:stretch>
        </p:blipFill>
        <p:spPr>
          <a:xfrm>
            <a:off x="1247775" y="4947046"/>
            <a:ext cx="171450" cy="200025"/>
          </a:xfrm>
          <a:prstGeom prst="rect">
            <a:avLst/>
          </a:prstGeom>
          <a:noFill/>
          <a:ln>
            <a:noFill/>
          </a:ln>
        </p:spPr>
      </p:pic>
      <p:pic>
        <p:nvPicPr>
          <p:cNvPr id="382" name="Google Shape;382;p28" descr="image.png"/>
          <p:cNvPicPr preferRelativeResize="0"/>
          <p:nvPr/>
        </p:nvPicPr>
        <p:blipFill rotWithShape="1">
          <a:blip r:embed="rId5"/>
          <a:srcRect/>
          <a:stretch>
            <a:fillRect/>
          </a:stretch>
        </p:blipFill>
        <p:spPr>
          <a:xfrm>
            <a:off x="1247775" y="5855642"/>
            <a:ext cx="171450" cy="200025"/>
          </a:xfrm>
          <a:prstGeom prst="rect">
            <a:avLst/>
          </a:prstGeom>
          <a:noFill/>
          <a:ln>
            <a:noFill/>
          </a:ln>
        </p:spPr>
      </p:pic>
      <p:sp>
        <p:nvSpPr>
          <p:cNvPr id="383" name="Google Shape;383;p28"/>
          <p:cNvSpPr txBox="1"/>
          <p:nvPr/>
        </p:nvSpPr>
        <p:spPr>
          <a:xfrm>
            <a:off x="800100" y="919311"/>
            <a:ext cx="11361420" cy="5143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00" b="1" i="0" u="none" strike="noStrike" cap="none" dirty="0">
                <a:solidFill>
                  <a:srgbClr val="38BDF8"/>
                </a:solidFill>
                <a:latin typeface="Inter" panose="02000503000000020004"/>
                <a:ea typeface="Inter" panose="02000503000000020004"/>
                <a:cs typeface="Inter" panose="02000503000000020004"/>
                <a:sym typeface="Inter" panose="02000503000000020004"/>
              </a:rPr>
              <a:t>IMAGE PROCESSING</a:t>
            </a:r>
            <a:endParaRPr dirty="0"/>
          </a:p>
        </p:txBody>
      </p:sp>
      <p:sp>
        <p:nvSpPr>
          <p:cNvPr id="384" name="Google Shape;384;p28"/>
          <p:cNvSpPr/>
          <p:nvPr/>
        </p:nvSpPr>
        <p:spPr>
          <a:xfrm>
            <a:off x="571500" y="919311"/>
            <a:ext cx="76200" cy="514350"/>
          </a:xfrm>
          <a:prstGeom prst="rect">
            <a:avLst/>
          </a:prstGeom>
          <a:solidFill>
            <a:srgbClr val="38BDF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mph" presetSubtype="2" fill="hold" nodeType="clickEffect">
                                  <p:stCondLst>
                                    <p:cond delay="0"/>
                                  </p:stCondLst>
                                  <p:childTnLst>
                                    <p:animClr clrSpc="rgb" dir="cw">
                                      <p:cBhvr>
                                        <p:cTn id="6" dur="2000" fill="hold"/>
                                        <p:tgtEl>
                                          <p:spTgt spid="367"/>
                                        </p:tgtEl>
                                        <p:attrNameLst>
                                          <p:attrName>fillcolor</p:attrName>
                                        </p:attrNameLst>
                                      </p:cBhvr>
                                      <p:to>
                                        <a:srgbClr val="00B050"/>
                                      </p:to>
                                    </p:animClr>
                                    <p:set>
                                      <p:cBhvr>
                                        <p:cTn id="7" dur="2000" fill="hold"/>
                                        <p:tgtEl>
                                          <p:spTgt spid="367"/>
                                        </p:tgtEl>
                                        <p:attrNameLst>
                                          <p:attrName>fill.type</p:attrName>
                                        </p:attrNameLst>
                                      </p:cBhvr>
                                      <p:to>
                                        <p:strVal val="solid"/>
                                      </p:to>
                                    </p:set>
                                    <p:set>
                                      <p:cBhvr>
                                        <p:cTn id="8" dur="2000" fill="hold"/>
                                        <p:tgtEl>
                                          <p:spTgt spid="367"/>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62"/>
        <p:cNvGrpSpPr/>
        <p:nvPr/>
      </p:nvGrpSpPr>
      <p:grpSpPr>
        <a:xfrm>
          <a:off x="0" y="0"/>
          <a:ext cx="0" cy="0"/>
          <a:chOff x="0" y="0"/>
          <a:chExt cx="0" cy="0"/>
        </a:xfrm>
      </p:grpSpPr>
      <p:pic>
        <p:nvPicPr>
          <p:cNvPr id="363" name="Google Shape;363;p28" descr="image.png"/>
          <p:cNvPicPr preferRelativeResize="0"/>
          <p:nvPr/>
        </p:nvPicPr>
        <p:blipFill rotWithShape="1">
          <a:blip r:embed="rId3"/>
          <a:srcRect/>
          <a:stretch>
            <a:fillRect/>
          </a:stretch>
        </p:blipFill>
        <p:spPr>
          <a:xfrm>
            <a:off x="0" y="0"/>
            <a:ext cx="12192000" cy="6858000"/>
          </a:xfrm>
          <a:prstGeom prst="rect">
            <a:avLst/>
          </a:prstGeom>
          <a:noFill/>
          <a:ln>
            <a:noFill/>
          </a:ln>
        </p:spPr>
      </p:pic>
      <p:pic>
        <p:nvPicPr>
          <p:cNvPr id="364" name="Google Shape;364;p28" descr="image.png"/>
          <p:cNvPicPr preferRelativeResize="0"/>
          <p:nvPr/>
        </p:nvPicPr>
        <p:blipFill rotWithShape="1">
          <a:blip r:embed="rId4"/>
          <a:srcRect/>
          <a:stretch>
            <a:fillRect/>
          </a:stretch>
        </p:blipFill>
        <p:spPr>
          <a:xfrm>
            <a:off x="571500" y="6871989"/>
            <a:ext cx="11049000" cy="838200"/>
          </a:xfrm>
          <a:prstGeom prst="rect">
            <a:avLst/>
          </a:prstGeom>
          <a:noFill/>
          <a:ln>
            <a:noFill/>
          </a:ln>
        </p:spPr>
      </p:pic>
      <p:sp>
        <p:nvSpPr>
          <p:cNvPr id="365" name="Google Shape;365;p28"/>
          <p:cNvSpPr txBox="1"/>
          <p:nvPr/>
        </p:nvSpPr>
        <p:spPr>
          <a:xfrm>
            <a:off x="571500" y="1792886"/>
            <a:ext cx="11049000" cy="443198"/>
          </a:xfrm>
          <a:prstGeom prst="rect">
            <a:avLst/>
          </a:prstGeom>
          <a:noFill/>
          <a:ln>
            <a:noFill/>
          </a:ln>
        </p:spPr>
        <p:txBody>
          <a:bodyPr spcFirstLastPara="1" wrap="square" lIns="0" tIns="0" rIns="0" bIns="0" anchor="t" anchorCtr="0">
            <a:spAutoFit/>
          </a:bodyPr>
          <a:lstStyle/>
          <a:p>
            <a:pPr lvl="0">
              <a:lnSpc>
                <a:spcPct val="160000"/>
              </a:lnSpc>
            </a:pPr>
            <a:r>
              <a:rPr lang="en-US" sz="1800" dirty="0">
                <a:solidFill>
                  <a:srgbClr val="CBD5E1"/>
                </a:solidFill>
                <a:latin typeface="Inter" panose="02000503000000020004"/>
                <a:ea typeface="Inter" panose="02000503000000020004"/>
                <a:cs typeface="Inter" panose="02000503000000020004"/>
                <a:sym typeface="Inter" panose="02000503000000020004"/>
              </a:rPr>
              <a:t>Identify the ODD machine learning algorithm</a:t>
            </a:r>
            <a:endParaRPr lang="en-US" dirty="0"/>
          </a:p>
        </p:txBody>
      </p:sp>
      <p:sp>
        <p:nvSpPr>
          <p:cNvPr id="366" name="Google Shape;366;p28"/>
          <p:cNvSpPr txBox="1"/>
          <p:nvPr/>
        </p:nvSpPr>
        <p:spPr>
          <a:xfrm>
            <a:off x="5262562" y="7129164"/>
            <a:ext cx="3867150" cy="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100" b="0" i="0" u="none" strike="noStrike" cap="none">
                <a:solidFill>
                  <a:srgbClr val="FEF08A"/>
                </a:solidFill>
                <a:latin typeface="Inter Black"/>
                <a:ea typeface="Inter Black"/>
                <a:cs typeface="Inter Black"/>
                <a:sym typeface="Inter Black"/>
              </a:rPr>
              <a:t>B) High Variance (Overfitting)</a:t>
            </a:r>
          </a:p>
        </p:txBody>
      </p:sp>
      <p:sp>
        <p:nvSpPr>
          <p:cNvPr id="367" name="Google Shape;367;p28"/>
          <p:cNvSpPr/>
          <p:nvPr/>
        </p:nvSpPr>
        <p:spPr>
          <a:xfrm>
            <a:off x="952500" y="2847082"/>
            <a:ext cx="10668000" cy="765720"/>
          </a:xfrm>
          <a:prstGeom prst="roundRect">
            <a:avLst>
              <a:gd name="adj" fmla="val 9951"/>
            </a:avLst>
          </a:prstGeom>
          <a:solidFill>
            <a:srgbClr val="334155"/>
          </a:solidFill>
          <a:ln w="9525" cap="flat" cmpd="sng">
            <a:solidFill>
              <a:srgbClr val="94A3B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68" name="Google Shape;368;p28"/>
          <p:cNvSpPr txBox="1"/>
          <p:nvPr/>
        </p:nvSpPr>
        <p:spPr>
          <a:xfrm>
            <a:off x="1600200" y="3008343"/>
            <a:ext cx="9734550" cy="443198"/>
          </a:xfrm>
          <a:prstGeom prst="rect">
            <a:avLst/>
          </a:prstGeom>
          <a:noFill/>
          <a:ln>
            <a:noFill/>
          </a:ln>
        </p:spPr>
        <p:txBody>
          <a:bodyPr spcFirstLastPara="1" wrap="square" lIns="0" tIns="0" rIns="0" bIns="0" anchor="ctr" anchorCtr="0">
            <a:spAutoFit/>
          </a:bodyPr>
          <a:lstStyle/>
          <a:p>
            <a:pPr marL="0" marR="0" lvl="0" indent="0" algn="l" rtl="0">
              <a:lnSpc>
                <a:spcPct val="160000"/>
              </a:lnSpc>
              <a:spcBef>
                <a:spcPts val="0"/>
              </a:spcBef>
              <a:spcAft>
                <a:spcPts val="0"/>
              </a:spcAft>
              <a:buNone/>
            </a:pPr>
            <a:r>
              <a:rPr lang="en-US" sz="1800" b="0" i="0" u="none" strike="noStrike" cap="none" dirty="0">
                <a:solidFill>
                  <a:srgbClr val="CBD5E1"/>
                </a:solidFill>
                <a:latin typeface="Inter" panose="02000503000000020004"/>
                <a:ea typeface="Inter" panose="02000503000000020004"/>
                <a:cs typeface="Inter" panose="02000503000000020004"/>
                <a:sym typeface="Inter" panose="02000503000000020004"/>
              </a:rPr>
              <a:t>A) K-Means Clustering</a:t>
            </a:r>
            <a:endParaRPr dirty="0"/>
          </a:p>
        </p:txBody>
      </p:sp>
      <p:sp>
        <p:nvSpPr>
          <p:cNvPr id="369" name="Google Shape;369;p28"/>
          <p:cNvSpPr/>
          <p:nvPr/>
        </p:nvSpPr>
        <p:spPr>
          <a:xfrm>
            <a:off x="952500" y="3755677"/>
            <a:ext cx="10668000" cy="765720"/>
          </a:xfrm>
          <a:prstGeom prst="roundRect">
            <a:avLst>
              <a:gd name="adj" fmla="val 9951"/>
            </a:avLst>
          </a:prstGeom>
          <a:solidFill>
            <a:srgbClr val="334155"/>
          </a:solidFill>
          <a:ln w="9525" cap="flat" cmpd="sng">
            <a:solidFill>
              <a:srgbClr val="94A3B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70" name="Google Shape;370;p28"/>
          <p:cNvSpPr txBox="1"/>
          <p:nvPr/>
        </p:nvSpPr>
        <p:spPr>
          <a:xfrm>
            <a:off x="1600200" y="3916938"/>
            <a:ext cx="9734550" cy="443198"/>
          </a:xfrm>
          <a:prstGeom prst="rect">
            <a:avLst/>
          </a:prstGeom>
          <a:noFill/>
          <a:ln>
            <a:noFill/>
          </a:ln>
        </p:spPr>
        <p:txBody>
          <a:bodyPr spcFirstLastPara="1" wrap="square" lIns="0" tIns="0" rIns="0" bIns="0" anchor="ctr" anchorCtr="0">
            <a:spAutoFit/>
          </a:bodyPr>
          <a:lstStyle/>
          <a:p>
            <a:pPr marL="0" marR="0" lvl="0" indent="0" algn="l" rtl="0">
              <a:lnSpc>
                <a:spcPct val="160000"/>
              </a:lnSpc>
              <a:spcBef>
                <a:spcPts val="0"/>
              </a:spcBef>
              <a:spcAft>
                <a:spcPts val="0"/>
              </a:spcAft>
              <a:buNone/>
            </a:pPr>
            <a:r>
              <a:rPr lang="en-US" sz="1800" b="0" i="0" u="none" strike="noStrike" cap="none" dirty="0">
                <a:solidFill>
                  <a:srgbClr val="CBD5E1"/>
                </a:solidFill>
                <a:latin typeface="Inter" panose="02000503000000020004"/>
                <a:ea typeface="Inter" panose="02000503000000020004"/>
                <a:cs typeface="Inter" panose="02000503000000020004"/>
                <a:sym typeface="Inter" panose="02000503000000020004"/>
              </a:rPr>
              <a:t>B)</a:t>
            </a:r>
            <a:r>
              <a:rPr lang="en-US" sz="1800" dirty="0">
                <a:solidFill>
                  <a:srgbClr val="CBD5E1"/>
                </a:solidFill>
                <a:latin typeface="Inter" panose="02000503000000020004"/>
                <a:ea typeface="Inter" panose="02000503000000020004"/>
                <a:cs typeface="Inter" panose="02000503000000020004"/>
                <a:sym typeface="Inter" panose="02000503000000020004"/>
              </a:rPr>
              <a:t> Hierarchical Clustering</a:t>
            </a:r>
            <a:endParaRPr dirty="0"/>
          </a:p>
        </p:txBody>
      </p:sp>
      <p:sp>
        <p:nvSpPr>
          <p:cNvPr id="371" name="Google Shape;371;p28"/>
          <p:cNvSpPr/>
          <p:nvPr/>
        </p:nvSpPr>
        <p:spPr>
          <a:xfrm>
            <a:off x="952500" y="4664273"/>
            <a:ext cx="10668000" cy="765720"/>
          </a:xfrm>
          <a:prstGeom prst="roundRect">
            <a:avLst>
              <a:gd name="adj" fmla="val 9951"/>
            </a:avLst>
          </a:prstGeom>
          <a:solidFill>
            <a:srgbClr val="334155"/>
          </a:solidFill>
          <a:ln w="9525" cap="flat" cmpd="sng">
            <a:solidFill>
              <a:srgbClr val="94A3B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72" name="Google Shape;372;p28"/>
          <p:cNvSpPr txBox="1"/>
          <p:nvPr/>
        </p:nvSpPr>
        <p:spPr>
          <a:xfrm>
            <a:off x="1600200" y="4825534"/>
            <a:ext cx="9734550" cy="443198"/>
          </a:xfrm>
          <a:prstGeom prst="rect">
            <a:avLst/>
          </a:prstGeom>
          <a:noFill/>
          <a:ln>
            <a:noFill/>
          </a:ln>
        </p:spPr>
        <p:txBody>
          <a:bodyPr spcFirstLastPara="1" wrap="square" lIns="0" tIns="0" rIns="0" bIns="0" anchor="ctr" anchorCtr="0">
            <a:spAutoFit/>
          </a:bodyPr>
          <a:lstStyle/>
          <a:p>
            <a:pPr marL="0" marR="0" lvl="0" indent="0" algn="l" rtl="0">
              <a:lnSpc>
                <a:spcPct val="160000"/>
              </a:lnSpc>
              <a:spcBef>
                <a:spcPts val="0"/>
              </a:spcBef>
              <a:spcAft>
                <a:spcPts val="0"/>
              </a:spcAft>
              <a:buNone/>
            </a:pPr>
            <a:r>
              <a:rPr lang="en-US" sz="1800" b="0" i="0" u="none" strike="noStrike" cap="none" dirty="0">
                <a:solidFill>
                  <a:srgbClr val="CBD5E1"/>
                </a:solidFill>
                <a:latin typeface="Inter" panose="02000503000000020004"/>
                <a:ea typeface="Inter" panose="02000503000000020004"/>
                <a:cs typeface="Inter" panose="02000503000000020004"/>
                <a:sym typeface="Inter" panose="02000503000000020004"/>
              </a:rPr>
              <a:t>C) Linear Regression</a:t>
            </a:r>
            <a:endParaRPr dirty="0"/>
          </a:p>
        </p:txBody>
      </p:sp>
      <p:sp>
        <p:nvSpPr>
          <p:cNvPr id="373" name="Google Shape;373;p28"/>
          <p:cNvSpPr/>
          <p:nvPr/>
        </p:nvSpPr>
        <p:spPr>
          <a:xfrm>
            <a:off x="952500" y="5572869"/>
            <a:ext cx="10668000" cy="765720"/>
          </a:xfrm>
          <a:prstGeom prst="roundRect">
            <a:avLst>
              <a:gd name="adj" fmla="val 9951"/>
            </a:avLst>
          </a:prstGeom>
          <a:solidFill>
            <a:srgbClr val="334155"/>
          </a:solidFill>
          <a:ln w="9525" cap="flat" cmpd="sng">
            <a:solidFill>
              <a:srgbClr val="94A3B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74" name="Google Shape;374;p28"/>
          <p:cNvSpPr txBox="1"/>
          <p:nvPr/>
        </p:nvSpPr>
        <p:spPr>
          <a:xfrm>
            <a:off x="1600200" y="5734130"/>
            <a:ext cx="9734550" cy="443198"/>
          </a:xfrm>
          <a:prstGeom prst="rect">
            <a:avLst/>
          </a:prstGeom>
          <a:noFill/>
          <a:ln>
            <a:noFill/>
          </a:ln>
        </p:spPr>
        <p:txBody>
          <a:bodyPr spcFirstLastPara="1" wrap="square" lIns="0" tIns="0" rIns="0" bIns="0" anchor="ctr" anchorCtr="0">
            <a:spAutoFit/>
          </a:bodyPr>
          <a:lstStyle/>
          <a:p>
            <a:pPr marL="0" marR="0" lvl="0" indent="0" algn="l" rtl="0">
              <a:lnSpc>
                <a:spcPct val="160000"/>
              </a:lnSpc>
              <a:spcBef>
                <a:spcPts val="0"/>
              </a:spcBef>
              <a:spcAft>
                <a:spcPts val="0"/>
              </a:spcAft>
              <a:buNone/>
            </a:pPr>
            <a:r>
              <a:rPr lang="en-US" sz="1800" b="0" i="0" u="none" strike="noStrike" cap="none" dirty="0">
                <a:solidFill>
                  <a:srgbClr val="CBD5E1"/>
                </a:solidFill>
                <a:latin typeface="Inter" panose="02000503000000020004"/>
                <a:ea typeface="Inter" panose="02000503000000020004"/>
                <a:cs typeface="Inter" panose="02000503000000020004"/>
                <a:sym typeface="Inter" panose="02000503000000020004"/>
              </a:rPr>
              <a:t>D) DBSCAN</a:t>
            </a:r>
            <a:endParaRPr dirty="0"/>
          </a:p>
        </p:txBody>
      </p:sp>
      <p:sp>
        <p:nvSpPr>
          <p:cNvPr id="375" name="Google Shape;375;p28"/>
          <p:cNvSpPr/>
          <p:nvPr/>
        </p:nvSpPr>
        <p:spPr>
          <a:xfrm>
            <a:off x="952500" y="3603277"/>
            <a:ext cx="10668000" cy="9525"/>
          </a:xfrm>
          <a:prstGeom prst="rect">
            <a:avLst/>
          </a:prstGeom>
          <a:solidFill>
            <a:srgbClr val="94A3B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76" name="Google Shape;376;p28"/>
          <p:cNvSpPr/>
          <p:nvPr/>
        </p:nvSpPr>
        <p:spPr>
          <a:xfrm>
            <a:off x="952500" y="4511873"/>
            <a:ext cx="10668000" cy="9525"/>
          </a:xfrm>
          <a:prstGeom prst="rect">
            <a:avLst/>
          </a:prstGeom>
          <a:solidFill>
            <a:srgbClr val="94A3B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77" name="Google Shape;377;p28"/>
          <p:cNvSpPr/>
          <p:nvPr/>
        </p:nvSpPr>
        <p:spPr>
          <a:xfrm>
            <a:off x="952500" y="5420469"/>
            <a:ext cx="10668000" cy="9525"/>
          </a:xfrm>
          <a:prstGeom prst="rect">
            <a:avLst/>
          </a:prstGeom>
          <a:solidFill>
            <a:srgbClr val="94A3B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78" name="Google Shape;378;p28"/>
          <p:cNvSpPr/>
          <p:nvPr/>
        </p:nvSpPr>
        <p:spPr>
          <a:xfrm>
            <a:off x="952500" y="6329064"/>
            <a:ext cx="10668000" cy="9525"/>
          </a:xfrm>
          <a:prstGeom prst="rect">
            <a:avLst/>
          </a:prstGeom>
          <a:solidFill>
            <a:srgbClr val="94A3B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379" name="Google Shape;379;p28" descr="image.png"/>
          <p:cNvPicPr preferRelativeResize="0"/>
          <p:nvPr/>
        </p:nvPicPr>
        <p:blipFill rotWithShape="1">
          <a:blip r:embed="rId5"/>
          <a:srcRect/>
          <a:stretch>
            <a:fillRect/>
          </a:stretch>
        </p:blipFill>
        <p:spPr>
          <a:xfrm>
            <a:off x="1247775" y="3129855"/>
            <a:ext cx="171450" cy="200025"/>
          </a:xfrm>
          <a:prstGeom prst="rect">
            <a:avLst/>
          </a:prstGeom>
          <a:noFill/>
          <a:ln>
            <a:noFill/>
          </a:ln>
        </p:spPr>
      </p:pic>
      <p:pic>
        <p:nvPicPr>
          <p:cNvPr id="380" name="Google Shape;380;p28" descr="image.png"/>
          <p:cNvPicPr preferRelativeResize="0"/>
          <p:nvPr/>
        </p:nvPicPr>
        <p:blipFill rotWithShape="1">
          <a:blip r:embed="rId5"/>
          <a:srcRect/>
          <a:stretch>
            <a:fillRect/>
          </a:stretch>
        </p:blipFill>
        <p:spPr>
          <a:xfrm>
            <a:off x="1247775" y="4038451"/>
            <a:ext cx="171450" cy="200025"/>
          </a:xfrm>
          <a:prstGeom prst="rect">
            <a:avLst/>
          </a:prstGeom>
          <a:noFill/>
          <a:ln>
            <a:noFill/>
          </a:ln>
        </p:spPr>
      </p:pic>
      <p:pic>
        <p:nvPicPr>
          <p:cNvPr id="381" name="Google Shape;381;p28" descr="image.png"/>
          <p:cNvPicPr preferRelativeResize="0"/>
          <p:nvPr/>
        </p:nvPicPr>
        <p:blipFill rotWithShape="1">
          <a:blip r:embed="rId5"/>
          <a:srcRect/>
          <a:stretch>
            <a:fillRect/>
          </a:stretch>
        </p:blipFill>
        <p:spPr>
          <a:xfrm>
            <a:off x="1247775" y="4947046"/>
            <a:ext cx="171450" cy="200025"/>
          </a:xfrm>
          <a:prstGeom prst="rect">
            <a:avLst/>
          </a:prstGeom>
          <a:noFill/>
          <a:ln>
            <a:noFill/>
          </a:ln>
        </p:spPr>
      </p:pic>
      <p:pic>
        <p:nvPicPr>
          <p:cNvPr id="382" name="Google Shape;382;p28" descr="image.png"/>
          <p:cNvPicPr preferRelativeResize="0"/>
          <p:nvPr/>
        </p:nvPicPr>
        <p:blipFill rotWithShape="1">
          <a:blip r:embed="rId5"/>
          <a:srcRect/>
          <a:stretch>
            <a:fillRect/>
          </a:stretch>
        </p:blipFill>
        <p:spPr>
          <a:xfrm>
            <a:off x="1247775" y="5855642"/>
            <a:ext cx="171450" cy="200025"/>
          </a:xfrm>
          <a:prstGeom prst="rect">
            <a:avLst/>
          </a:prstGeom>
          <a:noFill/>
          <a:ln>
            <a:noFill/>
          </a:ln>
        </p:spPr>
      </p:pic>
      <p:sp>
        <p:nvSpPr>
          <p:cNvPr id="383" name="Google Shape;383;p28"/>
          <p:cNvSpPr txBox="1"/>
          <p:nvPr/>
        </p:nvSpPr>
        <p:spPr>
          <a:xfrm>
            <a:off x="800100" y="919311"/>
            <a:ext cx="11361420" cy="507831"/>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00" b="1" dirty="0">
                <a:solidFill>
                  <a:srgbClr val="38BDF8"/>
                </a:solidFill>
                <a:latin typeface="Inter" panose="02000503000000020004"/>
                <a:ea typeface="Inter" panose="02000503000000020004"/>
                <a:sym typeface="Inter" panose="02000503000000020004"/>
              </a:rPr>
              <a:t>ALGORITHMS</a:t>
            </a:r>
            <a:endParaRPr dirty="0"/>
          </a:p>
        </p:txBody>
      </p:sp>
      <p:sp>
        <p:nvSpPr>
          <p:cNvPr id="384" name="Google Shape;384;p28"/>
          <p:cNvSpPr/>
          <p:nvPr/>
        </p:nvSpPr>
        <p:spPr>
          <a:xfrm>
            <a:off x="571500" y="919311"/>
            <a:ext cx="76200" cy="514350"/>
          </a:xfrm>
          <a:prstGeom prst="rect">
            <a:avLst/>
          </a:prstGeom>
          <a:solidFill>
            <a:srgbClr val="38BDF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mph" presetSubtype="2" fill="hold" nodeType="clickEffect">
                                  <p:stCondLst>
                                    <p:cond delay="0"/>
                                  </p:stCondLst>
                                  <p:childTnLst>
                                    <p:animClr clrSpc="rgb" dir="cw">
                                      <p:cBhvr>
                                        <p:cTn id="6" dur="2000" fill="hold"/>
                                        <p:tgtEl>
                                          <p:spTgt spid="371"/>
                                        </p:tgtEl>
                                        <p:attrNameLst>
                                          <p:attrName>fillcolor</p:attrName>
                                        </p:attrNameLst>
                                      </p:cBhvr>
                                      <p:to>
                                        <a:srgbClr val="00B050"/>
                                      </p:to>
                                    </p:animClr>
                                    <p:set>
                                      <p:cBhvr>
                                        <p:cTn id="7" dur="2000" fill="hold"/>
                                        <p:tgtEl>
                                          <p:spTgt spid="371"/>
                                        </p:tgtEl>
                                        <p:attrNameLst>
                                          <p:attrName>fill.type</p:attrName>
                                        </p:attrNameLst>
                                      </p:cBhvr>
                                      <p:to>
                                        <p:strVal val="solid"/>
                                      </p:to>
                                    </p:set>
                                    <p:set>
                                      <p:cBhvr>
                                        <p:cTn id="8" dur="2000" fill="hold"/>
                                        <p:tgtEl>
                                          <p:spTgt spid="371"/>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1E293B"/>
        </a:solidFill>
        <a:effectLst/>
      </p:bgPr>
    </p:bg>
    <p:spTree>
      <p:nvGrpSpPr>
        <p:cNvPr id="1" name="Shape 388"/>
        <p:cNvGrpSpPr/>
        <p:nvPr/>
      </p:nvGrpSpPr>
      <p:grpSpPr>
        <a:xfrm>
          <a:off x="0" y="0"/>
          <a:ext cx="0" cy="0"/>
          <a:chOff x="0" y="0"/>
          <a:chExt cx="0" cy="0"/>
        </a:xfrm>
      </p:grpSpPr>
      <p:pic>
        <p:nvPicPr>
          <p:cNvPr id="389" name="Google Shape;389;p29" descr="image.png"/>
          <p:cNvPicPr preferRelativeResize="0"/>
          <p:nvPr/>
        </p:nvPicPr>
        <p:blipFill rotWithShape="1">
          <a:blip r:embed="rId3"/>
          <a:srcRect/>
          <a:stretch>
            <a:fillRect/>
          </a:stretch>
        </p:blipFill>
        <p:spPr>
          <a:xfrm>
            <a:off x="0" y="0"/>
            <a:ext cx="12192000" cy="6858000"/>
          </a:xfrm>
          <a:prstGeom prst="rect">
            <a:avLst/>
          </a:prstGeom>
          <a:noFill/>
          <a:ln>
            <a:noFill/>
          </a:ln>
        </p:spPr>
      </p:pic>
      <p:sp>
        <p:nvSpPr>
          <p:cNvPr id="390" name="Google Shape;390;p29"/>
          <p:cNvSpPr txBox="1"/>
          <p:nvPr/>
        </p:nvSpPr>
        <p:spPr>
          <a:xfrm>
            <a:off x="3766457" y="2685158"/>
            <a:ext cx="4844143" cy="1015663"/>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6600" b="1" i="0" u="none" strike="noStrike" cap="none" dirty="0">
                <a:solidFill>
                  <a:srgbClr val="38BDF8"/>
                </a:solidFill>
                <a:latin typeface="Inter" panose="02000503000000020004"/>
                <a:ea typeface="Inter" panose="02000503000000020004"/>
                <a:cs typeface="Inter" panose="02000503000000020004"/>
                <a:sym typeface="Inter" panose="02000503000000020004"/>
              </a:rPr>
              <a:t>End of Quiz</a:t>
            </a:r>
          </a:p>
        </p:txBody>
      </p:sp>
      <p:sp>
        <p:nvSpPr>
          <p:cNvPr id="392" name="Google Shape;392;p29"/>
          <p:cNvSpPr/>
          <p:nvPr/>
        </p:nvSpPr>
        <p:spPr>
          <a:xfrm>
            <a:off x="3374571" y="3777341"/>
            <a:ext cx="5562600" cy="65316"/>
          </a:xfrm>
          <a:prstGeom prst="rect">
            <a:avLst/>
          </a:prstGeom>
          <a:solidFill>
            <a:srgbClr val="38BDF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TotalTime>
  <Words>1149</Words>
  <Application>Microsoft Office PowerPoint</Application>
  <PresentationFormat>Widescreen</PresentationFormat>
  <Paragraphs>177</Paragraphs>
  <Slides>33</Slides>
  <Notes>33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33</vt:i4>
      </vt:variant>
    </vt:vector>
  </HeadingPairs>
  <TitlesOfParts>
    <vt:vector size="39" baseType="lpstr">
      <vt:lpstr>Inter Black</vt:lpstr>
      <vt:lpstr>Inter</vt:lpstr>
      <vt:lpstr>JetBrains Mono</vt:lpstr>
      <vt:lpstr>Calibri</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Brinda Dorairaj</cp:lastModifiedBy>
  <cp:revision>14</cp:revision>
  <dcterms:created xsi:type="dcterms:W3CDTF">2026-07-08T09:51:47Z</dcterms:created>
  <dcterms:modified xsi:type="dcterms:W3CDTF">2026-09-06T03:25:17Z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0EC2D2F90B9D08E5B31D4E6A71438401_42</vt:lpwstr>
  </property>
  <property fmtid="{D5CDD505-2E9C-101B-9397-08002B2CF9AE}" pid="3" name="KSOProductBuildVer">
    <vt:lpwstr>1033-12.1.26015.26015</vt:lpwstr>
  </property>
</Properties>
</file>