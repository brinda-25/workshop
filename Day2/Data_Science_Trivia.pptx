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61" r:id="rId4"/>
    <p:sldId id="273" r:id="rId5"/>
    <p:sldId id="262" r:id="rId6"/>
    <p:sldId id="263" r:id="rId7"/>
    <p:sldId id="264" r:id="rId8"/>
    <p:sldId id="270" r:id="rId9"/>
    <p:sldId id="271" r:id="rId10"/>
    <p:sldId id="272" r:id="rId11"/>
    <p:sldId id="268" r:id="rId12"/>
    <p:sldId id="269" r:id="rId13"/>
    <p:sldId id="265" r:id="rId14"/>
    <p:sldId id="266" r:id="rId15"/>
    <p:sldId id="267" r:id="rId16"/>
    <p:sldId id="257" r:id="rId17"/>
    <p:sldId id="258" r:id="rId18"/>
    <p:sldId id="259" r:id="rId19"/>
  </p:sldIdLst>
  <p:sldSz cx="9144000" cy="5143500" type="screen16x9"/>
  <p:notesSz cx="6858000" cy="9144000"/>
  <p:embeddedFontLst>
    <p:embeddedFont>
      <p:font typeface="Inter" panose="020B0604020202020204" charset="0"/>
      <p:regular r:id="rId21"/>
    </p:embeddedFont>
    <p:embeddedFont>
      <p:font typeface="Inter Medium" panose="020B0604020202020204" charset="0"/>
      <p:regular r:id="rId22"/>
    </p:embeddedFont>
    <p:embeddedFont>
      <p:font typeface="Inter SemiBold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392" y="92"/>
      </p:cViewPr>
      <p:guideLst>
        <p:guide orient="horz" pos="1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fd2ec3dad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fd2ec3dad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fd2ec3dad_2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fd2ec3dad_2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ba7bde7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2ba7bde7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ba7bde7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2ba7bde7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2ba7bde7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2ba7bde7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fd2ec3dad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fd2ec3dad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fd2ec3dad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fd2ec3dad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fd2ec3dad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fd2ec3dad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2bef54d2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2bef54d2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fd2ec3dad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fd2ec3dad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d2ec3dad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fd2ec3dad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fd2ec3dad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fd2ec3dad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fd2ec3dad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fd2ec3dad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2bef54d2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2bef54d2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ffb02f4d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ffb02f4d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d2ec3da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d2ec3da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fd2ec3dad_2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fd2ec3dad_2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d2ec3dad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fd2ec3dad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fd2ec3dad_13_0)">
  <p:cSld name="Generated (g3efd2ec3dad_13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" name="Google Shape;60;p14"/>
            <p:cNvSpPr/>
            <p:nvPr/>
          </p:nvSpPr>
          <p:spPr>
            <a:xfrm>
              <a:off x="457200" y="2286000"/>
              <a:ext cx="609600" cy="381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457200" y="2514600"/>
            <a:ext cx="8229600" cy="1905000"/>
            <a:chOff x="457200" y="2514600"/>
            <a:chExt cx="8229600" cy="190500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457200" y="2514600"/>
              <a:ext cx="822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11111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Data Science Trivia</a:t>
              </a:r>
              <a:endParaRPr sz="2400" b="1" dirty="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457200" y="365760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0044C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Interactive Logic &amp; Intuition Puzzles for Undergraduate Students</a:t>
              </a:r>
              <a:endParaRPr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8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8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Surgeon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79%</a:t>
            </a:r>
            <a:endParaRPr sz="2700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84%</a:t>
            </a:r>
            <a:endParaRPr sz="3000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39" name="Google Shape;139;p18" descr="&quot;Male doctor smiling, portrait, close-up&quot; (Provided by Getty Images)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Portrait of a female Doctor (Provided by Getty Images)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9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50" name="Google Shape;150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19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Doctor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0" name="Google Shape;160;p19" descr="&quot;Male doctor smiling, portrait, close-up&quot; (Provided by Getty Images)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Portrait of a female Doctor (Provided by Getty Images)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Cataract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76%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Glaucoma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90%   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Cataract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75%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Glaucoma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86%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9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50" name="Google Shape;150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19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Doctor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79%</a:t>
            </a:r>
            <a:endParaRPr sz="2700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84%</a:t>
            </a:r>
            <a:endParaRPr sz="3000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57200" y="4095750"/>
            <a:ext cx="8229600" cy="571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</a:t>
            </a:r>
            <a:r>
              <a:rPr lang="en-GB"/>
              <a:t>s this even possible ?</a:t>
            </a:r>
          </a:p>
        </p:txBody>
      </p:sp>
      <p:sp>
        <p:nvSpPr>
          <p:cNvPr id="159" name="Google Shape;159;p19"/>
          <p:cNvSpPr/>
          <p:nvPr/>
        </p:nvSpPr>
        <p:spPr>
          <a:xfrm>
            <a:off x="457200" y="4095750"/>
            <a:ext cx="38100" cy="5715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9" descr="&quot;Male doctor smiling, portrait, close-up&quot; (Provided by Getty Images)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Portrait of a female Doctor (Provided by Getty Images)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Cataract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76%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Glaucoma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90%   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Cataract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75%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Glaucoma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86%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58" grpId="1" animBg="1"/>
      <p:bldP spid="159" grpId="0" animBg="1"/>
      <p:bldP spid="15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0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71" name="Google Shape;171;p20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20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Doctor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79%</a:t>
            </a:r>
            <a:endParaRPr sz="2700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84%</a:t>
            </a:r>
            <a:endParaRPr sz="3000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57200" y="3697814"/>
            <a:ext cx="8229600" cy="571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/>
              <a:t>  Can you </a:t>
            </a:r>
            <a:r>
              <a:rPr lang="en-US" altLang="en-GB" dirty="0" err="1"/>
              <a:t>expain</a:t>
            </a:r>
            <a:r>
              <a:rPr lang="en-US" altLang="en-GB" dirty="0"/>
              <a:t> why this happens ? and what this phenomenon is called ?</a:t>
            </a:r>
            <a:endParaRPr lang="en-GB" dirty="0"/>
          </a:p>
        </p:txBody>
      </p:sp>
      <p:sp>
        <p:nvSpPr>
          <p:cNvPr id="180" name="Google Shape;180;p20"/>
          <p:cNvSpPr/>
          <p:nvPr/>
        </p:nvSpPr>
        <p:spPr>
          <a:xfrm>
            <a:off x="457200" y="3689346"/>
            <a:ext cx="38100" cy="5715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20" descr="&quot;Male doctor smiling, portrait, close-up&quot; (Provided by Getty Images)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Portrait of a female Doctor (Provided by Getty Images)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Cataract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76%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(61/80)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Glaucoma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90%    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(18/20)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Cataract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75% 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(15/20)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Glaucoma</a:t>
            </a: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86% 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(69/80)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" name="Google Shape;179;p20">
            <a:extLst>
              <a:ext uri="{FF2B5EF4-FFF2-40B4-BE49-F238E27FC236}">
                <a16:creationId xmlns:a16="http://schemas.microsoft.com/office/drawing/2014/main" id="{AE18423E-4490-8029-094B-4AB491FAD3E5}"/>
              </a:ext>
            </a:extLst>
          </p:cNvPr>
          <p:cNvSpPr/>
          <p:nvPr/>
        </p:nvSpPr>
        <p:spPr>
          <a:xfrm>
            <a:off x="2243668" y="4377633"/>
            <a:ext cx="4362450" cy="5715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The Simpsons Paradox</a:t>
            </a:r>
            <a:endParaRPr lang="en-GB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79" grpId="1" animBg="1"/>
      <p:bldP spid="180" grpId="0" animBg="1"/>
      <p:bldP spid="180" grpId="1" animBg="1"/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93" name="Google Shape;193;p21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1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14400" y="228600"/>
            <a:ext cx="7772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Bomber Paradox</a:t>
            </a:r>
            <a:endParaRPr sz="240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An exercise in logical analysis and survivorship bias</a:t>
            </a:r>
            <a:endParaRPr sz="1350" b="0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68300" y="1333500"/>
            <a:ext cx="392112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altLang="en-GB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country is waging a war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altLang="en-GB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It sends 1000 aircraft to fight the enemy</a:t>
            </a:r>
            <a:endParaRPr lang="en-GB"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Only 700 aircraft return safely, the rest are lost to enemy fire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objecive is to mimize losses by adding heavy armor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Bullet holes on the 700 aircraft are analyzed</a:t>
            </a:r>
            <a:endParaRPr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0044CC"/>
                </a:solidFill>
                <a:highlight>
                  <a:srgbClr val="E6F0FF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The Critical Question</a:t>
            </a:r>
            <a:endParaRPr sz="1025" b="0">
              <a:solidFill>
                <a:srgbClr val="0044CC"/>
              </a:solidFill>
              <a:highlight>
                <a:srgbClr val="E6F0FF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25" b="0">
                <a:solidFill>
                  <a:srgbClr val="111111"/>
                </a:solidFill>
                <a:highlight>
                  <a:srgbClr val="E6F0FF"/>
                </a:highlight>
                <a:latin typeface="Inter Medium"/>
                <a:ea typeface="Inter Medium"/>
                <a:cs typeface="Inter Medium"/>
                <a:sym typeface="Inter Medium"/>
              </a:rPr>
              <a:t>Based on th</a:t>
            </a:r>
            <a:r>
              <a:rPr lang="en-US" altLang="en-GB" sz="1325" b="0">
                <a:solidFill>
                  <a:srgbClr val="111111"/>
                </a:solidFill>
                <a:highlight>
                  <a:srgbClr val="E6F0FF"/>
                </a:highlight>
                <a:latin typeface="Inter Medium"/>
                <a:ea typeface="Inter Medium"/>
                <a:cs typeface="Inter Medium"/>
                <a:sym typeface="Inter Medium"/>
              </a:rPr>
              <a:t>e</a:t>
            </a:r>
            <a:r>
              <a:rPr lang="en-GB" sz="1325" b="0">
                <a:solidFill>
                  <a:srgbClr val="111111"/>
                </a:solidFill>
                <a:highlight>
                  <a:srgbClr val="E6F0FF"/>
                </a:highlight>
                <a:latin typeface="Inter Medium"/>
                <a:ea typeface="Inter Medium"/>
                <a:cs typeface="Inter Medium"/>
                <a:sym typeface="Inter Medium"/>
              </a:rPr>
              <a:t> data showing bullet holes, where should you add armor to improve survival rates?</a:t>
            </a:r>
            <a:endParaRPr sz="1325" b="0">
              <a:solidFill>
                <a:srgbClr val="111111"/>
              </a:solidFill>
              <a:highlight>
                <a:srgbClr val="E6F0FF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1266825"/>
            <a:ext cx="3920490" cy="3562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5" name="Google Shape;205;p22"/>
            <p:cNvSpPr/>
            <p:nvPr/>
          </p:nvSpPr>
          <p:spPr>
            <a:xfrm>
              <a:off x="0" y="0"/>
              <a:ext cx="40098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" name="Google Shape;207;p22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08" name="Google Shape;208;p22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2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0" name="Google Shape;210;p22"/>
          <p:cNvSpPr txBox="1"/>
          <p:nvPr/>
        </p:nvSpPr>
        <p:spPr>
          <a:xfrm>
            <a:off x="771730" y="231889"/>
            <a:ext cx="3657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Survivorship Bias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57200" y="997585"/>
            <a:ext cx="3295015" cy="1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700 aircraft 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only includes planes that successfully survived </a:t>
            </a: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enemy fire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300 that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were missing 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never returned to be </a:t>
            </a: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analyzed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is MISSING DATA - a HUGE problem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alt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So, may be the </a:t>
            </a:r>
            <a:r>
              <a:rPr 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armor </a:t>
            </a:r>
            <a:r>
              <a:rPr lang="en-US" alt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should be applied to </a:t>
            </a:r>
            <a:r>
              <a:rPr 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where the bullet holes aren't</a:t>
            </a:r>
            <a:r>
              <a:rPr lang="en-US" alt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present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57200" y="2836545"/>
            <a:ext cx="3477260" cy="54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INSIGHT - 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If you only train models on existing customer data, you miss churned users.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457189" y="3619500"/>
            <a:ext cx="3476915" cy="857400"/>
            <a:chOff x="457200" y="3619500"/>
            <a:chExt cx="3657600" cy="857400"/>
          </a:xfrm>
        </p:grpSpPr>
        <p:sp>
          <p:nvSpPr>
            <p:cNvPr id="214" name="Google Shape;214;p22"/>
            <p:cNvSpPr/>
            <p:nvPr/>
          </p:nvSpPr>
          <p:spPr>
            <a:xfrm>
              <a:off x="457200" y="3619500"/>
              <a:ext cx="3657600" cy="857400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57200" y="3619500"/>
              <a:ext cx="38100" cy="857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647700" y="3619500"/>
              <a:ext cx="310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Missing Perspective</a:t>
              </a:r>
              <a:endParaRPr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0044C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Always ask: "What data am I NOT seeing?"</a:t>
              </a:r>
              <a:endParaRPr sz="120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615" y="650875"/>
            <a:ext cx="4017010" cy="3729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8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300" name="Google Shape;300;p28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2" name="Google Shape;302;p28"/>
          <p:cNvSpPr txBox="1"/>
          <p:nvPr/>
        </p:nvSpPr>
        <p:spPr>
          <a:xfrm>
            <a:off x="914400" y="152400"/>
            <a:ext cx="7772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Engineering Fairness from Bias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Probability &amp; Repeated Trials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457200" y="1188225"/>
            <a:ext cx="4724400" cy="3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What is a Fair Coin ?</a:t>
            </a: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P(H) = P(T) = 0.5 (i.e. 50%)</a:t>
            </a:r>
            <a:endParaRPr sz="105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Coin Flip Game</a:t>
            </a: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Two players toss a coin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Player 1 wins if it is Heads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Player 2 wins if it is Tails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game is fair - Both players have equal chance of winning</a:t>
            </a:r>
            <a:endParaRPr sz="105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638800" y="1428750"/>
            <a:ext cx="3048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38800" y="1428750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9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312" name="Google Shape;312;p2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9"/>
          <p:cNvSpPr txBox="1"/>
          <p:nvPr/>
        </p:nvSpPr>
        <p:spPr>
          <a:xfrm>
            <a:off x="914400" y="152400"/>
            <a:ext cx="7772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Engineering Fairness from Bias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Probability &amp; Repeated Trials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457200" y="1188225"/>
            <a:ext cx="4724400" cy="3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What is a Biased Coin ?</a:t>
            </a: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P(H) != P(T)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e.g. 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P(H) = 0.8 (i.e. 80%)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P(T) = 0.2 (i.e. 20%)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 - Can two players play a Coin Flip game with a Biased coin ? How do they ensure the game is fair ?</a:t>
            </a:r>
            <a:endParaRPr sz="105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638800" y="1428750"/>
            <a:ext cx="3048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8" name="Google Shape;318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38800" y="1428750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0"/>
          <p:cNvGrpSpPr/>
          <p:nvPr/>
        </p:nvGrpSpPr>
        <p:grpSpPr>
          <a:xfrm>
            <a:off x="432950" y="2"/>
            <a:ext cx="9144000" cy="5143500"/>
            <a:chOff x="0" y="0"/>
            <a:chExt cx="9144000" cy="5143500"/>
          </a:xfrm>
        </p:grpSpPr>
        <p:sp>
          <p:nvSpPr>
            <p:cNvPr id="324" name="Google Shape;324;p3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" name="Google Shape;325;p30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326" name="Google Shape;326;p30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8" name="Google Shape;328;p30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" name="Google Shape;329;p30"/>
          <p:cNvSpPr txBox="1"/>
          <p:nvPr/>
        </p:nvSpPr>
        <p:spPr>
          <a:xfrm>
            <a:off x="914400" y="171450"/>
            <a:ext cx="7772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</a:t>
            </a: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Sequential Symmetry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Solving the Biased Coin Problem through Pairwise Probability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457200" y="3276189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Mathematical Proof</a:t>
            </a:r>
            <a:endParaRPr sz="10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457200" y="3514999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609600" y="3488617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0.8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0.6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</a:p>
        </p:txBody>
      </p:sp>
      <p:sp>
        <p:nvSpPr>
          <p:cNvPr id="333" name="Google Shape;333;p30"/>
          <p:cNvSpPr/>
          <p:nvPr/>
        </p:nvSpPr>
        <p:spPr>
          <a:xfrm>
            <a:off x="457200" y="4134124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609600" y="4107742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P(T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0.2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04</a:t>
            </a:r>
          </a:p>
        </p:txBody>
      </p:sp>
      <p:sp>
        <p:nvSpPr>
          <p:cNvPr id="335" name="Google Shape;335;p30"/>
          <p:cNvSpPr txBox="1"/>
          <p:nvPr/>
        </p:nvSpPr>
        <p:spPr>
          <a:xfrm>
            <a:off x="432942" y="1333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Sequential Workflow</a:t>
            </a:r>
            <a:endParaRPr sz="10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172111" y="1571625"/>
            <a:ext cx="1219200" cy="1524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0"/>
          <p:cNvSpPr/>
          <p:nvPr/>
        </p:nvSpPr>
        <p:spPr>
          <a:xfrm>
            <a:off x="1785492" y="2276475"/>
            <a:ext cx="190500" cy="114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84000" y="0"/>
                </a:moveTo>
                <a:lnTo>
                  <a:pt x="120000" y="60000"/>
                </a:lnTo>
                <a:lnTo>
                  <a:pt x="84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4300" cap="flat" cmpd="sng">
            <a:solidFill>
              <a:srgbClr val="004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3987450" y="1571625"/>
            <a:ext cx="1675200" cy="1524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2185542" y="1666875"/>
            <a:ext cx="1066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2. Filter Outcome</a:t>
            </a:r>
            <a:endParaRPr sz="10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If you roll 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HH or TT, 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discard the result and flip again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461892" y="2276475"/>
            <a:ext cx="190500" cy="114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84000" y="0"/>
                </a:moveTo>
                <a:lnTo>
                  <a:pt x="120000" y="60000"/>
                </a:lnTo>
                <a:lnTo>
                  <a:pt x="84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4300" cap="flat" cmpd="sng">
            <a:solidFill>
              <a:srgbClr val="004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455419" y="1571625"/>
            <a:ext cx="1219200" cy="1524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4036338" y="1666875"/>
            <a:ext cx="16263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3. Rule Decision</a:t>
            </a:r>
            <a:endParaRPr sz="10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a fair game: 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 </a:t>
            </a: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 </a:t>
            </a: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Player 1 wins, 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 </a:t>
            </a: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 </a:t>
            </a: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Player 2 wins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4262812" y="3514999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4443858" y="3511504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0.8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16</a:t>
            </a:r>
          </a:p>
        </p:txBody>
      </p:sp>
      <p:sp>
        <p:nvSpPr>
          <p:cNvPr id="345" name="Google Shape;345;p30"/>
          <p:cNvSpPr/>
          <p:nvPr/>
        </p:nvSpPr>
        <p:spPr>
          <a:xfrm>
            <a:off x="4285700" y="4129944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4536367" y="4130629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P(T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0.2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16</a:t>
            </a:r>
          </a:p>
        </p:txBody>
      </p:sp>
      <p:sp>
        <p:nvSpPr>
          <p:cNvPr id="347" name="Google Shape;347;p30"/>
          <p:cNvSpPr txBox="1"/>
          <p:nvPr/>
        </p:nvSpPr>
        <p:spPr>
          <a:xfrm>
            <a:off x="509142" y="1666875"/>
            <a:ext cx="1066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1. Flip the coin twice</a:t>
            </a:r>
            <a:endParaRPr sz="10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Possible outcomes are: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HH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TT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/>
      <p:bldP spid="330" grpId="1"/>
      <p:bldP spid="331" grpId="0" animBg="1"/>
      <p:bldP spid="331" grpId="1" animBg="1"/>
      <p:bldP spid="332" grpId="0"/>
      <p:bldP spid="332" grpId="1"/>
      <p:bldP spid="333" grpId="0" animBg="1"/>
      <p:bldP spid="333" grpId="1" animBg="1"/>
      <p:bldP spid="334" grpId="0"/>
      <p:bldP spid="334" grpId="1"/>
      <p:bldP spid="335" grpId="0"/>
      <p:bldP spid="335" grpId="1"/>
      <p:bldP spid="336" grpId="0" animBg="1"/>
      <p:bldP spid="336" grpId="1" animBg="1"/>
      <p:bldP spid="337" grpId="0" animBg="1"/>
      <p:bldP spid="337" grpId="1" animBg="1"/>
      <p:bldP spid="338" grpId="0" animBg="1"/>
      <p:bldP spid="338" grpId="1" animBg="1"/>
      <p:bldP spid="339" grpId="0"/>
      <p:bldP spid="339" grpId="1"/>
      <p:bldP spid="340" grpId="0" animBg="1"/>
      <p:bldP spid="340" grpId="1" animBg="1"/>
      <p:bldP spid="341" grpId="0" animBg="1"/>
      <p:bldP spid="341" grpId="1" animBg="1"/>
      <p:bldP spid="342" grpId="0"/>
      <p:bldP spid="342" grpId="1"/>
      <p:bldP spid="343" grpId="0" animBg="1"/>
      <p:bldP spid="343" grpId="1" animBg="1"/>
      <p:bldP spid="344" grpId="0"/>
      <p:bldP spid="344" grpId="1"/>
      <p:bldP spid="345" grpId="0" animBg="1"/>
      <p:bldP spid="345" grpId="1" animBg="1"/>
      <p:bldP spid="346" grpId="0"/>
      <p:bldP spid="346" grpId="1"/>
      <p:bldP spid="347" grpId="0"/>
      <p:bldP spid="34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6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265" name="Google Shape;265;p2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26"/>
          <p:cNvSpPr txBox="1"/>
          <p:nvPr/>
        </p:nvSpPr>
        <p:spPr>
          <a:xfrm>
            <a:off x="914400" y="228600"/>
            <a:ext cx="77724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Balancing Security &amp; Flow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The Precision-Recall Dilemma in Detection Algorithms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457200" y="1333500"/>
            <a:ext cx="40005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Competing Forces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Recall (Sensitivity) vs. Precision (Specificity)</a:t>
            </a:r>
            <a:endParaRPr sz="11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Hypersensitive (High Recall):</a:t>
            </a: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Flags every potential threat to eliminate False Negatives. However, it floods the system with False Positives (metal buttons, foil), causing massive passenger bottlenecks.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Loosened (High Precision):</a:t>
            </a: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Reduces false alarms to ensure rapid throughput. However, it increases the rate of False Negatives, raising the critical risk that dangerous items pass undetected.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Optimizing the Threshold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Cost-Benefit ROC Curve Analysis</a:t>
            </a:r>
            <a:endParaRPr sz="11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Data scientists utilize an </a:t>
            </a:r>
            <a:r>
              <a:rPr lang="en-GB" sz="9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ROC or Precision-Recall curve</a:t>
            </a: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to find the mathematically optimal threshold. The decision boundary is determined by weighting the catastrophic security cost of a missed threat against the operational costs of extreme airport delays.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70" name="Google Shape;270;p26"/>
          <p:cNvGrpSpPr/>
          <p:nvPr/>
        </p:nvGrpSpPr>
        <p:grpSpPr>
          <a:xfrm>
            <a:off x="4953000" y="1333500"/>
            <a:ext cx="3733800" cy="3238500"/>
            <a:chOff x="4953000" y="1333500"/>
            <a:chExt cx="3733800" cy="3238500"/>
          </a:xfrm>
        </p:grpSpPr>
        <p:sp>
          <p:nvSpPr>
            <p:cNvPr id="271" name="Google Shape;271;p26"/>
            <p:cNvSpPr/>
            <p:nvPr/>
          </p:nvSpPr>
          <p:spPr>
            <a:xfrm>
              <a:off x="4953000" y="1333500"/>
              <a:ext cx="3733800" cy="3238500"/>
            </a:xfrm>
            <a:prstGeom prst="rect">
              <a:avLst/>
            </a:prstGeom>
            <a:solidFill>
              <a:srgbClr val="F4F5F7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2" name="Google Shape;272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5295900" y="1428750"/>
              <a:ext cx="3048000" cy="3048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280" name="Google Shape;280;p2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" name="Google Shape;282;p27"/>
          <p:cNvSpPr txBox="1"/>
          <p:nvPr/>
        </p:nvSpPr>
        <p:spPr>
          <a:xfrm>
            <a:off x="457200" y="68580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Precision vs. Recall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Understanding the Tradeoff Between Precision and Recall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83" name="Google Shape;283;p27"/>
          <p:cNvGrpSpPr/>
          <p:nvPr/>
        </p:nvGrpSpPr>
        <p:grpSpPr>
          <a:xfrm>
            <a:off x="457200" y="1428750"/>
            <a:ext cx="3657600" cy="2476500"/>
            <a:chOff x="457200" y="1428750"/>
            <a:chExt cx="3657600" cy="2476500"/>
          </a:xfrm>
        </p:grpSpPr>
        <p:sp>
          <p:nvSpPr>
            <p:cNvPr id="284" name="Google Shape;284;p27"/>
            <p:cNvSpPr/>
            <p:nvPr/>
          </p:nvSpPr>
          <p:spPr>
            <a:xfrm>
              <a:off x="457200" y="1428750"/>
              <a:ext cx="3657600" cy="2476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457200" y="1428750"/>
              <a:ext cx="3657600" cy="381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7"/>
            <p:cNvSpPr txBox="1"/>
            <p:nvPr/>
          </p:nvSpPr>
          <p:spPr>
            <a:xfrm>
              <a:off x="685800" y="1657350"/>
              <a:ext cx="3200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>
                  <a:solidFill>
                    <a:srgbClr val="0044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Precision (Quality)</a:t>
              </a:r>
              <a:endParaRPr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Precision measures quality</a:t>
              </a:r>
              <a:endParaRPr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Question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Of all flagged items, how many are actually guilty?</a:t>
              </a:r>
              <a:endParaRPr sz="975" b="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Outcome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High precision means </a:t>
              </a:r>
              <a:r>
                <a:rPr lang="en-GB" sz="975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false alarms</a:t>
              </a: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and short lines.</a:t>
              </a:r>
              <a:endParaRPr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87" name="Google Shape;287;p27"/>
          <p:cNvGrpSpPr/>
          <p:nvPr/>
        </p:nvGrpSpPr>
        <p:grpSpPr>
          <a:xfrm>
            <a:off x="5029200" y="1428750"/>
            <a:ext cx="3657600" cy="2476500"/>
            <a:chOff x="5029200" y="1428750"/>
            <a:chExt cx="3657600" cy="2476500"/>
          </a:xfrm>
        </p:grpSpPr>
        <p:sp>
          <p:nvSpPr>
            <p:cNvPr id="288" name="Google Shape;288;p27"/>
            <p:cNvSpPr/>
            <p:nvPr/>
          </p:nvSpPr>
          <p:spPr>
            <a:xfrm>
              <a:off x="5029200" y="1428750"/>
              <a:ext cx="3657600" cy="2476500"/>
            </a:xfrm>
            <a:prstGeom prst="rect">
              <a:avLst/>
            </a:prstGeom>
            <a:solidFill>
              <a:srgbClr val="F4F5F7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029200" y="1428750"/>
              <a:ext cx="3657600" cy="381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7"/>
            <p:cNvSpPr txBox="1"/>
            <p:nvPr/>
          </p:nvSpPr>
          <p:spPr>
            <a:xfrm>
              <a:off x="5257800" y="1657350"/>
              <a:ext cx="3200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>
                  <a:solidFill>
                    <a:srgbClr val="0044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Recall (Quantity)</a:t>
              </a:r>
              <a:endParaRPr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Recall measures quantity</a:t>
              </a:r>
              <a:endParaRPr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Question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Of all actual threats, how many did we catch?</a:t>
              </a:r>
              <a:endParaRPr sz="975" b="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Outcome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High recall means </a:t>
              </a:r>
              <a:r>
                <a:rPr lang="en-GB" sz="975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threats missed</a:t>
              </a: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but long lines.</a:t>
              </a:r>
              <a:endParaRPr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91" name="Google Shape;291;p27"/>
          <p:cNvGrpSpPr/>
          <p:nvPr/>
        </p:nvGrpSpPr>
        <p:grpSpPr>
          <a:xfrm>
            <a:off x="457200" y="4133850"/>
            <a:ext cx="8229600" cy="533400"/>
            <a:chOff x="0" y="0"/>
            <a:chExt cx="8229600" cy="533400"/>
          </a:xfrm>
        </p:grpSpPr>
        <p:sp>
          <p:nvSpPr>
            <p:cNvPr id="292" name="Google Shape;292;p27"/>
            <p:cNvSpPr/>
            <p:nvPr/>
          </p:nvSpPr>
          <p:spPr>
            <a:xfrm>
              <a:off x="0" y="0"/>
              <a:ext cx="8229600" cy="533400"/>
            </a:xfrm>
            <a:prstGeom prst="rect">
              <a:avLst/>
            </a:prstGeom>
            <a:solidFill>
              <a:srgbClr val="E6F0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0" y="0"/>
              <a:ext cx="38100" cy="533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7"/>
            <p:cNvSpPr txBox="1"/>
            <p:nvPr/>
          </p:nvSpPr>
          <p:spPr>
            <a:xfrm>
              <a:off x="228600" y="9525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>
                  <a:solidFill>
                    <a:srgbClr val="0044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Strategic Tradeoff: </a:t>
              </a:r>
              <a:r>
                <a:rPr lang="en-GB" sz="975" b="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High-stakes scenarios optimize for Recall, while low-stakes optimize for Precision.</a:t>
              </a:r>
              <a:endParaRPr sz="900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4" name="Google Shape;224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" name="Google Shape;225;p23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26" name="Google Shape;226;p23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8" name="Google Shape;228;p23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" name="Google Shape;229;p23"/>
          <p:cNvSpPr txBox="1"/>
          <p:nvPr/>
        </p:nvSpPr>
        <p:spPr>
          <a:xfrm>
            <a:off x="914400" y="228600"/>
            <a:ext cx="7886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Mapping Challenge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831246" y="1638359"/>
            <a:ext cx="7106888" cy="299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15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Design a function that accepts any real number as an input</a:t>
            </a:r>
            <a:endParaRPr sz="1915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32000" y="1286824"/>
            <a:ext cx="7780200" cy="29949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Design a function - f(x) = y with the following specifications: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Input x - any real number [-</a:t>
            </a:r>
            <a:r>
              <a:rPr lang="en-GB" sz="2100"/>
              <a:t>∞, +</a:t>
            </a:r>
            <a:r>
              <a:rPr lang="en-GB" sz="2100">
                <a:solidFill>
                  <a:schemeClr val="dk1"/>
                </a:solidFill>
              </a:rPr>
              <a:t>∞</a:t>
            </a:r>
            <a:r>
              <a:rPr lang="en-GB" sz="1700"/>
              <a:t>]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Output y - has to be in the interval [0, 7]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function must be smooth and monotonic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i.e. as input x increases, the output y also increases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endParaRPr/>
            </a:p>
          </p:txBody>
        </p:sp>
        <p:grpSp>
          <p:nvGrpSpPr>
            <p:cNvPr id="238" name="Google Shape;238;p24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39" name="Google Shape;239;p2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" name="Google Shape;241;p24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24"/>
          <p:cNvSpPr txBox="1"/>
          <p:nvPr/>
        </p:nvSpPr>
        <p:spPr>
          <a:xfrm>
            <a:off x="914400" y="228600"/>
            <a:ext cx="7886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Foundation: Pure Sigmoid Function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360175" y="2483275"/>
            <a:ext cx="3411300" cy="21117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Evaluate the function: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f(-∞) = 0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f(0) = 0.5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f(+</a:t>
            </a:r>
            <a:r>
              <a:rPr lang="en-GB" sz="1700">
                <a:solidFill>
                  <a:schemeClr val="dk1"/>
                </a:solidFill>
              </a:rPr>
              <a:t>∞) = 1</a:t>
            </a:r>
            <a:endParaRPr sz="1700"/>
          </a:p>
        </p:txBody>
      </p:sp>
      <p:pic>
        <p:nvPicPr>
          <p:cNvPr id="244" name="Google Shape;244;p24" descr="f\left(x\right)=\frac{1}{\left(1+e^{-x}\right)}&#10;%26aa5a0c-4933-4ff5-9163-47cc790b8ce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54688" y="1346075"/>
            <a:ext cx="25622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a sigmoid curve with the y axis ranging from 0 to 1"/>
          <p:cNvPicPr preferRelativeResize="0"/>
          <p:nvPr/>
        </p:nvPicPr>
        <p:blipFill rotWithShape="1">
          <a:blip r:embed="rId4"/>
          <a:srcRect t="12542" r="882"/>
          <a:stretch>
            <a:fillRect/>
          </a:stretch>
        </p:blipFill>
        <p:spPr>
          <a:xfrm>
            <a:off x="3964775" y="1364661"/>
            <a:ext cx="4915350" cy="24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0" animBg="1"/>
      <p:bldP spid="242" grpId="1" animBg="1"/>
      <p:bldP spid="243" grpId="0" animBg="1"/>
      <p:bldP spid="24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1" name="Google Shape;251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2" name="Google Shape;252;p25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53" name="Google Shape;253;p25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5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" name="Google Shape;255;p25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25"/>
          <p:cNvSpPr txBox="1"/>
          <p:nvPr/>
        </p:nvSpPr>
        <p:spPr>
          <a:xfrm>
            <a:off x="914400" y="228600"/>
            <a:ext cx="7886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Tweaking the Sigmoid Function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360175" y="2483275"/>
            <a:ext cx="3411300" cy="21117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Evaluate the function: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f(-∞) = 0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f(0) = 3.5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f(+</a:t>
            </a:r>
            <a:r>
              <a:rPr lang="en-GB" sz="1700">
                <a:solidFill>
                  <a:schemeClr val="dk1"/>
                </a:solidFill>
              </a:rPr>
              <a:t>∞) = 7</a:t>
            </a:r>
            <a:endParaRPr sz="1700"/>
          </a:p>
        </p:txBody>
      </p:sp>
      <p:pic>
        <p:nvPicPr>
          <p:cNvPr id="258" name="Google Shape;258;p25" descr="Now give me the exat same sigmoid curve - but the output in the y axis ranging from 0 to 7 instead"/>
          <p:cNvPicPr preferRelativeResize="0"/>
          <p:nvPr/>
        </p:nvPicPr>
        <p:blipFill rotWithShape="1">
          <a:blip r:embed="rId3"/>
          <a:srcRect l="2563" t="14097"/>
          <a:stretch>
            <a:fillRect/>
          </a:stretch>
        </p:blipFill>
        <p:spPr>
          <a:xfrm>
            <a:off x="4114800" y="1346075"/>
            <a:ext cx="4751950" cy="25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f\left(x\right)=\frac{7}{\left(1+e^{-x}\right)}&#10;%eed6fa9b-87e2-4125-93a1-5740047a2cee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1025" y="1394025"/>
            <a:ext cx="25622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15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15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914400" y="2286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Linear Baseline</a:t>
            </a:r>
            <a:endParaRPr sz="240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914400" y="64770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a Linear Classifier work ?</a:t>
            </a:r>
          </a:p>
        </p:txBody>
      </p:sp>
      <p:sp>
        <p:nvSpPr>
          <p:cNvPr id="76" name="Google Shape;76;p15"/>
          <p:cNvSpPr txBox="1"/>
          <p:nvPr/>
        </p:nvSpPr>
        <p:spPr>
          <a:xfrm>
            <a:off x="457200" y="1038860"/>
            <a:ext cx="4381500" cy="363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Take any two points on the line: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(x1, y1) = (7, 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(x2, y2) = (3, 7)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Equation of the line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 - y1 = m (x-x1), </a:t>
            </a: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where m = (y2-y1)/(x2-x1)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 = -x + 10</a:t>
            </a: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 + y - 10 =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Now, plug in a blue point to the equation: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(x, y) = (3,3)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 + 3 - 10 = -4 (Negative Number)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Now plugin a red point: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(x, y) = (7,7)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 + 7 - 10 = +4 (Positive Number)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998085" y="1127125"/>
            <a:ext cx="3688715" cy="3635375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5" descr="A clean 2D scatter plot showing linearly separable data. Blue dots are clustered in the lower-left region and red dots are clustered in the upper-right region, with a clear empty diagonal gap between them suitable for a straight separating line."/>
          <p:cNvPicPr preferRelativeResize="0"/>
          <p:nvPr/>
        </p:nvPicPr>
        <p:blipFill rotWithShape="1">
          <a:blip r:embed="rId3"/>
          <a:srcRect r="-5887" b="-5887"/>
          <a:stretch>
            <a:fillRect/>
          </a:stretch>
        </p:blipFill>
        <p:spPr>
          <a:xfrm>
            <a:off x="5093970" y="1171575"/>
            <a:ext cx="3688080" cy="36861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cxnSp>
        <p:nvCxnSpPr>
          <p:cNvPr id="84" name="Google Shape;84;p15"/>
          <p:cNvCxnSpPr/>
          <p:nvPr/>
        </p:nvCxnSpPr>
        <p:spPr>
          <a:xfrm>
            <a:off x="5947300" y="1992280"/>
            <a:ext cx="2118995" cy="1999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91" name="Google Shape;91;p1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16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914400" y="22860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Linear Constraint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914400" y="647700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Can a straight line separate concentric circular classes?</a:t>
            </a:r>
            <a:endParaRPr sz="1350" b="0" i="0" u="none" strike="noStrike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57200" y="1333500"/>
            <a:ext cx="4381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Scenario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57200" y="1619250"/>
            <a:ext cx="4381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2D classification scenario requires separating Red versus Blue classes, where Red completely surrounds a tight cluster of blue dots in the center.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57200" y="2476500"/>
            <a:ext cx="4381500" cy="952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57200" y="2476500"/>
            <a:ext cx="38100" cy="9525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47700" y="247650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Constraint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machine learning model is purely linear, meaning it can only draw a straight line.</a:t>
            </a:r>
            <a:endParaRPr sz="975" b="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57200" y="3619500"/>
            <a:ext cx="4381500" cy="10479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647700" y="3619500"/>
            <a:ext cx="40005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Puzzle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How can a straight line perfectly separate these two groups? Is it mathematically possible without changing the algorithm to something more complex?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257800" y="1333500"/>
            <a:ext cx="3429000" cy="3429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53050" y="1428750"/>
            <a:ext cx="32385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12" name="Google Shape;112;p1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7"/>
          <p:cNvSpPr txBox="1"/>
          <p:nvPr/>
        </p:nvSpPr>
        <p:spPr>
          <a:xfrm>
            <a:off x="457200" y="6858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Dimensionality Uplift</a:t>
            </a:r>
            <a:endParaRPr sz="240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57200" y="10668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The solution is Dimensionality Uplift</a:t>
            </a:r>
            <a:endParaRPr sz="1350" b="0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57200" y="1381125"/>
            <a:ext cx="3657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Dimensional Mapping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57200" y="1619250"/>
            <a:ext cx="3657600" cy="9144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57200" y="1619250"/>
            <a:ext cx="38100" cy="9144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647700" y="1743075"/>
            <a:ext cx="32766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11111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z = x² + y²</a:t>
            </a:r>
            <a:endParaRPr sz="1800" b="1">
              <a:solidFill>
                <a:srgbClr val="11111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Measures distance from center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57200" y="2686050"/>
            <a:ext cx="36576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adding a third dimension (z) using the simple formula z = x^2 + y^2, we measure the distance from the center.</a:t>
            </a:r>
            <a:endParaRPr sz="97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Blue points remain low, while Red points shoot upward into a 3D bowl shape.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illustrates the core intuition behind Kernel Methods, such as Support Vector Machines (SVMs), and Feature Engineering.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Projecting data into a higher dimension achieves linear separability without increasing model complexity.</a:t>
            </a:r>
            <a:endParaRPr sz="97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181600" y="1371600"/>
            <a:ext cx="3162300" cy="31623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91125" y="1381125"/>
            <a:ext cx="3143400" cy="31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4572000" y="4648200"/>
            <a:ext cx="457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Figure 1: 3D Projection into a Linearly Separable Space</a:t>
            </a:r>
            <a:endParaRPr sz="750" b="0">
              <a:solidFill>
                <a:srgbClr val="5555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1303</Words>
  <Application>Microsoft Office PowerPoint</Application>
  <PresentationFormat>On-screen Show (16:9)</PresentationFormat>
  <Paragraphs>194</Paragraphs>
  <Slides>18</Slides>
  <Notes>18</Notes>
  <HiddenSlides>8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Inter Medium</vt:lpstr>
      <vt:lpstr>Inter</vt:lpstr>
      <vt:lpstr>Courier New</vt:lpstr>
      <vt:lpstr>Inter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Brinda Dorairaj</cp:lastModifiedBy>
  <cp:revision>25</cp:revision>
  <dcterms:created xsi:type="dcterms:W3CDTF">2026-09-07T10:39:02Z</dcterms:created>
  <dcterms:modified xsi:type="dcterms:W3CDTF">2026-09-08T17:18:37Z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F5D210FA2C59F866C05A436AA865834B_42</vt:lpwstr>
  </property>
  <property fmtid="{D5CDD505-2E9C-101B-9397-08002B2CF9AE}" pid="3" name="KSOProductBuildVer">
    <vt:lpwstr>1033-12.1.26015.26015</vt:lpwstr>
  </property>
</Properties>
</file>