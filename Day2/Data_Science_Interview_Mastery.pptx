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60" r:id="rId5"/>
    <p:sldId id="261" r:id="rId6"/>
    <p:sldId id="273" r:id="rId7"/>
    <p:sldId id="262" r:id="rId8"/>
    <p:sldId id="263" r:id="rId9"/>
    <p:sldId id="264" r:id="rId10"/>
    <p:sldId id="270" r:id="rId11"/>
    <p:sldId id="271" r:id="rId12"/>
    <p:sldId id="272" r:id="rId13"/>
    <p:sldId id="268" r:id="rId14"/>
    <p:sldId id="269" r:id="rId15"/>
    <p:sldId id="265" r:id="rId16"/>
    <p:sldId id="266" r:id="rId17"/>
    <p:sldId id="267" r:id="rId18"/>
    <p:sldId id="257" r:id="rId19"/>
    <p:sldId id="258" r:id="rId20"/>
    <p:sldId id="259" r:id="rId21"/>
  </p:sldIdLst>
  <p:sldSz cx="9144000" cy="5143500"/>
  <p:notesSz cx="6858000" cy="9144000"/>
  <p:embeddedFontLst>
    <p:embeddedFont>
      <p:font typeface="Inter" panose="02000503000000020004"/>
      <p:regular r:id="rId25"/>
    </p:embeddedFont>
    <p:embeddedFont>
      <p:font typeface="Inter Medium"/>
      <p:regular r:id="rId26"/>
    </p:embeddedFont>
    <p:embeddedFont>
      <p:font typeface="Inter SemiBold"/>
      <p:regular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06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06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font" Target="fonts/font3.fntdata"/><Relationship Id="rId26" Type="http://schemas.openxmlformats.org/officeDocument/2006/relationships/font" Target="fonts/font2.fntdata"/><Relationship Id="rId25" Type="http://schemas.openxmlformats.org/officeDocument/2006/relationships/font" Target="fonts/font1.fntdata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efd2ec3dad_26_0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efd2ec3dad_26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fd2ec3dad_23_0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efd2ec3dad_23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2ba7bde70_0_2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f2ba7bde70_0_2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2ba7bde70_0_2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f2ba7bde70_0_2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2ba7bde70_0_4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f2ba7bde70_0_4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efd2ec3dad_21_0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efd2ec3dad_21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efd2ec3dad_20_0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efd2ec3dad_2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efd2ec3dad_15_0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efd2ec3dad_15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f2bef54d2b_0_1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f2bef54d2b_0_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efd2ec3dad_14_0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efd2ec3dad_14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efd2ec3dad_17_0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efd2ec3dad_17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efd2ec3dad_16_0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efd2ec3dad_16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efd2ec3dad_19_0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efd2ec3dad_19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f2bef54d2b_0_2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f2bef54d2b_0_2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effb02f4dd_0_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effb02f4dd_0_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fd2ec3dad_0_6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efd2ec3dad_0_6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fd2ec3dad_25_0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efd2ec3dad_25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fd2ec3dad_24_0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fd2ec3dad_24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efd2ec3dad_13_0)">
  <p:cSld name="Generated (g3efd2ec3dad_13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jpeg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56" name="Google Shape;56;p14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57" name="Google Shape;57;p14"/>
            <p:cNvGrpSpPr/>
            <p:nvPr/>
          </p:nvGrpSpPr>
          <p:grpSpPr>
            <a:xfrm>
              <a:off x="457200" y="457200"/>
              <a:ext cx="228600" cy="228600"/>
              <a:chOff x="0" y="0"/>
              <a:chExt cx="228600" cy="228600"/>
            </a:xfrm>
          </p:grpSpPr>
          <p:sp>
            <p:nvSpPr>
              <p:cNvPr id="58" name="Google Shape;58;p14"/>
              <p:cNvSpPr/>
              <p:nvPr/>
            </p:nvSpPr>
            <p:spPr>
              <a:xfrm>
                <a:off x="0" y="0"/>
                <a:ext cx="152400" cy="152400"/>
              </a:xfrm>
              <a:prstGeom prst="rect">
                <a:avLst/>
              </a:prstGeom>
              <a:solidFill>
                <a:srgbClr val="0044C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9" name="Google Shape;59;p14"/>
              <p:cNvSpPr/>
              <p:nvPr/>
            </p:nvSpPr>
            <p:spPr>
              <a:xfrm>
                <a:off x="76200" y="76200"/>
                <a:ext cx="152400" cy="152400"/>
              </a:xfrm>
              <a:prstGeom prst="rect">
                <a:avLst/>
              </a:prstGeom>
              <a:solidFill>
                <a:srgbClr val="111111">
                  <a:alpha val="8999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60" name="Google Shape;60;p14"/>
            <p:cNvSpPr/>
            <p:nvPr/>
          </p:nvSpPr>
          <p:spPr>
            <a:xfrm>
              <a:off x="457200" y="2286000"/>
              <a:ext cx="609600" cy="38100"/>
            </a:xfrm>
            <a:prstGeom prst="rect">
              <a:avLst/>
            </a:prstGeom>
            <a:solidFill>
              <a:srgbClr val="0044C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61" name="Google Shape;61;p14"/>
          <p:cNvGrpSpPr/>
          <p:nvPr/>
        </p:nvGrpSpPr>
        <p:grpSpPr>
          <a:xfrm>
            <a:off x="457200" y="2514600"/>
            <a:ext cx="8229600" cy="1905000"/>
            <a:chOff x="457200" y="2514600"/>
            <a:chExt cx="8229600" cy="1905000"/>
          </a:xfrm>
        </p:grpSpPr>
        <p:sp>
          <p:nvSpPr>
            <p:cNvPr id="62" name="Google Shape;62;p14"/>
            <p:cNvSpPr txBox="1"/>
            <p:nvPr/>
          </p:nvSpPr>
          <p:spPr>
            <a:xfrm>
              <a:off x="457200" y="2514600"/>
              <a:ext cx="82296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 b="1">
                  <a:solidFill>
                    <a:srgbClr val="111111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Data Science Interview Mastery</a:t>
              </a:r>
              <a:endParaRPr sz="2400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</p:txBody>
        </p:sp>
        <p:sp>
          <p:nvSpPr>
            <p:cNvPr id="63" name="Google Shape;63;p14"/>
            <p:cNvSpPr txBox="1"/>
            <p:nvPr/>
          </p:nvSpPr>
          <p:spPr>
            <a:xfrm>
              <a:off x="457200" y="3657600"/>
              <a:ext cx="82296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50" b="0">
                  <a:solidFill>
                    <a:srgbClr val="0044CC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Interactive Logic &amp; Intuition Puzzles for Undergraduate Students</a:t>
              </a:r>
              <a:endParaRPr sz="1350" b="0">
                <a:solidFill>
                  <a:srgbClr val="0044CC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18"/>
          <p:cNvGrpSpPr/>
          <p:nvPr/>
        </p:nvGrpSpPr>
        <p:grpSpPr>
          <a:xfrm>
            <a:off x="457200" y="304800"/>
            <a:ext cx="228600" cy="228600"/>
            <a:chOff x="0" y="0"/>
            <a:chExt cx="228600" cy="228600"/>
          </a:xfrm>
        </p:grpSpPr>
        <p:sp>
          <p:nvSpPr>
            <p:cNvPr id="129" name="Google Shape;129;p18"/>
            <p:cNvSpPr/>
            <p:nvPr/>
          </p:nvSpPr>
          <p:spPr>
            <a:xfrm>
              <a:off x="0" y="0"/>
              <a:ext cx="152400" cy="152400"/>
            </a:xfrm>
            <a:prstGeom prst="rect">
              <a:avLst/>
            </a:prstGeom>
            <a:solidFill>
              <a:srgbClr val="0044C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" name="Google Shape;130;p18"/>
            <p:cNvSpPr/>
            <p:nvPr/>
          </p:nvSpPr>
          <p:spPr>
            <a:xfrm>
              <a:off x="76200" y="76200"/>
              <a:ext cx="152400" cy="152400"/>
            </a:xfrm>
            <a:prstGeom prst="rect">
              <a:avLst/>
            </a:prstGeom>
            <a:solidFill>
              <a:srgbClr val="111111">
                <a:alpha val="89999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31" name="Google Shape;131;p18"/>
          <p:cNvSpPr/>
          <p:nvPr/>
        </p:nvSpPr>
        <p:spPr>
          <a:xfrm>
            <a:off x="457200" y="1047750"/>
            <a:ext cx="8229600" cy="96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2" name="Google Shape;132;p18"/>
          <p:cNvSpPr txBox="1"/>
          <p:nvPr/>
        </p:nvSpPr>
        <p:spPr>
          <a:xfrm>
            <a:off x="914400" y="228600"/>
            <a:ext cx="7772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Which Surgeon has a superior success rate ?</a:t>
            </a:r>
            <a:endParaRPr sz="2400" b="1" i="0" u="none" strike="noStrike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457200" y="2396490"/>
            <a:ext cx="1905000" cy="1143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4" name="Google Shape;134;p18"/>
          <p:cNvSpPr txBox="1"/>
          <p:nvPr/>
        </p:nvSpPr>
        <p:spPr>
          <a:xfrm>
            <a:off x="609600" y="2548890"/>
            <a:ext cx="16002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25" b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DR. A SUCCESS</a:t>
            </a:r>
            <a:endParaRPr sz="825" b="0">
              <a:solidFill>
                <a:srgbClr val="11111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700">
                <a:solidFill>
                  <a:srgbClr val="0044C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79%</a:t>
            </a:r>
            <a:endParaRPr sz="2700">
              <a:solidFill>
                <a:srgbClr val="0044CC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150"/>
              </a:spcBef>
              <a:spcAft>
                <a:spcPts val="0"/>
              </a:spcAft>
              <a:buNone/>
            </a:pPr>
            <a:r>
              <a:rPr lang="en-GB" sz="82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7</a:t>
            </a:r>
            <a:r>
              <a:rPr lang="en-GB" sz="8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9</a:t>
            </a:r>
            <a:r>
              <a:rPr lang="en-GB" sz="82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/ 100 Patients</a:t>
            </a:r>
            <a:endParaRPr sz="825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4667250" y="2396490"/>
            <a:ext cx="1905000" cy="1143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6" name="Google Shape;136;p18"/>
          <p:cNvSpPr txBox="1"/>
          <p:nvPr/>
        </p:nvSpPr>
        <p:spPr>
          <a:xfrm>
            <a:off x="4819650" y="2548890"/>
            <a:ext cx="16002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25" b="0">
                <a:solidFill>
                  <a:srgbClr val="0044C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DR. B SUCCESS</a:t>
            </a:r>
            <a:endParaRPr sz="825" b="0">
              <a:solidFill>
                <a:srgbClr val="0044CC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0044C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84%</a:t>
            </a:r>
            <a:endParaRPr sz="3000" b="1">
              <a:solidFill>
                <a:srgbClr val="0044CC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150"/>
              </a:spcBef>
              <a:spcAft>
                <a:spcPts val="0"/>
              </a:spcAft>
              <a:buNone/>
            </a:pPr>
            <a:r>
              <a:rPr lang="en-GB" sz="82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8</a:t>
            </a:r>
            <a:r>
              <a:rPr lang="en-GB" sz="8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4</a:t>
            </a:r>
            <a:r>
              <a:rPr lang="en-GB" sz="82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/ 100 Patients</a:t>
            </a:r>
            <a:endParaRPr sz="825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139" name="Google Shape;139;p18" descr="&quot;Male doctor smiling, portrait, close-up&quot; (Provided by Getty Images)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4667250" y="1091625"/>
            <a:ext cx="1904998" cy="1270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8" descr="Portrait of a female Doctor (Provided by Getty Images)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457200" y="1062510"/>
            <a:ext cx="1904998" cy="1269699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/>
          <p:nvPr/>
        </p:nvSpPr>
        <p:spPr>
          <a:xfrm>
            <a:off x="1558303" y="2400300"/>
            <a:ext cx="2510700" cy="1143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2" name="Google Shape;142;p18"/>
          <p:cNvSpPr txBox="1"/>
          <p:nvPr/>
        </p:nvSpPr>
        <p:spPr>
          <a:xfrm>
            <a:off x="1516375" y="2548875"/>
            <a:ext cx="242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25" b="1">
              <a:solidFill>
                <a:schemeClr val="accent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425" b="1">
              <a:solidFill>
                <a:schemeClr val="accent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endParaRPr sz="1425" b="1">
              <a:solidFill>
                <a:schemeClr val="accent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5806450" y="2396500"/>
            <a:ext cx="2720400" cy="1143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4" name="Google Shape;144;p18"/>
          <p:cNvSpPr txBox="1"/>
          <p:nvPr/>
        </p:nvSpPr>
        <p:spPr>
          <a:xfrm>
            <a:off x="5806450" y="2548900"/>
            <a:ext cx="26517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25" b="1">
              <a:solidFill>
                <a:schemeClr val="accent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4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endParaRPr sz="1425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endParaRPr sz="1425" b="1">
              <a:solidFill>
                <a:schemeClr val="accent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p19"/>
          <p:cNvGrpSpPr/>
          <p:nvPr/>
        </p:nvGrpSpPr>
        <p:grpSpPr>
          <a:xfrm>
            <a:off x="457200" y="304800"/>
            <a:ext cx="228600" cy="228600"/>
            <a:chOff x="0" y="0"/>
            <a:chExt cx="228600" cy="228600"/>
          </a:xfrm>
        </p:grpSpPr>
        <p:sp>
          <p:nvSpPr>
            <p:cNvPr id="150" name="Google Shape;150;p19"/>
            <p:cNvSpPr/>
            <p:nvPr/>
          </p:nvSpPr>
          <p:spPr>
            <a:xfrm>
              <a:off x="0" y="0"/>
              <a:ext cx="152400" cy="152400"/>
            </a:xfrm>
            <a:prstGeom prst="rect">
              <a:avLst/>
            </a:prstGeom>
            <a:solidFill>
              <a:srgbClr val="0044C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" name="Google Shape;151;p19"/>
            <p:cNvSpPr/>
            <p:nvPr/>
          </p:nvSpPr>
          <p:spPr>
            <a:xfrm>
              <a:off x="76200" y="76200"/>
              <a:ext cx="152400" cy="152400"/>
            </a:xfrm>
            <a:prstGeom prst="rect">
              <a:avLst/>
            </a:prstGeom>
            <a:solidFill>
              <a:srgbClr val="111111">
                <a:alpha val="89999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52" name="Google Shape;152;p19"/>
          <p:cNvSpPr/>
          <p:nvPr/>
        </p:nvSpPr>
        <p:spPr>
          <a:xfrm>
            <a:off x="457200" y="1047750"/>
            <a:ext cx="8229600" cy="96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3" name="Google Shape;153;p19"/>
          <p:cNvSpPr txBox="1"/>
          <p:nvPr/>
        </p:nvSpPr>
        <p:spPr>
          <a:xfrm>
            <a:off x="914400" y="228600"/>
            <a:ext cx="7772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Which Doctor has a superior success rate ?</a:t>
            </a:r>
            <a:endParaRPr sz="2400" b="1" i="0" u="none" strike="noStrike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457200" y="2396490"/>
            <a:ext cx="1905000" cy="1143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5" name="Google Shape;155;p19"/>
          <p:cNvSpPr txBox="1"/>
          <p:nvPr/>
        </p:nvSpPr>
        <p:spPr>
          <a:xfrm>
            <a:off x="609600" y="2548890"/>
            <a:ext cx="16002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25" b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DR. A SUCCESS</a:t>
            </a:r>
            <a:endParaRPr sz="825" b="0">
              <a:solidFill>
                <a:srgbClr val="11111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l" rtl="0">
              <a:spcBef>
                <a:spcPts val="150"/>
              </a:spcBef>
              <a:spcAft>
                <a:spcPts val="0"/>
              </a:spcAft>
              <a:buNone/>
            </a:pPr>
            <a:endParaRPr sz="825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4667250" y="2396490"/>
            <a:ext cx="1905000" cy="1143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7" name="Google Shape;157;p19"/>
          <p:cNvSpPr txBox="1"/>
          <p:nvPr/>
        </p:nvSpPr>
        <p:spPr>
          <a:xfrm>
            <a:off x="4819650" y="2548890"/>
            <a:ext cx="16002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25" b="0">
                <a:solidFill>
                  <a:srgbClr val="0044C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DR. B SUCCESS</a:t>
            </a:r>
            <a:endParaRPr sz="825" b="0">
              <a:solidFill>
                <a:srgbClr val="0044CC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l" rtl="0">
              <a:spcBef>
                <a:spcPts val="150"/>
              </a:spcBef>
              <a:spcAft>
                <a:spcPts val="0"/>
              </a:spcAft>
              <a:buNone/>
            </a:pPr>
            <a:endParaRPr sz="825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160" name="Google Shape;160;p19" descr="&quot;Male doctor smiling, portrait, close-up&quot; (Provided by Getty Images)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4667250" y="1091625"/>
            <a:ext cx="1904998" cy="1270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9" descr="Portrait of a female Doctor (Provided by Getty Images)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457200" y="1062510"/>
            <a:ext cx="1904998" cy="126969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/>
          <p:nvPr/>
        </p:nvSpPr>
        <p:spPr>
          <a:xfrm>
            <a:off x="1558303" y="2400300"/>
            <a:ext cx="2510700" cy="1143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3" name="Google Shape;163;p19"/>
          <p:cNvSpPr txBox="1"/>
          <p:nvPr/>
        </p:nvSpPr>
        <p:spPr>
          <a:xfrm>
            <a:off x="1516375" y="2548875"/>
            <a:ext cx="242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Severe Cases: </a:t>
            </a:r>
            <a:r>
              <a:rPr lang="en-GB" sz="1425" b="1">
                <a:solidFill>
                  <a:srgbClr val="0000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76%</a:t>
            </a:r>
            <a:r>
              <a:rPr lang="en-GB" sz="1425" b="1">
                <a:solidFill>
                  <a:schemeClr val="accent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endParaRPr sz="1425" b="1">
              <a:solidFill>
                <a:schemeClr val="accent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425" b="1">
              <a:solidFill>
                <a:schemeClr val="accent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GB" sz="14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Easy Cases: </a:t>
            </a:r>
            <a:r>
              <a:rPr lang="en-GB" sz="1425" b="1">
                <a:solidFill>
                  <a:srgbClr val="0000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90%    </a:t>
            </a:r>
            <a:endParaRPr sz="1425" b="1">
              <a:solidFill>
                <a:schemeClr val="accent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5806450" y="2396500"/>
            <a:ext cx="2720400" cy="1143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5" name="Google Shape;165;p19"/>
          <p:cNvSpPr txBox="1"/>
          <p:nvPr/>
        </p:nvSpPr>
        <p:spPr>
          <a:xfrm>
            <a:off x="5806450" y="2548900"/>
            <a:ext cx="26517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Severe Cases: </a:t>
            </a:r>
            <a:r>
              <a:rPr lang="en-GB" sz="1425" b="1">
                <a:solidFill>
                  <a:srgbClr val="0000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75% </a:t>
            </a:r>
            <a:endParaRPr sz="1425" b="1">
              <a:solidFill>
                <a:schemeClr val="accent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4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endParaRPr sz="1425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GB" sz="14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Easy Cases: </a:t>
            </a:r>
            <a:r>
              <a:rPr lang="en-GB" sz="1425" b="1">
                <a:solidFill>
                  <a:srgbClr val="0000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86% </a:t>
            </a:r>
            <a:endParaRPr sz="1425" b="1">
              <a:solidFill>
                <a:schemeClr val="accent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p19"/>
          <p:cNvGrpSpPr/>
          <p:nvPr/>
        </p:nvGrpSpPr>
        <p:grpSpPr>
          <a:xfrm>
            <a:off x="457200" y="304800"/>
            <a:ext cx="228600" cy="228600"/>
            <a:chOff x="0" y="0"/>
            <a:chExt cx="228600" cy="228600"/>
          </a:xfrm>
        </p:grpSpPr>
        <p:sp>
          <p:nvSpPr>
            <p:cNvPr id="150" name="Google Shape;150;p19"/>
            <p:cNvSpPr/>
            <p:nvPr/>
          </p:nvSpPr>
          <p:spPr>
            <a:xfrm>
              <a:off x="0" y="0"/>
              <a:ext cx="152400" cy="152400"/>
            </a:xfrm>
            <a:prstGeom prst="rect">
              <a:avLst/>
            </a:prstGeom>
            <a:solidFill>
              <a:srgbClr val="0044C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" name="Google Shape;151;p19"/>
            <p:cNvSpPr/>
            <p:nvPr/>
          </p:nvSpPr>
          <p:spPr>
            <a:xfrm>
              <a:off x="76200" y="76200"/>
              <a:ext cx="152400" cy="152400"/>
            </a:xfrm>
            <a:prstGeom prst="rect">
              <a:avLst/>
            </a:prstGeom>
            <a:solidFill>
              <a:srgbClr val="111111">
                <a:alpha val="89999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52" name="Google Shape;152;p19"/>
          <p:cNvSpPr/>
          <p:nvPr/>
        </p:nvSpPr>
        <p:spPr>
          <a:xfrm>
            <a:off x="457200" y="1047750"/>
            <a:ext cx="8229600" cy="96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3" name="Google Shape;153;p19"/>
          <p:cNvSpPr txBox="1"/>
          <p:nvPr/>
        </p:nvSpPr>
        <p:spPr>
          <a:xfrm>
            <a:off x="914400" y="228600"/>
            <a:ext cx="7772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Which Doctor has a superior success rate ?</a:t>
            </a:r>
            <a:endParaRPr sz="2400" b="1" i="0" u="none" strike="noStrike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457200" y="2396490"/>
            <a:ext cx="1905000" cy="1143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5" name="Google Shape;155;p19"/>
          <p:cNvSpPr txBox="1"/>
          <p:nvPr/>
        </p:nvSpPr>
        <p:spPr>
          <a:xfrm>
            <a:off x="609600" y="2548890"/>
            <a:ext cx="16002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25" b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DR. A SUCCESS</a:t>
            </a:r>
            <a:endParaRPr sz="825" b="0">
              <a:solidFill>
                <a:srgbClr val="11111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700">
                <a:solidFill>
                  <a:srgbClr val="0044C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79%</a:t>
            </a:r>
            <a:endParaRPr sz="2700">
              <a:solidFill>
                <a:srgbClr val="0044CC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150"/>
              </a:spcBef>
              <a:spcAft>
                <a:spcPts val="0"/>
              </a:spcAft>
              <a:buNone/>
            </a:pPr>
            <a:r>
              <a:rPr lang="en-GB" sz="82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7</a:t>
            </a:r>
            <a:r>
              <a:rPr lang="en-GB" sz="8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9</a:t>
            </a:r>
            <a:r>
              <a:rPr lang="en-GB" sz="82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/ 100 Patients</a:t>
            </a:r>
            <a:endParaRPr sz="825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4667250" y="2396490"/>
            <a:ext cx="1905000" cy="1143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7" name="Google Shape;157;p19"/>
          <p:cNvSpPr txBox="1"/>
          <p:nvPr/>
        </p:nvSpPr>
        <p:spPr>
          <a:xfrm>
            <a:off x="4819650" y="2548890"/>
            <a:ext cx="16002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25" b="0">
                <a:solidFill>
                  <a:srgbClr val="0044C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DR. B SUCCESS</a:t>
            </a:r>
            <a:endParaRPr sz="825" b="0">
              <a:solidFill>
                <a:srgbClr val="0044CC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0044C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84%</a:t>
            </a:r>
            <a:endParaRPr sz="3000" b="1">
              <a:solidFill>
                <a:srgbClr val="0044CC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150"/>
              </a:spcBef>
              <a:spcAft>
                <a:spcPts val="0"/>
              </a:spcAft>
              <a:buNone/>
            </a:pPr>
            <a:r>
              <a:rPr lang="en-GB" sz="82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8</a:t>
            </a:r>
            <a:r>
              <a:rPr lang="en-GB" sz="8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4</a:t>
            </a:r>
            <a:r>
              <a:rPr lang="en-GB" sz="82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/ 100 Patients</a:t>
            </a:r>
            <a:endParaRPr sz="825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457200" y="4095750"/>
            <a:ext cx="8229600" cy="571500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I</a:t>
            </a:r>
            <a:r>
              <a:rPr lang="en-GB"/>
              <a:t>s this even possible ?</a:t>
            </a:r>
            <a:endParaRPr lang="en-GB"/>
          </a:p>
        </p:txBody>
      </p:sp>
      <p:sp>
        <p:nvSpPr>
          <p:cNvPr id="159" name="Google Shape;159;p19"/>
          <p:cNvSpPr/>
          <p:nvPr/>
        </p:nvSpPr>
        <p:spPr>
          <a:xfrm>
            <a:off x="457200" y="4095750"/>
            <a:ext cx="38100" cy="571500"/>
          </a:xfrm>
          <a:prstGeom prst="rect">
            <a:avLst/>
          </a:prstGeom>
          <a:solidFill>
            <a:srgbClr val="0044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60" name="Google Shape;160;p19" descr="&quot;Male doctor smiling, portrait, close-up&quot; (Provided by Getty Images)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4667250" y="1091625"/>
            <a:ext cx="1904998" cy="1270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9" descr="Portrait of a female Doctor (Provided by Getty Images)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457200" y="1062510"/>
            <a:ext cx="1904998" cy="126969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/>
          <p:nvPr/>
        </p:nvSpPr>
        <p:spPr>
          <a:xfrm>
            <a:off x="1558303" y="2400300"/>
            <a:ext cx="2510700" cy="1143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3" name="Google Shape;163;p19"/>
          <p:cNvSpPr txBox="1"/>
          <p:nvPr/>
        </p:nvSpPr>
        <p:spPr>
          <a:xfrm>
            <a:off x="1516375" y="2548875"/>
            <a:ext cx="242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Severe Cases: </a:t>
            </a:r>
            <a:r>
              <a:rPr lang="en-GB" sz="1425" b="1">
                <a:solidFill>
                  <a:srgbClr val="0000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76%</a:t>
            </a:r>
            <a:r>
              <a:rPr lang="en-GB" sz="1425" b="1">
                <a:solidFill>
                  <a:schemeClr val="accent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endParaRPr sz="1425" b="1">
              <a:solidFill>
                <a:schemeClr val="accent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425" b="1">
              <a:solidFill>
                <a:schemeClr val="accent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GB" sz="14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Easy Cases: </a:t>
            </a:r>
            <a:r>
              <a:rPr lang="en-GB" sz="1425" b="1">
                <a:solidFill>
                  <a:srgbClr val="0000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90%    </a:t>
            </a:r>
            <a:endParaRPr sz="1425" b="1">
              <a:solidFill>
                <a:schemeClr val="accent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5806450" y="2396500"/>
            <a:ext cx="2720400" cy="1143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5" name="Google Shape;165;p19"/>
          <p:cNvSpPr txBox="1"/>
          <p:nvPr/>
        </p:nvSpPr>
        <p:spPr>
          <a:xfrm>
            <a:off x="5806450" y="2548900"/>
            <a:ext cx="26517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Severe Cases: </a:t>
            </a:r>
            <a:r>
              <a:rPr lang="en-GB" sz="1425" b="1">
                <a:solidFill>
                  <a:srgbClr val="0000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75% </a:t>
            </a:r>
            <a:endParaRPr sz="1425" b="1">
              <a:solidFill>
                <a:schemeClr val="accent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4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endParaRPr sz="1425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GB" sz="14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Easy Cases: </a:t>
            </a:r>
            <a:r>
              <a:rPr lang="en-GB" sz="1425" b="1">
                <a:solidFill>
                  <a:srgbClr val="0000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86% </a:t>
            </a:r>
            <a:endParaRPr sz="1425" b="1">
              <a:solidFill>
                <a:schemeClr val="accent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" grpId="0" animBg="1"/>
      <p:bldP spid="158" grpId="0" animBg="1"/>
      <p:bldP spid="159" grpId="1" animBg="1"/>
      <p:bldP spid="158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20"/>
          <p:cNvGrpSpPr/>
          <p:nvPr/>
        </p:nvGrpSpPr>
        <p:grpSpPr>
          <a:xfrm>
            <a:off x="457200" y="304800"/>
            <a:ext cx="228600" cy="228600"/>
            <a:chOff x="0" y="0"/>
            <a:chExt cx="228600" cy="228600"/>
          </a:xfrm>
        </p:grpSpPr>
        <p:sp>
          <p:nvSpPr>
            <p:cNvPr id="171" name="Google Shape;171;p20"/>
            <p:cNvSpPr/>
            <p:nvPr/>
          </p:nvSpPr>
          <p:spPr>
            <a:xfrm>
              <a:off x="0" y="0"/>
              <a:ext cx="152400" cy="152400"/>
            </a:xfrm>
            <a:prstGeom prst="rect">
              <a:avLst/>
            </a:prstGeom>
            <a:solidFill>
              <a:srgbClr val="0044C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2" name="Google Shape;172;p20"/>
            <p:cNvSpPr/>
            <p:nvPr/>
          </p:nvSpPr>
          <p:spPr>
            <a:xfrm>
              <a:off x="76200" y="76200"/>
              <a:ext cx="152400" cy="152400"/>
            </a:xfrm>
            <a:prstGeom prst="rect">
              <a:avLst/>
            </a:prstGeom>
            <a:solidFill>
              <a:srgbClr val="111111">
                <a:alpha val="89999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73" name="Google Shape;173;p20"/>
          <p:cNvSpPr/>
          <p:nvPr/>
        </p:nvSpPr>
        <p:spPr>
          <a:xfrm>
            <a:off x="457200" y="1047750"/>
            <a:ext cx="8229600" cy="96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4" name="Google Shape;174;p20"/>
          <p:cNvSpPr txBox="1"/>
          <p:nvPr/>
        </p:nvSpPr>
        <p:spPr>
          <a:xfrm>
            <a:off x="914400" y="228600"/>
            <a:ext cx="7772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Which Doctor has a superior success rate ?</a:t>
            </a:r>
            <a:endParaRPr sz="2400" b="1" i="0" u="none" strike="noStrike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457200" y="2396490"/>
            <a:ext cx="1905000" cy="1143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6" name="Google Shape;176;p20"/>
          <p:cNvSpPr txBox="1"/>
          <p:nvPr/>
        </p:nvSpPr>
        <p:spPr>
          <a:xfrm>
            <a:off x="609600" y="2548890"/>
            <a:ext cx="16002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25" b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DR. A SUCCESS</a:t>
            </a:r>
            <a:endParaRPr sz="825" b="0">
              <a:solidFill>
                <a:srgbClr val="11111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700">
                <a:solidFill>
                  <a:srgbClr val="0044C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79%</a:t>
            </a:r>
            <a:endParaRPr sz="2700">
              <a:solidFill>
                <a:srgbClr val="0044CC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150"/>
              </a:spcBef>
              <a:spcAft>
                <a:spcPts val="0"/>
              </a:spcAft>
              <a:buNone/>
            </a:pPr>
            <a:r>
              <a:rPr lang="en-GB" sz="82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7</a:t>
            </a:r>
            <a:r>
              <a:rPr lang="en-GB" sz="8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9</a:t>
            </a:r>
            <a:r>
              <a:rPr lang="en-GB" sz="82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/ 100 Patients</a:t>
            </a:r>
            <a:endParaRPr sz="825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4667250" y="2396490"/>
            <a:ext cx="1905000" cy="1143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8" name="Google Shape;178;p20"/>
          <p:cNvSpPr txBox="1"/>
          <p:nvPr/>
        </p:nvSpPr>
        <p:spPr>
          <a:xfrm>
            <a:off x="4819650" y="2548890"/>
            <a:ext cx="16002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25" b="0">
                <a:solidFill>
                  <a:srgbClr val="0044C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DR. B SUCCESS</a:t>
            </a:r>
            <a:endParaRPr sz="825" b="0">
              <a:solidFill>
                <a:srgbClr val="0044CC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0044C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84%</a:t>
            </a:r>
            <a:endParaRPr sz="3000" b="1">
              <a:solidFill>
                <a:srgbClr val="0044CC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150"/>
              </a:spcBef>
              <a:spcAft>
                <a:spcPts val="0"/>
              </a:spcAft>
              <a:buNone/>
            </a:pPr>
            <a:r>
              <a:rPr lang="en-GB" sz="82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8</a:t>
            </a:r>
            <a:r>
              <a:rPr lang="en-GB" sz="8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4</a:t>
            </a:r>
            <a:r>
              <a:rPr lang="en-GB" sz="82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/ 100 Patients</a:t>
            </a:r>
            <a:endParaRPr sz="825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457200" y="4095750"/>
            <a:ext cx="8229600" cy="571500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  Can you expain why this happens ? and what this phenomenon is called ?</a:t>
            </a:r>
            <a:endParaRPr lang="en-GB"/>
          </a:p>
        </p:txBody>
      </p:sp>
      <p:sp>
        <p:nvSpPr>
          <p:cNvPr id="180" name="Google Shape;180;p20"/>
          <p:cNvSpPr/>
          <p:nvPr/>
        </p:nvSpPr>
        <p:spPr>
          <a:xfrm>
            <a:off x="457200" y="4095750"/>
            <a:ext cx="38100" cy="571500"/>
          </a:xfrm>
          <a:prstGeom prst="rect">
            <a:avLst/>
          </a:prstGeom>
          <a:solidFill>
            <a:srgbClr val="0044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81" name="Google Shape;181;p20" descr="&quot;Male doctor smiling, portrait, close-up&quot; (Provided by Getty Images)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4667250" y="1091625"/>
            <a:ext cx="1904998" cy="1270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 descr="Portrait of a female Doctor (Provided by Getty Images)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457200" y="1062510"/>
            <a:ext cx="1904998" cy="1269699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/>
          <p:nvPr/>
        </p:nvSpPr>
        <p:spPr>
          <a:xfrm>
            <a:off x="1558303" y="2400300"/>
            <a:ext cx="2510700" cy="1143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4" name="Google Shape;184;p20"/>
          <p:cNvSpPr txBox="1"/>
          <p:nvPr/>
        </p:nvSpPr>
        <p:spPr>
          <a:xfrm>
            <a:off x="1516375" y="2548875"/>
            <a:ext cx="242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Severe Cases: </a:t>
            </a:r>
            <a:r>
              <a:rPr lang="en-GB" sz="1425" b="1">
                <a:solidFill>
                  <a:srgbClr val="0000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76%</a:t>
            </a:r>
            <a:r>
              <a:rPr lang="en-GB" sz="1425" b="1">
                <a:solidFill>
                  <a:schemeClr val="accent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(61/80)</a:t>
            </a:r>
            <a:endParaRPr sz="1425" b="1">
              <a:solidFill>
                <a:schemeClr val="accent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425" b="1">
              <a:solidFill>
                <a:schemeClr val="accent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GB" sz="14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Easy Cases: </a:t>
            </a:r>
            <a:r>
              <a:rPr lang="en-GB" sz="1425" b="1">
                <a:solidFill>
                  <a:srgbClr val="0000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90%    </a:t>
            </a:r>
            <a:r>
              <a:rPr lang="en-GB" sz="1425" b="1">
                <a:solidFill>
                  <a:schemeClr val="accent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(18/20)</a:t>
            </a:r>
            <a:endParaRPr sz="1425" b="1">
              <a:solidFill>
                <a:schemeClr val="accent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5806450" y="2396500"/>
            <a:ext cx="2720400" cy="1143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6" name="Google Shape;186;p20"/>
          <p:cNvSpPr txBox="1"/>
          <p:nvPr/>
        </p:nvSpPr>
        <p:spPr>
          <a:xfrm>
            <a:off x="5806450" y="2548900"/>
            <a:ext cx="26517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Severe Cases: </a:t>
            </a:r>
            <a:r>
              <a:rPr lang="en-GB" sz="1425" b="1">
                <a:solidFill>
                  <a:srgbClr val="0000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75% </a:t>
            </a:r>
            <a:r>
              <a:rPr lang="en-GB" sz="1425" b="1">
                <a:solidFill>
                  <a:schemeClr val="accent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(15/20) </a:t>
            </a:r>
            <a:endParaRPr sz="1425" b="1">
              <a:solidFill>
                <a:schemeClr val="accent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4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endParaRPr sz="1425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GB" sz="14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Easy Cases: </a:t>
            </a:r>
            <a:r>
              <a:rPr lang="en-GB" sz="1425" b="1">
                <a:solidFill>
                  <a:srgbClr val="0000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86% </a:t>
            </a:r>
            <a:r>
              <a:rPr lang="en-GB" sz="1425" b="1">
                <a:solidFill>
                  <a:schemeClr val="accent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(69/80)</a:t>
            </a:r>
            <a:endParaRPr sz="1425" b="1">
              <a:solidFill>
                <a:schemeClr val="accent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" grpId="0" animBg="1"/>
      <p:bldP spid="179" grpId="0" animBg="1"/>
      <p:bldP spid="180" grpId="1" animBg="1"/>
      <p:bldP spid="179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92" name="Google Shape;192;p21"/>
          <p:cNvGrpSpPr/>
          <p:nvPr/>
        </p:nvGrpSpPr>
        <p:grpSpPr>
          <a:xfrm>
            <a:off x="457200" y="304800"/>
            <a:ext cx="228600" cy="228600"/>
            <a:chOff x="0" y="0"/>
            <a:chExt cx="228600" cy="228600"/>
          </a:xfrm>
        </p:grpSpPr>
        <p:sp>
          <p:nvSpPr>
            <p:cNvPr id="193" name="Google Shape;193;p21"/>
            <p:cNvSpPr/>
            <p:nvPr/>
          </p:nvSpPr>
          <p:spPr>
            <a:xfrm>
              <a:off x="0" y="0"/>
              <a:ext cx="152400" cy="152400"/>
            </a:xfrm>
            <a:prstGeom prst="rect">
              <a:avLst/>
            </a:prstGeom>
            <a:solidFill>
              <a:srgbClr val="0044C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" name="Google Shape;194;p21"/>
            <p:cNvSpPr/>
            <p:nvPr/>
          </p:nvSpPr>
          <p:spPr>
            <a:xfrm>
              <a:off x="76200" y="76200"/>
              <a:ext cx="152400" cy="152400"/>
            </a:xfrm>
            <a:prstGeom prst="rect">
              <a:avLst/>
            </a:prstGeom>
            <a:solidFill>
              <a:srgbClr val="111111">
                <a:alpha val="89999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95" name="Google Shape;195;p21"/>
          <p:cNvSpPr/>
          <p:nvPr/>
        </p:nvSpPr>
        <p:spPr>
          <a:xfrm>
            <a:off x="457200" y="1047750"/>
            <a:ext cx="8229600" cy="96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6" name="Google Shape;196;p21"/>
          <p:cNvSpPr txBox="1"/>
          <p:nvPr/>
        </p:nvSpPr>
        <p:spPr>
          <a:xfrm>
            <a:off x="914400" y="228600"/>
            <a:ext cx="77724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 Bomber Paradox</a:t>
            </a:r>
            <a:endParaRPr sz="2400" b="1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350" b="0">
                <a:solidFill>
                  <a:srgbClr val="0044CC"/>
                </a:solidFill>
                <a:latin typeface="Inter Medium"/>
                <a:ea typeface="Inter Medium"/>
                <a:cs typeface="Inter Medium"/>
                <a:sym typeface="Inter Medium"/>
              </a:rPr>
              <a:t>An exercise in logical analysis and survivorship bias</a:t>
            </a:r>
            <a:endParaRPr sz="1350" b="0">
              <a:solidFill>
                <a:srgbClr val="0044CC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368300" y="1333500"/>
            <a:ext cx="3921125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altLang="en-GB" sz="120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 country is waging a war</a:t>
            </a:r>
            <a:endParaRPr lang="en-US" altLang="en-GB" sz="120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-US" altLang="en-GB" sz="120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It sends 1000 aircraft to fight the enemy</a:t>
            </a:r>
            <a:endParaRPr lang="en-GB" sz="120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Only 700 aircraft return safely, the rest are lost to enemy fire</a:t>
            </a:r>
            <a:endParaRPr lang="en-US" sz="120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 objecive is to mimize losses by adding heavy armor</a:t>
            </a:r>
            <a:endParaRPr lang="en-US" sz="120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Bullet holes on the 700 aircraft are analyzed</a:t>
            </a:r>
            <a:endParaRPr sz="120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025" b="0">
                <a:solidFill>
                  <a:srgbClr val="0044CC"/>
                </a:solidFill>
                <a:highlight>
                  <a:srgbClr val="E6F0FF"/>
                </a:highlight>
                <a:latin typeface="Inter SemiBold"/>
                <a:ea typeface="Inter SemiBold"/>
                <a:cs typeface="Inter SemiBold"/>
                <a:sym typeface="Inter SemiBold"/>
              </a:rPr>
              <a:t>The Critical Question</a:t>
            </a:r>
            <a:endParaRPr sz="1025" b="0">
              <a:solidFill>
                <a:srgbClr val="0044CC"/>
              </a:solidFill>
              <a:highlight>
                <a:srgbClr val="E6F0FF"/>
              </a:highlight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325" b="0">
                <a:solidFill>
                  <a:srgbClr val="111111"/>
                </a:solidFill>
                <a:highlight>
                  <a:srgbClr val="E6F0FF"/>
                </a:highlight>
                <a:latin typeface="Inter Medium"/>
                <a:ea typeface="Inter Medium"/>
                <a:cs typeface="Inter Medium"/>
                <a:sym typeface="Inter Medium"/>
              </a:rPr>
              <a:t>Based on th</a:t>
            </a:r>
            <a:r>
              <a:rPr lang="en-US" altLang="en-GB" sz="1325" b="0">
                <a:solidFill>
                  <a:srgbClr val="111111"/>
                </a:solidFill>
                <a:highlight>
                  <a:srgbClr val="E6F0FF"/>
                </a:highlight>
                <a:latin typeface="Inter Medium"/>
                <a:ea typeface="Inter Medium"/>
                <a:cs typeface="Inter Medium"/>
                <a:sym typeface="Inter Medium"/>
              </a:rPr>
              <a:t>e</a:t>
            </a:r>
            <a:r>
              <a:rPr lang="en-GB" sz="1325" b="0">
                <a:solidFill>
                  <a:srgbClr val="111111"/>
                </a:solidFill>
                <a:highlight>
                  <a:srgbClr val="E6F0FF"/>
                </a:highlight>
                <a:latin typeface="Inter Medium"/>
                <a:ea typeface="Inter Medium"/>
                <a:cs typeface="Inter Medium"/>
                <a:sym typeface="Inter Medium"/>
              </a:rPr>
              <a:t> data showing bullet holes, where should you add armor to improve survival rates?</a:t>
            </a:r>
            <a:endParaRPr sz="1325" b="0">
              <a:solidFill>
                <a:srgbClr val="111111"/>
              </a:solidFill>
              <a:highlight>
                <a:srgbClr val="E6F0FF"/>
              </a:highlight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6310" y="1266825"/>
            <a:ext cx="3920490" cy="35623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204;p2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05" name="Google Shape;205;p22"/>
            <p:cNvSpPr/>
            <p:nvPr/>
          </p:nvSpPr>
          <p:spPr>
            <a:xfrm>
              <a:off x="0" y="0"/>
              <a:ext cx="4009800" cy="5143500"/>
            </a:xfrm>
            <a:prstGeom prst="rect">
              <a:avLst/>
            </a:prstGeom>
            <a:solidFill>
              <a:srgbClr val="F4F5F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" name="Google Shape;206;p22"/>
            <p:cNvSpPr/>
            <p:nvPr/>
          </p:nvSpPr>
          <p:spPr>
            <a:xfrm>
              <a:off x="4572000" y="0"/>
              <a:ext cx="4572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207" name="Google Shape;207;p22"/>
            <p:cNvGrpSpPr/>
            <p:nvPr/>
          </p:nvGrpSpPr>
          <p:grpSpPr>
            <a:xfrm>
              <a:off x="457200" y="304800"/>
              <a:ext cx="228600" cy="228600"/>
              <a:chOff x="0" y="0"/>
              <a:chExt cx="228600" cy="228600"/>
            </a:xfrm>
          </p:grpSpPr>
          <p:sp>
            <p:nvSpPr>
              <p:cNvPr id="208" name="Google Shape;208;p22"/>
              <p:cNvSpPr/>
              <p:nvPr/>
            </p:nvSpPr>
            <p:spPr>
              <a:xfrm>
                <a:off x="0" y="0"/>
                <a:ext cx="152400" cy="152400"/>
              </a:xfrm>
              <a:prstGeom prst="rect">
                <a:avLst/>
              </a:prstGeom>
              <a:solidFill>
                <a:srgbClr val="0044C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9" name="Google Shape;209;p22"/>
              <p:cNvSpPr/>
              <p:nvPr/>
            </p:nvSpPr>
            <p:spPr>
              <a:xfrm>
                <a:off x="76200" y="76200"/>
                <a:ext cx="152400" cy="152400"/>
              </a:xfrm>
              <a:prstGeom prst="rect">
                <a:avLst/>
              </a:prstGeom>
              <a:solidFill>
                <a:srgbClr val="111111">
                  <a:alpha val="8999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210" name="Google Shape;210;p22"/>
          <p:cNvSpPr txBox="1"/>
          <p:nvPr/>
        </p:nvSpPr>
        <p:spPr>
          <a:xfrm>
            <a:off x="771730" y="231889"/>
            <a:ext cx="3657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i="0" u="none" strike="noStrike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Survivorship Bias</a:t>
            </a:r>
            <a:endParaRPr sz="2400" b="1" i="0" u="none" strike="noStrike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457200" y="997585"/>
            <a:ext cx="3295015" cy="171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050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 700 aircraft </a:t>
            </a:r>
            <a:r>
              <a:rPr lang="en-GB" sz="1050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only includes planes that successfully survived </a:t>
            </a:r>
            <a:r>
              <a:rPr lang="en-US" altLang="en-GB" sz="1050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enemy fire</a:t>
            </a:r>
            <a:endParaRPr lang="en-US" altLang="en-GB" sz="1050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050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050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 300 that</a:t>
            </a:r>
            <a:r>
              <a:rPr lang="en-GB" sz="1050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en-US" altLang="en-GB" sz="1050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were missing </a:t>
            </a:r>
            <a:r>
              <a:rPr lang="en-GB" sz="1050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never returned to be </a:t>
            </a:r>
            <a:r>
              <a:rPr lang="en-US" altLang="en-GB" sz="1050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analyzed</a:t>
            </a:r>
            <a:endParaRPr lang="en-US" altLang="en-GB" sz="1050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050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This is MISSING DATA - a HUGE problem</a:t>
            </a:r>
            <a:endParaRPr sz="1050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altLang="en-GB" sz="105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So, may be the </a:t>
            </a:r>
            <a:r>
              <a:rPr lang="en-GB" sz="105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armor </a:t>
            </a:r>
            <a:r>
              <a:rPr lang="en-US" altLang="en-GB" sz="105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should be applied to </a:t>
            </a:r>
            <a:r>
              <a:rPr lang="en-GB" sz="105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where the bullet holes aren't</a:t>
            </a:r>
            <a:r>
              <a:rPr lang="en-US" altLang="en-GB" sz="105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present</a:t>
            </a:r>
            <a:endParaRPr sz="1050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endParaRPr sz="1050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12" name="Google Shape;212;p22"/>
          <p:cNvSpPr txBox="1"/>
          <p:nvPr/>
        </p:nvSpPr>
        <p:spPr>
          <a:xfrm>
            <a:off x="457200" y="2836545"/>
            <a:ext cx="3477260" cy="54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en-GB" sz="1050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INSIGHT - </a:t>
            </a:r>
            <a:r>
              <a:rPr lang="en-GB" sz="1050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If you only train models on existing customer data, you miss churned users.</a:t>
            </a:r>
            <a:endParaRPr sz="1050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grpSp>
        <p:nvGrpSpPr>
          <p:cNvPr id="213" name="Google Shape;213;p22"/>
          <p:cNvGrpSpPr/>
          <p:nvPr/>
        </p:nvGrpSpPr>
        <p:grpSpPr>
          <a:xfrm>
            <a:off x="457189" y="3619500"/>
            <a:ext cx="3476915" cy="857400"/>
            <a:chOff x="457200" y="3619500"/>
            <a:chExt cx="3657600" cy="857400"/>
          </a:xfrm>
        </p:grpSpPr>
        <p:sp>
          <p:nvSpPr>
            <p:cNvPr id="214" name="Google Shape;214;p22"/>
            <p:cNvSpPr/>
            <p:nvPr/>
          </p:nvSpPr>
          <p:spPr>
            <a:xfrm>
              <a:off x="457200" y="3619500"/>
              <a:ext cx="3657600" cy="857400"/>
            </a:xfrm>
            <a:prstGeom prst="rect">
              <a:avLst/>
            </a:prstGeom>
            <a:solidFill>
              <a:srgbClr val="E6F0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5" name="Google Shape;215;p22"/>
            <p:cNvSpPr/>
            <p:nvPr/>
          </p:nvSpPr>
          <p:spPr>
            <a:xfrm>
              <a:off x="457200" y="3619500"/>
              <a:ext cx="38100" cy="857400"/>
            </a:xfrm>
            <a:prstGeom prst="rect">
              <a:avLst/>
            </a:prstGeom>
            <a:solidFill>
              <a:srgbClr val="0044C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6" name="Google Shape;216;p22"/>
            <p:cNvSpPr txBox="1"/>
            <p:nvPr/>
          </p:nvSpPr>
          <p:spPr>
            <a:xfrm>
              <a:off x="647700" y="3619500"/>
              <a:ext cx="3104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25" b="0">
                  <a:solidFill>
                    <a:srgbClr val="11111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The Missing Perspective</a:t>
              </a:r>
              <a:endParaRPr sz="825" b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1200" b="0">
                  <a:solidFill>
                    <a:srgbClr val="0044CC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Always ask: "What data am I NOT seeing?"</a:t>
              </a:r>
              <a:endParaRPr sz="1200" b="0">
                <a:solidFill>
                  <a:srgbClr val="0044CC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6615" y="650875"/>
            <a:ext cx="4017010" cy="37299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9" name="Google Shape;299;p28"/>
          <p:cNvGrpSpPr/>
          <p:nvPr/>
        </p:nvGrpSpPr>
        <p:grpSpPr>
          <a:xfrm>
            <a:off x="457200" y="304800"/>
            <a:ext cx="228600" cy="228600"/>
            <a:chOff x="0" y="0"/>
            <a:chExt cx="228600" cy="228600"/>
          </a:xfrm>
        </p:grpSpPr>
        <p:sp>
          <p:nvSpPr>
            <p:cNvPr id="300" name="Google Shape;300;p28"/>
            <p:cNvSpPr/>
            <p:nvPr/>
          </p:nvSpPr>
          <p:spPr>
            <a:xfrm>
              <a:off x="0" y="0"/>
              <a:ext cx="152400" cy="152400"/>
            </a:xfrm>
            <a:prstGeom prst="rect">
              <a:avLst/>
            </a:prstGeom>
            <a:solidFill>
              <a:srgbClr val="0044C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1" name="Google Shape;301;p28"/>
            <p:cNvSpPr/>
            <p:nvPr/>
          </p:nvSpPr>
          <p:spPr>
            <a:xfrm>
              <a:off x="76200" y="76200"/>
              <a:ext cx="152400" cy="152400"/>
            </a:xfrm>
            <a:prstGeom prst="rect">
              <a:avLst/>
            </a:prstGeom>
            <a:solidFill>
              <a:srgbClr val="111111">
                <a:alpha val="89999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02" name="Google Shape;302;p28"/>
          <p:cNvSpPr txBox="1"/>
          <p:nvPr/>
        </p:nvSpPr>
        <p:spPr>
          <a:xfrm>
            <a:off x="914400" y="152400"/>
            <a:ext cx="77724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i="0" u="none" strike="noStrike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Engineering Fairness from Bias</a:t>
            </a:r>
            <a:endParaRPr sz="2400" b="1" i="0" u="none" strike="noStrike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350" b="0" i="0" u="none" strike="noStrike">
                <a:solidFill>
                  <a:srgbClr val="0044C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Probability &amp; Repeated Trials</a:t>
            </a:r>
            <a:endParaRPr sz="1350" b="1" i="0" u="none" strike="noStrike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303" name="Google Shape;303;p28"/>
          <p:cNvSpPr/>
          <p:nvPr/>
        </p:nvSpPr>
        <p:spPr>
          <a:xfrm>
            <a:off x="457200" y="1047750"/>
            <a:ext cx="8229600" cy="96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4" name="Google Shape;304;p28"/>
          <p:cNvSpPr txBox="1"/>
          <p:nvPr/>
        </p:nvSpPr>
        <p:spPr>
          <a:xfrm>
            <a:off x="457200" y="1188225"/>
            <a:ext cx="4724400" cy="37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What is a Fair Coin ?</a:t>
            </a:r>
            <a:endParaRPr sz="1350" b="1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P(H) = P(T) = 0.5 (i.e. 50%)</a:t>
            </a:r>
            <a:endParaRPr sz="105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endParaRPr sz="1350" b="1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1350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 Coin Flip Game</a:t>
            </a:r>
            <a:endParaRPr sz="1350" b="1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Two players toss a coin</a:t>
            </a:r>
            <a:endParaRPr sz="1350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Player 1 wins if it is Heads</a:t>
            </a:r>
            <a:endParaRPr sz="1350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Player 2 wins if it is Tails</a:t>
            </a:r>
            <a:endParaRPr sz="1350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900"/>
              </a:spcBef>
              <a:spcAft>
                <a:spcPts val="90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1350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 game is fair - Both players have equal chance of winning</a:t>
            </a:r>
            <a:endParaRPr sz="105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305" name="Google Shape;305;p28"/>
          <p:cNvSpPr/>
          <p:nvPr/>
        </p:nvSpPr>
        <p:spPr>
          <a:xfrm>
            <a:off x="5638800" y="1428750"/>
            <a:ext cx="3048000" cy="30480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306" name="Google Shape;306;p2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638800" y="1428750"/>
            <a:ext cx="3048000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1" name="Google Shape;311;p29"/>
          <p:cNvGrpSpPr/>
          <p:nvPr/>
        </p:nvGrpSpPr>
        <p:grpSpPr>
          <a:xfrm>
            <a:off x="457200" y="304800"/>
            <a:ext cx="228600" cy="228600"/>
            <a:chOff x="0" y="0"/>
            <a:chExt cx="228600" cy="228600"/>
          </a:xfrm>
        </p:grpSpPr>
        <p:sp>
          <p:nvSpPr>
            <p:cNvPr id="312" name="Google Shape;312;p29"/>
            <p:cNvSpPr/>
            <p:nvPr/>
          </p:nvSpPr>
          <p:spPr>
            <a:xfrm>
              <a:off x="0" y="0"/>
              <a:ext cx="152400" cy="152400"/>
            </a:xfrm>
            <a:prstGeom prst="rect">
              <a:avLst/>
            </a:prstGeom>
            <a:solidFill>
              <a:srgbClr val="0044C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3" name="Google Shape;313;p29"/>
            <p:cNvSpPr/>
            <p:nvPr/>
          </p:nvSpPr>
          <p:spPr>
            <a:xfrm>
              <a:off x="76200" y="76200"/>
              <a:ext cx="152400" cy="152400"/>
            </a:xfrm>
            <a:prstGeom prst="rect">
              <a:avLst/>
            </a:prstGeom>
            <a:solidFill>
              <a:srgbClr val="111111">
                <a:alpha val="89999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14" name="Google Shape;314;p29"/>
          <p:cNvSpPr txBox="1"/>
          <p:nvPr/>
        </p:nvSpPr>
        <p:spPr>
          <a:xfrm>
            <a:off x="914400" y="152400"/>
            <a:ext cx="77724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i="0" u="none" strike="noStrike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Engineering Fairness from Bias</a:t>
            </a:r>
            <a:endParaRPr sz="2400" b="1" i="0" u="none" strike="noStrike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350" b="0" i="0" u="none" strike="noStrike">
                <a:solidFill>
                  <a:srgbClr val="0044C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Probability &amp; Repeated Trials</a:t>
            </a:r>
            <a:endParaRPr sz="1350" b="1" i="0" u="none" strike="noStrike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315" name="Google Shape;315;p29"/>
          <p:cNvSpPr/>
          <p:nvPr/>
        </p:nvSpPr>
        <p:spPr>
          <a:xfrm>
            <a:off x="457200" y="1047750"/>
            <a:ext cx="8229600" cy="96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6" name="Google Shape;316;p29"/>
          <p:cNvSpPr txBox="1"/>
          <p:nvPr/>
        </p:nvSpPr>
        <p:spPr>
          <a:xfrm>
            <a:off x="457200" y="1188225"/>
            <a:ext cx="4724400" cy="37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What is a Biased Coin ?</a:t>
            </a:r>
            <a:endParaRPr sz="1350" b="1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P(H) != P(T)</a:t>
            </a:r>
            <a:endParaRPr sz="1350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For e.g. </a:t>
            </a:r>
            <a:endParaRPr sz="1350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P(H) = 0.8 (i.e. 80%)</a:t>
            </a:r>
            <a:endParaRPr sz="1350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P(T) = 0.2 (i.e. 20%)</a:t>
            </a:r>
            <a:endParaRPr sz="1350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endParaRPr sz="1350" b="1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GB" sz="1350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Question - Can two players play a Coin Flip game with a Biased coin ? How do they ensure the game is fair ?</a:t>
            </a:r>
            <a:endParaRPr sz="105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317" name="Google Shape;317;p29"/>
          <p:cNvSpPr/>
          <p:nvPr/>
        </p:nvSpPr>
        <p:spPr>
          <a:xfrm>
            <a:off x="5638800" y="1428750"/>
            <a:ext cx="3048000" cy="30480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318" name="Google Shape;318;p29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638800" y="1428750"/>
            <a:ext cx="3048000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" name="Google Shape;323;p30"/>
          <p:cNvGrpSpPr/>
          <p:nvPr/>
        </p:nvGrpSpPr>
        <p:grpSpPr>
          <a:xfrm>
            <a:off x="432950" y="2"/>
            <a:ext cx="9144000" cy="5143500"/>
            <a:chOff x="0" y="0"/>
            <a:chExt cx="9144000" cy="5143500"/>
          </a:xfrm>
        </p:grpSpPr>
        <p:sp>
          <p:nvSpPr>
            <p:cNvPr id="324" name="Google Shape;324;p30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325" name="Google Shape;325;p30"/>
            <p:cNvGrpSpPr/>
            <p:nvPr/>
          </p:nvGrpSpPr>
          <p:grpSpPr>
            <a:xfrm>
              <a:off x="457200" y="304800"/>
              <a:ext cx="228600" cy="228600"/>
              <a:chOff x="0" y="0"/>
              <a:chExt cx="228600" cy="228600"/>
            </a:xfrm>
          </p:grpSpPr>
          <p:sp>
            <p:nvSpPr>
              <p:cNvPr id="326" name="Google Shape;326;p30"/>
              <p:cNvSpPr/>
              <p:nvPr/>
            </p:nvSpPr>
            <p:spPr>
              <a:xfrm>
                <a:off x="0" y="0"/>
                <a:ext cx="152400" cy="152400"/>
              </a:xfrm>
              <a:prstGeom prst="rect">
                <a:avLst/>
              </a:prstGeom>
              <a:solidFill>
                <a:srgbClr val="0044C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27" name="Google Shape;327;p30"/>
              <p:cNvSpPr/>
              <p:nvPr/>
            </p:nvSpPr>
            <p:spPr>
              <a:xfrm>
                <a:off x="76200" y="76200"/>
                <a:ext cx="152400" cy="152400"/>
              </a:xfrm>
              <a:prstGeom prst="rect">
                <a:avLst/>
              </a:prstGeom>
              <a:solidFill>
                <a:srgbClr val="111111">
                  <a:alpha val="8999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328" name="Google Shape;328;p30"/>
            <p:cNvSpPr/>
            <p:nvPr/>
          </p:nvSpPr>
          <p:spPr>
            <a:xfrm>
              <a:off x="457200" y="1047750"/>
              <a:ext cx="8229600" cy="9600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29" name="Google Shape;329;p30"/>
          <p:cNvSpPr txBox="1"/>
          <p:nvPr/>
        </p:nvSpPr>
        <p:spPr>
          <a:xfrm>
            <a:off x="914400" y="171450"/>
            <a:ext cx="77724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    </a:t>
            </a:r>
            <a:r>
              <a:rPr lang="en-GB" sz="2400" b="1" i="0" u="none" strike="noStrike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Sequential Symmetry</a:t>
            </a:r>
            <a:endParaRPr sz="2400" b="1" i="0" u="none" strike="noStrike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15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0044CC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GB" sz="1350" b="0" i="0" u="none" strike="noStrike">
                <a:solidFill>
                  <a:srgbClr val="0044CC"/>
                </a:solidFill>
                <a:latin typeface="Inter Medium"/>
                <a:ea typeface="Inter Medium"/>
                <a:cs typeface="Inter Medium"/>
                <a:sym typeface="Inter Medium"/>
              </a:rPr>
              <a:t>Solving the Biased Coin Problem through Pairwise Probability</a:t>
            </a:r>
            <a:endParaRPr sz="1350" b="1" i="0" u="none" strike="noStrike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330" name="Google Shape;330;p30"/>
          <p:cNvSpPr txBox="1"/>
          <p:nvPr/>
        </p:nvSpPr>
        <p:spPr>
          <a:xfrm>
            <a:off x="457200" y="3276189"/>
            <a:ext cx="3238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25" b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Mathematical Proof</a:t>
            </a:r>
            <a:endParaRPr sz="1025" b="0">
              <a:solidFill>
                <a:srgbClr val="11111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331" name="Google Shape;331;p30"/>
          <p:cNvSpPr/>
          <p:nvPr/>
        </p:nvSpPr>
        <p:spPr>
          <a:xfrm>
            <a:off x="457200" y="3514999"/>
            <a:ext cx="3238500" cy="523800"/>
          </a:xfrm>
          <a:prstGeom prst="rect">
            <a:avLst/>
          </a:prstGeom>
          <a:solidFill>
            <a:srgbClr val="F4F5F7"/>
          </a:solidFill>
          <a:ln w="95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2" name="Google Shape;332;p30"/>
          <p:cNvSpPr txBox="1"/>
          <p:nvPr/>
        </p:nvSpPr>
        <p:spPr>
          <a:xfrm>
            <a:off x="609600" y="3488617"/>
            <a:ext cx="29337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7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P(H</a:t>
            </a:r>
            <a:r>
              <a:rPr lang="en-US" altLang="en-GB" sz="117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H</a:t>
            </a:r>
            <a:r>
              <a:rPr lang="en-GB" sz="117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) = </a:t>
            </a:r>
            <a:r>
              <a:rPr lang="en-GB" sz="1175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0.8 × 0.</a:t>
            </a:r>
            <a:r>
              <a:rPr lang="en-US" altLang="en-GB" sz="1175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8</a:t>
            </a:r>
            <a:r>
              <a:rPr lang="en-GB" sz="1175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= </a:t>
            </a:r>
            <a:r>
              <a:rPr lang="en-GB" sz="1175" b="1">
                <a:solidFill>
                  <a:srgbClr val="0044C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0.6</a:t>
            </a:r>
            <a:r>
              <a:rPr lang="en-US" altLang="en-GB" sz="1175" b="1">
                <a:solidFill>
                  <a:srgbClr val="0044C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4</a:t>
            </a:r>
            <a:endParaRPr lang="en-US" altLang="en-GB" sz="1175" b="1">
              <a:solidFill>
                <a:srgbClr val="0044CC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333" name="Google Shape;333;p30"/>
          <p:cNvSpPr/>
          <p:nvPr/>
        </p:nvSpPr>
        <p:spPr>
          <a:xfrm>
            <a:off x="457200" y="4134124"/>
            <a:ext cx="3238500" cy="523800"/>
          </a:xfrm>
          <a:prstGeom prst="rect">
            <a:avLst/>
          </a:prstGeom>
          <a:solidFill>
            <a:srgbClr val="F4F5F7"/>
          </a:solidFill>
          <a:ln w="95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4" name="Google Shape;334;p30"/>
          <p:cNvSpPr txBox="1"/>
          <p:nvPr/>
        </p:nvSpPr>
        <p:spPr>
          <a:xfrm>
            <a:off x="609600" y="4107742"/>
            <a:ext cx="29337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7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P(T</a:t>
            </a:r>
            <a:r>
              <a:rPr lang="en-US" altLang="en-GB" sz="117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</a:t>
            </a:r>
            <a:r>
              <a:rPr lang="en-GB" sz="117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) = </a:t>
            </a:r>
            <a:r>
              <a:rPr lang="en-GB" sz="1175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0.2 × 0.</a:t>
            </a:r>
            <a:r>
              <a:rPr lang="en-US" altLang="en-GB" sz="1175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2</a:t>
            </a:r>
            <a:r>
              <a:rPr lang="en-GB" sz="1175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= </a:t>
            </a:r>
            <a:r>
              <a:rPr lang="en-GB" sz="1175" b="1">
                <a:solidFill>
                  <a:srgbClr val="0044C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0.</a:t>
            </a:r>
            <a:r>
              <a:rPr lang="en-US" altLang="en-GB" sz="1175" b="1">
                <a:solidFill>
                  <a:srgbClr val="0044C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04</a:t>
            </a:r>
            <a:endParaRPr lang="en-US" altLang="en-GB" sz="1175" b="1">
              <a:solidFill>
                <a:srgbClr val="0044CC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432942" y="13335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25" b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Sequential Workflow</a:t>
            </a:r>
            <a:endParaRPr sz="1025" b="0">
              <a:solidFill>
                <a:srgbClr val="11111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336" name="Google Shape;336;p30"/>
          <p:cNvSpPr/>
          <p:nvPr/>
        </p:nvSpPr>
        <p:spPr>
          <a:xfrm>
            <a:off x="2172111" y="1571625"/>
            <a:ext cx="1219200" cy="1524000"/>
          </a:xfrm>
          <a:prstGeom prst="rect">
            <a:avLst/>
          </a:prstGeom>
          <a:solidFill>
            <a:srgbClr val="F4F5F7"/>
          </a:solidFill>
          <a:ln w="95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7" name="Google Shape;337;p30"/>
          <p:cNvSpPr/>
          <p:nvPr/>
        </p:nvSpPr>
        <p:spPr>
          <a:xfrm>
            <a:off x="1785492" y="2276475"/>
            <a:ext cx="190500" cy="114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60000"/>
                </a:moveTo>
                <a:lnTo>
                  <a:pt x="120000" y="60000"/>
                </a:lnTo>
                <a:moveTo>
                  <a:pt x="84000" y="0"/>
                </a:moveTo>
                <a:lnTo>
                  <a:pt x="120000" y="60000"/>
                </a:lnTo>
                <a:lnTo>
                  <a:pt x="84000" y="120000"/>
                </a:lnTo>
              </a:path>
            </a:pathLst>
          </a:custGeom>
          <a:solidFill>
            <a:srgbClr val="000000">
              <a:alpha val="0"/>
            </a:srgbClr>
          </a:solidFill>
          <a:ln w="14300" cap="flat" cmpd="sng">
            <a:solidFill>
              <a:srgbClr val="0044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8" name="Google Shape;338;p30"/>
          <p:cNvSpPr/>
          <p:nvPr/>
        </p:nvSpPr>
        <p:spPr>
          <a:xfrm>
            <a:off x="3987450" y="1571625"/>
            <a:ext cx="1675200" cy="1524000"/>
          </a:xfrm>
          <a:prstGeom prst="rect">
            <a:avLst/>
          </a:prstGeom>
          <a:solidFill>
            <a:srgbClr val="F4F5F7"/>
          </a:solidFill>
          <a:ln w="95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9" name="Google Shape;339;p30"/>
          <p:cNvSpPr txBox="1"/>
          <p:nvPr/>
        </p:nvSpPr>
        <p:spPr>
          <a:xfrm>
            <a:off x="2185542" y="1666875"/>
            <a:ext cx="106680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25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2. Filter Outcome</a:t>
            </a:r>
            <a:endParaRPr sz="1025" b="1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02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If you roll </a:t>
            </a:r>
            <a:endParaRPr lang="en-GB" sz="1025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02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HH or TT, </a:t>
            </a:r>
            <a:endParaRPr lang="en-GB" sz="1025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02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discard the result and flip again</a:t>
            </a:r>
            <a:endParaRPr sz="1025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340" name="Google Shape;340;p30"/>
          <p:cNvSpPr/>
          <p:nvPr/>
        </p:nvSpPr>
        <p:spPr>
          <a:xfrm>
            <a:off x="3461892" y="2276475"/>
            <a:ext cx="190500" cy="114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60000"/>
                </a:moveTo>
                <a:lnTo>
                  <a:pt x="120000" y="60000"/>
                </a:lnTo>
                <a:moveTo>
                  <a:pt x="84000" y="0"/>
                </a:moveTo>
                <a:lnTo>
                  <a:pt x="120000" y="60000"/>
                </a:lnTo>
                <a:lnTo>
                  <a:pt x="84000" y="120000"/>
                </a:lnTo>
              </a:path>
            </a:pathLst>
          </a:custGeom>
          <a:solidFill>
            <a:srgbClr val="000000">
              <a:alpha val="0"/>
            </a:srgbClr>
          </a:solidFill>
          <a:ln w="14300" cap="flat" cmpd="sng">
            <a:solidFill>
              <a:srgbClr val="0044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1" name="Google Shape;341;p30"/>
          <p:cNvSpPr/>
          <p:nvPr/>
        </p:nvSpPr>
        <p:spPr>
          <a:xfrm>
            <a:off x="455419" y="1571625"/>
            <a:ext cx="1219200" cy="1524000"/>
          </a:xfrm>
          <a:prstGeom prst="rect">
            <a:avLst/>
          </a:prstGeom>
          <a:solidFill>
            <a:srgbClr val="F4F5F7"/>
          </a:solidFill>
          <a:ln w="95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2" name="Google Shape;342;p30"/>
          <p:cNvSpPr txBox="1"/>
          <p:nvPr/>
        </p:nvSpPr>
        <p:spPr>
          <a:xfrm>
            <a:off x="4036338" y="1666875"/>
            <a:ext cx="162630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25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3. Rule Decision</a:t>
            </a:r>
            <a:endParaRPr sz="1025" b="1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02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For a fair game: </a:t>
            </a:r>
            <a:endParaRPr sz="1025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2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HT </a:t>
            </a:r>
            <a:r>
              <a:rPr lang="en-GB" sz="10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- </a:t>
            </a:r>
            <a:r>
              <a:rPr lang="en-GB" sz="102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Player 1 wins, </a:t>
            </a:r>
            <a:endParaRPr sz="1025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2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 </a:t>
            </a:r>
            <a:r>
              <a:rPr lang="en-GB" sz="10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- </a:t>
            </a:r>
            <a:r>
              <a:rPr lang="en-GB" sz="102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Player 2 wins</a:t>
            </a:r>
            <a:endParaRPr sz="1025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343" name="Google Shape;343;p30"/>
          <p:cNvSpPr/>
          <p:nvPr/>
        </p:nvSpPr>
        <p:spPr>
          <a:xfrm>
            <a:off x="4262812" y="3514999"/>
            <a:ext cx="3238500" cy="523800"/>
          </a:xfrm>
          <a:prstGeom prst="rect">
            <a:avLst/>
          </a:prstGeom>
          <a:solidFill>
            <a:srgbClr val="F4F5F7"/>
          </a:solidFill>
          <a:ln w="95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4" name="Google Shape;344;p30"/>
          <p:cNvSpPr txBox="1"/>
          <p:nvPr/>
        </p:nvSpPr>
        <p:spPr>
          <a:xfrm>
            <a:off x="4443858" y="3511504"/>
            <a:ext cx="29337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7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P(H</a:t>
            </a:r>
            <a:r>
              <a:rPr lang="en-US" altLang="en-GB" sz="117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</a:t>
            </a:r>
            <a:r>
              <a:rPr lang="en-GB" sz="117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) = </a:t>
            </a:r>
            <a:r>
              <a:rPr lang="en-GB" sz="1175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0.8 × 0.</a:t>
            </a:r>
            <a:r>
              <a:rPr lang="en-US" altLang="en-GB" sz="1175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2</a:t>
            </a:r>
            <a:r>
              <a:rPr lang="en-GB" sz="1175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= </a:t>
            </a:r>
            <a:r>
              <a:rPr lang="en-GB" sz="1175" b="1">
                <a:solidFill>
                  <a:srgbClr val="0044C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0.</a:t>
            </a:r>
            <a:r>
              <a:rPr lang="en-US" altLang="en-GB" sz="1175" b="1">
                <a:solidFill>
                  <a:srgbClr val="0044C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16</a:t>
            </a:r>
            <a:endParaRPr lang="en-US" altLang="en-GB" sz="1175" b="1">
              <a:solidFill>
                <a:srgbClr val="0044CC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345" name="Google Shape;345;p30"/>
          <p:cNvSpPr/>
          <p:nvPr/>
        </p:nvSpPr>
        <p:spPr>
          <a:xfrm>
            <a:off x="4285700" y="4129944"/>
            <a:ext cx="3238500" cy="523800"/>
          </a:xfrm>
          <a:prstGeom prst="rect">
            <a:avLst/>
          </a:prstGeom>
          <a:solidFill>
            <a:srgbClr val="F4F5F7"/>
          </a:solidFill>
          <a:ln w="95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6" name="Google Shape;346;p30"/>
          <p:cNvSpPr txBox="1"/>
          <p:nvPr/>
        </p:nvSpPr>
        <p:spPr>
          <a:xfrm>
            <a:off x="4536367" y="4130629"/>
            <a:ext cx="29337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7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P(T</a:t>
            </a:r>
            <a:r>
              <a:rPr lang="en-US" altLang="en-GB" sz="117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H</a:t>
            </a:r>
            <a:r>
              <a:rPr lang="en-GB" sz="117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) = </a:t>
            </a:r>
            <a:r>
              <a:rPr lang="en-GB" sz="1175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0.2 × 0.</a:t>
            </a:r>
            <a:r>
              <a:rPr lang="en-US" altLang="en-GB" sz="1175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8</a:t>
            </a:r>
            <a:r>
              <a:rPr lang="en-GB" sz="1175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= </a:t>
            </a:r>
            <a:r>
              <a:rPr lang="en-GB" sz="1175" b="1">
                <a:solidFill>
                  <a:srgbClr val="0044C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0.</a:t>
            </a:r>
            <a:r>
              <a:rPr lang="en-US" altLang="en-GB" sz="1175" b="1">
                <a:solidFill>
                  <a:srgbClr val="0044C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16</a:t>
            </a:r>
            <a:endParaRPr lang="en-US" altLang="en-GB" sz="1175" b="1">
              <a:solidFill>
                <a:srgbClr val="0044CC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347" name="Google Shape;347;p30"/>
          <p:cNvSpPr txBox="1"/>
          <p:nvPr/>
        </p:nvSpPr>
        <p:spPr>
          <a:xfrm>
            <a:off x="509142" y="1666875"/>
            <a:ext cx="106680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25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1. Flip the coin twice</a:t>
            </a:r>
            <a:endParaRPr sz="1025" b="1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0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Possible outcomes are:</a:t>
            </a:r>
            <a:endParaRPr sz="1025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HT</a:t>
            </a:r>
            <a:endParaRPr sz="1025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</a:t>
            </a:r>
            <a:endParaRPr sz="1025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HH</a:t>
            </a:r>
            <a:endParaRPr sz="1025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25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TT</a:t>
            </a:r>
            <a:endParaRPr sz="1025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1" grpId="0" animBg="1"/>
      <p:bldP spid="347" grpId="0"/>
      <p:bldP spid="341" grpId="1" animBg="1"/>
      <p:bldP spid="347" grpId="1"/>
      <p:bldP spid="337" grpId="0" animBg="1"/>
      <p:bldP spid="337" grpId="1" animBg="1"/>
      <p:bldP spid="339" grpId="0"/>
      <p:bldP spid="339" grpId="1"/>
      <p:bldP spid="336" grpId="0" animBg="1"/>
      <p:bldP spid="336" grpId="1" animBg="1"/>
      <p:bldP spid="340" grpId="0" animBg="1"/>
      <p:bldP spid="340" grpId="1" animBg="1"/>
      <p:bldP spid="338" grpId="0" animBg="1"/>
      <p:bldP spid="338" grpId="1" animBg="1"/>
      <p:bldP spid="342" grpId="0"/>
      <p:bldP spid="342" grpId="1"/>
      <p:bldP spid="330" grpId="0"/>
      <p:bldP spid="330" grpId="1"/>
      <p:bldP spid="332" grpId="0"/>
      <p:bldP spid="332" grpId="1"/>
      <p:bldP spid="331" grpId="0" animBg="1"/>
      <p:bldP spid="331" grpId="1" animBg="1"/>
      <p:bldP spid="333" grpId="0" animBg="1"/>
      <p:bldP spid="333" grpId="1" animBg="1"/>
      <p:bldP spid="334" grpId="0"/>
      <p:bldP spid="334" grpId="1"/>
      <p:bldP spid="344" grpId="0"/>
      <p:bldP spid="344" grpId="1"/>
      <p:bldP spid="343" grpId="0" animBg="1"/>
      <p:bldP spid="343" grpId="1" animBg="1"/>
      <p:bldP spid="346" grpId="0"/>
      <p:bldP spid="346" grpId="1"/>
      <p:bldP spid="345" grpId="0" animBg="1"/>
      <p:bldP spid="345" grpId="1" animBg="1"/>
      <p:bldP spid="335" grpId="0"/>
      <p:bldP spid="335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4" name="Google Shape;264;p26"/>
          <p:cNvGrpSpPr/>
          <p:nvPr/>
        </p:nvGrpSpPr>
        <p:grpSpPr>
          <a:xfrm>
            <a:off x="457200" y="304800"/>
            <a:ext cx="228600" cy="228600"/>
            <a:chOff x="0" y="0"/>
            <a:chExt cx="228600" cy="228600"/>
          </a:xfrm>
        </p:grpSpPr>
        <p:sp>
          <p:nvSpPr>
            <p:cNvPr id="265" name="Google Shape;265;p26"/>
            <p:cNvSpPr/>
            <p:nvPr/>
          </p:nvSpPr>
          <p:spPr>
            <a:xfrm>
              <a:off x="0" y="0"/>
              <a:ext cx="152400" cy="152400"/>
            </a:xfrm>
            <a:prstGeom prst="rect">
              <a:avLst/>
            </a:prstGeom>
            <a:solidFill>
              <a:srgbClr val="0044C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6" name="Google Shape;266;p26"/>
            <p:cNvSpPr/>
            <p:nvPr/>
          </p:nvSpPr>
          <p:spPr>
            <a:xfrm>
              <a:off x="76200" y="76200"/>
              <a:ext cx="152400" cy="152400"/>
            </a:xfrm>
            <a:prstGeom prst="rect">
              <a:avLst/>
            </a:prstGeom>
            <a:solidFill>
              <a:srgbClr val="111111">
                <a:alpha val="89999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67" name="Google Shape;267;p26"/>
          <p:cNvSpPr txBox="1"/>
          <p:nvPr/>
        </p:nvSpPr>
        <p:spPr>
          <a:xfrm>
            <a:off x="914400" y="228600"/>
            <a:ext cx="7772400" cy="714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i="0" u="none" strike="noStrike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Balancing Security &amp; Flow</a:t>
            </a:r>
            <a:endParaRPr sz="2400" b="1" i="0" u="none" strike="noStrike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350" b="0" i="0" u="none" strike="noStrike">
                <a:solidFill>
                  <a:srgbClr val="0044CC"/>
                </a:solidFill>
                <a:latin typeface="Inter Medium"/>
                <a:ea typeface="Inter Medium"/>
                <a:cs typeface="Inter Medium"/>
                <a:sym typeface="Inter Medium"/>
              </a:rPr>
              <a:t>The Precision-Recall Dilemma in Detection Algorithms</a:t>
            </a:r>
            <a:endParaRPr sz="1350" b="1" i="0" u="none" strike="noStrike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68" name="Google Shape;268;p26"/>
          <p:cNvSpPr/>
          <p:nvPr/>
        </p:nvSpPr>
        <p:spPr>
          <a:xfrm>
            <a:off x="457200" y="1047750"/>
            <a:ext cx="8229600" cy="96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9" name="Google Shape;269;p26"/>
          <p:cNvSpPr txBox="1"/>
          <p:nvPr/>
        </p:nvSpPr>
        <p:spPr>
          <a:xfrm>
            <a:off x="457200" y="1333500"/>
            <a:ext cx="4000500" cy="3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25" b="0">
                <a:solidFill>
                  <a:srgbClr val="0044C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Competing Forces</a:t>
            </a:r>
            <a:endParaRPr sz="825" b="0">
              <a:solidFill>
                <a:srgbClr val="0044CC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125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Recall (Sensitivity) vs. Precision (Specificity)</a:t>
            </a:r>
            <a:endParaRPr sz="1125" b="1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975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Hypersensitive (High Recall):</a:t>
            </a:r>
            <a:r>
              <a:rPr lang="en-GB" sz="97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Flags every potential threat to eliminate False Negatives. However, it floods the system with False Positives (metal buttons, foil), causing massive passenger bottlenecks.</a:t>
            </a:r>
            <a:endParaRPr sz="975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975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Loosened (High Precision):</a:t>
            </a:r>
            <a:r>
              <a:rPr lang="en-GB" sz="97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Reduces false alarms to ensure rapid throughput. However, it increases the rate of False Negatives, raising the critical risk that dangerous items pass undetected.</a:t>
            </a:r>
            <a:endParaRPr sz="975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en-GB" sz="825" b="0">
                <a:solidFill>
                  <a:srgbClr val="0044C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Optimizing the Threshold</a:t>
            </a:r>
            <a:endParaRPr sz="825" b="0">
              <a:solidFill>
                <a:srgbClr val="0044CC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125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Cost-Benefit ROC Curve Analysis</a:t>
            </a:r>
            <a:endParaRPr sz="1125" b="1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97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Data scientists utilize an </a:t>
            </a:r>
            <a:r>
              <a:rPr lang="en-GB" sz="975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ROC or Precision-Recall curve</a:t>
            </a:r>
            <a:r>
              <a:rPr lang="en-GB" sz="97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to find the mathematically optimal threshold. The decision boundary is determined by weighting the catastrophic security cost of a missed threat against the operational costs of extreme airport delays.</a:t>
            </a:r>
            <a:endParaRPr sz="975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grpSp>
        <p:nvGrpSpPr>
          <p:cNvPr id="270" name="Google Shape;270;p26"/>
          <p:cNvGrpSpPr/>
          <p:nvPr/>
        </p:nvGrpSpPr>
        <p:grpSpPr>
          <a:xfrm>
            <a:off x="4953000" y="1333500"/>
            <a:ext cx="3733800" cy="3238500"/>
            <a:chOff x="4953000" y="1333500"/>
            <a:chExt cx="3733800" cy="3238500"/>
          </a:xfrm>
        </p:grpSpPr>
        <p:sp>
          <p:nvSpPr>
            <p:cNvPr id="271" name="Google Shape;271;p26"/>
            <p:cNvSpPr/>
            <p:nvPr/>
          </p:nvSpPr>
          <p:spPr>
            <a:xfrm>
              <a:off x="4953000" y="1333500"/>
              <a:ext cx="3733800" cy="3238500"/>
            </a:xfrm>
            <a:prstGeom prst="rect">
              <a:avLst/>
            </a:prstGeom>
            <a:solidFill>
              <a:srgbClr val="F4F5F7"/>
            </a:solidFill>
            <a:ln w="9525" cap="flat" cmpd="sng">
              <a:solidFill>
                <a:srgbClr val="E0E0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pic>
          <p:nvPicPr>
            <p:cNvPr id="272" name="Google Shape;272;p26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5295900" y="1428750"/>
              <a:ext cx="3048000" cy="3048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7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8" name="Google Shape;278;p27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79" name="Google Shape;279;p27"/>
          <p:cNvGrpSpPr/>
          <p:nvPr/>
        </p:nvGrpSpPr>
        <p:grpSpPr>
          <a:xfrm>
            <a:off x="457200" y="304800"/>
            <a:ext cx="228600" cy="228600"/>
            <a:chOff x="0" y="0"/>
            <a:chExt cx="228600" cy="228600"/>
          </a:xfrm>
        </p:grpSpPr>
        <p:sp>
          <p:nvSpPr>
            <p:cNvPr id="280" name="Google Shape;280;p27"/>
            <p:cNvSpPr/>
            <p:nvPr/>
          </p:nvSpPr>
          <p:spPr>
            <a:xfrm>
              <a:off x="0" y="0"/>
              <a:ext cx="152400" cy="152400"/>
            </a:xfrm>
            <a:prstGeom prst="rect">
              <a:avLst/>
            </a:prstGeom>
            <a:solidFill>
              <a:srgbClr val="0044C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1" name="Google Shape;281;p27"/>
            <p:cNvSpPr/>
            <p:nvPr/>
          </p:nvSpPr>
          <p:spPr>
            <a:xfrm>
              <a:off x="76200" y="76200"/>
              <a:ext cx="152400" cy="152400"/>
            </a:xfrm>
            <a:prstGeom prst="rect">
              <a:avLst/>
            </a:prstGeom>
            <a:solidFill>
              <a:srgbClr val="111111">
                <a:alpha val="89999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82" name="Google Shape;282;p27"/>
          <p:cNvSpPr txBox="1"/>
          <p:nvPr/>
        </p:nvSpPr>
        <p:spPr>
          <a:xfrm>
            <a:off x="457200" y="685800"/>
            <a:ext cx="82296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i="0" u="none" strike="noStrike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Precision vs. Recall</a:t>
            </a:r>
            <a:endParaRPr sz="2400" b="1" i="0" u="none" strike="noStrike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350" b="0" i="0" u="none" strike="noStrike">
                <a:solidFill>
                  <a:srgbClr val="0044CC"/>
                </a:solidFill>
                <a:latin typeface="Inter Medium"/>
                <a:ea typeface="Inter Medium"/>
                <a:cs typeface="Inter Medium"/>
                <a:sym typeface="Inter Medium"/>
              </a:rPr>
              <a:t>Understanding the Tradeoff Between Precision and Recall</a:t>
            </a:r>
            <a:endParaRPr sz="1350" b="1" i="0" u="none" strike="noStrike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grpSp>
        <p:nvGrpSpPr>
          <p:cNvPr id="283" name="Google Shape;283;p27"/>
          <p:cNvGrpSpPr/>
          <p:nvPr/>
        </p:nvGrpSpPr>
        <p:grpSpPr>
          <a:xfrm>
            <a:off x="457200" y="1428750"/>
            <a:ext cx="3657600" cy="2476500"/>
            <a:chOff x="457200" y="1428750"/>
            <a:chExt cx="3657600" cy="2476500"/>
          </a:xfrm>
        </p:grpSpPr>
        <p:sp>
          <p:nvSpPr>
            <p:cNvPr id="284" name="Google Shape;284;p27"/>
            <p:cNvSpPr/>
            <p:nvPr/>
          </p:nvSpPr>
          <p:spPr>
            <a:xfrm>
              <a:off x="457200" y="1428750"/>
              <a:ext cx="3657600" cy="24765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E0E0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5" name="Google Shape;285;p27"/>
            <p:cNvSpPr/>
            <p:nvPr/>
          </p:nvSpPr>
          <p:spPr>
            <a:xfrm>
              <a:off x="457200" y="1428750"/>
              <a:ext cx="3657600" cy="38100"/>
            </a:xfrm>
            <a:prstGeom prst="rect">
              <a:avLst/>
            </a:prstGeom>
            <a:solidFill>
              <a:srgbClr val="0044C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6" name="Google Shape;286;p27"/>
            <p:cNvSpPr txBox="1"/>
            <p:nvPr/>
          </p:nvSpPr>
          <p:spPr>
            <a:xfrm>
              <a:off x="685800" y="1657350"/>
              <a:ext cx="3200400" cy="20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25" b="0">
                  <a:solidFill>
                    <a:srgbClr val="0044C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Precision (Quality)</a:t>
              </a:r>
              <a:endParaRPr sz="825" b="0">
                <a:solidFill>
                  <a:srgbClr val="0044C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1350" b="1">
                  <a:solidFill>
                    <a:srgbClr val="111111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Precision measures quality</a:t>
              </a:r>
              <a:endParaRPr sz="1350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675" b="0">
                  <a:solidFill>
                    <a:srgbClr val="5555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Core Question</a:t>
              </a:r>
              <a:endParaRPr sz="675" b="0">
                <a:solidFill>
                  <a:srgbClr val="5555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975" b="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Of all flagged items, how many are actually guilty?</a:t>
              </a:r>
              <a:endParaRPr sz="975" b="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GB" sz="675" b="0">
                  <a:solidFill>
                    <a:srgbClr val="5555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System Outcome</a:t>
              </a:r>
              <a:endParaRPr sz="675" b="0">
                <a:solidFill>
                  <a:srgbClr val="5555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975" b="0">
                  <a:solidFill>
                    <a:srgbClr val="555555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High precision means </a:t>
              </a:r>
              <a:r>
                <a:rPr lang="en-GB" sz="975" b="0">
                  <a:solidFill>
                    <a:srgbClr val="11111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zero false alarms</a:t>
              </a:r>
              <a:r>
                <a:rPr lang="en-GB" sz="975" b="0">
                  <a:solidFill>
                    <a:srgbClr val="555555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 and short lines.</a:t>
              </a:r>
              <a:endParaRPr sz="97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</p:txBody>
        </p:sp>
      </p:grpSp>
      <p:grpSp>
        <p:nvGrpSpPr>
          <p:cNvPr id="287" name="Google Shape;287;p27"/>
          <p:cNvGrpSpPr/>
          <p:nvPr/>
        </p:nvGrpSpPr>
        <p:grpSpPr>
          <a:xfrm>
            <a:off x="5029200" y="1428750"/>
            <a:ext cx="3657600" cy="2476500"/>
            <a:chOff x="5029200" y="1428750"/>
            <a:chExt cx="3657600" cy="2476500"/>
          </a:xfrm>
        </p:grpSpPr>
        <p:sp>
          <p:nvSpPr>
            <p:cNvPr id="288" name="Google Shape;288;p27"/>
            <p:cNvSpPr/>
            <p:nvPr/>
          </p:nvSpPr>
          <p:spPr>
            <a:xfrm>
              <a:off x="5029200" y="1428750"/>
              <a:ext cx="3657600" cy="2476500"/>
            </a:xfrm>
            <a:prstGeom prst="rect">
              <a:avLst/>
            </a:prstGeom>
            <a:solidFill>
              <a:srgbClr val="F4F5F7"/>
            </a:solidFill>
            <a:ln w="9525" cap="flat" cmpd="sng">
              <a:solidFill>
                <a:srgbClr val="E0E0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9" name="Google Shape;289;p27"/>
            <p:cNvSpPr/>
            <p:nvPr/>
          </p:nvSpPr>
          <p:spPr>
            <a:xfrm>
              <a:off x="5029200" y="1428750"/>
              <a:ext cx="3657600" cy="38100"/>
            </a:xfrm>
            <a:prstGeom prst="rect">
              <a:avLst/>
            </a:prstGeom>
            <a:solidFill>
              <a:srgbClr val="0044C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0" name="Google Shape;290;p27"/>
            <p:cNvSpPr txBox="1"/>
            <p:nvPr/>
          </p:nvSpPr>
          <p:spPr>
            <a:xfrm>
              <a:off x="5257800" y="1657350"/>
              <a:ext cx="3200400" cy="20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25" b="0">
                  <a:solidFill>
                    <a:srgbClr val="0044C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Recall (Quantity)</a:t>
              </a:r>
              <a:endParaRPr sz="825" b="0">
                <a:solidFill>
                  <a:srgbClr val="0044C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1350" b="1">
                  <a:solidFill>
                    <a:srgbClr val="111111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Recall measures quantity</a:t>
              </a:r>
              <a:endParaRPr sz="1350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675" b="0">
                  <a:solidFill>
                    <a:srgbClr val="5555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Core Question</a:t>
              </a:r>
              <a:endParaRPr sz="675" b="0">
                <a:solidFill>
                  <a:srgbClr val="5555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975" b="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Of all actual threats, how many did we catch?</a:t>
              </a:r>
              <a:endParaRPr sz="975" b="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GB" sz="675" b="0">
                  <a:solidFill>
                    <a:srgbClr val="5555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System Outcome</a:t>
              </a:r>
              <a:endParaRPr sz="675" b="0">
                <a:solidFill>
                  <a:srgbClr val="5555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975" b="0">
                  <a:solidFill>
                    <a:srgbClr val="555555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High recall means </a:t>
              </a:r>
              <a:r>
                <a:rPr lang="en-GB" sz="975" b="0">
                  <a:solidFill>
                    <a:srgbClr val="11111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zero threats missed</a:t>
              </a:r>
              <a:r>
                <a:rPr lang="en-GB" sz="975" b="0">
                  <a:solidFill>
                    <a:srgbClr val="555555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 but long lines.</a:t>
              </a:r>
              <a:endParaRPr sz="97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</p:txBody>
        </p:sp>
      </p:grpSp>
      <p:grpSp>
        <p:nvGrpSpPr>
          <p:cNvPr id="291" name="Google Shape;291;p27"/>
          <p:cNvGrpSpPr/>
          <p:nvPr/>
        </p:nvGrpSpPr>
        <p:grpSpPr>
          <a:xfrm>
            <a:off x="457200" y="4133850"/>
            <a:ext cx="8229600" cy="533400"/>
            <a:chOff x="0" y="0"/>
            <a:chExt cx="8229600" cy="533400"/>
          </a:xfrm>
        </p:grpSpPr>
        <p:sp>
          <p:nvSpPr>
            <p:cNvPr id="292" name="Google Shape;292;p27"/>
            <p:cNvSpPr/>
            <p:nvPr/>
          </p:nvSpPr>
          <p:spPr>
            <a:xfrm>
              <a:off x="0" y="0"/>
              <a:ext cx="8229600" cy="533400"/>
            </a:xfrm>
            <a:prstGeom prst="rect">
              <a:avLst/>
            </a:prstGeom>
            <a:solidFill>
              <a:srgbClr val="E6F0FF"/>
            </a:solidFill>
            <a:ln w="9525" cap="flat" cmpd="sng">
              <a:solidFill>
                <a:srgbClr val="E0E0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3" name="Google Shape;293;p27"/>
            <p:cNvSpPr/>
            <p:nvPr/>
          </p:nvSpPr>
          <p:spPr>
            <a:xfrm>
              <a:off x="0" y="0"/>
              <a:ext cx="38100" cy="533400"/>
            </a:xfrm>
            <a:prstGeom prst="rect">
              <a:avLst/>
            </a:prstGeom>
            <a:solidFill>
              <a:srgbClr val="0044C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4" name="Google Shape;294;p27"/>
            <p:cNvSpPr txBox="1"/>
            <p:nvPr/>
          </p:nvSpPr>
          <p:spPr>
            <a:xfrm>
              <a:off x="228600" y="95250"/>
              <a:ext cx="7772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 b="0">
                  <a:solidFill>
                    <a:srgbClr val="0044C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Strategic Tradeoff: </a:t>
              </a:r>
              <a:r>
                <a:rPr lang="en-GB" sz="975" b="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High-stakes scenarios optimize for Recall, while low-stakes optimize for Precision.</a:t>
              </a:r>
              <a:endParaRPr sz="900" b="0">
                <a:solidFill>
                  <a:srgbClr val="0044C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" name="Google Shape;223;p23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24" name="Google Shape;224;p23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225" name="Google Shape;225;p23"/>
            <p:cNvGrpSpPr/>
            <p:nvPr/>
          </p:nvGrpSpPr>
          <p:grpSpPr>
            <a:xfrm>
              <a:off x="457200" y="304800"/>
              <a:ext cx="228600" cy="228600"/>
              <a:chOff x="0" y="0"/>
              <a:chExt cx="228600" cy="228600"/>
            </a:xfrm>
          </p:grpSpPr>
          <p:sp>
            <p:nvSpPr>
              <p:cNvPr id="226" name="Google Shape;226;p23"/>
              <p:cNvSpPr/>
              <p:nvPr/>
            </p:nvSpPr>
            <p:spPr>
              <a:xfrm>
                <a:off x="0" y="0"/>
                <a:ext cx="152400" cy="152400"/>
              </a:xfrm>
              <a:prstGeom prst="rect">
                <a:avLst/>
              </a:prstGeom>
              <a:solidFill>
                <a:srgbClr val="0044C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7" name="Google Shape;227;p23"/>
              <p:cNvSpPr/>
              <p:nvPr/>
            </p:nvSpPr>
            <p:spPr>
              <a:xfrm>
                <a:off x="76200" y="76200"/>
                <a:ext cx="152400" cy="152400"/>
              </a:xfrm>
              <a:prstGeom prst="rect">
                <a:avLst/>
              </a:prstGeom>
              <a:solidFill>
                <a:srgbClr val="111111">
                  <a:alpha val="8999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228" name="Google Shape;228;p23"/>
            <p:cNvSpPr/>
            <p:nvPr/>
          </p:nvSpPr>
          <p:spPr>
            <a:xfrm>
              <a:off x="457200" y="1047750"/>
              <a:ext cx="8229600" cy="9600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29" name="Google Shape;229;p23"/>
          <p:cNvSpPr txBox="1"/>
          <p:nvPr/>
        </p:nvSpPr>
        <p:spPr>
          <a:xfrm>
            <a:off x="914400" y="228600"/>
            <a:ext cx="7886700" cy="647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 Mapping Challenge</a:t>
            </a:r>
            <a:endParaRPr sz="2400" b="1" i="0" u="none" strike="noStrike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350" b="1" i="0" u="none" strike="noStrike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30" name="Google Shape;230;p23"/>
          <p:cNvSpPr txBox="1"/>
          <p:nvPr/>
        </p:nvSpPr>
        <p:spPr>
          <a:xfrm>
            <a:off x="831246" y="1638359"/>
            <a:ext cx="7106888" cy="2995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15">
                <a:solidFill>
                  <a:srgbClr val="0044CC"/>
                </a:solidFill>
                <a:latin typeface="Inter Medium"/>
                <a:ea typeface="Inter Medium"/>
                <a:cs typeface="Inter Medium"/>
                <a:sym typeface="Inter Medium"/>
              </a:rPr>
              <a:t>Design a function that accepts any real number a</a:t>
            </a:r>
            <a:r>
              <a:rPr lang="en-GB" sz="1915">
                <a:solidFill>
                  <a:srgbClr val="0044CC"/>
                </a:solidFill>
                <a:latin typeface="Inter Medium"/>
                <a:ea typeface="Inter Medium"/>
                <a:cs typeface="Inter Medium"/>
                <a:sym typeface="Inter Medium"/>
              </a:rPr>
              <a:t>s an input</a:t>
            </a:r>
            <a:endParaRPr sz="1915">
              <a:solidFill>
                <a:srgbClr val="0044CC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31" name="Google Shape;231;p23"/>
          <p:cNvSpPr/>
          <p:nvPr/>
        </p:nvSpPr>
        <p:spPr>
          <a:xfrm>
            <a:off x="532000" y="1286824"/>
            <a:ext cx="7780200" cy="2994900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Design a function - f(x) = y with the following specifications:</a:t>
            </a:r>
            <a:endParaRPr sz="17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Input x - any real number [-</a:t>
            </a:r>
            <a:r>
              <a:rPr lang="en-GB" sz="2100"/>
              <a:t>∞, +</a:t>
            </a:r>
            <a:r>
              <a:rPr lang="en-GB" sz="2100">
                <a:solidFill>
                  <a:schemeClr val="dk1"/>
                </a:solidFill>
              </a:rPr>
              <a:t>∞</a:t>
            </a:r>
            <a:r>
              <a:rPr lang="en-GB" sz="1700"/>
              <a:t>]</a:t>
            </a:r>
            <a:endParaRPr sz="17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Output y - has to be in the interval [0, 7]</a:t>
            </a:r>
            <a:endParaRPr sz="17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The function must be smooth and monotonic </a:t>
            </a:r>
            <a:endParaRPr lang="en-GB" sz="1700"/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i.e. as input x increases, the output y also increases</a:t>
            </a:r>
            <a:endParaRPr sz="17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24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37" name="Google Shape;237;p24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90204"/>
                <a:buNone/>
              </a:pPr>
            </a:p>
          </p:txBody>
        </p:sp>
        <p:grpSp>
          <p:nvGrpSpPr>
            <p:cNvPr id="238" name="Google Shape;238;p24"/>
            <p:cNvGrpSpPr/>
            <p:nvPr/>
          </p:nvGrpSpPr>
          <p:grpSpPr>
            <a:xfrm>
              <a:off x="457200" y="304800"/>
              <a:ext cx="228600" cy="228600"/>
              <a:chOff x="0" y="0"/>
              <a:chExt cx="228600" cy="228600"/>
            </a:xfrm>
          </p:grpSpPr>
          <p:sp>
            <p:nvSpPr>
              <p:cNvPr id="239" name="Google Shape;239;p24"/>
              <p:cNvSpPr/>
              <p:nvPr/>
            </p:nvSpPr>
            <p:spPr>
              <a:xfrm>
                <a:off x="0" y="0"/>
                <a:ext cx="152400" cy="152400"/>
              </a:xfrm>
              <a:prstGeom prst="rect">
                <a:avLst/>
              </a:prstGeom>
              <a:solidFill>
                <a:srgbClr val="0044C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0" name="Google Shape;240;p24"/>
              <p:cNvSpPr/>
              <p:nvPr/>
            </p:nvSpPr>
            <p:spPr>
              <a:xfrm>
                <a:off x="76200" y="76200"/>
                <a:ext cx="152400" cy="152400"/>
              </a:xfrm>
              <a:prstGeom prst="rect">
                <a:avLst/>
              </a:prstGeom>
              <a:solidFill>
                <a:srgbClr val="111111">
                  <a:alpha val="8999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241" name="Google Shape;241;p24"/>
            <p:cNvSpPr/>
            <p:nvPr/>
          </p:nvSpPr>
          <p:spPr>
            <a:xfrm>
              <a:off x="457200" y="1047750"/>
              <a:ext cx="8229600" cy="9600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42" name="Google Shape;242;p24"/>
          <p:cNvSpPr txBox="1"/>
          <p:nvPr/>
        </p:nvSpPr>
        <p:spPr>
          <a:xfrm>
            <a:off x="914400" y="228600"/>
            <a:ext cx="7886700" cy="647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Foundation: Pure Sigmoid Function</a:t>
            </a:r>
            <a:endParaRPr sz="2400" b="1" i="0" u="none" strike="noStrike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350" b="1" i="0" u="none" strike="noStrike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43" name="Google Shape;243;p24"/>
          <p:cNvSpPr/>
          <p:nvPr/>
        </p:nvSpPr>
        <p:spPr>
          <a:xfrm>
            <a:off x="360175" y="2483275"/>
            <a:ext cx="3411300" cy="2111700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Evaluate the function: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f(-∞) = 0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f(0) = 0.5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f(+</a:t>
            </a:r>
            <a:r>
              <a:rPr lang="en-GB" sz="1700">
                <a:solidFill>
                  <a:schemeClr val="dk1"/>
                </a:solidFill>
              </a:rPr>
              <a:t>∞) = 1</a:t>
            </a:r>
            <a:endParaRPr sz="1700"/>
          </a:p>
        </p:txBody>
      </p:sp>
      <p:pic>
        <p:nvPicPr>
          <p:cNvPr id="244" name="Google Shape;244;p24" descr="f\left(x\right)=\frac{1}{\left(1+e^{-x}\right)}&#10;%26aa5a0c-4933-4ff5-9163-47cc790b8ce9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554688" y="1346075"/>
            <a:ext cx="2562225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4" descr="a sigmoid curve with the y axis ranging from 0 to 1"/>
          <p:cNvPicPr preferRelativeResize="0"/>
          <p:nvPr/>
        </p:nvPicPr>
        <p:blipFill rotWithShape="1">
          <a:blip r:embed="rId2"/>
          <a:srcRect t="12542" r="882"/>
          <a:stretch>
            <a:fillRect/>
          </a:stretch>
        </p:blipFill>
        <p:spPr>
          <a:xfrm>
            <a:off x="3964775" y="1364661"/>
            <a:ext cx="4915350" cy="241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2" grpId="0" animBg="1"/>
      <p:bldP spid="242" grpId="1" animBg="1"/>
      <p:bldP spid="243" grpId="0" animBg="1"/>
      <p:bldP spid="243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Google Shape;250;p25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51" name="Google Shape;251;p25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252" name="Google Shape;252;p25"/>
            <p:cNvGrpSpPr/>
            <p:nvPr/>
          </p:nvGrpSpPr>
          <p:grpSpPr>
            <a:xfrm>
              <a:off x="457200" y="304800"/>
              <a:ext cx="228600" cy="228600"/>
              <a:chOff x="0" y="0"/>
              <a:chExt cx="228600" cy="228600"/>
            </a:xfrm>
          </p:grpSpPr>
          <p:sp>
            <p:nvSpPr>
              <p:cNvPr id="253" name="Google Shape;253;p25"/>
              <p:cNvSpPr/>
              <p:nvPr/>
            </p:nvSpPr>
            <p:spPr>
              <a:xfrm>
                <a:off x="0" y="0"/>
                <a:ext cx="152400" cy="152400"/>
              </a:xfrm>
              <a:prstGeom prst="rect">
                <a:avLst/>
              </a:prstGeom>
              <a:solidFill>
                <a:srgbClr val="0044C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4" name="Google Shape;254;p25"/>
              <p:cNvSpPr/>
              <p:nvPr/>
            </p:nvSpPr>
            <p:spPr>
              <a:xfrm>
                <a:off x="76200" y="76200"/>
                <a:ext cx="152400" cy="152400"/>
              </a:xfrm>
              <a:prstGeom prst="rect">
                <a:avLst/>
              </a:prstGeom>
              <a:solidFill>
                <a:srgbClr val="111111">
                  <a:alpha val="8999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255" name="Google Shape;255;p25"/>
            <p:cNvSpPr/>
            <p:nvPr/>
          </p:nvSpPr>
          <p:spPr>
            <a:xfrm>
              <a:off x="457200" y="1047750"/>
              <a:ext cx="8229600" cy="9600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56" name="Google Shape;256;p25"/>
          <p:cNvSpPr txBox="1"/>
          <p:nvPr/>
        </p:nvSpPr>
        <p:spPr>
          <a:xfrm>
            <a:off x="914400" y="228600"/>
            <a:ext cx="7886700" cy="647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Tweaking the </a:t>
            </a:r>
            <a:r>
              <a:rPr lang="en-GB" sz="2400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Sigmoid Function</a:t>
            </a:r>
            <a:endParaRPr sz="2400" b="1" i="0" u="none" strike="noStrike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350" b="1" i="0" u="none" strike="noStrike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360175" y="2483275"/>
            <a:ext cx="3411300" cy="2111700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Evaluate the function: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f(-∞) = 0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f(0) = 3.5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f(+</a:t>
            </a:r>
            <a:r>
              <a:rPr lang="en-GB" sz="1700">
                <a:solidFill>
                  <a:schemeClr val="dk1"/>
                </a:solidFill>
              </a:rPr>
              <a:t>∞) = 7</a:t>
            </a:r>
            <a:endParaRPr sz="1700"/>
          </a:p>
        </p:txBody>
      </p:sp>
      <p:pic>
        <p:nvPicPr>
          <p:cNvPr id="258" name="Google Shape;258;p25" descr="Now give me the exat same sigmoid curve - but the output in the y axis ranging from 0 to 7 instead"/>
          <p:cNvPicPr preferRelativeResize="0"/>
          <p:nvPr/>
        </p:nvPicPr>
        <p:blipFill rotWithShape="1">
          <a:blip r:embed="rId1"/>
          <a:srcRect l="2563" t="14097"/>
          <a:stretch>
            <a:fillRect/>
          </a:stretch>
        </p:blipFill>
        <p:spPr>
          <a:xfrm>
            <a:off x="4114800" y="1346075"/>
            <a:ext cx="4751950" cy="252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5" descr="f\left(x\right)=\frac{7}{\left(1+e^{-x}\right)}&#10;%eed6fa9b-87e2-4125-93a1-5740047a2cee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11025" y="1394025"/>
            <a:ext cx="2562225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69" name="Google Shape;69;p15"/>
          <p:cNvGrpSpPr/>
          <p:nvPr/>
        </p:nvGrpSpPr>
        <p:grpSpPr>
          <a:xfrm>
            <a:off x="457200" y="304800"/>
            <a:ext cx="228600" cy="228600"/>
            <a:chOff x="0" y="0"/>
            <a:chExt cx="228600" cy="228600"/>
          </a:xfrm>
        </p:grpSpPr>
        <p:sp>
          <p:nvSpPr>
            <p:cNvPr id="70" name="Google Shape;70;p15"/>
            <p:cNvSpPr/>
            <p:nvPr/>
          </p:nvSpPr>
          <p:spPr>
            <a:xfrm>
              <a:off x="0" y="0"/>
              <a:ext cx="152400" cy="152400"/>
            </a:xfrm>
            <a:prstGeom prst="rect">
              <a:avLst/>
            </a:prstGeom>
            <a:solidFill>
              <a:srgbClr val="0044C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76200" y="76200"/>
              <a:ext cx="152400" cy="152400"/>
            </a:xfrm>
            <a:prstGeom prst="rect">
              <a:avLst/>
            </a:prstGeom>
            <a:solidFill>
              <a:srgbClr val="111111">
                <a:alpha val="89999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72" name="Google Shape;72;p15"/>
          <p:cNvSpPr/>
          <p:nvPr/>
        </p:nvSpPr>
        <p:spPr>
          <a:xfrm>
            <a:off x="457200" y="1047750"/>
            <a:ext cx="8229600" cy="96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3" name="Google Shape;73;p15"/>
          <p:cNvSpPr txBox="1"/>
          <p:nvPr/>
        </p:nvSpPr>
        <p:spPr>
          <a:xfrm>
            <a:off x="914400" y="2286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 Linear Baseline</a:t>
            </a:r>
            <a:endParaRPr sz="2400" b="1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914400" y="647700"/>
            <a:ext cx="7620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350" b="0">
                <a:solidFill>
                  <a:srgbClr val="0044CC"/>
                </a:solidFill>
                <a:latin typeface="Inter Medium"/>
                <a:ea typeface="Inter Medium"/>
                <a:cs typeface="Inter Medium"/>
                <a:sym typeface="Inter Medium"/>
              </a:rPr>
              <a:t>How does a Linear Classifier work ?</a:t>
            </a:r>
            <a:endParaRPr lang="en-US" altLang="en-GB" sz="1350" b="0">
              <a:solidFill>
                <a:srgbClr val="0044CC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457200" y="1038860"/>
            <a:ext cx="4381500" cy="363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Take any two points on the line:</a:t>
            </a:r>
            <a:endParaRPr lang="en-US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(x1, y1) = (7, 3)</a:t>
            </a:r>
            <a:endParaRPr lang="en-US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(x2, y2) = (3, 7)</a:t>
            </a:r>
            <a:endParaRPr lang="en-US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Equation of the line</a:t>
            </a:r>
            <a:endParaRPr lang="en-US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y - y1 = m (x-x1), </a:t>
            </a:r>
            <a:endParaRPr lang="en-US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where m = (y2-y1)/(x2-x1)</a:t>
            </a:r>
            <a:endParaRPr lang="en-US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y = -x + 10</a:t>
            </a:r>
            <a:endParaRPr lang="en-US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or</a:t>
            </a:r>
            <a:endParaRPr lang="en-US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x + y - 10 = 0</a:t>
            </a:r>
            <a:endParaRPr lang="en-US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Now, plug in a blue point to the equation:</a:t>
            </a:r>
            <a:endParaRPr lang="en-US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For (x, y) = (3,3)</a:t>
            </a:r>
            <a:endParaRPr lang="en-US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3 + 3 - 10 = -4 (Negative Number)</a:t>
            </a:r>
            <a:endParaRPr lang="en-US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Now plugin a red point:</a:t>
            </a:r>
            <a:endParaRPr lang="en-US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For (x, y) = (7,7)</a:t>
            </a:r>
            <a:endParaRPr lang="en-US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7 + 7 - 10 = +4 (Positive Number)</a:t>
            </a:r>
            <a:endParaRPr lang="en-US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4998085" y="1127125"/>
            <a:ext cx="3688715" cy="3635375"/>
          </a:xfrm>
          <a:prstGeom prst="rect">
            <a:avLst/>
          </a:prstGeom>
          <a:solidFill>
            <a:srgbClr val="F4F5F7"/>
          </a:solidFill>
          <a:ln w="95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83" name="Google Shape;83;p15" descr="A clean 2D scatter plot showing linearly separable data. Blue dots are clustered in the lower-left region and red dots are clustered in the upper-right region, with a clear empty diagonal gap between them suitable for a straight separating line."/>
          <p:cNvPicPr preferRelativeResize="0"/>
          <p:nvPr/>
        </p:nvPicPr>
        <p:blipFill rotWithShape="1">
          <a:blip r:embed="rId1"/>
          <a:srcRect r="-5887" b="-5887"/>
          <a:stretch>
            <a:fillRect/>
          </a:stretch>
        </p:blipFill>
        <p:spPr>
          <a:xfrm>
            <a:off x="5093970" y="1171575"/>
            <a:ext cx="3688080" cy="368617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cxnSp>
        <p:nvCxnSpPr>
          <p:cNvPr id="84" name="Google Shape;84;p15"/>
          <p:cNvCxnSpPr/>
          <p:nvPr/>
        </p:nvCxnSpPr>
        <p:spPr>
          <a:xfrm>
            <a:off x="5947300" y="1992280"/>
            <a:ext cx="2118995" cy="199961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90" name="Google Shape;90;p16"/>
          <p:cNvGrpSpPr/>
          <p:nvPr/>
        </p:nvGrpSpPr>
        <p:grpSpPr>
          <a:xfrm>
            <a:off x="457200" y="304800"/>
            <a:ext cx="228600" cy="228600"/>
            <a:chOff x="0" y="0"/>
            <a:chExt cx="228600" cy="228600"/>
          </a:xfrm>
        </p:grpSpPr>
        <p:sp>
          <p:nvSpPr>
            <p:cNvPr id="91" name="Google Shape;91;p16"/>
            <p:cNvSpPr/>
            <p:nvPr/>
          </p:nvSpPr>
          <p:spPr>
            <a:xfrm>
              <a:off x="0" y="0"/>
              <a:ext cx="152400" cy="152400"/>
            </a:xfrm>
            <a:prstGeom prst="rect">
              <a:avLst/>
            </a:prstGeom>
            <a:solidFill>
              <a:srgbClr val="0044C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" name="Google Shape;92;p16"/>
            <p:cNvSpPr/>
            <p:nvPr/>
          </p:nvSpPr>
          <p:spPr>
            <a:xfrm>
              <a:off x="76200" y="76200"/>
              <a:ext cx="152400" cy="152400"/>
            </a:xfrm>
            <a:prstGeom prst="rect">
              <a:avLst/>
            </a:prstGeom>
            <a:solidFill>
              <a:srgbClr val="111111">
                <a:alpha val="89999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93" name="Google Shape;93;p16"/>
          <p:cNvSpPr/>
          <p:nvPr/>
        </p:nvSpPr>
        <p:spPr>
          <a:xfrm>
            <a:off x="457200" y="1047750"/>
            <a:ext cx="8229600" cy="96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16"/>
          <p:cNvSpPr txBox="1"/>
          <p:nvPr/>
        </p:nvSpPr>
        <p:spPr>
          <a:xfrm>
            <a:off x="914400" y="228600"/>
            <a:ext cx="7620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i="0" u="none" strike="noStrike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 Linear Constraint</a:t>
            </a:r>
            <a:endParaRPr sz="2400" b="1" i="0" u="none" strike="noStrike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914400" y="647700"/>
            <a:ext cx="7620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 b="0" i="0" u="none" strike="noStrike">
                <a:solidFill>
                  <a:srgbClr val="0044CC"/>
                </a:solidFill>
                <a:latin typeface="Inter Medium"/>
                <a:ea typeface="Inter Medium"/>
                <a:cs typeface="Inter Medium"/>
                <a:sym typeface="Inter Medium"/>
              </a:rPr>
              <a:t>Can a straight line separate concentric circular classes?</a:t>
            </a:r>
            <a:endParaRPr sz="1350" b="0" i="0" u="none" strike="noStrike">
              <a:solidFill>
                <a:srgbClr val="0044CC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457200" y="1333500"/>
            <a:ext cx="4381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25" b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Scenario</a:t>
            </a:r>
            <a:endParaRPr sz="825" b="0">
              <a:solidFill>
                <a:srgbClr val="11111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457200" y="1619250"/>
            <a:ext cx="4381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 2D classification scenario requires separating Red versus Blue classes, where Red completely surrounds a tight cluster of blue dots in the center.</a:t>
            </a:r>
            <a:endParaRPr sz="1050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457200" y="2476500"/>
            <a:ext cx="4381500" cy="952500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9" name="Google Shape;99;p16"/>
          <p:cNvSpPr/>
          <p:nvPr/>
        </p:nvSpPr>
        <p:spPr>
          <a:xfrm>
            <a:off x="457200" y="2476500"/>
            <a:ext cx="38100" cy="952500"/>
          </a:xfrm>
          <a:prstGeom prst="rect">
            <a:avLst/>
          </a:prstGeom>
          <a:solidFill>
            <a:srgbClr val="0044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0" name="Google Shape;100;p16"/>
          <p:cNvSpPr txBox="1"/>
          <p:nvPr/>
        </p:nvSpPr>
        <p:spPr>
          <a:xfrm>
            <a:off x="647700" y="2476500"/>
            <a:ext cx="400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25" b="0">
                <a:solidFill>
                  <a:srgbClr val="0044C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Strict Constraint</a:t>
            </a:r>
            <a:endParaRPr sz="825" b="0">
              <a:solidFill>
                <a:srgbClr val="0044CC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l" rtl="0">
              <a:spcBef>
                <a:spcPts val="450"/>
              </a:spcBef>
              <a:spcAft>
                <a:spcPts val="0"/>
              </a:spcAft>
              <a:buNone/>
            </a:pPr>
            <a:r>
              <a:rPr lang="en-GB" sz="975" b="0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 machine learning model is purely linear, meaning it can only draw a straight line.</a:t>
            </a:r>
            <a:endParaRPr sz="975" b="0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457200" y="3619500"/>
            <a:ext cx="4381500" cy="10479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2" name="Google Shape;102;p16"/>
          <p:cNvSpPr txBox="1"/>
          <p:nvPr/>
        </p:nvSpPr>
        <p:spPr>
          <a:xfrm>
            <a:off x="647700" y="3619500"/>
            <a:ext cx="40005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25" b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Puzzle</a:t>
            </a:r>
            <a:endParaRPr sz="825" b="0">
              <a:solidFill>
                <a:srgbClr val="11111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l" rtl="0">
              <a:spcBef>
                <a:spcPts val="450"/>
              </a:spcBef>
              <a:spcAft>
                <a:spcPts val="0"/>
              </a:spcAft>
              <a:buNone/>
            </a:pPr>
            <a:r>
              <a:rPr lang="en-GB" sz="97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How can a straight line perfectly separate these two groups? Is it mathematically possible without changing the algorithm to something more complex?</a:t>
            </a:r>
            <a:endParaRPr sz="975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5257800" y="1333500"/>
            <a:ext cx="3429000" cy="3429000"/>
          </a:xfrm>
          <a:prstGeom prst="rect">
            <a:avLst/>
          </a:prstGeom>
          <a:solidFill>
            <a:srgbClr val="F4F5F7"/>
          </a:solidFill>
          <a:ln w="95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04" name="Google Shape;104;p16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353050" y="1428750"/>
            <a:ext cx="3238500" cy="3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0" name="Google Shape;110;p17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11" name="Google Shape;111;p17"/>
          <p:cNvGrpSpPr/>
          <p:nvPr/>
        </p:nvGrpSpPr>
        <p:grpSpPr>
          <a:xfrm>
            <a:off x="457200" y="304800"/>
            <a:ext cx="228600" cy="228600"/>
            <a:chOff x="0" y="0"/>
            <a:chExt cx="228600" cy="228600"/>
          </a:xfrm>
        </p:grpSpPr>
        <p:sp>
          <p:nvSpPr>
            <p:cNvPr id="112" name="Google Shape;112;p17"/>
            <p:cNvSpPr/>
            <p:nvPr/>
          </p:nvSpPr>
          <p:spPr>
            <a:xfrm>
              <a:off x="0" y="0"/>
              <a:ext cx="152400" cy="152400"/>
            </a:xfrm>
            <a:prstGeom prst="rect">
              <a:avLst/>
            </a:prstGeom>
            <a:solidFill>
              <a:srgbClr val="0044C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" name="Google Shape;113;p17"/>
            <p:cNvSpPr/>
            <p:nvPr/>
          </p:nvSpPr>
          <p:spPr>
            <a:xfrm>
              <a:off x="76200" y="76200"/>
              <a:ext cx="152400" cy="152400"/>
            </a:xfrm>
            <a:prstGeom prst="rect">
              <a:avLst/>
            </a:prstGeom>
            <a:solidFill>
              <a:srgbClr val="111111">
                <a:alpha val="89999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14" name="Google Shape;114;p17"/>
          <p:cNvSpPr txBox="1"/>
          <p:nvPr/>
        </p:nvSpPr>
        <p:spPr>
          <a:xfrm>
            <a:off x="457200" y="685800"/>
            <a:ext cx="8229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11111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Dimensionality Uplift</a:t>
            </a:r>
            <a:endParaRPr sz="2400" b="1">
              <a:solidFill>
                <a:srgbClr val="11111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457200" y="1066800"/>
            <a:ext cx="82296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 b="0">
                <a:solidFill>
                  <a:srgbClr val="0044CC"/>
                </a:solidFill>
                <a:latin typeface="Inter Medium"/>
                <a:ea typeface="Inter Medium"/>
                <a:cs typeface="Inter Medium"/>
                <a:sym typeface="Inter Medium"/>
              </a:rPr>
              <a:t>The solution is Dimensionality Uplift</a:t>
            </a:r>
            <a:endParaRPr sz="1350" b="0">
              <a:solidFill>
                <a:srgbClr val="0044CC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457200" y="1381125"/>
            <a:ext cx="36576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25" b="0">
                <a:solidFill>
                  <a:srgbClr val="0044C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Dimensional Mapping</a:t>
            </a:r>
            <a:endParaRPr sz="825" b="0">
              <a:solidFill>
                <a:srgbClr val="0044CC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457200" y="1619250"/>
            <a:ext cx="3657600" cy="914400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8" name="Google Shape;118;p17"/>
          <p:cNvSpPr/>
          <p:nvPr/>
        </p:nvSpPr>
        <p:spPr>
          <a:xfrm>
            <a:off x="457200" y="1619250"/>
            <a:ext cx="38100" cy="914400"/>
          </a:xfrm>
          <a:prstGeom prst="rect">
            <a:avLst/>
          </a:prstGeom>
          <a:solidFill>
            <a:srgbClr val="0044C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9" name="Google Shape;119;p17"/>
          <p:cNvSpPr txBox="1"/>
          <p:nvPr/>
        </p:nvSpPr>
        <p:spPr>
          <a:xfrm>
            <a:off x="647700" y="1743075"/>
            <a:ext cx="3276600" cy="6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rgbClr val="111111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z = x² + y²</a:t>
            </a:r>
            <a:endParaRPr sz="1800" b="1">
              <a:solidFill>
                <a:srgbClr val="111111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825" b="0">
                <a:solidFill>
                  <a:srgbClr val="0044C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Measures distance from center</a:t>
            </a:r>
            <a:endParaRPr sz="825" b="0">
              <a:solidFill>
                <a:srgbClr val="0044CC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457200" y="2686050"/>
            <a:ext cx="3657600" cy="21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75" b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By adding a third dimension (z) using the simple formula z = x^2 + y^2, we measure the distance from the center.</a:t>
            </a:r>
            <a:endParaRPr sz="975" b="0">
              <a:solidFill>
                <a:srgbClr val="11111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97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Blue points remain low, while Red points shoot upward into a 3D bowl shape.</a:t>
            </a:r>
            <a:endParaRPr sz="975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975" b="0">
                <a:solidFill>
                  <a:srgbClr val="5555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This illustrates the core intuition behind Kernel Methods, such as Support Vector Machines (SVMs), and Feature Engineering.</a:t>
            </a:r>
            <a:endParaRPr sz="975" b="0">
              <a:solidFill>
                <a:srgbClr val="5555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975" b="0">
                <a:solidFill>
                  <a:srgbClr val="0044C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Projecting data into a higher dimension achieves linear separability without increasing model complexity.</a:t>
            </a:r>
            <a:endParaRPr sz="975" b="0">
              <a:solidFill>
                <a:srgbClr val="0044CC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5181600" y="1371600"/>
            <a:ext cx="3162300" cy="31623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22" name="Google Shape;122;p1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191125" y="1381125"/>
            <a:ext cx="3143400" cy="31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7"/>
          <p:cNvSpPr txBox="1"/>
          <p:nvPr/>
        </p:nvSpPr>
        <p:spPr>
          <a:xfrm>
            <a:off x="4572000" y="4648200"/>
            <a:ext cx="4572000" cy="2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b="0">
                <a:solidFill>
                  <a:srgbClr val="5555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Figure 1: 3D Projection into a Linearly Separable Space</a:t>
            </a:r>
            <a:endParaRPr sz="750" b="0">
              <a:solidFill>
                <a:srgbClr val="555555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5907</Words>
  <Application>WPS Presentation</Application>
  <PresentationFormat/>
  <Paragraphs>274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1" baseType="lpstr">
      <vt:lpstr>Arial</vt:lpstr>
      <vt:lpstr>SimSun</vt:lpstr>
      <vt:lpstr>Wingdings</vt:lpstr>
      <vt:lpstr>Arial</vt:lpstr>
      <vt:lpstr>Inter</vt:lpstr>
      <vt:lpstr>Inter Medium</vt:lpstr>
      <vt:lpstr>Inter SemiBold</vt:lpstr>
      <vt:lpstr>Courier New</vt:lpstr>
      <vt:lpstr>Microsoft YaHei</vt:lpstr>
      <vt:lpstr>汉仪旗黑</vt:lpstr>
      <vt:lpstr>Arial Unicode MS</vt:lpstr>
      <vt:lpstr>宋体-简</vt:lpstr>
      <vt:lpstr>Simple Light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vipar</cp:lastModifiedBy>
  <cp:revision>21</cp:revision>
  <dcterms:created xsi:type="dcterms:W3CDTF">2026-07-17T09:58:45Z</dcterms:created>
  <dcterms:modified xsi:type="dcterms:W3CDTF">2026-07-17T09:58:45Z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F5D210FA2C59F866C05A436AA865834B_42</vt:lpwstr>
  </property>
  <property fmtid="{D5CDD505-2E9C-101B-9397-08002B2CF9AE}" pid="3" name="KSOProductBuildVer">
    <vt:lpwstr>1033-12.1.26015.26015</vt:lpwstr>
  </property>
</Properties>
</file>