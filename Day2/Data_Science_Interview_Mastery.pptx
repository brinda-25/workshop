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/>
  <p:notesSz cx="6858000" cy="9144000"/>
  <p:embeddedFontLst>
    <p:embeddedFont>
      <p:font typeface="Inter" panose="02000503000000020004"/>
      <p:regular r:id="rId24"/>
    </p:embeddedFont>
    <p:embeddedFont>
      <p:font typeface="Inter Medium"/>
      <p:regular r:id="rId25"/>
    </p:embeddedFont>
    <p:embeddedFont>
      <p:font typeface="Inter SemiBold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font" Target="fonts/font3.fntdata"/><Relationship Id="rId25" Type="http://schemas.openxmlformats.org/officeDocument/2006/relationships/font" Target="fonts/font2.fntdata"/><Relationship Id="rId24" Type="http://schemas.openxmlformats.org/officeDocument/2006/relationships/font" Target="fonts/font1.fntdata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efd2ec3dad_26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efd2ec3dad_26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efd2ec3dad_0_6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efd2ec3dad_0_6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efd2ec3dad_25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efd2ec3dad_25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fd2ec3dad_24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fd2ec3dad_24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efd2ec3dad_23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efd2ec3dad_23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2ba7bde70_0_2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f2ba7bde70_0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2ba7bde70_0_4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2ba7bde70_0_4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efd2ec3dad_21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efd2ec3dad_21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efd2ec3dad_20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efd2ec3dad_2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fd2ec3dad_19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efd2ec3dad_19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f2bef54d2b_0_2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f2bef54d2b_0_2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effb02f4dd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effb02f4dd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efd2ec3dad_17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efd2ec3dad_17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efd2ec3dad_16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efd2ec3dad_16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efd2ec3dad_15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efd2ec3dad_15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f2bef54d2b_0_1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f2bef54d2b_0_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fd2ec3dad_14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efd2ec3dad_14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fd2ec3dad_13_0)">
  <p:cSld name="Generated (g3efd2ec3dad_13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jpeg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10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6" name="Google Shape;56;p1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57" name="Google Shape;57;p14"/>
            <p:cNvGrpSpPr/>
            <p:nvPr/>
          </p:nvGrpSpPr>
          <p:grpSpPr>
            <a:xfrm>
              <a:off x="457200" y="457200"/>
              <a:ext cx="228600" cy="228600"/>
              <a:chOff x="0" y="0"/>
              <a:chExt cx="228600" cy="228600"/>
            </a:xfrm>
          </p:grpSpPr>
          <p:sp>
            <p:nvSpPr>
              <p:cNvPr id="58" name="Google Shape;58;p14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9" name="Google Shape;59;p14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60" name="Google Shape;60;p14"/>
            <p:cNvSpPr/>
            <p:nvPr/>
          </p:nvSpPr>
          <p:spPr>
            <a:xfrm>
              <a:off x="457200" y="2286000"/>
              <a:ext cx="609600" cy="381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1" name="Google Shape;61;p14"/>
          <p:cNvGrpSpPr/>
          <p:nvPr/>
        </p:nvGrpSpPr>
        <p:grpSpPr>
          <a:xfrm>
            <a:off x="457200" y="2514600"/>
            <a:ext cx="8229600" cy="1905000"/>
            <a:chOff x="457200" y="2514600"/>
            <a:chExt cx="8229600" cy="1905000"/>
          </a:xfrm>
        </p:grpSpPr>
        <p:sp>
          <p:nvSpPr>
            <p:cNvPr id="62" name="Google Shape;62;p14"/>
            <p:cNvSpPr txBox="1"/>
            <p:nvPr/>
          </p:nvSpPr>
          <p:spPr>
            <a:xfrm>
              <a:off x="457200" y="2514600"/>
              <a:ext cx="822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1">
                  <a:solidFill>
                    <a:srgbClr val="111111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Data Science Interview Mastery</a:t>
              </a:r>
              <a:endParaRPr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63" name="Google Shape;63;p14"/>
            <p:cNvSpPr txBox="1"/>
            <p:nvPr/>
          </p:nvSpPr>
          <p:spPr>
            <a:xfrm>
              <a:off x="457200" y="3657600"/>
              <a:ext cx="82296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 b="0">
                  <a:solidFill>
                    <a:srgbClr val="0044C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Interactive Logic &amp; Intuition Puzzles for Undergraduate Students</a:t>
              </a:r>
              <a:endParaRPr sz="135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9" name="Google Shape;69;p15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70" name="Google Shape;70;p15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1" name="Google Shape;71;p15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2" name="Google Shape;72;p15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Google Shape;73;p15"/>
          <p:cNvSpPr txBox="1"/>
          <p:nvPr/>
        </p:nvSpPr>
        <p:spPr>
          <a:xfrm>
            <a:off x="914400" y="2286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Linear Baseline</a:t>
            </a:r>
            <a:endParaRPr sz="240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914400" y="647700"/>
            <a:ext cx="7620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When are classes naturally separable by a straight line?</a:t>
            </a:r>
            <a:endParaRPr sz="1350" b="0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57200" y="1333500"/>
            <a:ext cx="4381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Standard Scenario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457200" y="1619250"/>
            <a:ext cx="4381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 a standard 2D classification problem, data points are often grouped in distinct regions. If the blue and red classes do not overlap or interlock, a simple boundary is sufficient to split them.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457200" y="2476500"/>
            <a:ext cx="4381500" cy="9525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" name="Google Shape;78;p15"/>
          <p:cNvSpPr/>
          <p:nvPr/>
        </p:nvSpPr>
        <p:spPr>
          <a:xfrm>
            <a:off x="457200" y="2476500"/>
            <a:ext cx="38100" cy="9525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15"/>
          <p:cNvSpPr txBox="1"/>
          <p:nvPr/>
        </p:nvSpPr>
        <p:spPr>
          <a:xfrm>
            <a:off x="647700" y="2476500"/>
            <a:ext cx="400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Linear Separability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 dataset is linearly separable if we can draw at least one straight line that places all blue dots on one side and all red dots on the other.</a:t>
            </a:r>
            <a:endParaRPr sz="975" b="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457200" y="3619500"/>
            <a:ext cx="4381500" cy="10479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1" name="Google Shape;81;p15"/>
          <p:cNvSpPr txBox="1"/>
          <p:nvPr/>
        </p:nvSpPr>
        <p:spPr>
          <a:xfrm>
            <a:off x="647700" y="3619500"/>
            <a:ext cx="4000500" cy="1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Ideal Case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Before confronting complex distributions like concentric circles, we begin with this baseline where the simplest possible linear classifier performs with 100% accuracy.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5257800" y="1333500"/>
            <a:ext cx="3429000" cy="3429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3" name="Google Shape;83;p15" descr="A clean 2D scatter plot showing linearly separable data. Blue dots are clustered in the lower-left region and red dots are clustered in the upper-right region, with a clear empty diagonal gap between them suitable for a straight separating line."/>
          <p:cNvPicPr preferRelativeResize="0"/>
          <p:nvPr/>
        </p:nvPicPr>
        <p:blipFill rotWithShape="1">
          <a:blip r:embed="rId1"/>
          <a:srcRect r="-5887" b="-5887"/>
          <a:stretch>
            <a:fillRect/>
          </a:stretch>
        </p:blipFill>
        <p:spPr>
          <a:xfrm>
            <a:off x="5353050" y="1428750"/>
            <a:ext cx="3429000" cy="3429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cxnSp>
        <p:nvCxnSpPr>
          <p:cNvPr id="84" name="Google Shape;84;p15"/>
          <p:cNvCxnSpPr/>
          <p:nvPr/>
        </p:nvCxnSpPr>
        <p:spPr>
          <a:xfrm>
            <a:off x="6147325" y="2203100"/>
            <a:ext cx="1918800" cy="178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90" name="Google Shape;90;p16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91" name="Google Shape;91;p16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2" name="Google Shape;92;p16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93" name="Google Shape;93;p16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4" name="Google Shape;94;p16"/>
          <p:cNvSpPr txBox="1"/>
          <p:nvPr/>
        </p:nvSpPr>
        <p:spPr>
          <a:xfrm>
            <a:off x="914400" y="228600"/>
            <a:ext cx="7620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Linear Constraint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95" name="Google Shape;95;p16"/>
          <p:cNvSpPr txBox="1"/>
          <p:nvPr/>
        </p:nvSpPr>
        <p:spPr>
          <a:xfrm>
            <a:off x="914400" y="647700"/>
            <a:ext cx="7620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Can a straight line separate concentric circular classes?</a:t>
            </a:r>
            <a:endParaRPr sz="1350" b="0" i="0" u="none" strike="noStrike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457200" y="1333500"/>
            <a:ext cx="4381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Scenario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457200" y="1619250"/>
            <a:ext cx="4381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 2D classification scenario requires separating Red versus Blue classes, where Red completely surrounds a tight cluster of blue dots in the center.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457200" y="2476500"/>
            <a:ext cx="4381500" cy="9525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9" name="Google Shape;99;p16"/>
          <p:cNvSpPr/>
          <p:nvPr/>
        </p:nvSpPr>
        <p:spPr>
          <a:xfrm>
            <a:off x="457200" y="2476500"/>
            <a:ext cx="38100" cy="9525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0" name="Google Shape;100;p16"/>
          <p:cNvSpPr txBox="1"/>
          <p:nvPr/>
        </p:nvSpPr>
        <p:spPr>
          <a:xfrm>
            <a:off x="647700" y="2476500"/>
            <a:ext cx="400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Strict Constraint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machine learning model is purely linear, meaning it can only draw a straight line.</a:t>
            </a:r>
            <a:endParaRPr sz="975" b="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457200" y="3619500"/>
            <a:ext cx="4381500" cy="10479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2" name="Google Shape;102;p16"/>
          <p:cNvSpPr txBox="1"/>
          <p:nvPr/>
        </p:nvSpPr>
        <p:spPr>
          <a:xfrm>
            <a:off x="647700" y="3619500"/>
            <a:ext cx="4000500" cy="1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Puzzle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How can a straight line perfectly separate these two groups? Is it mathematically possible without changing the algorithm to something more complex?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5257800" y="1333500"/>
            <a:ext cx="3429000" cy="3429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04" name="Google Shape;104;p16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353050" y="1428750"/>
            <a:ext cx="3238500" cy="3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0" name="Google Shape;110;p1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11" name="Google Shape;111;p17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12" name="Google Shape;112;p17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3" name="Google Shape;113;p17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14" name="Google Shape;114;p17"/>
          <p:cNvSpPr txBox="1"/>
          <p:nvPr/>
        </p:nvSpPr>
        <p:spPr>
          <a:xfrm>
            <a:off x="457200" y="685800"/>
            <a:ext cx="8229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Dimensionality Uplift</a:t>
            </a:r>
            <a:endParaRPr sz="240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457200" y="10668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The solution is Dimensionality Uplift</a:t>
            </a:r>
            <a:endParaRPr sz="1350" b="0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16" name="Google Shape;116;p17"/>
          <p:cNvSpPr txBox="1"/>
          <p:nvPr/>
        </p:nvSpPr>
        <p:spPr>
          <a:xfrm>
            <a:off x="457200" y="1381125"/>
            <a:ext cx="36576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Dimensional Mapping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457200" y="1619250"/>
            <a:ext cx="3657600" cy="9144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8" name="Google Shape;118;p17"/>
          <p:cNvSpPr/>
          <p:nvPr/>
        </p:nvSpPr>
        <p:spPr>
          <a:xfrm>
            <a:off x="457200" y="1619250"/>
            <a:ext cx="38100" cy="9144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17"/>
          <p:cNvSpPr txBox="1"/>
          <p:nvPr/>
        </p:nvSpPr>
        <p:spPr>
          <a:xfrm>
            <a:off x="647700" y="1743075"/>
            <a:ext cx="3276600" cy="6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rgbClr val="111111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z = x² + y²</a:t>
            </a:r>
            <a:endParaRPr sz="1800" b="1">
              <a:solidFill>
                <a:srgbClr val="111111"/>
              </a:solidFill>
              <a:latin typeface="Courier New" panose="02070409020205090404"/>
              <a:ea typeface="Courier New" panose="02070409020205090404"/>
              <a:cs typeface="Courier New" panose="02070409020205090404"/>
              <a:sym typeface="Courier New" panose="020704090202050904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Measures distance from center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457200" y="2686050"/>
            <a:ext cx="3657600" cy="21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By adding a third dimension (z) using the simple formula z = x^2 + y^2, we measure the distance from the center.</a:t>
            </a:r>
            <a:endParaRPr sz="97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Blue points remain low, while Red points shoot upward into a 3D bowl shape.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This illustrates the core intuition behind Kernel Methods, such as Support Vector Machines (SVMs), and Feature Engineering.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Projecting data into a higher dimension achieves linear separability without increasing model complexity.</a:t>
            </a:r>
            <a:endParaRPr sz="97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5181600" y="1371600"/>
            <a:ext cx="3162300" cy="31623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22" name="Google Shape;122;p17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191125" y="1381125"/>
            <a:ext cx="3143400" cy="314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7"/>
          <p:cNvSpPr txBox="1"/>
          <p:nvPr/>
        </p:nvSpPr>
        <p:spPr>
          <a:xfrm>
            <a:off x="4572000" y="4648200"/>
            <a:ext cx="45720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Figure 1: 3D Projection into a Linearly Separable Space</a:t>
            </a:r>
            <a:endParaRPr sz="750" b="0">
              <a:solidFill>
                <a:srgbClr val="555555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18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29" name="Google Shape;129;p18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0" name="Google Shape;130;p18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31" name="Google Shape;131;p18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2" name="Google Shape;132;p18"/>
          <p:cNvSpPr txBox="1"/>
          <p:nvPr/>
        </p:nvSpPr>
        <p:spPr>
          <a:xfrm>
            <a:off x="914400" y="228600"/>
            <a:ext cx="77724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Which Surgeon has a superior success rate ?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45720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18"/>
          <p:cNvSpPr txBox="1"/>
          <p:nvPr/>
        </p:nvSpPr>
        <p:spPr>
          <a:xfrm>
            <a:off x="60960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A SUCCESS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700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79%</a:t>
            </a:r>
            <a:endParaRPr sz="2700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466725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6" name="Google Shape;136;p18"/>
          <p:cNvSpPr txBox="1"/>
          <p:nvPr/>
        </p:nvSpPr>
        <p:spPr>
          <a:xfrm>
            <a:off x="481965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B SUCCESS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84%</a:t>
            </a:r>
            <a:endParaRPr sz="3000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4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7" name="Google Shape;137;p18"/>
          <p:cNvSpPr/>
          <p:nvPr/>
        </p:nvSpPr>
        <p:spPr>
          <a:xfrm>
            <a:off x="457200" y="4095750"/>
            <a:ext cx="8229600" cy="5715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  </a:t>
            </a:r>
            <a:r>
              <a:rPr lang="en-GB"/>
              <a:t>Dr. B appears to have a </a:t>
            </a:r>
            <a:r>
              <a:rPr lang="en-GB"/>
              <a:t>superior</a:t>
            </a:r>
            <a:r>
              <a:rPr lang="en-GB"/>
              <a:t> success rate</a:t>
            </a:r>
            <a:endParaRPr lang="en-GB"/>
          </a:p>
        </p:txBody>
      </p:sp>
      <p:sp>
        <p:nvSpPr>
          <p:cNvPr id="138" name="Google Shape;138;p18"/>
          <p:cNvSpPr/>
          <p:nvPr/>
        </p:nvSpPr>
        <p:spPr>
          <a:xfrm>
            <a:off x="457200" y="4095750"/>
            <a:ext cx="38100" cy="5715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9" name="Google Shape;139;p18" descr="&quot;Male doctor smiling, portrait, close-up&quot; (Provided by Getty Images)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67250" y="1091625"/>
            <a:ext cx="1904998" cy="127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 descr="Portrait of a female Doctor (Provided by Getty Images)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7200" y="1062510"/>
            <a:ext cx="1904998" cy="1269699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/>
          <p:nvPr/>
        </p:nvSpPr>
        <p:spPr>
          <a:xfrm>
            <a:off x="1558303" y="2400300"/>
            <a:ext cx="25107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18"/>
          <p:cNvSpPr txBox="1"/>
          <p:nvPr/>
        </p:nvSpPr>
        <p:spPr>
          <a:xfrm>
            <a:off x="1516375" y="2548875"/>
            <a:ext cx="24270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5806450" y="2396500"/>
            <a:ext cx="27204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4" name="Google Shape;144;p18"/>
          <p:cNvSpPr txBox="1"/>
          <p:nvPr/>
        </p:nvSpPr>
        <p:spPr>
          <a:xfrm>
            <a:off x="5806450" y="2548900"/>
            <a:ext cx="26517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19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50" name="Google Shape;150;p19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1" name="Google Shape;151;p19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52" name="Google Shape;152;p19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3" name="Google Shape;153;p19"/>
          <p:cNvSpPr txBox="1"/>
          <p:nvPr/>
        </p:nvSpPr>
        <p:spPr>
          <a:xfrm>
            <a:off x="914400" y="228600"/>
            <a:ext cx="77724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Which Doctor has a superior success rate ?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45720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19"/>
          <p:cNvSpPr txBox="1"/>
          <p:nvPr/>
        </p:nvSpPr>
        <p:spPr>
          <a:xfrm>
            <a:off x="60960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A SUCCESS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700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79%</a:t>
            </a:r>
            <a:endParaRPr sz="2700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66725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19"/>
          <p:cNvSpPr txBox="1"/>
          <p:nvPr/>
        </p:nvSpPr>
        <p:spPr>
          <a:xfrm>
            <a:off x="481965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B SUCCESS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84%</a:t>
            </a:r>
            <a:endParaRPr sz="3000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4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8" name="Google Shape;158;p19"/>
          <p:cNvSpPr/>
          <p:nvPr/>
        </p:nvSpPr>
        <p:spPr>
          <a:xfrm>
            <a:off x="457200" y="4095750"/>
            <a:ext cx="8229600" cy="5715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  </a:t>
            </a:r>
            <a:r>
              <a:rPr lang="en-GB"/>
              <a:t>Now, Does Dr. A look better ? How is this even possible ?</a:t>
            </a:r>
            <a:endParaRPr lang="en-GB"/>
          </a:p>
        </p:txBody>
      </p:sp>
      <p:sp>
        <p:nvSpPr>
          <p:cNvPr id="159" name="Google Shape;159;p19"/>
          <p:cNvSpPr/>
          <p:nvPr/>
        </p:nvSpPr>
        <p:spPr>
          <a:xfrm>
            <a:off x="457200" y="4095750"/>
            <a:ext cx="38100" cy="5715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60" name="Google Shape;160;p19" descr="&quot;Male doctor smiling, portrait, close-up&quot; (Provided by Getty Images)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67250" y="1091625"/>
            <a:ext cx="1904998" cy="127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9" descr="Portrait of a female Doctor (Provided by Getty Images)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7200" y="1062510"/>
            <a:ext cx="1904998" cy="1269699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9"/>
          <p:cNvSpPr/>
          <p:nvPr/>
        </p:nvSpPr>
        <p:spPr>
          <a:xfrm>
            <a:off x="1558303" y="2400300"/>
            <a:ext cx="25107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3" name="Google Shape;163;p19"/>
          <p:cNvSpPr txBox="1"/>
          <p:nvPr/>
        </p:nvSpPr>
        <p:spPr>
          <a:xfrm>
            <a:off x="1516375" y="2548875"/>
            <a:ext cx="24270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Severe Cases: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76%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Easy Cases: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90%   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5806450" y="2396500"/>
            <a:ext cx="27204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19"/>
          <p:cNvSpPr txBox="1"/>
          <p:nvPr/>
        </p:nvSpPr>
        <p:spPr>
          <a:xfrm>
            <a:off x="5806450" y="2548900"/>
            <a:ext cx="26517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Severe Cases: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75%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Easy Cases: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86%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20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71" name="Google Shape;171;p20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2" name="Google Shape;172;p20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73" name="Google Shape;173;p20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4" name="Google Shape;174;p20"/>
          <p:cNvSpPr txBox="1"/>
          <p:nvPr/>
        </p:nvSpPr>
        <p:spPr>
          <a:xfrm>
            <a:off x="914400" y="228600"/>
            <a:ext cx="77724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Which Doctor has a superior success rate ?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45720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20"/>
          <p:cNvSpPr txBox="1"/>
          <p:nvPr/>
        </p:nvSpPr>
        <p:spPr>
          <a:xfrm>
            <a:off x="60960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A SUCCESS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700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79%</a:t>
            </a:r>
            <a:endParaRPr sz="2700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466725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20"/>
          <p:cNvSpPr txBox="1"/>
          <p:nvPr/>
        </p:nvSpPr>
        <p:spPr>
          <a:xfrm>
            <a:off x="481965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B SUCCESS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84%</a:t>
            </a:r>
            <a:endParaRPr sz="3000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4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9" name="Google Shape;179;p20"/>
          <p:cNvSpPr/>
          <p:nvPr/>
        </p:nvSpPr>
        <p:spPr>
          <a:xfrm>
            <a:off x="457200" y="4095750"/>
            <a:ext cx="8229600" cy="5715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  </a:t>
            </a:r>
            <a:r>
              <a:rPr lang="en-GB"/>
              <a:t>This is Simpson’s Paradox in action</a:t>
            </a:r>
            <a:endParaRPr lang="en-GB"/>
          </a:p>
        </p:txBody>
      </p:sp>
      <p:sp>
        <p:nvSpPr>
          <p:cNvPr id="180" name="Google Shape;180;p20"/>
          <p:cNvSpPr/>
          <p:nvPr/>
        </p:nvSpPr>
        <p:spPr>
          <a:xfrm>
            <a:off x="457200" y="4095750"/>
            <a:ext cx="38100" cy="5715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81" name="Google Shape;181;p20" descr="&quot;Male doctor smiling, portrait, close-up&quot; (Provided by Getty Images)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67250" y="1091625"/>
            <a:ext cx="1904998" cy="127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0" descr="Portrait of a female Doctor (Provided by Getty Images)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7200" y="1062510"/>
            <a:ext cx="1904998" cy="1269699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0"/>
          <p:cNvSpPr/>
          <p:nvPr/>
        </p:nvSpPr>
        <p:spPr>
          <a:xfrm>
            <a:off x="1558303" y="2400300"/>
            <a:ext cx="25107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4" name="Google Shape;184;p20"/>
          <p:cNvSpPr txBox="1"/>
          <p:nvPr/>
        </p:nvSpPr>
        <p:spPr>
          <a:xfrm>
            <a:off x="1516375" y="2548875"/>
            <a:ext cx="24270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Severe Cases: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76%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(61/80)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Easy Cases: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90%    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(18/20)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85" name="Google Shape;185;p20"/>
          <p:cNvSpPr/>
          <p:nvPr/>
        </p:nvSpPr>
        <p:spPr>
          <a:xfrm>
            <a:off x="5806450" y="2396500"/>
            <a:ext cx="27204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6" name="Google Shape;186;p20"/>
          <p:cNvSpPr txBox="1"/>
          <p:nvPr/>
        </p:nvSpPr>
        <p:spPr>
          <a:xfrm>
            <a:off x="5806450" y="2548900"/>
            <a:ext cx="26517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Severe Cases: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75% 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(15/20)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Easy Cases: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86% 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(69/80)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92" name="Google Shape;192;p21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93" name="Google Shape;193;p21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95" name="Google Shape;195;p21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21"/>
          <p:cNvSpPr txBox="1"/>
          <p:nvPr/>
        </p:nvSpPr>
        <p:spPr>
          <a:xfrm>
            <a:off x="914400" y="228600"/>
            <a:ext cx="7772400" cy="7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Bomber Paradox</a:t>
            </a:r>
            <a:endParaRPr sz="240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An exercise in logical analysis and survivorship bias</a:t>
            </a:r>
            <a:endParaRPr sz="1350" b="0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97" name="Google Shape;197;p21"/>
          <p:cNvSpPr txBox="1"/>
          <p:nvPr/>
        </p:nvSpPr>
        <p:spPr>
          <a:xfrm>
            <a:off x="368400" y="1333500"/>
            <a:ext cx="34290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WWII Data Probl</a:t>
            </a:r>
            <a:r>
              <a:rPr lang="en-GB" sz="10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em</a:t>
            </a:r>
            <a:endParaRPr sz="10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2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</a:t>
            </a:r>
            <a:r>
              <a:rPr lang="en-GB" sz="12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ilitar</a:t>
            </a:r>
            <a:r>
              <a:rPr lang="en-GB" sz="12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ies</a:t>
            </a:r>
            <a:r>
              <a:rPr lang="en-GB" sz="12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wanted to minimize </a:t>
            </a:r>
            <a:r>
              <a:rPr lang="en-GB" sz="12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airplane </a:t>
            </a:r>
            <a:r>
              <a:rPr lang="en-GB" sz="12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losses to enemy fire. </a:t>
            </a:r>
            <a:endParaRPr sz="12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GB" sz="12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Data collected from returning planes showed the most damage on the wings, fuselage, and tail</a:t>
            </a:r>
            <a:endParaRPr sz="125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GB" sz="12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Interestingly, t</a:t>
            </a:r>
            <a:r>
              <a:rPr lang="en-GB" sz="12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he cockpit and engines remained clean</a:t>
            </a:r>
            <a:endParaRPr sz="12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0044CC"/>
                </a:solidFill>
                <a:highlight>
                  <a:srgbClr val="E6F0FF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The Critical Question</a:t>
            </a:r>
            <a:endParaRPr sz="1025" b="0">
              <a:solidFill>
                <a:srgbClr val="0044CC"/>
              </a:solidFill>
              <a:highlight>
                <a:srgbClr val="E6F0FF"/>
              </a:highlight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25" b="0">
                <a:solidFill>
                  <a:srgbClr val="111111"/>
                </a:solidFill>
                <a:highlight>
                  <a:srgbClr val="E6F0FF"/>
                </a:highlight>
                <a:latin typeface="Inter Medium"/>
                <a:ea typeface="Inter Medium"/>
                <a:cs typeface="Inter Medium"/>
                <a:sym typeface="Inter Medium"/>
              </a:rPr>
              <a:t>Based strictly on this data map showing where the bullet holes are concentrated, where should you add heavy armor to the planes to improve survival rates?</a:t>
            </a:r>
            <a:endParaRPr sz="1325" b="0">
              <a:solidFill>
                <a:srgbClr val="111111"/>
              </a:solidFill>
              <a:highlight>
                <a:srgbClr val="E6F0FF"/>
              </a:highlight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98" name="Google Shape;198;p21"/>
          <p:cNvSpPr/>
          <p:nvPr/>
        </p:nvSpPr>
        <p:spPr>
          <a:xfrm>
            <a:off x="5257800" y="1333500"/>
            <a:ext cx="3429000" cy="3429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99" name="Google Shape;199;p21" title="surviving_planes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994750" y="1162200"/>
            <a:ext cx="4900724" cy="3823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2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05" name="Google Shape;205;p22"/>
            <p:cNvSpPr/>
            <p:nvPr/>
          </p:nvSpPr>
          <p:spPr>
            <a:xfrm>
              <a:off x="0" y="0"/>
              <a:ext cx="4009800" cy="5143500"/>
            </a:xfrm>
            <a:prstGeom prst="rect">
              <a:avLst/>
            </a:prstGeom>
            <a:solidFill>
              <a:srgbClr val="F4F5F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6" name="Google Shape;206;p22"/>
            <p:cNvSpPr/>
            <p:nvPr/>
          </p:nvSpPr>
          <p:spPr>
            <a:xfrm>
              <a:off x="4572000" y="0"/>
              <a:ext cx="4572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207" name="Google Shape;207;p22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208" name="Google Shape;208;p22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09" name="Google Shape;209;p22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sp>
        <p:nvSpPr>
          <p:cNvPr id="210" name="Google Shape;210;p22"/>
          <p:cNvSpPr txBox="1"/>
          <p:nvPr/>
        </p:nvSpPr>
        <p:spPr>
          <a:xfrm>
            <a:off x="771730" y="231889"/>
            <a:ext cx="3657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Survivorship Bias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11" name="Google Shape;211;p22"/>
          <p:cNvSpPr txBox="1"/>
          <p:nvPr/>
        </p:nvSpPr>
        <p:spPr>
          <a:xfrm>
            <a:off x="457200" y="1276350"/>
            <a:ext cx="3294900" cy="1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sample only includes planes that successfully survived the journey back. Planes shot in the engines or cockpit crashed and never returned to be measured.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Therefore, the armor belongs exactly where the bullet holes aren't.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12" name="Google Shape;212;p22"/>
          <p:cNvSpPr txBox="1"/>
          <p:nvPr/>
        </p:nvSpPr>
        <p:spPr>
          <a:xfrm>
            <a:off x="457200" y="2476500"/>
            <a:ext cx="3477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Tech &amp; Startup Parallel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If you only train models on existing customer data, you miss churned users.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213" name="Google Shape;213;p22"/>
          <p:cNvGrpSpPr/>
          <p:nvPr/>
        </p:nvGrpSpPr>
        <p:grpSpPr>
          <a:xfrm>
            <a:off x="457189" y="3619500"/>
            <a:ext cx="3476915" cy="857400"/>
            <a:chOff x="457200" y="3619500"/>
            <a:chExt cx="3657600" cy="857400"/>
          </a:xfrm>
        </p:grpSpPr>
        <p:sp>
          <p:nvSpPr>
            <p:cNvPr id="214" name="Google Shape;214;p22"/>
            <p:cNvSpPr/>
            <p:nvPr/>
          </p:nvSpPr>
          <p:spPr>
            <a:xfrm>
              <a:off x="457200" y="3619500"/>
              <a:ext cx="3657600" cy="857400"/>
            </a:xfrm>
            <a:prstGeom prst="rect">
              <a:avLst/>
            </a:prstGeom>
            <a:solidFill>
              <a:srgbClr val="E6F0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5" name="Google Shape;215;p22"/>
            <p:cNvSpPr/>
            <p:nvPr/>
          </p:nvSpPr>
          <p:spPr>
            <a:xfrm>
              <a:off x="457200" y="3619500"/>
              <a:ext cx="38100" cy="857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6" name="Google Shape;216;p22"/>
            <p:cNvSpPr txBox="1"/>
            <p:nvPr/>
          </p:nvSpPr>
          <p:spPr>
            <a:xfrm>
              <a:off x="647700" y="3619500"/>
              <a:ext cx="31044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25" b="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 Missing Perspective</a:t>
              </a:r>
              <a:endParaRPr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044C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Always ask: "What data am I NOT seeing?"</a:t>
              </a:r>
              <a:endParaRPr sz="120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sp>
        <p:nvSpPr>
          <p:cNvPr id="217" name="Google Shape;217;p22"/>
          <p:cNvSpPr/>
          <p:nvPr/>
        </p:nvSpPr>
        <p:spPr>
          <a:xfrm>
            <a:off x="4953000" y="762000"/>
            <a:ext cx="3619500" cy="36195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218" name="Google Shape;218;p22" title="missing_planes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146453" y="685800"/>
            <a:ext cx="4885573" cy="3980774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Google Shape;223;p2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24" name="Google Shape;224;p23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225" name="Google Shape;225;p23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226" name="Google Shape;226;p23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27" name="Google Shape;227;p23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228" name="Google Shape;228;p23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29" name="Google Shape;229;p23"/>
          <p:cNvSpPr txBox="1"/>
          <p:nvPr/>
        </p:nvSpPr>
        <p:spPr>
          <a:xfrm>
            <a:off x="914400" y="228600"/>
            <a:ext cx="7886700" cy="647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Mapping Challenge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30" name="Google Shape;230;p23"/>
          <p:cNvSpPr txBox="1"/>
          <p:nvPr/>
        </p:nvSpPr>
        <p:spPr>
          <a:xfrm>
            <a:off x="831246" y="1638359"/>
            <a:ext cx="7106888" cy="299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15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Design a function that accepts any real number a</a:t>
            </a:r>
            <a:r>
              <a:rPr lang="en-GB" sz="1915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s an input</a:t>
            </a:r>
            <a:endParaRPr sz="1915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31" name="Google Shape;231;p23"/>
          <p:cNvSpPr/>
          <p:nvPr/>
        </p:nvSpPr>
        <p:spPr>
          <a:xfrm>
            <a:off x="532000" y="1286824"/>
            <a:ext cx="7780200" cy="29949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Design a function - f(x) = y with the following specifications:</a:t>
            </a: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Input x - any real number [-</a:t>
            </a:r>
            <a:r>
              <a:rPr lang="en-GB" sz="2100"/>
              <a:t>∞, +</a:t>
            </a:r>
            <a:r>
              <a:rPr lang="en-GB" sz="2100">
                <a:solidFill>
                  <a:schemeClr val="dk1"/>
                </a:solidFill>
              </a:rPr>
              <a:t>∞</a:t>
            </a:r>
            <a:r>
              <a:rPr lang="en-GB" sz="1700"/>
              <a:t>]</a:t>
            </a: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Output y - has to be in the interval [0, 7]</a:t>
            </a: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The function must be smooth and monotonic i.e. as input x increases, the output y also increases</a:t>
            </a:r>
            <a:endParaRPr sz="17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oogle Shape;236;p2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37" name="Google Shape;237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 panose="020B0604020202090204"/>
                <a:buNone/>
              </a:pPr>
            </a:p>
          </p:txBody>
        </p:sp>
        <p:grpSp>
          <p:nvGrpSpPr>
            <p:cNvPr id="238" name="Google Shape;238;p24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239" name="Google Shape;239;p24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40" name="Google Shape;240;p24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241" name="Google Shape;241;p24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42" name="Google Shape;242;p24"/>
          <p:cNvSpPr txBox="1"/>
          <p:nvPr/>
        </p:nvSpPr>
        <p:spPr>
          <a:xfrm>
            <a:off x="914400" y="228600"/>
            <a:ext cx="7886700" cy="647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Foundation: Pure Sigmoid Function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43" name="Google Shape;243;p24"/>
          <p:cNvSpPr/>
          <p:nvPr/>
        </p:nvSpPr>
        <p:spPr>
          <a:xfrm>
            <a:off x="360175" y="2483275"/>
            <a:ext cx="3411300" cy="21117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Evaluate the function: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f(-∞) = 0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f(0) = 0.5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f(+</a:t>
            </a:r>
            <a:r>
              <a:rPr lang="en-GB" sz="1700">
                <a:solidFill>
                  <a:schemeClr val="dk1"/>
                </a:solidFill>
              </a:rPr>
              <a:t>∞) = 1</a:t>
            </a:r>
            <a:endParaRPr sz="1700"/>
          </a:p>
        </p:txBody>
      </p:sp>
      <p:pic>
        <p:nvPicPr>
          <p:cNvPr id="244" name="Google Shape;244;p24" descr="f\left(x\right)=\frac{1}{\left(1+e^{-x}\right)}&#10;%26aa5a0c-4933-4ff5-9163-47cc790b8ce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54688" y="1346075"/>
            <a:ext cx="2562225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4" descr="a sigmoid curve with the y axis ranging from 0 to 1"/>
          <p:cNvPicPr preferRelativeResize="0"/>
          <p:nvPr/>
        </p:nvPicPr>
        <p:blipFill rotWithShape="1">
          <a:blip r:embed="rId2"/>
          <a:srcRect t="12542" r="882"/>
          <a:stretch>
            <a:fillRect/>
          </a:stretch>
        </p:blipFill>
        <p:spPr>
          <a:xfrm>
            <a:off x="3964775" y="1364661"/>
            <a:ext cx="4915350" cy="241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oogle Shape;250;p25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51" name="Google Shape;251;p2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252" name="Google Shape;252;p25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253" name="Google Shape;253;p25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54" name="Google Shape;254;p25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255" name="Google Shape;255;p25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56" name="Google Shape;256;p25"/>
          <p:cNvSpPr txBox="1"/>
          <p:nvPr/>
        </p:nvSpPr>
        <p:spPr>
          <a:xfrm>
            <a:off x="914400" y="228600"/>
            <a:ext cx="7886700" cy="647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Tweaking the </a:t>
            </a: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Sigmoid Function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57" name="Google Shape;257;p25"/>
          <p:cNvSpPr/>
          <p:nvPr/>
        </p:nvSpPr>
        <p:spPr>
          <a:xfrm>
            <a:off x="360175" y="2483275"/>
            <a:ext cx="3411300" cy="21117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Evaluate the function: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f(-∞) = 0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f(0) = 3.5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f(+</a:t>
            </a:r>
            <a:r>
              <a:rPr lang="en-GB" sz="1700">
                <a:solidFill>
                  <a:schemeClr val="dk1"/>
                </a:solidFill>
              </a:rPr>
              <a:t>∞) = 7</a:t>
            </a:r>
            <a:endParaRPr sz="1700"/>
          </a:p>
        </p:txBody>
      </p:sp>
      <p:pic>
        <p:nvPicPr>
          <p:cNvPr id="258" name="Google Shape;258;p25" descr="Now give me the exat same sigmoid curve - but the output in the y axis ranging from 0 to 7 instead"/>
          <p:cNvPicPr preferRelativeResize="0"/>
          <p:nvPr/>
        </p:nvPicPr>
        <p:blipFill rotWithShape="1">
          <a:blip r:embed="rId1"/>
          <a:srcRect l="2563" t="14097"/>
          <a:stretch>
            <a:fillRect/>
          </a:stretch>
        </p:blipFill>
        <p:spPr>
          <a:xfrm>
            <a:off x="4114800" y="1346075"/>
            <a:ext cx="4751950" cy="252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 descr="f\left(x\right)=\frac{7}{\left(1+e^{-x}\right)}&#10;%eed6fa9b-87e2-4125-93a1-5740047a2cee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025" y="1394025"/>
            <a:ext cx="2562225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Google Shape;264;p26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265" name="Google Shape;265;p26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67" name="Google Shape;267;p26"/>
          <p:cNvSpPr txBox="1"/>
          <p:nvPr/>
        </p:nvSpPr>
        <p:spPr>
          <a:xfrm>
            <a:off x="914400" y="228600"/>
            <a:ext cx="7772400" cy="71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Balancing Security &amp; Flow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The Precision-Recall Dilemma in Detection Algorithms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68" name="Google Shape;268;p26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9" name="Google Shape;269;p26"/>
          <p:cNvSpPr txBox="1"/>
          <p:nvPr/>
        </p:nvSpPr>
        <p:spPr>
          <a:xfrm>
            <a:off x="457200" y="1333500"/>
            <a:ext cx="4000500" cy="3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Competing Forces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Recall (Sensitivity) vs. Precision (Specificity)</a:t>
            </a:r>
            <a:endParaRPr sz="11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Hypersensitive (High Recall):</a:t>
            </a: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Flags every potential threat to eliminate False Negatives. However, it floods the system with False Positives (metal buttons, foil), causing massive passenger bottlenecks.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9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Loosened (High Precision):</a:t>
            </a: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Reduces false alarms to ensure rapid throughput. However, it increases the rate of False Negatives, raising the critical risk that dangerous items pass undetected.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Optimizing the Threshold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Cost-Benefit ROC Curve Analysis</a:t>
            </a:r>
            <a:endParaRPr sz="11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Data scientists utilize an </a:t>
            </a:r>
            <a:r>
              <a:rPr lang="en-GB" sz="9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ROC or Precision-Recall curve</a:t>
            </a: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to find the mathematically optimal threshold. The decision boundary is determined by weighting the catastrophic security cost of a missed threat against the operational costs of extreme airport delays.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270" name="Google Shape;270;p26"/>
          <p:cNvGrpSpPr/>
          <p:nvPr/>
        </p:nvGrpSpPr>
        <p:grpSpPr>
          <a:xfrm>
            <a:off x="4953000" y="1333500"/>
            <a:ext cx="3733800" cy="3238500"/>
            <a:chOff x="4953000" y="1333500"/>
            <a:chExt cx="3733800" cy="3238500"/>
          </a:xfrm>
        </p:grpSpPr>
        <p:sp>
          <p:nvSpPr>
            <p:cNvPr id="271" name="Google Shape;271;p26"/>
            <p:cNvSpPr/>
            <p:nvPr/>
          </p:nvSpPr>
          <p:spPr>
            <a:xfrm>
              <a:off x="4953000" y="1333500"/>
              <a:ext cx="3733800" cy="3238500"/>
            </a:xfrm>
            <a:prstGeom prst="rect">
              <a:avLst/>
            </a:prstGeom>
            <a:solidFill>
              <a:srgbClr val="F4F5F7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pic>
          <p:nvPicPr>
            <p:cNvPr id="272" name="Google Shape;272;p26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5295900" y="1428750"/>
              <a:ext cx="3048000" cy="3048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8" name="Google Shape;278;p2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79" name="Google Shape;279;p27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280" name="Google Shape;280;p27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1" name="Google Shape;281;p27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82" name="Google Shape;282;p27"/>
          <p:cNvSpPr txBox="1"/>
          <p:nvPr/>
        </p:nvSpPr>
        <p:spPr>
          <a:xfrm>
            <a:off x="457200" y="685800"/>
            <a:ext cx="82296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Precision vs. Recall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Understanding the Tradeoff Between Precision and Recall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283" name="Google Shape;283;p27"/>
          <p:cNvGrpSpPr/>
          <p:nvPr/>
        </p:nvGrpSpPr>
        <p:grpSpPr>
          <a:xfrm>
            <a:off x="457200" y="1428750"/>
            <a:ext cx="3657600" cy="2476500"/>
            <a:chOff x="457200" y="1428750"/>
            <a:chExt cx="3657600" cy="2476500"/>
          </a:xfrm>
        </p:grpSpPr>
        <p:sp>
          <p:nvSpPr>
            <p:cNvPr id="284" name="Google Shape;284;p27"/>
            <p:cNvSpPr/>
            <p:nvPr/>
          </p:nvSpPr>
          <p:spPr>
            <a:xfrm>
              <a:off x="457200" y="1428750"/>
              <a:ext cx="3657600" cy="24765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5" name="Google Shape;285;p27"/>
            <p:cNvSpPr/>
            <p:nvPr/>
          </p:nvSpPr>
          <p:spPr>
            <a:xfrm>
              <a:off x="457200" y="1428750"/>
              <a:ext cx="3657600" cy="381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6" name="Google Shape;286;p27"/>
            <p:cNvSpPr txBox="1"/>
            <p:nvPr/>
          </p:nvSpPr>
          <p:spPr>
            <a:xfrm>
              <a:off x="685800" y="1657350"/>
              <a:ext cx="3200400" cy="20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25" b="0">
                  <a:solidFill>
                    <a:srgbClr val="0044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Precision (Quality)</a:t>
              </a:r>
              <a:endParaRPr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350" b="1">
                  <a:solidFill>
                    <a:srgbClr val="111111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Precision measures quality</a:t>
              </a:r>
              <a:endParaRPr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675" b="0">
                  <a:solidFill>
                    <a:srgbClr val="5555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Core Question</a:t>
              </a:r>
              <a:endParaRPr sz="675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Of all flagged items, how many are actually guilty?</a:t>
              </a:r>
              <a:endParaRPr sz="975" b="0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675" b="0">
                  <a:solidFill>
                    <a:srgbClr val="5555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System Outcome</a:t>
              </a:r>
              <a:endParaRPr sz="675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55555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High precision means </a:t>
              </a:r>
              <a:r>
                <a:rPr lang="en-GB" sz="975" b="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zero false alarms</a:t>
              </a:r>
              <a:r>
                <a:rPr lang="en-GB" sz="975" b="0">
                  <a:solidFill>
                    <a:srgbClr val="55555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and short lines.</a:t>
              </a:r>
              <a:endParaRPr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87" name="Google Shape;287;p27"/>
          <p:cNvGrpSpPr/>
          <p:nvPr/>
        </p:nvGrpSpPr>
        <p:grpSpPr>
          <a:xfrm>
            <a:off x="5029200" y="1428750"/>
            <a:ext cx="3657600" cy="2476500"/>
            <a:chOff x="5029200" y="1428750"/>
            <a:chExt cx="3657600" cy="2476500"/>
          </a:xfrm>
        </p:grpSpPr>
        <p:sp>
          <p:nvSpPr>
            <p:cNvPr id="288" name="Google Shape;288;p27"/>
            <p:cNvSpPr/>
            <p:nvPr/>
          </p:nvSpPr>
          <p:spPr>
            <a:xfrm>
              <a:off x="5029200" y="1428750"/>
              <a:ext cx="3657600" cy="2476500"/>
            </a:xfrm>
            <a:prstGeom prst="rect">
              <a:avLst/>
            </a:prstGeom>
            <a:solidFill>
              <a:srgbClr val="F4F5F7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9" name="Google Shape;289;p27"/>
            <p:cNvSpPr/>
            <p:nvPr/>
          </p:nvSpPr>
          <p:spPr>
            <a:xfrm>
              <a:off x="5029200" y="1428750"/>
              <a:ext cx="3657600" cy="381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0" name="Google Shape;290;p27"/>
            <p:cNvSpPr txBox="1"/>
            <p:nvPr/>
          </p:nvSpPr>
          <p:spPr>
            <a:xfrm>
              <a:off x="5257800" y="1657350"/>
              <a:ext cx="3200400" cy="20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25" b="0">
                  <a:solidFill>
                    <a:srgbClr val="0044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Recall (Quantity)</a:t>
              </a:r>
              <a:endParaRPr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350" b="1">
                  <a:solidFill>
                    <a:srgbClr val="111111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Recall measures quantity</a:t>
              </a:r>
              <a:endParaRPr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675" b="0">
                  <a:solidFill>
                    <a:srgbClr val="5555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Core Question</a:t>
              </a:r>
              <a:endParaRPr sz="675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Of all actual threats, how many did we catch?</a:t>
              </a:r>
              <a:endParaRPr sz="975" b="0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675" b="0">
                  <a:solidFill>
                    <a:srgbClr val="5555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System Outcome</a:t>
              </a:r>
              <a:endParaRPr sz="675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55555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High recall means </a:t>
              </a:r>
              <a:r>
                <a:rPr lang="en-GB" sz="975" b="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zero threats missed</a:t>
              </a:r>
              <a:r>
                <a:rPr lang="en-GB" sz="975" b="0">
                  <a:solidFill>
                    <a:srgbClr val="55555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but long lines.</a:t>
              </a:r>
              <a:endParaRPr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91" name="Google Shape;291;p27"/>
          <p:cNvGrpSpPr/>
          <p:nvPr/>
        </p:nvGrpSpPr>
        <p:grpSpPr>
          <a:xfrm>
            <a:off x="457200" y="4133850"/>
            <a:ext cx="8229600" cy="533400"/>
            <a:chOff x="0" y="0"/>
            <a:chExt cx="8229600" cy="533400"/>
          </a:xfrm>
        </p:grpSpPr>
        <p:sp>
          <p:nvSpPr>
            <p:cNvPr id="292" name="Google Shape;292;p27"/>
            <p:cNvSpPr/>
            <p:nvPr/>
          </p:nvSpPr>
          <p:spPr>
            <a:xfrm>
              <a:off x="0" y="0"/>
              <a:ext cx="8229600" cy="533400"/>
            </a:xfrm>
            <a:prstGeom prst="rect">
              <a:avLst/>
            </a:prstGeom>
            <a:solidFill>
              <a:srgbClr val="E6F0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3" name="Google Shape;293;p27"/>
            <p:cNvSpPr/>
            <p:nvPr/>
          </p:nvSpPr>
          <p:spPr>
            <a:xfrm>
              <a:off x="0" y="0"/>
              <a:ext cx="38100" cy="533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4" name="Google Shape;294;p27"/>
            <p:cNvSpPr txBox="1"/>
            <p:nvPr/>
          </p:nvSpPr>
          <p:spPr>
            <a:xfrm>
              <a:off x="228600" y="95250"/>
              <a:ext cx="77724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0044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Strategic Tradeoff: </a:t>
              </a:r>
              <a:r>
                <a:rPr lang="en-GB" sz="975" b="0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High-stakes scenarios optimize for Recall, while low-stakes optimize for Precision.</a:t>
              </a:r>
              <a:endParaRPr sz="900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Google Shape;299;p28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300" name="Google Shape;300;p28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1" name="Google Shape;301;p28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02" name="Google Shape;302;p28"/>
          <p:cNvSpPr txBox="1"/>
          <p:nvPr/>
        </p:nvSpPr>
        <p:spPr>
          <a:xfrm>
            <a:off x="914400" y="152400"/>
            <a:ext cx="77724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Engineering Fairness from Bias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Probability &amp; Repeated Trials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03" name="Google Shape;303;p28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4" name="Google Shape;304;p28"/>
          <p:cNvSpPr txBox="1"/>
          <p:nvPr/>
        </p:nvSpPr>
        <p:spPr>
          <a:xfrm>
            <a:off x="457200" y="1188225"/>
            <a:ext cx="4724400" cy="37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What is a Fair Coin ?</a:t>
            </a: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P(H) != P(T) = 0.5 (i.e. 50%)</a:t>
            </a:r>
            <a:endParaRPr sz="105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Coin Flip Game</a:t>
            </a: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Two players toss a coin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Player 1 wins if it is Heads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Player 2 wins if it is Tails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 panose="020B0604020202090204"/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game is fair - Both players have equal chance of winning</a:t>
            </a:r>
            <a:endParaRPr sz="105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05" name="Google Shape;305;p28"/>
          <p:cNvSpPr/>
          <p:nvPr/>
        </p:nvSpPr>
        <p:spPr>
          <a:xfrm>
            <a:off x="5638800" y="1428750"/>
            <a:ext cx="3048000" cy="30480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06" name="Google Shape;306;p28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638800" y="1428750"/>
            <a:ext cx="3048000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Google Shape;311;p29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312" name="Google Shape;312;p29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3" name="Google Shape;313;p29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14" name="Google Shape;314;p29"/>
          <p:cNvSpPr txBox="1"/>
          <p:nvPr/>
        </p:nvSpPr>
        <p:spPr>
          <a:xfrm>
            <a:off x="914400" y="152400"/>
            <a:ext cx="77724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Engineering Fairness from Bias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Probability &amp; Repeated Trials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5" name="Google Shape;315;p29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6" name="Google Shape;316;p29"/>
          <p:cNvSpPr txBox="1"/>
          <p:nvPr/>
        </p:nvSpPr>
        <p:spPr>
          <a:xfrm>
            <a:off x="457200" y="1188225"/>
            <a:ext cx="4724400" cy="37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What is a Biased Coin ?</a:t>
            </a: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P(H) != P(T)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For e.g. 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P(H) = 0.8 (i.e. 80%)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P(T) = 0.2 (i.e. 20%)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GB"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Question - Can two players play a Coin Flip game with a Biased coin ? How do they ensure the game is fair ?</a:t>
            </a:r>
            <a:endParaRPr sz="105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5638800" y="1428750"/>
            <a:ext cx="3048000" cy="30480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18" name="Google Shape;318;p29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638800" y="1428750"/>
            <a:ext cx="3048000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3" name="Google Shape;323;p30"/>
          <p:cNvGrpSpPr/>
          <p:nvPr/>
        </p:nvGrpSpPr>
        <p:grpSpPr>
          <a:xfrm>
            <a:off x="432950" y="2"/>
            <a:ext cx="9144000" cy="5143500"/>
            <a:chOff x="0" y="0"/>
            <a:chExt cx="9144000" cy="5143500"/>
          </a:xfrm>
        </p:grpSpPr>
        <p:sp>
          <p:nvSpPr>
            <p:cNvPr id="324" name="Google Shape;324;p30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325" name="Google Shape;325;p30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326" name="Google Shape;326;p30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327" name="Google Shape;327;p30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328" name="Google Shape;328;p30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29" name="Google Shape;329;p30"/>
          <p:cNvSpPr txBox="1"/>
          <p:nvPr/>
        </p:nvSpPr>
        <p:spPr>
          <a:xfrm>
            <a:off x="914400" y="171450"/>
            <a:ext cx="77724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    </a:t>
            </a: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Sequential Symmetry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GB" sz="1350" b="0" i="0" u="none" strike="noStrike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Solving the Biased Coin Problem through Pairwise Probability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0" name="Google Shape;330;p30"/>
          <p:cNvSpPr txBox="1"/>
          <p:nvPr/>
        </p:nvSpPr>
        <p:spPr>
          <a:xfrm>
            <a:off x="457200" y="3276189"/>
            <a:ext cx="3238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Mathematical Proof</a:t>
            </a:r>
            <a:endParaRPr sz="10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31" name="Google Shape;331;p30"/>
          <p:cNvSpPr/>
          <p:nvPr/>
        </p:nvSpPr>
        <p:spPr>
          <a:xfrm>
            <a:off x="457200" y="3514999"/>
            <a:ext cx="3238500" cy="5238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2" name="Google Shape;332;p30"/>
          <p:cNvSpPr txBox="1"/>
          <p:nvPr/>
        </p:nvSpPr>
        <p:spPr>
          <a:xfrm>
            <a:off x="609600" y="3488617"/>
            <a:ext cx="2933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</a:t>
            </a:r>
            <a:r>
              <a:rPr lang="en-GB" sz="117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</a:t>
            </a: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 = 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0.8 × 0.2 = </a:t>
            </a:r>
            <a:r>
              <a:rPr 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0.16</a:t>
            </a:r>
            <a:endParaRPr sz="11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3" name="Google Shape;333;p30"/>
          <p:cNvSpPr/>
          <p:nvPr/>
        </p:nvSpPr>
        <p:spPr>
          <a:xfrm>
            <a:off x="457200" y="4134124"/>
            <a:ext cx="3238500" cy="5238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4" name="Google Shape;334;p30"/>
          <p:cNvSpPr txBox="1"/>
          <p:nvPr/>
        </p:nvSpPr>
        <p:spPr>
          <a:xfrm>
            <a:off x="609600" y="4107742"/>
            <a:ext cx="2933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P(T</a:t>
            </a:r>
            <a:r>
              <a:rPr lang="en-GB" sz="117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</a:t>
            </a: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 = 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0.2 × 0.8 = </a:t>
            </a:r>
            <a:r>
              <a:rPr 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0.16</a:t>
            </a:r>
            <a:endParaRPr sz="11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5" name="Google Shape;335;p30"/>
          <p:cNvSpPr txBox="1"/>
          <p:nvPr/>
        </p:nvSpPr>
        <p:spPr>
          <a:xfrm>
            <a:off x="432942" y="13335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Sequential Workflow</a:t>
            </a:r>
            <a:endParaRPr sz="10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36" name="Google Shape;336;p30"/>
          <p:cNvSpPr/>
          <p:nvPr/>
        </p:nvSpPr>
        <p:spPr>
          <a:xfrm>
            <a:off x="2172111" y="1571625"/>
            <a:ext cx="1219200" cy="1524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7" name="Google Shape;337;p30"/>
          <p:cNvSpPr/>
          <p:nvPr/>
        </p:nvSpPr>
        <p:spPr>
          <a:xfrm>
            <a:off x="1785492" y="2276475"/>
            <a:ext cx="190500" cy="114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60000"/>
                </a:moveTo>
                <a:lnTo>
                  <a:pt x="120000" y="60000"/>
                </a:lnTo>
                <a:moveTo>
                  <a:pt x="84000" y="0"/>
                </a:moveTo>
                <a:lnTo>
                  <a:pt x="120000" y="60000"/>
                </a:lnTo>
                <a:lnTo>
                  <a:pt x="84000" y="120000"/>
                </a:lnTo>
              </a:path>
            </a:pathLst>
          </a:custGeom>
          <a:solidFill>
            <a:srgbClr val="000000">
              <a:alpha val="0"/>
            </a:srgbClr>
          </a:solidFill>
          <a:ln w="14300" cap="flat" cmpd="sng">
            <a:solidFill>
              <a:srgbClr val="004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8" name="Google Shape;338;p30"/>
          <p:cNvSpPr/>
          <p:nvPr/>
        </p:nvSpPr>
        <p:spPr>
          <a:xfrm>
            <a:off x="3987450" y="1571625"/>
            <a:ext cx="1675200" cy="1524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9" name="Google Shape;339;p30"/>
          <p:cNvSpPr txBox="1"/>
          <p:nvPr/>
        </p:nvSpPr>
        <p:spPr>
          <a:xfrm>
            <a:off x="2185542" y="1666875"/>
            <a:ext cx="10668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2. Filter Outcome</a:t>
            </a:r>
            <a:endParaRPr sz="10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If you roll HH or TT, discard the result and flip again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0" name="Google Shape;340;p30"/>
          <p:cNvSpPr/>
          <p:nvPr/>
        </p:nvSpPr>
        <p:spPr>
          <a:xfrm>
            <a:off x="3461892" y="2276475"/>
            <a:ext cx="190500" cy="114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60000"/>
                </a:moveTo>
                <a:lnTo>
                  <a:pt x="120000" y="60000"/>
                </a:lnTo>
                <a:moveTo>
                  <a:pt x="84000" y="0"/>
                </a:moveTo>
                <a:lnTo>
                  <a:pt x="120000" y="60000"/>
                </a:lnTo>
                <a:lnTo>
                  <a:pt x="84000" y="120000"/>
                </a:lnTo>
              </a:path>
            </a:pathLst>
          </a:custGeom>
          <a:solidFill>
            <a:srgbClr val="000000">
              <a:alpha val="0"/>
            </a:srgbClr>
          </a:solidFill>
          <a:ln w="14300" cap="flat" cmpd="sng">
            <a:solidFill>
              <a:srgbClr val="004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1" name="Google Shape;341;p30"/>
          <p:cNvSpPr/>
          <p:nvPr/>
        </p:nvSpPr>
        <p:spPr>
          <a:xfrm>
            <a:off x="455419" y="1571625"/>
            <a:ext cx="1219200" cy="1524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2" name="Google Shape;342;p30"/>
          <p:cNvSpPr txBox="1"/>
          <p:nvPr/>
        </p:nvSpPr>
        <p:spPr>
          <a:xfrm>
            <a:off x="4036338" y="1666875"/>
            <a:ext cx="16263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3. Rule Decision</a:t>
            </a:r>
            <a:endParaRPr sz="10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For a fair game: 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HT </a:t>
            </a: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- </a:t>
            </a: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Player 1 wins, 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 </a:t>
            </a: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- </a:t>
            </a: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Player 2 wins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3" name="Google Shape;343;p30"/>
          <p:cNvSpPr/>
          <p:nvPr/>
        </p:nvSpPr>
        <p:spPr>
          <a:xfrm>
            <a:off x="4262812" y="3514999"/>
            <a:ext cx="3238500" cy="5238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30"/>
          <p:cNvSpPr txBox="1"/>
          <p:nvPr/>
        </p:nvSpPr>
        <p:spPr>
          <a:xfrm>
            <a:off x="4443858" y="3511504"/>
            <a:ext cx="2933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</a:t>
            </a:r>
            <a:r>
              <a:rPr lang="en-GB" sz="117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</a:t>
            </a: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 = 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0.8 × 0.8 = </a:t>
            </a:r>
            <a:r>
              <a:rPr 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0.64</a:t>
            </a:r>
            <a:endParaRPr sz="11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5" name="Google Shape;345;p30"/>
          <p:cNvSpPr/>
          <p:nvPr/>
        </p:nvSpPr>
        <p:spPr>
          <a:xfrm>
            <a:off x="4285700" y="4129944"/>
            <a:ext cx="3238500" cy="5238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6" name="Google Shape;346;p30"/>
          <p:cNvSpPr txBox="1"/>
          <p:nvPr/>
        </p:nvSpPr>
        <p:spPr>
          <a:xfrm>
            <a:off x="4536367" y="4130629"/>
            <a:ext cx="2933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P(T</a:t>
            </a:r>
            <a:r>
              <a:rPr lang="en-GB" sz="117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</a:t>
            </a: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 = 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0.2 × 0.2 = </a:t>
            </a:r>
            <a:r>
              <a:rPr 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0.04</a:t>
            </a:r>
            <a:endParaRPr sz="11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7" name="Google Shape;347;p30"/>
          <p:cNvSpPr txBox="1"/>
          <p:nvPr/>
        </p:nvSpPr>
        <p:spPr>
          <a:xfrm>
            <a:off x="509142" y="1666875"/>
            <a:ext cx="10668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1. Flip the coin twice</a:t>
            </a:r>
            <a:endParaRPr sz="10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Possible outcomes are:</a:t>
            </a:r>
            <a:endParaRPr sz="10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HT</a:t>
            </a:r>
            <a:endParaRPr sz="10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</a:t>
            </a:r>
            <a:endParaRPr sz="10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HH</a:t>
            </a:r>
            <a:endParaRPr sz="10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TT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6117</Words>
  <Application>WPS Presentation</Application>
  <PresentationFormat/>
  <Paragraphs>238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0" baseType="lpstr">
      <vt:lpstr>Arial</vt:lpstr>
      <vt:lpstr>SimSun</vt:lpstr>
      <vt:lpstr>Wingdings</vt:lpstr>
      <vt:lpstr>Arial</vt:lpstr>
      <vt:lpstr>Inter</vt:lpstr>
      <vt:lpstr>Inter Medium</vt:lpstr>
      <vt:lpstr>Inter SemiBold</vt:lpstr>
      <vt:lpstr>Courier New</vt:lpstr>
      <vt:lpstr>Microsoft YaHei</vt:lpstr>
      <vt:lpstr>汉仪旗黑</vt:lpstr>
      <vt:lpstr>Arial Unicode MS</vt:lpstr>
      <vt:lpstr>宋体-简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Brinda Dorairaj</cp:lastModifiedBy>
  <cp:revision>2</cp:revision>
  <dcterms:created xsi:type="dcterms:W3CDTF">2026-06-30T05:58:32Z</dcterms:created>
  <dcterms:modified xsi:type="dcterms:W3CDTF">2026-06-30T05:58:32Z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F5D210FA2C59F866C05A436AA865834B_42</vt:lpwstr>
  </property>
  <property fmtid="{D5CDD505-2E9C-101B-9397-08002B2CF9AE}" pid="3" name="KSOProductBuildVer">
    <vt:lpwstr>1033-12.1.26015.26015</vt:lpwstr>
  </property>
</Properties>
</file>